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48"/>
  </p:notesMasterIdLst>
  <p:sldIdLst>
    <p:sldId id="256" r:id="rId5"/>
    <p:sldId id="279" r:id="rId6"/>
    <p:sldId id="566" r:id="rId7"/>
    <p:sldId id="557" r:id="rId8"/>
    <p:sldId id="257" r:id="rId9"/>
    <p:sldId id="258" r:id="rId10"/>
    <p:sldId id="278" r:id="rId11"/>
    <p:sldId id="259" r:id="rId12"/>
    <p:sldId id="260" r:id="rId13"/>
    <p:sldId id="261" r:id="rId14"/>
    <p:sldId id="263" r:id="rId15"/>
    <p:sldId id="264" r:id="rId16"/>
    <p:sldId id="265" r:id="rId17"/>
    <p:sldId id="267" r:id="rId18"/>
    <p:sldId id="266" r:id="rId19"/>
    <p:sldId id="268" r:id="rId20"/>
    <p:sldId id="270" r:id="rId21"/>
    <p:sldId id="559" r:id="rId22"/>
    <p:sldId id="272" r:id="rId23"/>
    <p:sldId id="572" r:id="rId24"/>
    <p:sldId id="271" r:id="rId25"/>
    <p:sldId id="573" r:id="rId26"/>
    <p:sldId id="574" r:id="rId27"/>
    <p:sldId id="575" r:id="rId28"/>
    <p:sldId id="576" r:id="rId29"/>
    <p:sldId id="577" r:id="rId30"/>
    <p:sldId id="560" r:id="rId31"/>
    <p:sldId id="561" r:id="rId32"/>
    <p:sldId id="562" r:id="rId33"/>
    <p:sldId id="578" r:id="rId34"/>
    <p:sldId id="579" r:id="rId35"/>
    <p:sldId id="580" r:id="rId36"/>
    <p:sldId id="581" r:id="rId37"/>
    <p:sldId id="583" r:id="rId38"/>
    <p:sldId id="582" r:id="rId39"/>
    <p:sldId id="584" r:id="rId40"/>
    <p:sldId id="587" r:id="rId41"/>
    <p:sldId id="585" r:id="rId42"/>
    <p:sldId id="586" r:id="rId43"/>
    <p:sldId id="588" r:id="rId44"/>
    <p:sldId id="275" r:id="rId45"/>
    <p:sldId id="274" r:id="rId46"/>
    <p:sldId id="273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6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EA3214-1EEF-9FDB-C959-1A6CAD7AC4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96F4F-1E4A-C6D7-9E39-5708EC64C8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E2B0771-9112-4AAE-902F-86643060F98A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45B274-8212-F92A-A25C-BFA9EBD01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9C6BA07-25BA-E29C-4FD8-C69AFB370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38FA7-C2BC-733F-6830-820616EAE3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40DA1-0C01-EDF0-FBB8-CE0EB0425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663A98B-31E8-4A24-851C-A5A72BBBFA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C3D9101F-26BB-BFC7-BB59-55FFFFAD7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9CCECC-D15D-4CC7-9949-5F1DFC501EDE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998100E-84EE-4C99-85C9-A88910CEB0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24689A6-B3FC-B82A-2918-6D0293A82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1100">
                <a:solidFill>
                  <a:srgbClr val="333399"/>
                </a:solidFill>
              </a:rPr>
              <a:t>Figure 5.13 The structure of a phospholipid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B3772FE1-15F2-8A34-DFD2-4C06DA7D69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C0603AF1-0F18-7107-F8C5-AB91623D6E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1E8E17CC-7E54-F285-21B2-A630AEF01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74AE4F1-98C8-4818-89B2-9E32F0CA9120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BDA87670-AAAE-10A8-98BD-974AFDC2A0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A0E4637F-3135-3589-FC17-FF06ED00B9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4B2454F4-3144-3AE1-BE5C-4A08DC0A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13BC38-7A16-4C75-94C7-F40E9755A142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689A1D9-7203-2B10-1190-4FC3B95395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ADEC93-7760-4B9E-B698-4C812C4E3F86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 eaLnBrk="1" hangingPunct="1"/>
              <a:t>41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6DB07BC-35ED-8115-E3DB-D26995FCFC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0C4D8B8-AA1A-B9CB-93FE-36CDEB6C8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solidFill>
                  <a:srgbClr val="333399"/>
                </a:solidFill>
              </a:rPr>
              <a:t>Figure 5.22 A single amino acid substitution in a protein causes sickle-cell disease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58D3E185-6116-57F8-8A23-950BC4A6E3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A835A18E-00AC-FCD9-49F1-432B58D0DD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46EB25D6-2133-CA28-EA66-AF10E1013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2031538-D518-423B-BDEA-4D9567CC31B5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29">
            <a:extLst>
              <a:ext uri="{FF2B5EF4-FFF2-40B4-BE49-F238E27FC236}">
                <a16:creationId xmlns:a16="http://schemas.microsoft.com/office/drawing/2014/main" id="{D8390031-0B1C-DA42-394E-B99BA2BA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9434F-2039-4CC8-A6AF-1C4D8ABB91FA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3" name="Footer Placeholder 18">
            <a:extLst>
              <a:ext uri="{FF2B5EF4-FFF2-40B4-BE49-F238E27FC236}">
                <a16:creationId xmlns:a16="http://schemas.microsoft.com/office/drawing/2014/main" id="{CD6A639F-0560-C7FD-BCA2-2ACF849E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6">
            <a:extLst>
              <a:ext uri="{FF2B5EF4-FFF2-40B4-BE49-F238E27FC236}">
                <a16:creationId xmlns:a16="http://schemas.microsoft.com/office/drawing/2014/main" id="{3556BA83-82C0-7FC0-46CF-64F30B3E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CD4C0"/>
                </a:solidFill>
              </a:defRPr>
            </a:lvl1pPr>
          </a:lstStyle>
          <a:p>
            <a:fld id="{33365E73-A165-474B-82B0-A32E4B5A35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41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EA1CA4DD-F669-CFD5-C646-0341FCBE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2835A-CC07-4802-A8C3-9B0B531A9691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92C0A9D1-04A2-3BC1-68E8-C23C5150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EC86A33B-80AE-8B25-31D9-42541064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6F5937-9EB8-4C4B-BDF2-F68B5A3AE5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485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F218B-FF09-C88D-571F-E2994DCB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992AC-3C27-4711-B422-E21C8E512C9B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EFA58-AC65-1326-6BD4-0FE1C1F6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2F1AE-0336-0657-10DB-49FD93C8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CD4C0"/>
                </a:solidFill>
              </a:defRPr>
            </a:lvl1pPr>
          </a:lstStyle>
          <a:p>
            <a:fld id="{70A1BC91-4B25-488C-BC4A-422B091EE8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139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D122D53F-14DF-A38C-D667-50DD3020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34B8D-D89F-4455-A26E-93753674B5A6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B4B9E281-59BB-A054-1734-A6DE3925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7B017558-E401-1AE3-871C-9998B82E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725EA9-8E37-4F59-99CA-50E7EA2B40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74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DD733762-6E88-3FA7-3C38-0D9269D7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E79CE-FCD1-46F9-8C7A-B19ACD6CD101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8" name="Footer Placeholder 21">
            <a:extLst>
              <a:ext uri="{FF2B5EF4-FFF2-40B4-BE49-F238E27FC236}">
                <a16:creationId xmlns:a16="http://schemas.microsoft.com/office/drawing/2014/main" id="{94F9C684-7B9B-4B03-F78A-ACC755E0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>
            <a:extLst>
              <a:ext uri="{FF2B5EF4-FFF2-40B4-BE49-F238E27FC236}">
                <a16:creationId xmlns:a16="http://schemas.microsoft.com/office/drawing/2014/main" id="{3FBB602D-B768-BA75-A12F-25AA8A2F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A3D5C-B20B-478D-B157-6F0FD17592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33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9CD74D4C-DFAE-6009-7698-53E5808F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09B3E-614B-49CA-ADED-3FE22DC21383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4" name="Footer Placeholder 21">
            <a:extLst>
              <a:ext uri="{FF2B5EF4-FFF2-40B4-BE49-F238E27FC236}">
                <a16:creationId xmlns:a16="http://schemas.microsoft.com/office/drawing/2014/main" id="{399DD3BC-A27D-14A3-E1CF-71881CB6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26E35CA7-50BA-B026-8CAE-B7BCE652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B6855-56D2-4C08-AEE5-B04AA0FF9B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0187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F3F24D9D-D643-4904-75A1-5A1631E4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65B39-0D09-48C7-B47B-1EA79F112D3E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3" name="Footer Placeholder 21">
            <a:extLst>
              <a:ext uri="{FF2B5EF4-FFF2-40B4-BE49-F238E27FC236}">
                <a16:creationId xmlns:a16="http://schemas.microsoft.com/office/drawing/2014/main" id="{06EF4D08-5152-AE46-AD62-41B1FB1F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7DEC316B-0588-0181-8942-B913FA91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C5AD5-85D6-497B-8B4C-55AC7226F9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480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712EADE9-3854-9C6D-7892-32B989B9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58B2C-8B5F-473F-8B94-BD1635D248B7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F5EABB9E-BA38-E0A4-6505-F7D2C17D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12676D5D-1DB4-4B86-1C4B-A663F717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9D056-002F-4DD9-A3C8-DC4A4EE887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54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13">
            <a:extLst>
              <a:ext uri="{FF2B5EF4-FFF2-40B4-BE49-F238E27FC236}">
                <a16:creationId xmlns:a16="http://schemas.microsoft.com/office/drawing/2014/main" id="{3A6F943E-051F-7DBE-CC6C-25FB09FC0B5F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D4839B96-A505-D41C-F94B-F29D2EEBA4DC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511DFA51-6FFC-7C24-E2AE-9C302B8577A0}"/>
              </a:ext>
            </a:extLst>
          </p:cNvPr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22C7A6DB-9EB9-D6D9-1363-4CCA380733CD}"/>
              </a:ext>
            </a:extLst>
          </p:cNvPr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05ECC57-BF14-CCD8-5EE8-F0125725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5F78E-10C4-4BAC-ABDD-8605BC176899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5AB776D8-6297-E0BD-BE4F-3E2A739F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29ECA7F-C951-0311-4AB6-814652EE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25407398-672D-4A13-B007-8D8D7866BB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2260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D7BFA984-7708-E7C2-46FA-989F40E9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A842B-28FB-4C6E-8CB5-1CA3B2B87EC8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29D24E3E-E8AB-FB93-F451-0078842A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CFC7C34E-2927-83D1-9339-A6FDB604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07301-3A1E-422A-B87F-7D11E2CB3D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65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487F79C7-7871-2809-FE1F-B14E7DC7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01F7F-062C-4729-8C6E-5192675FD054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AD854442-16FC-2E2F-4D04-4FF4E838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EB3E34F0-CEA4-9081-8179-12E0EBCD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66370-9C0E-47FD-B01E-AD12D67D1A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073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2057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2057400"/>
            <a:ext cx="3810000" cy="4114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CF48B95-339B-D179-E51B-8884255454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2EF368C-CDE2-F3FC-0B98-01EE217FB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5FF9548-087E-7937-4D7A-4331CA7696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6F440-BD57-4BFA-82C5-23AC111788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585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2057400"/>
            <a:ext cx="3810000" cy="4114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2057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8C4BC92-BC55-D986-974B-D75E1EDF7A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E10491D-3D5C-F013-FA6E-359CC75BDF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582543F-E059-37D6-6760-85178EF6E4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80AD18-D8B0-4F6F-81CB-1A5925B4CF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95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AA455AB2-412A-051E-FFF0-B157B7873A88}"/>
              </a:ext>
            </a:extLst>
          </p:cNvPr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B15B483-503C-8037-9E59-5A8132F9D592}"/>
              </a:ext>
            </a:extLst>
          </p:cNvPr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28" name="Title Placeholder 8">
            <a:extLst>
              <a:ext uri="{FF2B5EF4-FFF2-40B4-BE49-F238E27FC236}">
                <a16:creationId xmlns:a16="http://schemas.microsoft.com/office/drawing/2014/main" id="{0ADBA902-9867-E06C-DED3-E6257AA9434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29">
            <a:extLst>
              <a:ext uri="{FF2B5EF4-FFF2-40B4-BE49-F238E27FC236}">
                <a16:creationId xmlns:a16="http://schemas.microsoft.com/office/drawing/2014/main" id="{855B047E-656E-864E-E787-C6A649B3DA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7665413-B4C4-804D-05AD-DEA326E16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9F6CE4-B262-456F-A634-DA590E4149A9}" type="datetimeFigureOut">
              <a:rPr lang="en-US"/>
              <a:pPr>
                <a:defRPr/>
              </a:pPr>
              <a:t>8/29/2023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3369E73-69D1-89A8-4F39-97C72EBC1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EAE2EB9-326D-0DEA-65BB-6A63CBD21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4B251A"/>
                </a:solidFill>
                <a:latin typeface="Constantia" panose="02030602050306030303" pitchFamily="18" charset="0"/>
              </a:defRPr>
            </a:lvl1pPr>
          </a:lstStyle>
          <a:p>
            <a:fld id="{0598AE36-C1C6-4929-B453-46D35946DCF9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3" name="Group 1">
            <a:extLst>
              <a:ext uri="{FF2B5EF4-FFF2-40B4-BE49-F238E27FC236}">
                <a16:creationId xmlns:a16="http://schemas.microsoft.com/office/drawing/2014/main" id="{C7EE504A-A8E3-941D-8B79-6B5809B805DA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8A377EC-1655-F087-632E-131E041C709F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D327DB7-2FBE-BF78-58B2-3CDDFDB585EA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895" r:id="rId2"/>
    <p:sldLayoutId id="2147483904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5" r:id="rId9"/>
    <p:sldLayoutId id="2147483901" r:id="rId10"/>
    <p:sldLayoutId id="2147483902" r:id="rId11"/>
    <p:sldLayoutId id="2147483906" r:id="rId12"/>
    <p:sldLayoutId id="214748390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FEE29C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://www.stolaf.edu/people/giannini/flashanimat/proteins/protein%20structure.sw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fold.it/portal/node/2003714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F9AD-54C0-D91F-BEFD-62B8705B18B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914400" y="1524000"/>
            <a:ext cx="7851775" cy="1828800"/>
          </a:xfrm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Structure and Function of Large Biological Molecules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806575"/>
            <a:ext cx="7772400" cy="1470025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CHE113 </a:t>
            </a:r>
            <a:b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5">
            <a:extLst>
              <a:ext uri="{FF2B5EF4-FFF2-40B4-BE49-F238E27FC236}">
                <a16:creationId xmlns:a16="http://schemas.microsoft.com/office/drawing/2014/main" id="{200FF30C-852E-2B11-692A-18E250A7AAD4}"/>
              </a:ext>
            </a:extLst>
          </p:cNvPr>
          <p:cNvSpPr/>
          <p:nvPr/>
        </p:nvSpPr>
        <p:spPr>
          <a:xfrm>
            <a:off x="2971800" y="2057400"/>
            <a:ext cx="3352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Biomolecules: </a:t>
            </a:r>
          </a:p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</a:p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Nucleic acids</a:t>
            </a:r>
          </a:p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Carbohydrates</a:t>
            </a:r>
          </a:p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Lipids</a:t>
            </a:r>
          </a:p>
        </p:txBody>
      </p:sp>
    </p:spTree>
    <p:extLst>
      <p:ext uri="{BB962C8B-B14F-4D97-AF65-F5344CB8AC3E}">
        <p14:creationId xmlns:p14="http://schemas.microsoft.com/office/powerpoint/2010/main" val="2687822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User\Dropbox\photos\screen shots\2022-08-29 (31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ropbox\photos\screen shots\2022-08-2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955" y="838200"/>
            <a:ext cx="8991600" cy="563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>
            <a:extLst>
              <a:ext uri="{FF2B5EF4-FFF2-40B4-BE49-F238E27FC236}">
                <a16:creationId xmlns:a16="http://schemas.microsoft.com/office/drawing/2014/main" id="{34AED275-4809-03E1-E5EE-885DFC6F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14400"/>
          </a:xfrm>
        </p:spPr>
        <p:txBody>
          <a:bodyPr/>
          <a:lstStyle/>
          <a:p>
            <a:pPr algn="ctr" eaLnBrk="1" hangingPunct="1"/>
            <a:r>
              <a:rPr lang="en-US" altLang="en-US">
                <a:solidFill>
                  <a:schemeClr val="tx1"/>
                </a:solidFill>
              </a:rPr>
              <a:t>Large Biological Molecules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AFCCF6-38FC-8BE6-EEAF-20DD7308A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35163"/>
            <a:ext cx="4572000" cy="4389437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Critically important molecules in all living things divided into 4 classes: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Lipids (fats)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Carbohydrates (sugars)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Proteins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Nucleic Acids (DNA &amp; RNA)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b="1" dirty="0" err="1"/>
              <a:t>Carbs</a:t>
            </a:r>
            <a:r>
              <a:rPr lang="en-US" b="1" dirty="0"/>
              <a:t>, Proteins and Nucleic Acids are Polymers</a:t>
            </a:r>
          </a:p>
        </p:txBody>
      </p:sp>
      <p:pic>
        <p:nvPicPr>
          <p:cNvPr id="8196" name="Picture 5" descr="carb, lipid, protein, nucleic acid.jpg">
            <a:extLst>
              <a:ext uri="{FF2B5EF4-FFF2-40B4-BE49-F238E27FC236}">
                <a16:creationId xmlns:a16="http://schemas.microsoft.com/office/drawing/2014/main" id="{99D4AC21-15EA-D215-B145-BDD956346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524000"/>
            <a:ext cx="35687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Rectangle 6">
            <a:extLst>
              <a:ext uri="{FF2B5EF4-FFF2-40B4-BE49-F238E27FC236}">
                <a16:creationId xmlns:a16="http://schemas.microsoft.com/office/drawing/2014/main" id="{33B26F03-7BD1-C7DD-4346-F02D098C6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6400800"/>
            <a:ext cx="32766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http://www.yellowtang.org/images/joh86670_t04_01.jpg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AA9C-68F2-3374-DC49-EBAC1F15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Polymers are built from Monomers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A4D50-5938-633C-AAED-2BA349939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47800"/>
            <a:ext cx="4495800" cy="5181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Polymers (large) are made of covalently bonded monomers (building blocks)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Polymers built by </a:t>
            </a:r>
            <a:r>
              <a:rPr lang="en-US" dirty="0">
                <a:solidFill>
                  <a:srgbClr val="C00000"/>
                </a:solidFill>
              </a:rPr>
              <a:t>dehydration synthesis</a:t>
            </a:r>
            <a:endParaRPr lang="en-US" b="1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Polymers broken into monomers by </a:t>
            </a:r>
            <a:r>
              <a:rPr lang="en-US" dirty="0">
                <a:solidFill>
                  <a:srgbClr val="C00000"/>
                </a:solidFill>
              </a:rPr>
              <a:t>hydrolysis</a:t>
            </a: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The order of the monomer determines the function and shape of the polymer.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9220" name="Picture 7" descr="http://images.tutorvista.com/cms/images/80/amino-acid-and-dipeptide.JPG">
            <a:extLst>
              <a:ext uri="{FF2B5EF4-FFF2-40B4-BE49-F238E27FC236}">
                <a16:creationId xmlns:a16="http://schemas.microsoft.com/office/drawing/2014/main" id="{7AFEA8DC-C46E-D9D5-0D21-B34B4A2D5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057400"/>
            <a:ext cx="44005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E2B41529-B50F-4B25-54F5-2516D1C2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704850"/>
            <a:ext cx="8991600" cy="742950"/>
          </a:xfrm>
        </p:spPr>
        <p:txBody>
          <a:bodyPr/>
          <a:lstStyle/>
          <a:p>
            <a:r>
              <a:rPr lang="en-US" altLang="en-US" sz="4800"/>
              <a:t>Hydrolysis &amp; Dehydration synthesis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4AEC78AA-CD3F-2ED6-9A26-075B5C414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20875"/>
            <a:ext cx="4038600" cy="2727325"/>
          </a:xfrm>
        </p:spPr>
        <p:txBody>
          <a:bodyPr/>
          <a:lstStyle/>
          <a:p>
            <a:r>
              <a:rPr lang="en-US" altLang="en-US"/>
              <a:t>Hydrolysis</a:t>
            </a:r>
          </a:p>
          <a:p>
            <a:pPr lvl="1"/>
            <a:r>
              <a:rPr lang="en-US" altLang="en-US"/>
              <a:t>Breaks bonds in a polymer by adding water</a:t>
            </a:r>
          </a:p>
          <a:p>
            <a:r>
              <a:rPr lang="en-US" altLang="en-US"/>
              <a:t>Dehydration Synthesis</a:t>
            </a:r>
          </a:p>
          <a:p>
            <a:pPr lvl="1"/>
            <a:r>
              <a:rPr lang="en-US" altLang="en-US"/>
              <a:t>Bond forms between 2 monomers &amp; a water molecule is lost</a:t>
            </a:r>
          </a:p>
          <a:p>
            <a:pPr lvl="1"/>
            <a:r>
              <a:rPr lang="en-US" altLang="en-US"/>
              <a:t>Facilitated by enzymes</a:t>
            </a:r>
          </a:p>
        </p:txBody>
      </p:sp>
      <p:pic>
        <p:nvPicPr>
          <p:cNvPr id="10244" name="Content Placeholder 6" descr="dehydration &amp; hydrolysis.gif">
            <a:extLst>
              <a:ext uri="{FF2B5EF4-FFF2-40B4-BE49-F238E27FC236}">
                <a16:creationId xmlns:a16="http://schemas.microsoft.com/office/drawing/2014/main" id="{CEA3870D-7646-0950-6660-73CEAF30AB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1447800"/>
            <a:ext cx="4114800" cy="41148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E5918-0DD4-7D49-BC78-64CA7252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/>
              <a:t>Carbohydrates, fuel &amp; building material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674FC87-AFE4-904B-3787-36F08A3BB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/>
              <a:t>Carbon &amp; water CH</a:t>
            </a:r>
            <a:r>
              <a:rPr lang="en-US" altLang="en-US" baseline="-25000"/>
              <a:t>2</a:t>
            </a:r>
            <a:r>
              <a:rPr lang="en-US" altLang="en-US"/>
              <a:t>O w/ a 2:1 ratio of H to O</a:t>
            </a:r>
          </a:p>
          <a:p>
            <a:pPr eaLnBrk="1" hangingPunct="1"/>
            <a:r>
              <a:rPr lang="en-US" altLang="en-US"/>
              <a:t>Can exist as a ring or linear, notice the numbering of the Carbon atoms. Start at the top of a chain &amp; to the right of a ring.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11268" name="Picture 6" descr="05_04aGlucoseLinearRing-U">
            <a:extLst>
              <a:ext uri="{FF2B5EF4-FFF2-40B4-BE49-F238E27FC236}">
                <a16:creationId xmlns:a16="http://schemas.microsoft.com/office/drawing/2014/main" id="{BD1D7E04-2724-1DC7-B19C-5A412835D7A5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3352800"/>
            <a:ext cx="7391400" cy="3505200"/>
          </a:xfr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8249-3920-F5FF-946B-B8D0081F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8769"/>
            <a:ext cx="8229600" cy="5905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Monosaccharides</a:t>
            </a:r>
            <a:r>
              <a:rPr lang="en-US" dirty="0"/>
              <a:t>: simple sugars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41611-4E90-42F2-DC59-973B855F9B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294" y="895350"/>
            <a:ext cx="8355412" cy="43434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b="1" dirty="0" err="1"/>
              <a:t>Monosaccharides</a:t>
            </a:r>
            <a:r>
              <a:rPr lang="en-US" sz="2200" dirty="0"/>
              <a:t> generally have molecular formulas that are some multiple of the unit CH</a:t>
            </a:r>
            <a:r>
              <a:rPr lang="en-US" sz="2200" baseline="-25000" dirty="0"/>
              <a:t>2</a:t>
            </a:r>
            <a:r>
              <a:rPr lang="en-US" sz="2200" dirty="0"/>
              <a:t>O.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dirty="0"/>
              <a:t>Glucose has the formula C</a:t>
            </a:r>
            <a:r>
              <a:rPr lang="en-US" sz="2200" baseline="-25000" dirty="0"/>
              <a:t>6</a:t>
            </a:r>
            <a:r>
              <a:rPr lang="en-US" sz="2200" dirty="0"/>
              <a:t>H</a:t>
            </a:r>
            <a:r>
              <a:rPr lang="en-US" sz="2200" baseline="-25000" dirty="0"/>
              <a:t>12</a:t>
            </a:r>
            <a:r>
              <a:rPr lang="en-US" sz="2200" dirty="0"/>
              <a:t>O</a:t>
            </a:r>
            <a:r>
              <a:rPr lang="en-US" sz="2200" baseline="-25000" dirty="0"/>
              <a:t>6</a:t>
            </a:r>
            <a:r>
              <a:rPr lang="en-US" sz="2200" dirty="0"/>
              <a:t>. Quick energy for cells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dirty="0" err="1"/>
              <a:t>Monosaccharides</a:t>
            </a:r>
            <a:r>
              <a:rPr lang="en-US" sz="2200" dirty="0"/>
              <a:t>: one ring structure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dirty="0"/>
              <a:t>Disaccharides: 2 ring structure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dirty="0"/>
              <a:t>Polymer:  many rings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dirty="0"/>
              <a:t>Most names for sugars end in –</a:t>
            </a:r>
            <a:r>
              <a:rPr lang="en-US" sz="2200" i="1" dirty="0" err="1"/>
              <a:t>ose</a:t>
            </a:r>
            <a:r>
              <a:rPr lang="en-US" sz="2200" dirty="0"/>
              <a:t>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dirty="0"/>
              <a:t>Glucose, an </a:t>
            </a:r>
            <a:r>
              <a:rPr lang="en-US" sz="2200" dirty="0" err="1"/>
              <a:t>aldose</a:t>
            </a:r>
            <a:r>
              <a:rPr lang="en-US" sz="2200" dirty="0"/>
              <a:t>, and fructose, a </a:t>
            </a:r>
            <a:r>
              <a:rPr lang="en-US" sz="2200" dirty="0" err="1"/>
              <a:t>ketose</a:t>
            </a:r>
            <a:r>
              <a:rPr lang="en-US" sz="2200" dirty="0"/>
              <a:t>, are structural isomers.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200" dirty="0" err="1"/>
              <a:t>Monosaccharides</a:t>
            </a:r>
            <a:r>
              <a:rPr lang="en-US" sz="2200" dirty="0"/>
              <a:t> are also classified by the number of carbons in the carbon skeleton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200" dirty="0"/>
          </a:p>
        </p:txBody>
      </p:sp>
      <p:pic>
        <p:nvPicPr>
          <p:cNvPr id="12292" name="Picture 11" descr="http://chemistry2.csudh.edu/rpendarvis/1feb23.gif">
            <a:extLst>
              <a:ext uri="{FF2B5EF4-FFF2-40B4-BE49-F238E27FC236}">
                <a16:creationId xmlns:a16="http://schemas.microsoft.com/office/drawing/2014/main" id="{3C93C050-1E0C-0B82-4AE9-E7EC21693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876800"/>
            <a:ext cx="4724400" cy="1872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A994-4E16-B0D7-EF17-85EDCF63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/>
              <a:t>Disaccharides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11F2246-8780-B472-7887-C8473BE0B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/>
              <a:t>Consist of 2 monosaccharides joined by a glycosidic linkage (covalent bond formed by dehydration synthesis)</a:t>
            </a:r>
          </a:p>
          <a:p>
            <a:pPr eaLnBrk="1" hangingPunct="1"/>
            <a:r>
              <a:rPr lang="en-US" altLang="en-US"/>
              <a:t>Glucose + fructose= sucrose</a:t>
            </a:r>
          </a:p>
          <a:p>
            <a:pPr eaLnBrk="1" hangingPunct="1"/>
            <a:r>
              <a:rPr lang="en-US" altLang="en-US"/>
              <a:t>Glucose + galactose = lactose</a:t>
            </a:r>
          </a:p>
        </p:txBody>
      </p:sp>
      <p:pic>
        <p:nvPicPr>
          <p:cNvPr id="13316" name="Content Placeholder 4" descr="sucrose.gif">
            <a:extLst>
              <a:ext uri="{FF2B5EF4-FFF2-40B4-BE49-F238E27FC236}">
                <a16:creationId xmlns:a16="http://schemas.microsoft.com/office/drawing/2014/main" id="{A46445E6-6F18-FCF4-9D3F-C4E0EA1A08F0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3400" y="3657600"/>
            <a:ext cx="4572000" cy="2940050"/>
          </a:xfrm>
        </p:spPr>
      </p:pic>
      <p:sp>
        <p:nvSpPr>
          <p:cNvPr id="13317" name="Rectangle 5">
            <a:extLst>
              <a:ext uri="{FF2B5EF4-FFF2-40B4-BE49-F238E27FC236}">
                <a16:creationId xmlns:a16="http://schemas.microsoft.com/office/drawing/2014/main" id="{E2DA259E-6961-5752-79E7-64A2E6A70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66294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http://www.chm.bris.ac.uk/motm/glucose/sucrose.gif</a:t>
            </a:r>
          </a:p>
        </p:txBody>
      </p:sp>
      <p:pic>
        <p:nvPicPr>
          <p:cNvPr id="13318" name="Picture 2" descr="http://www.3dchem.com/imagesofmolecules/Sucrose.jpg">
            <a:extLst>
              <a:ext uri="{FF2B5EF4-FFF2-40B4-BE49-F238E27FC236}">
                <a16:creationId xmlns:a16="http://schemas.microsoft.com/office/drawing/2014/main" id="{3E081156-2A48-5078-9F51-0D5E3936E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25863"/>
            <a:ext cx="3019425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Rectangle 7">
            <a:extLst>
              <a:ext uri="{FF2B5EF4-FFF2-40B4-BE49-F238E27FC236}">
                <a16:creationId xmlns:a16="http://schemas.microsoft.com/office/drawing/2014/main" id="{46B19540-4C8E-B75C-AB33-251FB3757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00800"/>
            <a:ext cx="33528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http://www.3dchem.com/imagesofmolecules/Sucrose.jpg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685F-665D-3669-EAE9-FF195D4B2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1435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/>
              <a:t>Polysaccharides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F6ADF-5E3E-9DBA-54FE-DC1D14D7C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u="sng" dirty="0"/>
              <a:t>Polysaccharides</a:t>
            </a:r>
            <a:r>
              <a:rPr lang="en-US" sz="2800" dirty="0"/>
              <a:t> – many </a:t>
            </a:r>
            <a:r>
              <a:rPr lang="en-US" sz="2800" dirty="0" err="1"/>
              <a:t>saccharides</a:t>
            </a:r>
            <a:endParaRPr lang="en-US" sz="2800" u="sng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/>
              <a:t>Energy storage (alpha glucose) - helical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u="sng" dirty="0"/>
              <a:t>Starch</a:t>
            </a:r>
            <a:r>
              <a:rPr lang="en-US" dirty="0"/>
              <a:t> – plants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Amylose - unbranched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Amylopectin - branched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u="sng" dirty="0"/>
              <a:t>Glycogen</a:t>
            </a:r>
            <a:r>
              <a:rPr lang="en-US" dirty="0"/>
              <a:t> – animals, liver and muscle energy stores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/>
              <a:t>Structure and support (beta glucose) – straight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u="sng" dirty="0"/>
              <a:t>Cellulose</a:t>
            </a:r>
            <a:r>
              <a:rPr lang="en-US" dirty="0"/>
              <a:t> – plants, structural support creates a cable like structure called microfibrils by H-bonding to adjacent cellulose molecules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u="sng" dirty="0"/>
              <a:t>Chitin</a:t>
            </a:r>
            <a:r>
              <a:rPr lang="en-US" dirty="0"/>
              <a:t> – exoskeletons and fungi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Contains nitrogen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1E7B3DB-F924-C21C-7954-FCD547D8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666750"/>
          </a:xfrm>
        </p:spPr>
        <p:txBody>
          <a:bodyPr/>
          <a:lstStyle/>
          <a:p>
            <a:pPr algn="ctr" eaLnBrk="1" hangingPunct="1"/>
            <a:r>
              <a:rPr lang="en-US" altLang="en-US" sz="4000" b="1"/>
              <a:t>Lipids: not a polymer or a macromolecule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AB672-4428-1143-01B3-525537D29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4038600" cy="4435475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Lipids are hydrophobic, mostly hydrocarbons with non-polar covalent bonds</a:t>
            </a:r>
          </a:p>
          <a:p>
            <a:pPr marL="274320" lvl="1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3000" dirty="0"/>
              <a:t>In a fat, three fatty acids are joined to glycerol = triglyceride</a:t>
            </a:r>
          </a:p>
          <a:p>
            <a:pPr marL="274320" lvl="1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3000" dirty="0"/>
              <a:t>Glycerol: an alcohol with 3 carbons each with a hydroxyl group</a:t>
            </a:r>
          </a:p>
          <a:p>
            <a:pPr marL="274320" lvl="1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endParaRPr lang="en-US" sz="3000" dirty="0"/>
          </a:p>
          <a:p>
            <a:pPr marL="274320" lvl="1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endParaRPr lang="en-US" sz="3000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B4A3E5-C3E1-C366-2D96-4FCB80A64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20875"/>
            <a:ext cx="4038600" cy="4433888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15365" name="Picture 3" descr="triglyceride.gif">
            <a:extLst>
              <a:ext uri="{FF2B5EF4-FFF2-40B4-BE49-F238E27FC236}">
                <a16:creationId xmlns:a16="http://schemas.microsoft.com/office/drawing/2014/main" id="{BD3FFE4E-72B9-15E1-C2E6-633C8A747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143000"/>
            <a:ext cx="4229100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5">
            <a:extLst>
              <a:ext uri="{FF2B5EF4-FFF2-40B4-BE49-F238E27FC236}">
                <a16:creationId xmlns:a16="http://schemas.microsoft.com/office/drawing/2014/main" id="{0E2A8AD6-5C9D-041A-2566-CAEAE9D32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038600"/>
            <a:ext cx="34290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http://www.raw-milk-facts.com/images/GlycerolTrigly.gif</a:t>
            </a:r>
          </a:p>
        </p:txBody>
      </p:sp>
      <p:pic>
        <p:nvPicPr>
          <p:cNvPr id="15367" name="Picture 7" descr="http://hyperphysics.phy-astr.gsu.edu/HBASE/organic/imgorg/lipid.gif">
            <a:extLst>
              <a:ext uri="{FF2B5EF4-FFF2-40B4-BE49-F238E27FC236}">
                <a16:creationId xmlns:a16="http://schemas.microsoft.com/office/drawing/2014/main" id="{2C9E8C55-0036-1D55-23BD-38F39DD7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208463"/>
            <a:ext cx="4267200" cy="264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83B0-530C-513B-E674-37D233B3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Saturated vs. Unsaturated Fats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E33EE-FD6B-57B4-FE19-3F1EAF18A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1600200"/>
          </a:xfrm>
        </p:spPr>
        <p:txBody>
          <a:bodyPr>
            <a:normAutofit fontScale="925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Saturated Fats: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Have all single bonds between C atoms, solid at room temperature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2D295-8D61-FF42-DCDB-F8A7465C5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9600" y="1447800"/>
            <a:ext cx="4267200" cy="1676400"/>
          </a:xfrm>
        </p:spPr>
        <p:txBody>
          <a:bodyPr>
            <a:normAutofit fontScale="925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Unsaturated Fats: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Have double or triple bonds between C atoms, liquid at room temperature</a:t>
            </a:r>
          </a:p>
        </p:txBody>
      </p:sp>
      <p:pic>
        <p:nvPicPr>
          <p:cNvPr id="16389" name="Picture 4" descr="saturated fat.jpg">
            <a:extLst>
              <a:ext uri="{FF2B5EF4-FFF2-40B4-BE49-F238E27FC236}">
                <a16:creationId xmlns:a16="http://schemas.microsoft.com/office/drawing/2014/main" id="{F27592A1-0AD0-8BED-E274-B42DFA22A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048000"/>
            <a:ext cx="34194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5">
            <a:extLst>
              <a:ext uri="{FF2B5EF4-FFF2-40B4-BE49-F238E27FC236}">
                <a16:creationId xmlns:a16="http://schemas.microsoft.com/office/drawing/2014/main" id="{29593D1C-787F-5693-2F06-9D2462405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6248400"/>
            <a:ext cx="266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http://biology.clc.uc.edu/graphics/bio104/fat.jpg</a:t>
            </a:r>
          </a:p>
        </p:txBody>
      </p:sp>
      <p:pic>
        <p:nvPicPr>
          <p:cNvPr id="16391" name="Picture 6" descr="sat fat.jpg">
            <a:extLst>
              <a:ext uri="{FF2B5EF4-FFF2-40B4-BE49-F238E27FC236}">
                <a16:creationId xmlns:a16="http://schemas.microsoft.com/office/drawing/2014/main" id="{13513FD7-BA42-A615-EE56-A4D2F2219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95600"/>
            <a:ext cx="29114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Rectangle 7">
            <a:extLst>
              <a:ext uri="{FF2B5EF4-FFF2-40B4-BE49-F238E27FC236}">
                <a16:creationId xmlns:a16="http://schemas.microsoft.com/office/drawing/2014/main" id="{D52C886D-DEFE-CF45-79A1-F75A62723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38862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http://www.highperformanceliving.com/assets/images/cid_image002.jpg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D3A6-EECB-BE63-3BE0-72805C87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4295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/>
              <a:t>Fats and Cell Membranes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CCD26-E8A1-85C0-9361-DABE09DBE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2255838"/>
          </a:xfrm>
        </p:spPr>
        <p:txBody>
          <a:bodyPr>
            <a:normAutofit fontScale="925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In a </a:t>
            </a:r>
            <a:r>
              <a:rPr lang="en-US" b="1" dirty="0" err="1"/>
              <a:t>phospholipid</a:t>
            </a:r>
            <a:r>
              <a:rPr lang="en-US" dirty="0"/>
              <a:t>, two fatty acids and a phosphate group are attached to glycerol: </a:t>
            </a:r>
            <a:r>
              <a:rPr lang="en-US" u="sng" dirty="0"/>
              <a:t>the main component of cell membranes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The two fatty acid tails are hydrophobic, but the phosphate group and its attachments form a hydrophilic head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17412" name="Picture 4" descr="Cell_membrane.png">
            <a:extLst>
              <a:ext uri="{FF2B5EF4-FFF2-40B4-BE49-F238E27FC236}">
                <a16:creationId xmlns:a16="http://schemas.microsoft.com/office/drawing/2014/main" id="{10F539D7-EFB8-7BDD-D644-3F614FCAE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00400"/>
            <a:ext cx="762000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5">
            <a:extLst>
              <a:ext uri="{FF2B5EF4-FFF2-40B4-BE49-F238E27FC236}">
                <a16:creationId xmlns:a16="http://schemas.microsoft.com/office/drawing/2014/main" id="{7CD082D2-E796-CEDB-1405-BACAD6462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6400800"/>
            <a:ext cx="45720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http://cellbiology.med.unsw.edu.au/units/images/Cell_membrane.png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1" descr="05_13aPhospholipidStruct-U">
            <a:extLst>
              <a:ext uri="{FF2B5EF4-FFF2-40B4-BE49-F238E27FC236}">
                <a16:creationId xmlns:a16="http://schemas.microsoft.com/office/drawing/2014/main" id="{0BC557FC-B6CD-3D87-B78C-1500481B3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39700"/>
            <a:ext cx="7304087" cy="657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2">
            <a:extLst>
              <a:ext uri="{FF2B5EF4-FFF2-40B4-BE49-F238E27FC236}">
                <a16:creationId xmlns:a16="http://schemas.microsoft.com/office/drawing/2014/main" id="{93CBF167-2E1F-BD81-542C-9E7D1735E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200">
                <a:latin typeface="Constantia" panose="02030602050306030303" pitchFamily="18" charset="0"/>
              </a:rPr>
              <a:t>Fig. 5-13ab</a:t>
            </a:r>
          </a:p>
        </p:txBody>
      </p:sp>
      <p:sp>
        <p:nvSpPr>
          <p:cNvPr id="18436" name="Text Box 23">
            <a:extLst>
              <a:ext uri="{FF2B5EF4-FFF2-40B4-BE49-F238E27FC236}">
                <a16:creationId xmlns:a16="http://schemas.microsoft.com/office/drawing/2014/main" id="{F9B9563A-EFE1-A5CE-EDB0-D036A52D8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6251575"/>
            <a:ext cx="3190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(b)</a:t>
            </a:r>
            <a:endParaRPr lang="en-US" altLang="en-US" sz="2100" b="1">
              <a:latin typeface="Constantia" panose="02030602050306030303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37" name="Text Box 24">
            <a:extLst>
              <a:ext uri="{FF2B5EF4-FFF2-40B4-BE49-F238E27FC236}">
                <a16:creationId xmlns:a16="http://schemas.microsoft.com/office/drawing/2014/main" id="{E34987E5-9F8F-063F-B52B-FD452E8D5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588" y="6248400"/>
            <a:ext cx="355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Space-filling model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38" name="Text Box 25">
            <a:extLst>
              <a:ext uri="{FF2B5EF4-FFF2-40B4-BE49-F238E27FC236}">
                <a16:creationId xmlns:a16="http://schemas.microsoft.com/office/drawing/2014/main" id="{31281248-C981-F8B9-0A7F-7E960C1CF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6248400"/>
            <a:ext cx="3413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(a)</a:t>
            </a:r>
            <a:endParaRPr lang="en-US" altLang="en-US" sz="2100" b="1">
              <a:latin typeface="Constantia" panose="02030602050306030303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39" name="Text Box 26">
            <a:extLst>
              <a:ext uri="{FF2B5EF4-FFF2-40B4-BE49-F238E27FC236}">
                <a16:creationId xmlns:a16="http://schemas.microsoft.com/office/drawing/2014/main" id="{7BEA2BC0-BDCB-1F35-A365-D61EE2E16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251575"/>
            <a:ext cx="23288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Structural formula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40" name="Text Box 27">
            <a:extLst>
              <a:ext uri="{FF2B5EF4-FFF2-40B4-BE49-F238E27FC236}">
                <a16:creationId xmlns:a16="http://schemas.microsoft.com/office/drawing/2014/main" id="{1E3BED72-7829-D38E-890F-D6A5C92CD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3840163"/>
            <a:ext cx="1379538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Fatty acids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41" name="Text Box 28">
            <a:extLst>
              <a:ext uri="{FF2B5EF4-FFF2-40B4-BE49-F238E27FC236}">
                <a16:creationId xmlns:a16="http://schemas.microsoft.com/office/drawing/2014/main" id="{A463A78B-2DFD-68B2-143A-6AE7C371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525" y="438150"/>
            <a:ext cx="1074738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Choline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42" name="Text Box 29">
            <a:extLst>
              <a:ext uri="{FF2B5EF4-FFF2-40B4-BE49-F238E27FC236}">
                <a16:creationId xmlns:a16="http://schemas.microsoft.com/office/drawing/2014/main" id="{6BB0D037-46A4-AAD3-CD28-A3A514BEF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1247775"/>
            <a:ext cx="1379538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Phosphate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43" name="Text Box 30">
            <a:extLst>
              <a:ext uri="{FF2B5EF4-FFF2-40B4-BE49-F238E27FC236}">
                <a16:creationId xmlns:a16="http://schemas.microsoft.com/office/drawing/2014/main" id="{B3AEAE7C-D22B-AF86-A18D-D3A408749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1920875"/>
            <a:ext cx="107156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Glycerol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44" name="Text Box 31">
            <a:extLst>
              <a:ext uri="{FF2B5EF4-FFF2-40B4-BE49-F238E27FC236}">
                <a16:creationId xmlns:a16="http://schemas.microsoft.com/office/drawing/2014/main" id="{B8AAC2E6-32DD-F0B2-5A11-1ED0EE43128C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97643" y="4107656"/>
            <a:ext cx="22669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Hydrophobic tails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  <p:sp>
        <p:nvSpPr>
          <p:cNvPr id="18445" name="Text Box 32">
            <a:extLst>
              <a:ext uri="{FF2B5EF4-FFF2-40B4-BE49-F238E27FC236}">
                <a16:creationId xmlns:a16="http://schemas.microsoft.com/office/drawing/2014/main" id="{39A2F04A-7118-85C1-019C-89BBA215534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83343" y="1364456"/>
            <a:ext cx="220821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2100" b="1">
                <a:latin typeface="Constantia" panose="02030602050306030303" pitchFamily="18" charset="0"/>
                <a:sym typeface="TimesNewRomanPS Bold" pitchFamily="1" charset="0"/>
              </a:rPr>
              <a:t>Hydrophilic head</a:t>
            </a:r>
            <a:endParaRPr lang="en-US" altLang="en-US" sz="2100" b="1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9624-9AE2-6211-D28B-A60C07AF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675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117CA-14F9-530D-1EA5-8527354DB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667000"/>
          </a:xfrm>
        </p:spPr>
        <p:txBody>
          <a:bodyPr>
            <a:normAutofit fontScale="925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Lipids characterized by a carbon skeleton of 4 fused rings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Cholesterol and many other </a:t>
            </a:r>
            <a:r>
              <a:rPr lang="en-US"/>
              <a:t>hormones important </a:t>
            </a:r>
            <a:r>
              <a:rPr lang="en-US" dirty="0"/>
              <a:t>in cell membranes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Too much builds up in the arteries = atherosclerosis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Trans fats: artificially made fats, no enzymes to break them down = heart disease</a:t>
            </a:r>
          </a:p>
        </p:txBody>
      </p:sp>
      <p:pic>
        <p:nvPicPr>
          <p:cNvPr id="19460" name="Picture 6" descr="05_15Cholesterol-U">
            <a:extLst>
              <a:ext uri="{FF2B5EF4-FFF2-40B4-BE49-F238E27FC236}">
                <a16:creationId xmlns:a16="http://schemas.microsoft.com/office/drawing/2014/main" id="{76F02CA7-4BCD-081B-8D9F-FA36A4178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733800"/>
            <a:ext cx="6327775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4">
            <a:extLst>
              <a:ext uri="{FF2B5EF4-FFF2-40B4-BE49-F238E27FC236}">
                <a16:creationId xmlns:a16="http://schemas.microsoft.com/office/drawing/2014/main" id="{E4CF2EBF-AA32-FB5D-B978-FD43699AF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60960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onstantia" panose="02030602050306030303" pitchFamily="18" charset="0"/>
              </a:rPr>
              <a:t>cholesterol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A405F4E-46FB-BABD-2DC2-FBC0FB340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 algn="ctr" eaLnBrk="1" hangingPunct="1"/>
            <a:r>
              <a:rPr lang="en-US" altLang="en-US"/>
              <a:t>Proteins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D0236C3-0641-6D88-D8F8-6B48A308BD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447800"/>
            <a:ext cx="4038600" cy="4876800"/>
          </a:xfrm>
        </p:spPr>
        <p:txBody>
          <a:bodyPr/>
          <a:lstStyle/>
          <a:p>
            <a:pPr eaLnBrk="1" hangingPunct="1"/>
            <a:r>
              <a:rPr lang="en-US" altLang="en-US" sz="2800"/>
              <a:t>Enzymes – catalysts</a:t>
            </a:r>
          </a:p>
          <a:p>
            <a:pPr eaLnBrk="1" hangingPunct="1"/>
            <a:r>
              <a:rPr lang="en-US" altLang="en-US" sz="2800"/>
              <a:t>Structural support</a:t>
            </a:r>
          </a:p>
          <a:p>
            <a:pPr eaLnBrk="1" hangingPunct="1"/>
            <a:r>
              <a:rPr lang="en-US" altLang="en-US" sz="2800"/>
              <a:t>Storage</a:t>
            </a:r>
          </a:p>
          <a:p>
            <a:pPr eaLnBrk="1" hangingPunct="1"/>
            <a:r>
              <a:rPr lang="en-US" altLang="en-US" sz="2800"/>
              <a:t>Transport</a:t>
            </a:r>
            <a:endParaRPr lang="en-US" altLang="en-US"/>
          </a:p>
          <a:p>
            <a:pPr eaLnBrk="1" hangingPunct="1"/>
            <a:r>
              <a:rPr lang="en-US" altLang="en-US" sz="2800"/>
              <a:t>Cell communication</a:t>
            </a:r>
          </a:p>
          <a:p>
            <a:pPr eaLnBrk="1" hangingPunct="1"/>
            <a:r>
              <a:rPr lang="en-US" altLang="en-US" sz="2800"/>
              <a:t>Movement</a:t>
            </a:r>
          </a:p>
          <a:p>
            <a:pPr eaLnBrk="1" hangingPunct="1"/>
            <a:r>
              <a:rPr lang="en-US" altLang="en-US" sz="2800"/>
              <a:t>Defense</a:t>
            </a:r>
          </a:p>
        </p:txBody>
      </p:sp>
      <p:pic>
        <p:nvPicPr>
          <p:cNvPr id="20484" name="Picture 7" descr="http://www.phschool.com/science/biology_place/labbench/lab2/images/enzyme.gif">
            <a:extLst>
              <a:ext uri="{FF2B5EF4-FFF2-40B4-BE49-F238E27FC236}">
                <a16:creationId xmlns:a16="http://schemas.microsoft.com/office/drawing/2014/main" id="{54ECA44A-EA1E-9501-8488-6B507709AC26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1203325"/>
            <a:ext cx="4495800" cy="2301875"/>
          </a:xfrm>
          <a:noFill/>
        </p:spPr>
      </p:pic>
      <p:pic>
        <p:nvPicPr>
          <p:cNvPr id="20485" name="Picture 9" descr="http://library.thinkquest.org/C004535/media/cell_membrane.gif">
            <a:extLst>
              <a:ext uri="{FF2B5EF4-FFF2-40B4-BE49-F238E27FC236}">
                <a16:creationId xmlns:a16="http://schemas.microsoft.com/office/drawing/2014/main" id="{18363855-3348-6374-22DF-3AFDE7741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08375"/>
            <a:ext cx="3997325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19501" y="2498"/>
            <a:ext cx="190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Biomolecules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464163"/>
            <a:ext cx="9144000" cy="369332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-7257" y="822609"/>
            <a:ext cx="9151257" cy="5287331"/>
            <a:chOff x="-7257" y="822609"/>
            <a:chExt cx="9151257" cy="5287331"/>
          </a:xfrm>
        </p:grpSpPr>
        <p:pic>
          <p:nvPicPr>
            <p:cNvPr id="2457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257" y="822609"/>
              <a:ext cx="9151257" cy="1884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7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796874"/>
              <a:ext cx="9144000" cy="618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4917" y="3657600"/>
              <a:ext cx="3183326" cy="2452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矩形 17"/>
          <p:cNvSpPr/>
          <p:nvPr/>
        </p:nvSpPr>
        <p:spPr>
          <a:xfrm>
            <a:off x="4662708" y="6196374"/>
            <a:ext cx="4458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are proteins?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What are amino acids? Why are they called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difunctional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 Draw the structure of an amino acid. </a:t>
            </a:r>
          </a:p>
        </p:txBody>
      </p:sp>
    </p:spTree>
    <p:extLst>
      <p:ext uri="{BB962C8B-B14F-4D97-AF65-F5344CB8AC3E}">
        <p14:creationId xmlns:p14="http://schemas.microsoft.com/office/powerpoint/2010/main" val="174449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>
            <a:extLst>
              <a:ext uri="{FF2B5EF4-FFF2-40B4-BE49-F238E27FC236}">
                <a16:creationId xmlns:a16="http://schemas.microsoft.com/office/drawing/2014/main" id="{5DB26488-5D29-9FA2-33B6-99D1C1DF7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Proteins</a:t>
            </a: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00DF9354-27FA-140F-4BDA-B68937282FC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524000"/>
            <a:ext cx="4267200" cy="5181600"/>
          </a:xfrm>
        </p:spPr>
        <p:txBody>
          <a:bodyPr/>
          <a:lstStyle/>
          <a:p>
            <a:pPr eaLnBrk="1" hangingPunct="1"/>
            <a:r>
              <a:rPr lang="en-US" altLang="en-US" sz="2400" b="1" u="sng"/>
              <a:t>Protein</a:t>
            </a:r>
            <a:r>
              <a:rPr lang="en-US" altLang="en-US" sz="2400"/>
              <a:t> – made of one or more polypeptides</a:t>
            </a:r>
          </a:p>
          <a:p>
            <a:pPr eaLnBrk="1" hangingPunct="1"/>
            <a:r>
              <a:rPr lang="en-US" altLang="en-US" sz="2400" b="1" u="sng"/>
              <a:t>Polypeptide</a:t>
            </a:r>
            <a:r>
              <a:rPr lang="en-US" altLang="en-US" sz="2400"/>
              <a:t> – polymer of amino acids joined by </a:t>
            </a:r>
            <a:r>
              <a:rPr lang="en-US" altLang="en-US" sz="2400" b="1" u="sng"/>
              <a:t>peptide bonds</a:t>
            </a:r>
            <a:r>
              <a:rPr lang="en-US" altLang="en-US" sz="2400"/>
              <a:t> amino acids are alternately flipped upside down</a:t>
            </a:r>
            <a:endParaRPr lang="en-US" altLang="en-US" sz="2400" b="1" u="sng"/>
          </a:p>
          <a:p>
            <a:pPr eaLnBrk="1" hangingPunct="1"/>
            <a:r>
              <a:rPr lang="en-US" altLang="en-US" sz="2400" b="1" u="sng"/>
              <a:t>Amino acid</a:t>
            </a:r>
            <a:r>
              <a:rPr lang="en-US" altLang="en-US" sz="2400"/>
              <a:t> – contains an amine group and a carboxyl group</a:t>
            </a:r>
          </a:p>
          <a:p>
            <a:pPr lvl="1" eaLnBrk="1" hangingPunct="1"/>
            <a:r>
              <a:rPr lang="en-US" altLang="en-US" sz="2000"/>
              <a:t>20 different</a:t>
            </a:r>
          </a:p>
          <a:p>
            <a:pPr lvl="1" eaLnBrk="1" hangingPunct="1"/>
            <a:r>
              <a:rPr lang="en-US" altLang="en-US" sz="2000"/>
              <a:t>Differ in properties due to R groups or side chains</a:t>
            </a:r>
          </a:p>
        </p:txBody>
      </p:sp>
      <p:pic>
        <p:nvPicPr>
          <p:cNvPr id="21508" name="Picture 10" descr="http://plantandsoil.unl.edu/croptechnology2005/UserFiles/Image/siteImages/AminoAcidLG.gif">
            <a:extLst>
              <a:ext uri="{FF2B5EF4-FFF2-40B4-BE49-F238E27FC236}">
                <a16:creationId xmlns:a16="http://schemas.microsoft.com/office/drawing/2014/main" id="{70D2AFC5-AAE3-1B25-DD26-08F67EF407AD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143000"/>
            <a:ext cx="3124200" cy="2343150"/>
          </a:xfrm>
          <a:noFill/>
        </p:spPr>
      </p:pic>
      <p:sp>
        <p:nvSpPr>
          <p:cNvPr id="21509" name="Rectangle 5">
            <a:extLst>
              <a:ext uri="{FF2B5EF4-FFF2-40B4-BE49-F238E27FC236}">
                <a16:creationId xmlns:a16="http://schemas.microsoft.com/office/drawing/2014/main" id="{F58A9670-E89F-D56B-84EA-C1FB94B23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324600"/>
            <a:ext cx="49530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http://www.schenectady.k12.ny.us/putman/biology/data/images/translation/peptbond.gif</a:t>
            </a:r>
          </a:p>
        </p:txBody>
      </p:sp>
      <p:pic>
        <p:nvPicPr>
          <p:cNvPr id="21510" name="Picture 6" descr="peptbond.gif">
            <a:extLst>
              <a:ext uri="{FF2B5EF4-FFF2-40B4-BE49-F238E27FC236}">
                <a16:creationId xmlns:a16="http://schemas.microsoft.com/office/drawing/2014/main" id="{87E551C0-93D6-A631-D347-4F0C3430C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67125"/>
            <a:ext cx="28194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:\Users\User\Dropbox\photos\screen shots\2022-08-29 (51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166018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49A3-CBD3-5F24-6A46-4973F2E7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1435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/>
              <a:t>Protein Structure</a:t>
            </a:r>
            <a:br>
              <a:rPr lang="en-US" b="1" dirty="0"/>
            </a:br>
            <a:r>
              <a:rPr lang="en-US" sz="3600" dirty="0">
                <a:hlinkClick r:id="rId2"/>
              </a:rPr>
              <a:t>Protein Folding Animation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A2BFFF-F235-99C4-BDE9-2A1E9C02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26670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Primary: Amino Acid Sequence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/>
              <a:t>Secondary: </a:t>
            </a:r>
            <a:r>
              <a:rPr lang="el-GR" dirty="0">
                <a:latin typeface="Times New Roman"/>
                <a:cs typeface="Times New Roman"/>
              </a:rPr>
              <a:t>α</a:t>
            </a:r>
            <a:r>
              <a:rPr lang="en-US" dirty="0">
                <a:latin typeface="Times New Roman"/>
                <a:cs typeface="Times New Roman"/>
              </a:rPr>
              <a:t> helix or </a:t>
            </a:r>
            <a:r>
              <a:rPr lang="el-GR" dirty="0">
                <a:latin typeface="Times New Roman"/>
                <a:cs typeface="Times New Roman"/>
              </a:rPr>
              <a:t>β</a:t>
            </a:r>
            <a:r>
              <a:rPr lang="en-US" dirty="0">
                <a:latin typeface="Times New Roman"/>
                <a:cs typeface="Times New Roman"/>
              </a:rPr>
              <a:t> pleated sheet (H bonds between </a:t>
            </a:r>
            <a:r>
              <a:rPr lang="en-US" dirty="0" err="1">
                <a:latin typeface="Times New Roman"/>
                <a:cs typeface="Times New Roman"/>
              </a:rPr>
              <a:t>a.a</a:t>
            </a:r>
            <a:r>
              <a:rPr lang="en-US" dirty="0">
                <a:latin typeface="Times New Roman"/>
                <a:cs typeface="Times New Roman"/>
              </a:rPr>
              <a:t>.)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>
                <a:latin typeface="Times New Roman"/>
                <a:cs typeface="Times New Roman"/>
              </a:rPr>
              <a:t>Tertiary: the folding of the secondary structure 3-D due to hydrogen bonds and disulfide bridges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>
                <a:latin typeface="Times New Roman"/>
                <a:cs typeface="Times New Roman"/>
              </a:rPr>
              <a:t>Quaternary: 2 or more polypeptide chains put together by chaperone proteins (errors in folding cause disease: Alzheimer’s and Parkinson’s, sickle cell anemia)</a:t>
            </a:r>
            <a:endParaRPr lang="en-US" dirty="0"/>
          </a:p>
        </p:txBody>
      </p:sp>
      <p:pic>
        <p:nvPicPr>
          <p:cNvPr id="22532" name="Picture 9" descr="05_21-ProteinStructure-U">
            <a:extLst>
              <a:ext uri="{FF2B5EF4-FFF2-40B4-BE49-F238E27FC236}">
                <a16:creationId xmlns:a16="http://schemas.microsoft.com/office/drawing/2014/main" id="{21462042-F266-A57A-EC72-18FF848E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962400"/>
            <a:ext cx="8548688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 Box 11">
            <a:extLst>
              <a:ext uri="{FF2B5EF4-FFF2-40B4-BE49-F238E27FC236}">
                <a16:creationId xmlns:a16="http://schemas.microsoft.com/office/drawing/2014/main" id="{BC088BCA-BD28-04C2-0768-064321A9F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962400"/>
            <a:ext cx="685800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Primary</a:t>
            </a:r>
          </a:p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100" b="1">
              <a:latin typeface="Times" panose="02020603050405020304" pitchFamily="18" charset="0"/>
            </a:endParaRPr>
          </a:p>
        </p:txBody>
      </p:sp>
      <p:sp>
        <p:nvSpPr>
          <p:cNvPr id="22534" name="Text Box 12">
            <a:extLst>
              <a:ext uri="{FF2B5EF4-FFF2-40B4-BE49-F238E27FC236}">
                <a16:creationId xmlns:a16="http://schemas.microsoft.com/office/drawing/2014/main" id="{EC547A54-50D0-53D9-EB8A-73F058A58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038600"/>
            <a:ext cx="782638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Secondary</a:t>
            </a:r>
          </a:p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100" b="1">
              <a:latin typeface="Times" panose="02020603050405020304" pitchFamily="18" charset="0"/>
            </a:endParaRPr>
          </a:p>
        </p:txBody>
      </p:sp>
      <p:sp>
        <p:nvSpPr>
          <p:cNvPr id="22535" name="Text Box 13">
            <a:extLst>
              <a:ext uri="{FF2B5EF4-FFF2-40B4-BE49-F238E27FC236}">
                <a16:creationId xmlns:a16="http://schemas.microsoft.com/office/drawing/2014/main" id="{0767083B-722C-4B39-07C5-F806E82AC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038600"/>
            <a:ext cx="7826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Tertiary</a:t>
            </a:r>
          </a:p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100" b="1">
              <a:latin typeface="Times" panose="02020603050405020304" pitchFamily="18" charset="0"/>
            </a:endParaRPr>
          </a:p>
        </p:txBody>
      </p:sp>
      <p:sp>
        <p:nvSpPr>
          <p:cNvPr id="22536" name="Text Box 18">
            <a:extLst>
              <a:ext uri="{FF2B5EF4-FFF2-40B4-BE49-F238E27FC236}">
                <a16:creationId xmlns:a16="http://schemas.microsoft.com/office/drawing/2014/main" id="{03A1C3FE-84DB-43B7-C8D9-422D66A59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038600"/>
            <a:ext cx="78263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Quaternary</a:t>
            </a:r>
          </a:p>
          <a:p>
            <a:pPr algn="ctr" eaLnBrk="1" hangingPunct="1">
              <a:buFont typeface="TimesNewRomanPS Bold" pitchFamily="1" charset="0"/>
              <a:buNone/>
            </a:pPr>
            <a:r>
              <a:rPr lang="en-US" altLang="en-US" sz="11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100" b="1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528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3" name="Picture 3" descr="C:\Users\User\Dropbox\photos\screen shots\2022-08-29 (1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C:\Users\User\Dropbox\photos\screen shots\2022-08-29 (2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C:\Users\User\Dropbox\photos\screen shots\2022-08-29 (3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C:\Users\User\Dropbox\photos\screen shots\2022-08-29 (4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9" name="Picture 3" descr="C:\Users\User\Dropbox\photos\screen shots\2022-08-29 (5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19501" y="2498"/>
            <a:ext cx="190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Biomolecules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464163"/>
            <a:ext cx="9144000" cy="369332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Amino Acids as Zwitterions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1066800"/>
            <a:ext cx="9128760" cy="5085149"/>
          </a:xfrm>
          <a:prstGeom prst="rect">
            <a:avLst/>
          </a:prstGeom>
        </p:spPr>
      </p:pic>
      <p:sp>
        <p:nvSpPr>
          <p:cNvPr id="8" name="矩形 17"/>
          <p:cNvSpPr/>
          <p:nvPr/>
        </p:nvSpPr>
        <p:spPr>
          <a:xfrm>
            <a:off x="6204858" y="6539299"/>
            <a:ext cx="2895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are zwitterions? Give example.  </a:t>
            </a:r>
          </a:p>
        </p:txBody>
      </p:sp>
    </p:spTree>
    <p:extLst>
      <p:ext uri="{BB962C8B-B14F-4D97-AF65-F5344CB8AC3E}">
        <p14:creationId xmlns:p14="http://schemas.microsoft.com/office/powerpoint/2010/main" val="119735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19501" y="2498"/>
            <a:ext cx="190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Biomolecules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464163"/>
            <a:ext cx="9144000" cy="369332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Peptides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653143" y="882363"/>
            <a:ext cx="7837714" cy="5789619"/>
            <a:chOff x="653143" y="882363"/>
            <a:chExt cx="7837714" cy="5789619"/>
          </a:xfrm>
        </p:grpSpPr>
        <p:pic>
          <p:nvPicPr>
            <p:cNvPr id="266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43" y="882363"/>
              <a:ext cx="7837714" cy="1620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" name="Group 4"/>
            <p:cNvGrpSpPr/>
            <p:nvPr/>
          </p:nvGrpSpPr>
          <p:grpSpPr>
            <a:xfrm>
              <a:off x="2190750" y="2525309"/>
              <a:ext cx="4762500" cy="4146673"/>
              <a:chOff x="2171700" y="2487209"/>
              <a:chExt cx="4762500" cy="4146673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800" y="2487209"/>
                <a:ext cx="4724400" cy="2016110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1700" y="4572000"/>
                <a:ext cx="4762500" cy="2061882"/>
              </a:xfrm>
              <a:prstGeom prst="rect">
                <a:avLst/>
              </a:prstGeom>
            </p:spPr>
          </p:pic>
        </p:grpSp>
      </p:grpSp>
      <p:sp>
        <p:nvSpPr>
          <p:cNvPr id="14" name="矩形 17"/>
          <p:cNvSpPr/>
          <p:nvPr/>
        </p:nvSpPr>
        <p:spPr>
          <a:xfrm>
            <a:off x="8124372" y="5103674"/>
            <a:ext cx="10196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are peptide bonds?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Give an example of the formation of a peptide bond. </a:t>
            </a:r>
          </a:p>
        </p:txBody>
      </p:sp>
    </p:spTree>
    <p:extLst>
      <p:ext uri="{BB962C8B-B14F-4D97-AF65-F5344CB8AC3E}">
        <p14:creationId xmlns:p14="http://schemas.microsoft.com/office/powerpoint/2010/main" val="31964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19501" y="2498"/>
            <a:ext cx="190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Biomolecules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464163"/>
            <a:ext cx="9144000" cy="369332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43000"/>
            <a:ext cx="9144000" cy="2765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17"/>
          <p:cNvSpPr/>
          <p:nvPr/>
        </p:nvSpPr>
        <p:spPr>
          <a:xfrm>
            <a:off x="4847773" y="6367307"/>
            <a:ext cx="4252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How proteins are usually classified?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What are fibrous and globular proteins? Give examples. </a:t>
            </a:r>
          </a:p>
        </p:txBody>
      </p:sp>
    </p:spTree>
    <p:extLst>
      <p:ext uri="{BB962C8B-B14F-4D97-AF65-F5344CB8AC3E}">
        <p14:creationId xmlns:p14="http://schemas.microsoft.com/office/powerpoint/2010/main" val="226002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C:\Users\User\Dropbox\photos\screen shots\2022-08-29 (6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7" name="Picture 3" descr="C:\Users\User\Dropbox\photos\screen shots\2022-08-29 (7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C:\Users\User\Dropbox\photos\screen shots\2022-08-29 (8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524000" y="0"/>
            <a:ext cx="12193588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C:\Users\User\Dropbox\photos\screen shots\2022-08-29 (9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C:\Users\User\Dropbox\photos\screen shots\2022-08-29 (10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3" name="Picture 3" descr="C:\Users\User\Dropbox\photos\screen shots\2022-08-29 (11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3704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 descr="C:\Users\User\Dropbox\photos\screen shots\2022-08-29 (13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C:\Users\User\Dropbox\photos\screen shots\2022-08-29 (12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 descr="C:\Users\User\Dropbox\photos\screen shots\2022-08-29 (14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C:\Users\User\Dropbox\photos\screen shots\2022-08-29 (15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524000" y="0"/>
            <a:ext cx="12193588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B71D4E-992B-1437-B8AC-0E743B4D2CDB}"/>
              </a:ext>
            </a:extLst>
          </p:cNvPr>
          <p:cNvSpPr txBox="1"/>
          <p:nvPr/>
        </p:nvSpPr>
        <p:spPr>
          <a:xfrm>
            <a:off x="1524381" y="4724400"/>
            <a:ext cx="769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https://fold.it/portal/node/2003714</a:t>
            </a:r>
            <a:r>
              <a:rPr lang="en-US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E2698-CC00-D6EE-025F-C2A80D90887B}"/>
              </a:ext>
            </a:extLst>
          </p:cNvPr>
          <p:cNvSpPr txBox="1"/>
          <p:nvPr/>
        </p:nvSpPr>
        <p:spPr>
          <a:xfrm>
            <a:off x="1447800" y="5258523"/>
            <a:ext cx="6781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Download and install Foldit</a:t>
            </a:r>
          </a:p>
          <a:p>
            <a:r>
              <a:rPr lang="en-US" sz="2400" dirty="0"/>
              <a:t>Foldit runs on Windows (all versions since XP), macOS (10.7 or later), and Linux (64-bit).</a:t>
            </a:r>
          </a:p>
          <a:p>
            <a:endParaRPr lang="en-US" sz="2400" dirty="0"/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13A37A1C-6C63-5F72-30E3-35DC9C26A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81" y="427027"/>
            <a:ext cx="5333619" cy="381687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8" descr="05_22-SickleCellDisease-U">
            <a:extLst>
              <a:ext uri="{FF2B5EF4-FFF2-40B4-BE49-F238E27FC236}">
                <a16:creationId xmlns:a16="http://schemas.microsoft.com/office/drawing/2014/main" id="{2FF22926-5F48-BEC3-9324-5899C9447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212725"/>
            <a:ext cx="8121650" cy="658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9">
            <a:extLst>
              <a:ext uri="{FF2B5EF4-FFF2-40B4-BE49-F238E27FC236}">
                <a16:creationId xmlns:a16="http://schemas.microsoft.com/office/drawing/2014/main" id="{EAE2CD9D-2089-4C16-3688-43DC8249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0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0850" indent="-4508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200">
                <a:latin typeface="Constantia" panose="02030602050306030303" pitchFamily="18" charset="0"/>
              </a:rPr>
              <a:t>Fig. 5-22</a:t>
            </a:r>
          </a:p>
        </p:txBody>
      </p:sp>
      <p:sp>
        <p:nvSpPr>
          <p:cNvPr id="23556" name="Text Box 10">
            <a:extLst>
              <a:ext uri="{FF2B5EF4-FFF2-40B4-BE49-F238E27FC236}">
                <a16:creationId xmlns:a16="http://schemas.microsoft.com/office/drawing/2014/main" id="{D4462371-73F9-7A01-CEC8-212CB6414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568325"/>
            <a:ext cx="57467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Primary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57" name="Text Box 11">
            <a:extLst>
              <a:ext uri="{FF2B5EF4-FFF2-40B4-BE49-F238E27FC236}">
                <a16:creationId xmlns:a16="http://schemas.microsoft.com/office/drawing/2014/main" id="{0FE2EBFD-EE21-34FB-7A22-5E09773AD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1069975"/>
            <a:ext cx="714375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Secondary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and tertiary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structures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58" name="Text Box 12">
            <a:extLst>
              <a:ext uri="{FF2B5EF4-FFF2-40B4-BE49-F238E27FC236}">
                <a16:creationId xmlns:a16="http://schemas.microsoft.com/office/drawing/2014/main" id="{03F2EF3B-BED0-B10D-AC5F-30F851A56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2682875"/>
            <a:ext cx="6826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Quaternary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59" name="Text Box 13">
            <a:extLst>
              <a:ext uri="{FF2B5EF4-FFF2-40B4-BE49-F238E27FC236}">
                <a16:creationId xmlns:a16="http://schemas.microsoft.com/office/drawing/2014/main" id="{5A649B04-76DC-EC90-2D5E-676D68E37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2682875"/>
            <a:ext cx="7334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Normal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hemoglobin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</a:rPr>
              <a:t>(top view)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0" name="Text Box 14">
            <a:extLst>
              <a:ext uri="{FF2B5EF4-FFF2-40B4-BE49-F238E27FC236}">
                <a16:creationId xmlns:a16="http://schemas.microsoft.com/office/drawing/2014/main" id="{0F5C52F4-7ED3-B4C3-D7D0-C8E4F3FB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638" y="479425"/>
            <a:ext cx="57467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Primary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1" name="Text Box 15">
            <a:extLst>
              <a:ext uri="{FF2B5EF4-FFF2-40B4-BE49-F238E27FC236}">
                <a16:creationId xmlns:a16="http://schemas.microsoft.com/office/drawing/2014/main" id="{4FAC5643-934D-EDE9-D089-9A1CCA7E0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1069975"/>
            <a:ext cx="714375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Secondary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and tertiary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structures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2" name="Text Box 16">
            <a:extLst>
              <a:ext uri="{FF2B5EF4-FFF2-40B4-BE49-F238E27FC236}">
                <a16:creationId xmlns:a16="http://schemas.microsoft.com/office/drawing/2014/main" id="{702FE700-006B-F52E-36FB-B8980777F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2682875"/>
            <a:ext cx="6826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Quaternary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structure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3" name="Text Box 17">
            <a:extLst>
              <a:ext uri="{FF2B5EF4-FFF2-40B4-BE49-F238E27FC236}">
                <a16:creationId xmlns:a16="http://schemas.microsoft.com/office/drawing/2014/main" id="{C2006C2B-0C7D-6C47-53B1-EDD8B5E0B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3768725"/>
            <a:ext cx="561975" cy="14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Function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4" name="Text Box 18">
            <a:extLst>
              <a:ext uri="{FF2B5EF4-FFF2-40B4-BE49-F238E27FC236}">
                <a16:creationId xmlns:a16="http://schemas.microsoft.com/office/drawing/2014/main" id="{5E65A8AB-6CAF-6E1B-C786-31BBD3478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3775075"/>
            <a:ext cx="561975" cy="14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Function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5" name="Text Box 19">
            <a:extLst>
              <a:ext uri="{FF2B5EF4-FFF2-40B4-BE49-F238E27FC236}">
                <a16:creationId xmlns:a16="http://schemas.microsoft.com/office/drawing/2014/main" id="{8E3A2998-35A5-928B-2876-F96BA2B55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1254125"/>
            <a:ext cx="561975" cy="14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 subunit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6" name="Text Box 20">
            <a:extLst>
              <a:ext uri="{FF2B5EF4-FFF2-40B4-BE49-F238E27FC236}">
                <a16:creationId xmlns:a16="http://schemas.microsoft.com/office/drawing/2014/main" id="{C2CEB846-D0A2-FD7E-701B-4BB02F023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3781425"/>
            <a:ext cx="9302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Molecules do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not associate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with one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another; each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carries oxygen.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7" name="Text Box 21">
            <a:extLst>
              <a:ext uri="{FF2B5EF4-FFF2-40B4-BE49-F238E27FC236}">
                <a16:creationId xmlns:a16="http://schemas.microsoft.com/office/drawing/2014/main" id="{CF335EA8-9777-CFA2-080B-1EFF19B80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5375275"/>
            <a:ext cx="6445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Red blood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cell shape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8" name="Text Box 22">
            <a:extLst>
              <a:ext uri="{FF2B5EF4-FFF2-40B4-BE49-F238E27FC236}">
                <a16:creationId xmlns:a16="http://schemas.microsoft.com/office/drawing/2014/main" id="{DF479C2B-54B1-A454-BAF9-439D011C2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5375275"/>
            <a:ext cx="1031875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Normal red blood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cells are full of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individual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</a:rPr>
              <a:t>hemoglobin</a:t>
            </a:r>
          </a:p>
          <a:p>
            <a:pPr eaLnBrk="1" hangingPunct="1"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</a:rPr>
              <a:t>moledules, each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</a:rPr>
              <a:t>carrying oxygen.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69" name="Text Box 23">
            <a:extLst>
              <a:ext uri="{FF2B5EF4-FFF2-40B4-BE49-F238E27FC236}">
                <a16:creationId xmlns:a16="http://schemas.microsoft.com/office/drawing/2014/main" id="{E5D5A937-B5E8-B7EE-7D8A-C9206A9EF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5089525"/>
            <a:ext cx="3905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10 µm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70" name="Text Box 24">
            <a:extLst>
              <a:ext uri="{FF2B5EF4-FFF2-40B4-BE49-F238E27FC236}">
                <a16:creationId xmlns:a16="http://schemas.microsoft.com/office/drawing/2014/main" id="{63EA6644-7890-C0FB-6DEB-3CB81CF16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346075"/>
            <a:ext cx="122237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Normal hemoglobin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71" name="Text Box 25">
            <a:extLst>
              <a:ext uri="{FF2B5EF4-FFF2-40B4-BE49-F238E27FC236}">
                <a16:creationId xmlns:a16="http://schemas.microsoft.com/office/drawing/2014/main" id="{05999A75-6998-0DF4-FF24-8FDE170F2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788" y="24606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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72" name="Text Box 26">
            <a:extLst>
              <a:ext uri="{FF2B5EF4-FFF2-40B4-BE49-F238E27FC236}">
                <a16:creationId xmlns:a16="http://schemas.microsoft.com/office/drawing/2014/main" id="{B1AD764C-3A1F-BC08-0AEF-83C1D88F2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31083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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73" name="Text Box 27">
            <a:extLst>
              <a:ext uri="{FF2B5EF4-FFF2-40B4-BE49-F238E27FC236}">
                <a16:creationId xmlns:a16="http://schemas.microsoft.com/office/drawing/2014/main" id="{D113F612-2A4D-2E03-E48E-60C1D49D6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8" y="24860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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74" name="Text Box 28">
            <a:extLst>
              <a:ext uri="{FF2B5EF4-FFF2-40B4-BE49-F238E27FC236}">
                <a16:creationId xmlns:a16="http://schemas.microsoft.com/office/drawing/2014/main" id="{7B52DF36-B5E3-47A0-EFA6-4C51AA4DF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1210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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75" name="Text Box 29">
            <a:extLst>
              <a:ext uri="{FF2B5EF4-FFF2-40B4-BE49-F238E27FC236}">
                <a16:creationId xmlns:a16="http://schemas.microsoft.com/office/drawing/2014/main" id="{31AECEE6-19FD-AF72-834B-DB009A83A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7207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1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576" name="Text Box 30">
            <a:extLst>
              <a:ext uri="{FF2B5EF4-FFF2-40B4-BE49-F238E27FC236}">
                <a16:creationId xmlns:a16="http://schemas.microsoft.com/office/drawing/2014/main" id="{35F16F7C-ABD4-0A79-378D-13EC60904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788" y="7207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2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577" name="Text Box 31">
            <a:extLst>
              <a:ext uri="{FF2B5EF4-FFF2-40B4-BE49-F238E27FC236}">
                <a16:creationId xmlns:a16="http://schemas.microsoft.com/office/drawing/2014/main" id="{75EBC0AA-835F-DAA6-395A-BE2CCFCBA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988" y="7207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3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578" name="Text Box 32">
            <a:extLst>
              <a:ext uri="{FF2B5EF4-FFF2-40B4-BE49-F238E27FC236}">
                <a16:creationId xmlns:a16="http://schemas.microsoft.com/office/drawing/2014/main" id="{F1FD4001-9398-15E9-F972-BC8C971CC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488" y="7207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4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579" name="Text Box 33">
            <a:extLst>
              <a:ext uri="{FF2B5EF4-FFF2-40B4-BE49-F238E27FC236}">
                <a16:creationId xmlns:a16="http://schemas.microsoft.com/office/drawing/2014/main" id="{31DE3FDC-1A60-08AF-8164-02C21F765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338" y="7207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5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580" name="Text Box 34">
            <a:extLst>
              <a:ext uri="{FF2B5EF4-FFF2-40B4-BE49-F238E27FC236}">
                <a16:creationId xmlns:a16="http://schemas.microsoft.com/office/drawing/2014/main" id="{5ACE7249-D14A-669E-E342-32D7AAE54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8838" y="7207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6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581" name="Text Box 35">
            <a:extLst>
              <a:ext uri="{FF2B5EF4-FFF2-40B4-BE49-F238E27FC236}">
                <a16:creationId xmlns:a16="http://schemas.microsoft.com/office/drawing/2014/main" id="{7ECE581A-DAF3-EF34-84CE-DF579A6DD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038" y="7207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7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582" name="Text Box 36">
            <a:extLst>
              <a:ext uri="{FF2B5EF4-FFF2-40B4-BE49-F238E27FC236}">
                <a16:creationId xmlns:a16="http://schemas.microsoft.com/office/drawing/2014/main" id="{E9E29926-6C36-46E3-2320-EE11BF163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56197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Val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583" name="Text Box 37">
            <a:extLst>
              <a:ext uri="{FF2B5EF4-FFF2-40B4-BE49-F238E27FC236}">
                <a16:creationId xmlns:a16="http://schemas.microsoft.com/office/drawing/2014/main" id="{6E5C158D-72FF-36C8-DE4E-7772DFA5D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338" y="555625"/>
            <a:ext cx="174625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His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584" name="Text Box 38">
            <a:extLst>
              <a:ext uri="{FF2B5EF4-FFF2-40B4-BE49-F238E27FC236}">
                <a16:creationId xmlns:a16="http://schemas.microsoft.com/office/drawing/2014/main" id="{0C8CE062-C495-17E0-E99A-65DFC9531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838" y="56197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Leu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585" name="Text Box 39">
            <a:extLst>
              <a:ext uri="{FF2B5EF4-FFF2-40B4-BE49-F238E27FC236}">
                <a16:creationId xmlns:a16="http://schemas.microsoft.com/office/drawing/2014/main" id="{4A6ABDC4-2C2A-EC36-E8B7-EC0FA67D7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56832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Thr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586" name="Text Box 40">
            <a:extLst>
              <a:ext uri="{FF2B5EF4-FFF2-40B4-BE49-F238E27FC236}">
                <a16:creationId xmlns:a16="http://schemas.microsoft.com/office/drawing/2014/main" id="{90ABC7ED-A56B-28C3-0ED5-BFE28E7CB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188" y="56832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Pro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587" name="Text Box 41">
            <a:extLst>
              <a:ext uri="{FF2B5EF4-FFF2-40B4-BE49-F238E27FC236}">
                <a16:creationId xmlns:a16="http://schemas.microsoft.com/office/drawing/2014/main" id="{5BB4F1E9-940C-ADF0-621D-39CF3D7EC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388" y="56197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Glu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588" name="Text Box 42">
            <a:extLst>
              <a:ext uri="{FF2B5EF4-FFF2-40B4-BE49-F238E27FC236}">
                <a16:creationId xmlns:a16="http://schemas.microsoft.com/office/drawing/2014/main" id="{81B1AC93-6EC5-BABE-16F7-36621377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88" y="56197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Glu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589" name="Line 43">
            <a:extLst>
              <a:ext uri="{FF2B5EF4-FFF2-40B4-BE49-F238E27FC236}">
                <a16:creationId xmlns:a16="http://schemas.microsoft.com/office/drawing/2014/main" id="{46295FF9-ACFF-989C-E044-0682932F4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8063" y="5237163"/>
            <a:ext cx="714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0" name="Line 44">
            <a:extLst>
              <a:ext uri="{FF2B5EF4-FFF2-40B4-BE49-F238E27FC236}">
                <a16:creationId xmlns:a16="http://schemas.microsoft.com/office/drawing/2014/main" id="{AB08423C-BBCD-0406-CA50-546E10859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8063" y="519906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1" name="Line 45">
            <a:extLst>
              <a:ext uri="{FF2B5EF4-FFF2-40B4-BE49-F238E27FC236}">
                <a16:creationId xmlns:a16="http://schemas.microsoft.com/office/drawing/2014/main" id="{2E76FB25-2D33-8B34-99F1-6C6DFD20F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4025" y="519906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92" name="Text Box 46">
            <a:extLst>
              <a:ext uri="{FF2B5EF4-FFF2-40B4-BE49-F238E27FC236}">
                <a16:creationId xmlns:a16="http://schemas.microsoft.com/office/drawing/2014/main" id="{E28531C7-21F1-E040-3715-E2058BE7D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5381625"/>
            <a:ext cx="6445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Red blood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cell shape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93" name="Text Box 47">
            <a:extLst>
              <a:ext uri="{FF2B5EF4-FFF2-40B4-BE49-F238E27FC236}">
                <a16:creationId xmlns:a16="http://schemas.microsoft.com/office/drawing/2014/main" id="{0B2EE6B6-477C-1C97-81B6-E40F2D88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738" y="1254125"/>
            <a:ext cx="561975" cy="14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 subunit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94" name="Text Box 48">
            <a:extLst>
              <a:ext uri="{FF2B5EF4-FFF2-40B4-BE49-F238E27FC236}">
                <a16:creationId xmlns:a16="http://schemas.microsoft.com/office/drawing/2014/main" id="{54438E0B-C104-E981-5A83-F0BB15A2D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960438"/>
            <a:ext cx="7334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Exposed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hydrophobic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</a:rPr>
              <a:t>region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95" name="Text Box 49">
            <a:extLst>
              <a:ext uri="{FF2B5EF4-FFF2-40B4-BE49-F238E27FC236}">
                <a16:creationId xmlns:a16="http://schemas.microsoft.com/office/drawing/2014/main" id="{B12BE497-35EE-C897-8536-0DA2B4A95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13" y="2671763"/>
            <a:ext cx="7207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Sickle-cell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hemoglobin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96" name="Text Box 50">
            <a:extLst>
              <a:ext uri="{FF2B5EF4-FFF2-40B4-BE49-F238E27FC236}">
                <a16:creationId xmlns:a16="http://schemas.microsoft.com/office/drawing/2014/main" id="{5D790D85-BD89-7CCC-5544-6B19614E9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30194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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97" name="Text Box 51">
            <a:extLst>
              <a:ext uri="{FF2B5EF4-FFF2-40B4-BE49-F238E27FC236}">
                <a16:creationId xmlns:a16="http://schemas.microsoft.com/office/drawing/2014/main" id="{D3CD449B-3CC9-48D4-5023-005A9DF93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23971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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98" name="Text Box 52">
            <a:extLst>
              <a:ext uri="{FF2B5EF4-FFF2-40B4-BE49-F238E27FC236}">
                <a16:creationId xmlns:a16="http://schemas.microsoft.com/office/drawing/2014/main" id="{65442E65-9959-9DCF-A5BA-F82BC06AD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8" y="3771900"/>
            <a:ext cx="11588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Molecules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interact with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one another and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crystallize into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a fiber; capacity</a:t>
            </a:r>
          </a:p>
          <a:p>
            <a:pPr eaLnBrk="1" hangingPunct="1"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to carry oxygen</a:t>
            </a:r>
          </a:p>
          <a:p>
            <a:pPr eaLnBrk="1" hangingPunct="1"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is greatly reduced.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599" name="Text Box 53">
            <a:extLst>
              <a:ext uri="{FF2B5EF4-FFF2-40B4-BE49-F238E27FC236}">
                <a16:creationId xmlns:a16="http://schemas.microsoft.com/office/drawing/2014/main" id="{0460CDA4-B5C2-D62E-1FFA-DB69312B5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350" y="25622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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600" name="Text Box 54">
            <a:extLst>
              <a:ext uri="{FF2B5EF4-FFF2-40B4-BE49-F238E27FC236}">
                <a16:creationId xmlns:a16="http://schemas.microsoft.com/office/drawing/2014/main" id="{29FF5248-FCFB-6A20-7E1B-813561B47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2063" y="290512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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601" name="Text Box 55">
            <a:extLst>
              <a:ext uri="{FF2B5EF4-FFF2-40B4-BE49-F238E27FC236}">
                <a16:creationId xmlns:a16="http://schemas.microsoft.com/office/drawing/2014/main" id="{7558AB71-D8D7-2DC1-4792-E9C110D5D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5381625"/>
            <a:ext cx="1235075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Fibers of abnormal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hemoglobin deform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red blood cell into</a:t>
            </a:r>
          </a:p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sickle shape.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602" name="Text Box 56">
            <a:extLst>
              <a:ext uri="{FF2B5EF4-FFF2-40B4-BE49-F238E27FC236}">
                <a16:creationId xmlns:a16="http://schemas.microsoft.com/office/drawing/2014/main" id="{F61484DB-214B-6727-E28D-426E76383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5089525"/>
            <a:ext cx="390525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10 µm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603" name="Line 57">
            <a:extLst>
              <a:ext uri="{FF2B5EF4-FFF2-40B4-BE49-F238E27FC236}">
                <a16:creationId xmlns:a16="http://schemas.microsoft.com/office/drawing/2014/main" id="{63D0C802-7B96-BA7D-52E6-391A1A937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0463" y="5243513"/>
            <a:ext cx="714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4" name="Line 58">
            <a:extLst>
              <a:ext uri="{FF2B5EF4-FFF2-40B4-BE49-F238E27FC236}">
                <a16:creationId xmlns:a16="http://schemas.microsoft.com/office/drawing/2014/main" id="{0912E672-3BF2-815D-A453-044F7DFB37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0463" y="520541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5" name="Line 59">
            <a:extLst>
              <a:ext uri="{FF2B5EF4-FFF2-40B4-BE49-F238E27FC236}">
                <a16:creationId xmlns:a16="http://schemas.microsoft.com/office/drawing/2014/main" id="{4E855880-BB80-9EC8-AD2A-9E9D51C98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6425" y="520541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06" name="Text Box 60">
            <a:extLst>
              <a:ext uri="{FF2B5EF4-FFF2-40B4-BE49-F238E27FC236}">
                <a16:creationId xmlns:a16="http://schemas.microsoft.com/office/drawing/2014/main" id="{31700759-5919-EBA7-76A4-DABEED8C2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346075"/>
            <a:ext cx="140017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1000" b="1">
                <a:latin typeface="Constantia" panose="02030602050306030303" pitchFamily="18" charset="0"/>
                <a:sym typeface="TimesNewRomanPS Bold" pitchFamily="1" charset="0"/>
              </a:rPr>
              <a:t>Sickle-cell hemoglobin</a:t>
            </a:r>
            <a:endParaRPr lang="en-US" altLang="en-US" sz="1000" b="1">
              <a:latin typeface="Times" panose="02020603050405020304" pitchFamily="18" charset="0"/>
            </a:endParaRPr>
          </a:p>
        </p:txBody>
      </p:sp>
      <p:sp>
        <p:nvSpPr>
          <p:cNvPr id="23607" name="Text Box 61">
            <a:extLst>
              <a:ext uri="{FF2B5EF4-FFF2-40B4-BE49-F238E27FC236}">
                <a16:creationId xmlns:a16="http://schemas.microsoft.com/office/drawing/2014/main" id="{07C1767F-007D-00B6-E62D-EB60A6B95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238" y="56832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Glu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608" name="Text Box 62">
            <a:extLst>
              <a:ext uri="{FF2B5EF4-FFF2-40B4-BE49-F238E27FC236}">
                <a16:creationId xmlns:a16="http://schemas.microsoft.com/office/drawing/2014/main" id="{1AD20FA5-CD7E-8543-C50A-3DFCBAB6F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538" y="56832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Pro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609" name="Text Box 63">
            <a:extLst>
              <a:ext uri="{FF2B5EF4-FFF2-40B4-BE49-F238E27FC236}">
                <a16:creationId xmlns:a16="http://schemas.microsoft.com/office/drawing/2014/main" id="{5923B1FC-4C61-9131-5FBD-4878B7C1B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688" y="56197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Thr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610" name="Text Box 64">
            <a:extLst>
              <a:ext uri="{FF2B5EF4-FFF2-40B4-BE49-F238E27FC236}">
                <a16:creationId xmlns:a16="http://schemas.microsoft.com/office/drawing/2014/main" id="{DC99AD24-8378-6E7C-6538-EF870174A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8" y="56832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Leu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611" name="Text Box 65">
            <a:extLst>
              <a:ext uri="{FF2B5EF4-FFF2-40B4-BE49-F238E27FC236}">
                <a16:creationId xmlns:a16="http://schemas.microsoft.com/office/drawing/2014/main" id="{0B4A0843-E215-3DD3-AA5F-0016F9D46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3988" y="561975"/>
            <a:ext cx="174625" cy="11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His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612" name="Text Box 66">
            <a:extLst>
              <a:ext uri="{FF2B5EF4-FFF2-40B4-BE49-F238E27FC236}">
                <a16:creationId xmlns:a16="http://schemas.microsoft.com/office/drawing/2014/main" id="{61F8CE36-806F-4BCF-C4BF-7741C5988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138" y="56832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Val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613" name="Text Box 67">
            <a:extLst>
              <a:ext uri="{FF2B5EF4-FFF2-40B4-BE49-F238E27FC236}">
                <a16:creationId xmlns:a16="http://schemas.microsoft.com/office/drawing/2014/main" id="{4A80FE32-E660-F721-CDDA-0EAF5D618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738" y="561975"/>
            <a:ext cx="16827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800" b="1">
                <a:solidFill>
                  <a:schemeClr val="bg1"/>
                </a:solidFill>
                <a:latin typeface="Constantia" panose="02030602050306030303" pitchFamily="18" charset="0"/>
                <a:sym typeface="TimesNewRomanPS Bold" pitchFamily="1" charset="0"/>
              </a:rPr>
              <a:t>Val</a:t>
            </a:r>
            <a:endParaRPr lang="en-US" altLang="en-US" sz="800" b="1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23614" name="Text Box 68">
            <a:extLst>
              <a:ext uri="{FF2B5EF4-FFF2-40B4-BE49-F238E27FC236}">
                <a16:creationId xmlns:a16="http://schemas.microsoft.com/office/drawing/2014/main" id="{81ED4226-AB4C-F256-E4FD-98BA249DF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71437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1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615" name="Text Box 69">
            <a:extLst>
              <a:ext uri="{FF2B5EF4-FFF2-40B4-BE49-F238E27FC236}">
                <a16:creationId xmlns:a16="http://schemas.microsoft.com/office/drawing/2014/main" id="{7033E40C-DB8D-7F67-D106-C98596B5C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71437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2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616" name="Text Box 70">
            <a:extLst>
              <a:ext uri="{FF2B5EF4-FFF2-40B4-BE49-F238E27FC236}">
                <a16:creationId xmlns:a16="http://schemas.microsoft.com/office/drawing/2014/main" id="{132071AB-4B6C-BB2C-F6E3-BB4DE4F97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71437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3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617" name="Text Box 71">
            <a:extLst>
              <a:ext uri="{FF2B5EF4-FFF2-40B4-BE49-F238E27FC236}">
                <a16:creationId xmlns:a16="http://schemas.microsoft.com/office/drawing/2014/main" id="{D4C993C7-4874-74C5-4C09-B93B627E7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138" y="71437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4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618" name="Text Box 72">
            <a:extLst>
              <a:ext uri="{FF2B5EF4-FFF2-40B4-BE49-F238E27FC236}">
                <a16:creationId xmlns:a16="http://schemas.microsoft.com/office/drawing/2014/main" id="{F8A74DA0-56A1-B0AB-581B-F5282BCE6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338" y="71437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5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  <p:sp>
        <p:nvSpPr>
          <p:cNvPr id="23619" name="Text Box 73">
            <a:extLst>
              <a:ext uri="{FF2B5EF4-FFF2-40B4-BE49-F238E27FC236}">
                <a16:creationId xmlns:a16="http://schemas.microsoft.com/office/drawing/2014/main" id="{1554744E-DAD0-964A-9619-EAC2430F8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2188" y="714375"/>
            <a:ext cx="98425" cy="14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solidFill>
                  <a:srgbClr val="E11C26"/>
                </a:solidFill>
                <a:latin typeface="Constantia" panose="02030602050306030303" pitchFamily="18" charset="0"/>
                <a:sym typeface="TimesNewRomanPS Bold" pitchFamily="1" charset="0"/>
              </a:rPr>
              <a:t>6</a:t>
            </a:r>
            <a:endParaRPr lang="en-US" altLang="en-US" sz="900" b="1">
              <a:solidFill>
                <a:srgbClr val="E11C26"/>
              </a:solidFill>
              <a:latin typeface="Times" panose="02020603050405020304" pitchFamily="18" charset="0"/>
            </a:endParaRPr>
          </a:p>
        </p:txBody>
      </p:sp>
      <p:sp>
        <p:nvSpPr>
          <p:cNvPr id="23620" name="Text Box 74">
            <a:extLst>
              <a:ext uri="{FF2B5EF4-FFF2-40B4-BE49-F238E27FC236}">
                <a16:creationId xmlns:a16="http://schemas.microsoft.com/office/drawing/2014/main" id="{78335FB2-EE2A-4525-9990-DF901F81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9038" y="714375"/>
            <a:ext cx="85725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NewRomanPS Bold" pitchFamily="1" charset="0"/>
              <a:buNone/>
            </a:pPr>
            <a:r>
              <a:rPr lang="en-US" altLang="en-US" sz="900" b="1">
                <a:latin typeface="Constantia" panose="02030602050306030303" pitchFamily="18" charset="0"/>
                <a:sym typeface="TimesNewRomanPS Bold" pitchFamily="1" charset="0"/>
              </a:rPr>
              <a:t>7</a:t>
            </a:r>
            <a:endParaRPr lang="en-US" altLang="en-US" sz="900" b="1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81A22E8-798E-66C0-47AA-7A39CB17D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Proteins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FF21F57-823F-1B7E-5F84-99A3BE116BB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057400"/>
            <a:ext cx="44958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u="sng"/>
              <a:t>Denaturation</a:t>
            </a:r>
            <a:r>
              <a:rPr lang="en-US" altLang="en-US" sz="2800"/>
              <a:t> – the unfolding of a protein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Depends on chemical and physical conditions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pH, Ionic concentration, temperature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u="sng"/>
              <a:t>Chaperonins</a:t>
            </a:r>
            <a:r>
              <a:rPr lang="en-US" altLang="en-US" sz="2800"/>
              <a:t> – aid in the folding process </a:t>
            </a:r>
          </a:p>
        </p:txBody>
      </p:sp>
      <p:pic>
        <p:nvPicPr>
          <p:cNvPr id="24580" name="Picture 7" descr="http://matcmadison.edu/biotech/resources/proteins/labManual/images/220_04_021.gif">
            <a:extLst>
              <a:ext uri="{FF2B5EF4-FFF2-40B4-BE49-F238E27FC236}">
                <a16:creationId xmlns:a16="http://schemas.microsoft.com/office/drawing/2014/main" id="{A3809B94-C3E2-EB9E-E43E-E0138988DC97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2667000"/>
            <a:ext cx="3810000" cy="2803525"/>
          </a:xfr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A36F-8271-E4E7-C60B-FE4C7450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675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Nucleic Acids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22338-60F9-E0EC-B220-FC348DB3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5486400" cy="55626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u="sng" dirty="0"/>
              <a:t>Genes</a:t>
            </a:r>
            <a:r>
              <a:rPr lang="en-US" sz="2800" dirty="0"/>
              <a:t> - Store and transmit genetic information and are made of nucleic acids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DNA – deoxyribonucleic acid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RNA – ribonucleic acid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/>
              <a:t>Proteins are made from info in nucleic acids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u="sng" dirty="0"/>
              <a:t>Nucleotides</a:t>
            </a:r>
            <a:r>
              <a:rPr lang="en-US" sz="2800" dirty="0"/>
              <a:t> are the monomers of nucleic acids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Sugar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Ribose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err="1"/>
              <a:t>Deoxyribose</a:t>
            </a:r>
            <a:endParaRPr lang="en-US" sz="2000" dirty="0"/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Phosphate 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Base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err="1"/>
              <a:t>Purines</a:t>
            </a:r>
            <a:r>
              <a:rPr lang="en-US" sz="2000" dirty="0"/>
              <a:t> - AG</a:t>
            </a:r>
          </a:p>
          <a:p>
            <a:pPr lvl="2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err="1"/>
              <a:t>Pyrimadines</a:t>
            </a:r>
            <a:r>
              <a:rPr lang="en-US" sz="2000" dirty="0"/>
              <a:t> - CT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25604" name="Picture 25" descr="http://ghs.gresham.k12.or.us/science/ps/sci/ibbio/chem/notes/chpt14/nucleotide1.gif">
            <a:extLst>
              <a:ext uri="{FF2B5EF4-FFF2-40B4-BE49-F238E27FC236}">
                <a16:creationId xmlns:a16="http://schemas.microsoft.com/office/drawing/2014/main" id="{0980F177-3DEC-5ED5-7081-52A2B8E15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143000"/>
            <a:ext cx="29003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 descr="dnA replication.png">
            <a:extLst>
              <a:ext uri="{FF2B5EF4-FFF2-40B4-BE49-F238E27FC236}">
                <a16:creationId xmlns:a16="http://schemas.microsoft.com/office/drawing/2014/main" id="{B2EB0D08-546A-ACE7-15B7-23EC030DB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179888"/>
            <a:ext cx="4724400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7">
            <a:extLst>
              <a:ext uri="{FF2B5EF4-FFF2-40B4-BE49-F238E27FC236}">
                <a16:creationId xmlns:a16="http://schemas.microsoft.com/office/drawing/2014/main" id="{7F68A20D-4DB1-F3B6-735F-4AA6C0F48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6477000"/>
            <a:ext cx="6096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>
                <a:latin typeface="Constantia" panose="02030602050306030303" pitchFamily="18" charset="0"/>
              </a:rPr>
              <a:t>http://lams.slcusd.org/pages/teachers/saxby/wordpress/wp-content/uploads/2009/11/DNA_replication_fork1.png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C8630-F542-92C0-120F-3FAC0427DECB}"/>
              </a:ext>
            </a:extLst>
          </p:cNvPr>
          <p:cNvSpPr txBox="1"/>
          <p:nvPr/>
        </p:nvSpPr>
        <p:spPr>
          <a:xfrm>
            <a:off x="5638800" y="1219200"/>
            <a:ext cx="137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Nucleotide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A82C1-77D8-B2D9-CB1D-DA648B279D24}"/>
              </a:ext>
            </a:extLst>
          </p:cNvPr>
          <p:cNvSpPr txBox="1"/>
          <p:nvPr/>
        </p:nvSpPr>
        <p:spPr>
          <a:xfrm>
            <a:off x="7010400" y="4419600"/>
            <a:ext cx="18288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DNA replication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6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957C42"/>
      </a:accent1>
      <a:accent2>
        <a:srgbClr val="FEB80A"/>
      </a:accent2>
      <a:accent3>
        <a:srgbClr val="000000"/>
      </a:accent3>
      <a:accent4>
        <a:srgbClr val="FEE29C"/>
      </a:accent4>
      <a:accent5>
        <a:srgbClr val="FED46B"/>
      </a:accent5>
      <a:accent6>
        <a:srgbClr val="4A3E21"/>
      </a:accent6>
      <a:hlink>
        <a:srgbClr val="262626"/>
      </a:hlink>
      <a:folHlink>
        <a:srgbClr val="AA8A14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6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957C42"/>
    </a:accent1>
    <a:accent2>
      <a:srgbClr val="FEB80A"/>
    </a:accent2>
    <a:accent3>
      <a:srgbClr val="000000"/>
    </a:accent3>
    <a:accent4>
      <a:srgbClr val="FEE29C"/>
    </a:accent4>
    <a:accent5>
      <a:srgbClr val="FED46B"/>
    </a:accent5>
    <a:accent6>
      <a:srgbClr val="4A3E21"/>
    </a:accent6>
    <a:hlink>
      <a:srgbClr val="262626"/>
    </a:hlink>
    <a:folHlink>
      <a:srgbClr val="AA8A14"/>
    </a:folHlink>
  </a:clrScheme>
</a:themeOverride>
</file>

<file path=ppt/theme/themeOverride2.xml><?xml version="1.0" encoding="utf-8"?>
<a:themeOverride xmlns:a="http://schemas.openxmlformats.org/drawingml/2006/main">
  <a:clrScheme name="Custom 6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957C42"/>
    </a:accent1>
    <a:accent2>
      <a:srgbClr val="FEB80A"/>
    </a:accent2>
    <a:accent3>
      <a:srgbClr val="000000"/>
    </a:accent3>
    <a:accent4>
      <a:srgbClr val="FEE29C"/>
    </a:accent4>
    <a:accent5>
      <a:srgbClr val="FED46B"/>
    </a:accent5>
    <a:accent6>
      <a:srgbClr val="4A3E21"/>
    </a:accent6>
    <a:hlink>
      <a:srgbClr val="262626"/>
    </a:hlink>
    <a:folHlink>
      <a:srgbClr val="AA8A1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CAD8091307A6409284C3186B445670" ma:contentTypeVersion="3" ma:contentTypeDescription="Create a new document." ma:contentTypeScope="" ma:versionID="ad338b11f40dd0ebf0c12919e36a4a3b">
  <xsd:schema xmlns:xsd="http://www.w3.org/2001/XMLSchema" xmlns:xs="http://www.w3.org/2001/XMLSchema" xmlns:p="http://schemas.microsoft.com/office/2006/metadata/properties" xmlns:ns2="9ae6a514-a179-410e-84e8-c7caef495cca" targetNamespace="http://schemas.microsoft.com/office/2006/metadata/properties" ma:root="true" ma:fieldsID="8954f165ce59e2ed9fb64b595951faee" ns2:_="">
    <xsd:import namespace="9ae6a514-a179-410e-84e8-c7caef495c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e6a514-a179-410e-84e8-c7caef495c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1CB95B-326B-4064-A902-A2EBFDAE05AC}"/>
</file>

<file path=customXml/itemProps2.xml><?xml version="1.0" encoding="utf-8"?>
<ds:datastoreItem xmlns:ds="http://schemas.openxmlformats.org/officeDocument/2006/customXml" ds:itemID="{F95BAF8A-7BCA-4682-985A-77B743424C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97A68A-86B1-498C-B004-03D03486BF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578</TotalTime>
  <Words>1230</Words>
  <Application>Microsoft Office PowerPoint</Application>
  <PresentationFormat>On-screen Show (4:3)</PresentationFormat>
  <Paragraphs>258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Constantia</vt:lpstr>
      <vt:lpstr>Times</vt:lpstr>
      <vt:lpstr>Times New Roman</vt:lpstr>
      <vt:lpstr>TimesNewRomanPS Bold</vt:lpstr>
      <vt:lpstr>Wingdings 2</vt:lpstr>
      <vt:lpstr>Flow</vt:lpstr>
      <vt:lpstr>Structure and Function of Large Biological Molecules</vt:lpstr>
      <vt:lpstr>CHE113     </vt:lpstr>
      <vt:lpstr>PowerPoint Presentation</vt:lpstr>
      <vt:lpstr>PowerPoint Presentation</vt:lpstr>
      <vt:lpstr>Large Biological Molecules</vt:lpstr>
      <vt:lpstr>Polymers are built from Monomers</vt:lpstr>
      <vt:lpstr>Hydrolysis &amp; Dehydration synthesis</vt:lpstr>
      <vt:lpstr>Carbohydrates, fuel &amp; building material</vt:lpstr>
      <vt:lpstr>Monosaccharides: simple sugars</vt:lpstr>
      <vt:lpstr>Disaccharides</vt:lpstr>
      <vt:lpstr>Polysaccharides</vt:lpstr>
      <vt:lpstr>Lipids: not a polymer or a macromolecule</vt:lpstr>
      <vt:lpstr>Saturated vs. Unsaturated Fats</vt:lpstr>
      <vt:lpstr>Fats and Cell Membranes</vt:lpstr>
      <vt:lpstr>PowerPoint Presentation</vt:lpstr>
      <vt:lpstr>Steroids</vt:lpstr>
      <vt:lpstr>Proteins</vt:lpstr>
      <vt:lpstr>PowerPoint Presentation</vt:lpstr>
      <vt:lpstr>Proteins</vt:lpstr>
      <vt:lpstr>PowerPoint Presentation</vt:lpstr>
      <vt:lpstr>Protein Structure Protein Folding Animation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Proteins</vt:lpstr>
      <vt:lpstr>Nucleic Acids</vt:lpstr>
    </vt:vector>
  </TitlesOfParts>
  <Company>Redlands USD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and Function of Large Biological Molecules</dc:title>
  <dc:creator>S. Rooney</dc:creator>
  <cp:lastModifiedBy>mainul hossain</cp:lastModifiedBy>
  <cp:revision>48</cp:revision>
  <dcterms:created xsi:type="dcterms:W3CDTF">2010-07-08T16:00:37Z</dcterms:created>
  <dcterms:modified xsi:type="dcterms:W3CDTF">2023-08-29T15:32:32Z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0x01010033CAD8091307A6409284C3186B445670</vt:lpwstr>
  </property>
</Properties>
</file>