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8" r:id="rId3"/>
    <p:sldId id="281" r:id="rId4"/>
    <p:sldId id="282" r:id="rId5"/>
    <p:sldId id="283" r:id="rId6"/>
    <p:sldId id="284" r:id="rId7"/>
    <p:sldId id="285" r:id="rId8"/>
    <p:sldId id="269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38" autoAdjust="0"/>
    <p:restoredTop sz="94660"/>
  </p:normalViewPr>
  <p:slideViewPr>
    <p:cSldViewPr>
      <p:cViewPr varScale="1">
        <p:scale>
          <a:sx n="88" d="100"/>
          <a:sy n="88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A7159-82AD-492E-A910-4C142EBFF708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A41AE-9191-41D5-BE0D-BF6D686A1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1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Lecture-7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7620000" cy="10668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34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BAD4993-424B-4265-A394-20780B14F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38" y="1752600"/>
            <a:ext cx="8529662" cy="1935385"/>
          </a:xfrm>
        </p:spPr>
      </p:pic>
    </p:spTree>
    <p:extLst>
      <p:ext uri="{BB962C8B-B14F-4D97-AF65-F5344CB8AC3E}">
        <p14:creationId xmlns:p14="http://schemas.microsoft.com/office/powerpoint/2010/main" val="108744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8420100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152400"/>
            <a:ext cx="260985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115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376363"/>
            <a:ext cx="83439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89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47838"/>
            <a:ext cx="8353425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629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61" y="228600"/>
            <a:ext cx="843915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31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843915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91050"/>
            <a:ext cx="731520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63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595E95F-9D8F-4487-BFF5-A97EBB714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95600"/>
            <a:ext cx="6628833" cy="2815525"/>
          </a:xfr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4105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6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533400"/>
            <a:ext cx="8411029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53530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302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"/>
            <a:ext cx="6651625" cy="583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3944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1962150"/>
            <a:ext cx="831532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6361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6372225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1327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95263"/>
            <a:ext cx="8410575" cy="646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432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"/>
            <a:ext cx="8496300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205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8115300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303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Cayley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-Hamilton theorem</a:t>
            </a: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Every square matrix satisfies its characteristic</a:t>
                </a:r>
                <a:r>
                  <a:rPr lang="bn-IN" sz="2000" b="1" dirty="0"/>
                  <a:t> </a:t>
                </a:r>
                <a:r>
                  <a:rPr lang="en-US" sz="2000" b="1" dirty="0"/>
                  <a:t>equation</a:t>
                </a:r>
              </a:p>
              <a:p>
                <a:pPr marL="0" indent="0">
                  <a:buNone/>
                </a:pPr>
                <a:r>
                  <a:rPr lang="bn-IN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  <m:r>
                      <a:rPr lang="en-US" sz="2000" i="1">
                        <a:latin typeface="Cambria Math"/>
                      </a:rPr>
                      <m:t>𝑒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+……..++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Example: </a:t>
                </a:r>
                <a:r>
                  <a:rPr lang="en-US" sz="2000" dirty="0"/>
                  <a:t>Verify the </a:t>
                </a:r>
                <a:r>
                  <a:rPr lang="en-US" sz="2000" dirty="0" err="1"/>
                  <a:t>Cayley</a:t>
                </a:r>
                <a:r>
                  <a:rPr lang="en-US" sz="2000" dirty="0"/>
                  <a:t>-Hamilton theorem for the matrix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2"/>
                <a:stretch>
                  <a:fillRect l="-741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9747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Cayley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-Hamilton theorem</a:t>
            </a: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Every square matrix satisfies its characteristic</a:t>
                </a:r>
                <a:r>
                  <a:rPr lang="bn-IN" sz="2000" b="1" dirty="0"/>
                  <a:t> </a:t>
                </a:r>
                <a:r>
                  <a:rPr lang="en-US" sz="2000" b="1" dirty="0"/>
                  <a:t>equation</a:t>
                </a:r>
              </a:p>
              <a:p>
                <a:pPr marL="0" indent="0">
                  <a:buNone/>
                </a:pPr>
                <a:r>
                  <a:rPr lang="bn-IN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  <m:r>
                      <a:rPr lang="en-US" sz="2000" i="1">
                        <a:latin typeface="Cambria Math"/>
                      </a:rPr>
                      <m:t>𝑒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+……..++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Example: </a:t>
                </a:r>
                <a:r>
                  <a:rPr lang="en-US" sz="2000" dirty="0"/>
                  <a:t>Verify the </a:t>
                </a:r>
                <a:r>
                  <a:rPr lang="en-US" sz="2000" dirty="0" err="1"/>
                  <a:t>Cayley</a:t>
                </a:r>
                <a:r>
                  <a:rPr lang="en-US" sz="2000" dirty="0"/>
                  <a:t>-Hamilton theorem for the matrix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b="1" dirty="0"/>
                  <a:t>Characteristic matrix: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𝜆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2"/>
                <a:stretch>
                  <a:fillRect l="-741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430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Cayley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-Hamilton theorem</a:t>
            </a: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Every square matrix satisfies its characteristic</a:t>
                </a:r>
                <a:r>
                  <a:rPr lang="bn-IN" sz="2000" b="1" dirty="0"/>
                  <a:t> </a:t>
                </a:r>
                <a:r>
                  <a:rPr lang="en-US" sz="2000" b="1" dirty="0"/>
                  <a:t>equation</a:t>
                </a:r>
              </a:p>
              <a:p>
                <a:pPr marL="0" indent="0">
                  <a:buNone/>
                </a:pPr>
                <a:r>
                  <a:rPr lang="bn-IN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  <m:r>
                      <a:rPr lang="en-US" sz="2000" i="1">
                        <a:latin typeface="Cambria Math"/>
                      </a:rPr>
                      <m:t>𝑒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+……..++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Example: </a:t>
                </a:r>
                <a:r>
                  <a:rPr lang="en-US" sz="2000" dirty="0"/>
                  <a:t>Verify the </a:t>
                </a:r>
                <a:r>
                  <a:rPr lang="en-US" sz="2000" dirty="0" err="1"/>
                  <a:t>Cayley</a:t>
                </a:r>
                <a:r>
                  <a:rPr lang="en-US" sz="2000" dirty="0"/>
                  <a:t>-Hamilton theorem for the matrix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b="1" dirty="0"/>
                  <a:t>Characteristic matrix: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𝜆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</a:t>
                </a:r>
                <a:r>
                  <a:rPr lang="en-US" sz="2000" b="1" dirty="0"/>
                  <a:t>Characteristic polynomial: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𝜆</m:t>
                        </m:r>
                        <m:r>
                          <a:rPr lang="en-US" sz="20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−15</m:t>
                    </m:r>
                    <m:r>
                      <a:rPr lang="en-US" sz="2000" i="1">
                        <a:latin typeface="Cambria Math"/>
                      </a:rPr>
                      <m:t>𝜆</m:t>
                    </m:r>
                    <m:r>
                      <a:rPr lang="en-US" sz="2000" i="1">
                        <a:latin typeface="Cambria Math"/>
                      </a:rPr>
                      <m:t>−15=0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To verify the theorem we have to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−15</m:t>
                    </m:r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−15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2"/>
                <a:stretch>
                  <a:fillRect l="-741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919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Cayley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-Hamilton theorem</a:t>
            </a: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Every square matrix satisfies its characteristic</a:t>
                </a:r>
                <a:r>
                  <a:rPr lang="bn-IN" sz="2000" b="1" dirty="0"/>
                  <a:t> </a:t>
                </a:r>
                <a:r>
                  <a:rPr lang="en-US" sz="2000" b="1" dirty="0"/>
                  <a:t>equation</a:t>
                </a:r>
              </a:p>
              <a:p>
                <a:pPr marL="0" indent="0">
                  <a:buNone/>
                </a:pPr>
                <a:r>
                  <a:rPr lang="bn-IN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  <m:r>
                      <a:rPr lang="en-US" sz="2000" i="1">
                        <a:latin typeface="Cambria Math"/>
                      </a:rPr>
                      <m:t>𝑒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  <m:r>
                          <a:rPr lang="en-US" sz="20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+……..++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Example: </a:t>
                </a:r>
                <a:r>
                  <a:rPr lang="en-US" sz="2000" dirty="0"/>
                  <a:t>Verify the </a:t>
                </a:r>
                <a:r>
                  <a:rPr lang="en-US" sz="2000" dirty="0" err="1"/>
                  <a:t>Cayley</a:t>
                </a:r>
                <a:r>
                  <a:rPr lang="en-US" sz="2000" dirty="0"/>
                  <a:t>-Hamilton theorem for the matrix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b="1" dirty="0"/>
                  <a:t>Characteristic matrix: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−</m:t>
                    </m:r>
                    <m:r>
                      <a:rPr lang="en-US" sz="2000" i="1">
                        <a:latin typeface="Cambria Math"/>
                      </a:rPr>
                      <m:t>𝜆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</a:t>
                </a:r>
                <a:r>
                  <a:rPr lang="en-US" sz="2000" b="1" dirty="0"/>
                  <a:t>Characteristic polynomial: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𝜆</m:t>
                        </m:r>
                        <m:r>
                          <a:rPr lang="en-US" sz="20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−15</m:t>
                    </m:r>
                    <m:r>
                      <a:rPr lang="en-US" sz="2000" i="1">
                        <a:latin typeface="Cambria Math"/>
                      </a:rPr>
                      <m:t>𝜆</m:t>
                    </m:r>
                    <m:r>
                      <a:rPr lang="en-US" sz="2000" i="1">
                        <a:latin typeface="Cambria Math"/>
                      </a:rPr>
                      <m:t>−15=0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To verify the theorem we have to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−15</m:t>
                    </m:r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−15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   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      and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44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53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53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41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2"/>
                <a:stretch>
                  <a:fillRect l="-741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007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Verification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∴</m:t>
                          </m:r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−15</m:t>
                      </m:r>
                      <m:r>
                        <a:rPr lang="en-US" sz="1800" i="1">
                          <a:latin typeface="Cambria Math"/>
                        </a:rPr>
                        <m:t>𝐴</m:t>
                      </m:r>
                      <m:r>
                        <a:rPr lang="en-US" sz="1800" i="1">
                          <a:latin typeface="Cambria Math"/>
                        </a:rPr>
                        <m:t>−15</m:t>
                      </m:r>
                      <m:r>
                        <a:rPr lang="en-US" sz="1800" i="1">
                          <a:latin typeface="Cambria Math"/>
                        </a:rPr>
                        <m:t>𝐼</m:t>
                      </m:r>
                      <m:r>
                        <a:rPr lang="en-US" sz="1800" b="0" i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1800" b="0" i="0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44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53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53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41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−15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−15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                    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2100" dirty="0"/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03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Verification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∴</m:t>
                          </m:r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−15</m:t>
                      </m:r>
                      <m:r>
                        <a:rPr lang="en-US" sz="1800" i="1">
                          <a:latin typeface="Cambria Math"/>
                        </a:rPr>
                        <m:t>𝐴</m:t>
                      </m:r>
                      <m:r>
                        <a:rPr lang="en-US" sz="1800" i="1">
                          <a:latin typeface="Cambria Math"/>
                        </a:rPr>
                        <m:t>−15</m:t>
                      </m:r>
                      <m:r>
                        <a:rPr lang="en-US" sz="1800" i="1">
                          <a:latin typeface="Cambria Math"/>
                        </a:rPr>
                        <m:t>𝐼</m:t>
                      </m:r>
                      <m:r>
                        <a:rPr lang="en-US" sz="1800" b="0" i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1800" b="0" i="0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44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53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53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41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−15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−15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1800" dirty="0"/>
                  <a:t>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∴</m:t>
                        </m:r>
                        <m:r>
                          <a:rPr lang="en-US" sz="18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−15</m:t>
                    </m:r>
                    <m:r>
                      <a:rPr lang="en-US" sz="1800" i="1">
                        <a:latin typeface="Cambria Math"/>
                      </a:rPr>
                      <m:t>𝐴</m:t>
                    </m:r>
                    <m:r>
                      <a:rPr lang="en-US" sz="1800" i="1">
                        <a:latin typeface="Cambria Math"/>
                      </a:rPr>
                      <m:t>−15</m:t>
                    </m:r>
                    <m:r>
                      <a:rPr lang="en-US" sz="1800" i="1">
                        <a:latin typeface="Cambria Math"/>
                      </a:rPr>
                      <m:t>𝐼</m:t>
                    </m:r>
                    <m:r>
                      <a:rPr lang="en-US" sz="18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1800" dirty="0"/>
                  <a:t>    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Hence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-Hamilton theorem is verified.</a:t>
                </a:r>
              </a:p>
              <a:p>
                <a:pPr marL="0" indent="0">
                  <a:buNone/>
                </a:pPr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2100" dirty="0"/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814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Finding Inverse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1"/>
                <a:ext cx="8229600" cy="3276599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  <a:r>
                  <a:rPr lang="en-US" sz="2400" dirty="0"/>
                  <a:t> Using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-Hamilton theorem find the inverse of the matrix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Solution: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matrix: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 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equation: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=0</m:t>
                    </m:r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−15=0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According to the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 –Hamilton theorem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1"/>
                <a:ext cx="8229600" cy="3276599"/>
              </a:xfrm>
              <a:blipFill>
                <a:blip r:embed="rId2"/>
                <a:stretch>
                  <a:fillRect l="-444" t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959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Finding Inverse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1"/>
                <a:ext cx="8229600" cy="35052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  <a:r>
                  <a:rPr lang="en-US" sz="2400" dirty="0"/>
                  <a:t> Using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-Hamilton theorem find the inverse of the matrix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Solution: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matrix: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 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equation: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=0</m:t>
                    </m:r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−15=0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According to the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 –Hamilton theorem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15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[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]</m:t>
                    </m:r>
                  </m:oMath>
                </a14:m>
                <a:r>
                  <a:rPr lang="en-US" sz="2400" dirty="0"/>
                  <a:t>                               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1"/>
                <a:ext cx="8229600" cy="3505200"/>
              </a:xfrm>
              <a:blipFill>
                <a:blip r:embed="rId2"/>
                <a:stretch>
                  <a:fillRect l="-444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908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Finding Inverse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  <a:r>
                  <a:rPr lang="en-US" sz="2400" dirty="0"/>
                  <a:t> Using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-Hamilton theorem find the inverse of the matrix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Solution: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matrix: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 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equation: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=0</m:t>
                    </m:r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−15=0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According to the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 –Hamilton theorem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15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[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]</m:t>
                    </m:r>
                  </m:oMath>
                </a14:m>
                <a:r>
                  <a:rPr lang="en-US" sz="2400" dirty="0"/>
                  <a:t>                         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∴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15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14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8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−15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/>
                      </a:rPr>
                      <m:t>=</m:t>
                    </m:r>
                  </m:oMath>
                </a14:m>
                <a:endParaRPr lang="en-US" sz="23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444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226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Finding Inverse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  <a:r>
                  <a:rPr lang="en-US" sz="2400" dirty="0"/>
                  <a:t> Using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-Hamilton theorem find the inverse of the matrix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Solution: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matrix: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 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characteristic equation: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=0</m:t>
                    </m:r>
                    <m:r>
                      <a:rPr lang="en-US" sz="2400" b="0" i="0" smtClean="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𝜆</m:t>
                    </m:r>
                    <m:r>
                      <a:rPr lang="en-US" sz="2400" i="1">
                        <a:latin typeface="Cambria Math"/>
                      </a:rPr>
                      <m:t>−15=0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According to the </a:t>
                </a:r>
                <a:r>
                  <a:rPr lang="en-US" sz="2400" dirty="0" err="1"/>
                  <a:t>Cayley</a:t>
                </a:r>
                <a:r>
                  <a:rPr lang="en-US" sz="2400" dirty="0"/>
                  <a:t> –Hamilton theorem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⟹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15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[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−15</m:t>
                    </m:r>
                    <m:r>
                      <a:rPr lang="en-US" sz="2400" i="1">
                        <a:latin typeface="Cambria Math"/>
                      </a:rPr>
                      <m:t>𝐼</m:t>
                    </m:r>
                    <m:r>
                      <a:rPr lang="en-US" sz="2400" i="1">
                        <a:latin typeface="Cambria Math"/>
                      </a:rPr>
                      <m:t>]</m:t>
                    </m:r>
                  </m:oMath>
                </a14:m>
                <a:r>
                  <a:rPr lang="en-US" sz="2400" dirty="0"/>
                  <a:t>                         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∴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15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14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8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−15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3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300" i="1">
                            <a:latin typeface="Cambria Math"/>
                          </a:rPr>
                          <m:t>15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3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3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−8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/>
                                </a:rPr>
                                <m:t>−5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300" dirty="0"/>
                  <a:t>.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444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875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6E4690F-20AD-4467-97D8-A07490246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457201"/>
                <a:ext cx="8229600" cy="26670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3200" dirty="0">
                    <a:latin typeface="Times New Roman" pitchFamily="18" charset="0"/>
                    <a:cs typeface="Times New Roman" pitchFamily="18" charset="0"/>
                  </a:rPr>
                  <a:t>State the </a:t>
                </a:r>
                <a:r>
                  <a:rPr lang="en-US" sz="3200" dirty="0" err="1">
                    <a:latin typeface="Times New Roman" pitchFamily="18" charset="0"/>
                    <a:cs typeface="Times New Roman" pitchFamily="18" charset="0"/>
                  </a:rPr>
                  <a:t>Cayley</a:t>
                </a:r>
                <a:r>
                  <a:rPr lang="en-US" sz="3200" dirty="0">
                    <a:latin typeface="Times New Roman" pitchFamily="18" charset="0"/>
                    <a:cs typeface="Times New Roman" pitchFamily="18" charset="0"/>
                  </a:rPr>
                  <a:t>-Hamilton theorem. Hence find the inverse of the following matrices using </a:t>
                </a:r>
                <a:r>
                  <a:rPr lang="en-US" sz="3200" dirty="0" err="1">
                    <a:latin typeface="Times New Roman" pitchFamily="18" charset="0"/>
                    <a:cs typeface="Times New Roman" pitchFamily="18" charset="0"/>
                  </a:rPr>
                  <a:t>Cayley</a:t>
                </a:r>
                <a:r>
                  <a:rPr lang="en-US" sz="3200" dirty="0">
                    <a:latin typeface="Times New Roman" pitchFamily="18" charset="0"/>
                    <a:cs typeface="Times New Roman" pitchFamily="18" charset="0"/>
                  </a:rPr>
                  <a:t> –Hamilton theorem and verify your result.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𝑎</m:t>
                    </m:r>
                    <m:r>
                      <a:rPr lang="en-US" sz="3200" b="0" i="1" smtClean="0">
                        <a:latin typeface="Cambria Math"/>
                      </a:rPr>
                      <m:t>)    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200" dirty="0">
                    <a:latin typeface="Times New Roman" pitchFamily="18" charset="0"/>
                    <a:cs typeface="Times New Roman" pitchFamily="18" charset="0"/>
                  </a:rPr>
                  <a:t>              b)   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4690F-20AD-4467-97D8-A07490246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57201"/>
                <a:ext cx="8229600" cy="2667000"/>
              </a:xfrm>
              <a:blipFill>
                <a:blip r:embed="rId2"/>
                <a:stretch>
                  <a:fillRect l="-1407" t="-3653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31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798</Words>
  <Application>Microsoft Office PowerPoint</Application>
  <PresentationFormat>On-screen Show (4:3)</PresentationFormat>
  <Paragraphs>114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Lecture-7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Cayley-Hamilton theorem</vt:lpstr>
      <vt:lpstr>Cayley-Hamilton theorem</vt:lpstr>
      <vt:lpstr>Cayley-Hamilton theorem</vt:lpstr>
      <vt:lpstr>Cayley-Hamilton theorem</vt:lpstr>
      <vt:lpstr>Verification</vt:lpstr>
      <vt:lpstr>Verification</vt:lpstr>
      <vt:lpstr>Finding Inverse</vt:lpstr>
      <vt:lpstr>Finding Inverse</vt:lpstr>
      <vt:lpstr>Finding Inverse</vt:lpstr>
      <vt:lpstr>Finding Inverse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</dc:title>
  <dc:creator>Teacher</dc:creator>
  <cp:lastModifiedBy>Asus</cp:lastModifiedBy>
  <cp:revision>62</cp:revision>
  <dcterms:created xsi:type="dcterms:W3CDTF">2006-08-16T00:00:00Z</dcterms:created>
  <dcterms:modified xsi:type="dcterms:W3CDTF">2025-05-11T13:43:11Z</dcterms:modified>
</cp:coreProperties>
</file>