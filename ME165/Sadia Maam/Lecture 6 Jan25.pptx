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5" r:id="rId3"/>
    <p:sldId id="284" r:id="rId4"/>
    <p:sldId id="283" r:id="rId5"/>
    <p:sldId id="282" r:id="rId6"/>
    <p:sldId id="308" r:id="rId7"/>
    <p:sldId id="281" r:id="rId8"/>
    <p:sldId id="309" r:id="rId9"/>
    <p:sldId id="311" r:id="rId10"/>
    <p:sldId id="310" r:id="rId11"/>
    <p:sldId id="312" r:id="rId12"/>
    <p:sldId id="313" r:id="rId13"/>
    <p:sldId id="314" r:id="rId14"/>
    <p:sldId id="316" r:id="rId15"/>
    <p:sldId id="317" r:id="rId16"/>
    <p:sldId id="318" r:id="rId17"/>
    <p:sldId id="319" r:id="rId18"/>
    <p:sldId id="320" r:id="rId19"/>
    <p:sldId id="32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A078B-CEC5-D9C4-FADE-99D26F09E46D}" v="55" dt="2025-06-17T16:32:00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Tasnim" userId="S::sadiatasnim@me.buet.ac.bd::0a7a5d6a-8466-4436-9475-c4c27ed18f50" providerId="AD" clId="Web-{8D7A078B-CEC5-D9C4-FADE-99D26F09E46D}"/>
    <pc:docChg chg="modSld">
      <pc:chgData name="Sadia Tasnim" userId="S::sadiatasnim@me.buet.ac.bd::0a7a5d6a-8466-4436-9475-c4c27ed18f50" providerId="AD" clId="Web-{8D7A078B-CEC5-D9C4-FADE-99D26F09E46D}" dt="2025-06-17T16:32:00.091" v="34" actId="14100"/>
      <pc:docMkLst>
        <pc:docMk/>
      </pc:docMkLst>
      <pc:sldChg chg="addSp modSp">
        <pc:chgData name="Sadia Tasnim" userId="S::sadiatasnim@me.buet.ac.bd::0a7a5d6a-8466-4436-9475-c4c27ed18f50" providerId="AD" clId="Web-{8D7A078B-CEC5-D9C4-FADE-99D26F09E46D}" dt="2025-06-17T16:32:00.091" v="34" actId="14100"/>
        <pc:sldMkLst>
          <pc:docMk/>
          <pc:sldMk cId="0" sldId="257"/>
        </pc:sldMkLst>
        <pc:spChg chg="add mod">
          <ac:chgData name="Sadia Tasnim" userId="S::sadiatasnim@me.buet.ac.bd::0a7a5d6a-8466-4436-9475-c4c27ed18f50" providerId="AD" clId="Web-{8D7A078B-CEC5-D9C4-FADE-99D26F09E46D}" dt="2025-06-17T16:32:00.091" v="34" actId="14100"/>
          <ac:spMkLst>
            <pc:docMk/>
            <pc:sldMk cId="0" sldId="257"/>
            <ac:spMk id="2" creationId="{68265B27-353A-6FB6-7052-68AFFE0B3269}"/>
          </ac:spMkLst>
        </pc:spChg>
        <pc:spChg chg="mod">
          <ac:chgData name="Sadia Tasnim" userId="S::sadiatasnim@me.buet.ac.bd::0a7a5d6a-8466-4436-9475-c4c27ed18f50" providerId="AD" clId="Web-{8D7A078B-CEC5-D9C4-FADE-99D26F09E46D}" dt="2025-06-17T16:31:56.091" v="33" actId="14100"/>
          <ac:spMkLst>
            <pc:docMk/>
            <pc:sldMk cId="0" sldId="257"/>
            <ac:spMk id="7" creationId="{F16BE822-34D9-8E49-EEB6-A29F99397F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5CA-A64B-40AD-3D3E-D9CB98082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D5A05-C905-DD1D-C847-9D47B7753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DB09E-6584-7D99-BD93-CEC3A318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3659-F363-7BE2-282C-2DA76FA2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B2D9-5378-3476-9A48-7093E18D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30B-CE28-BD90-6C18-ACF54402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252A-A163-C914-FBCC-44A44232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8A58-4F97-857C-562E-E5471E0C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10E5-50CD-A148-2780-EF387D4E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BB09-CF8E-17D6-751D-949D3B60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FDC4-149A-1F61-AEBF-C77928EE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7EBB3-A39D-6EB2-FFF9-747CBE21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21E8-41CB-F2E3-114A-AC2D3020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B06E-79EC-F8B0-A2A7-696C185C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5FFB-BDB9-BF7C-DAF5-2F4EDAC7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3B58-F799-8E50-C2BF-E3A1E25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EF81-5FC5-1F2B-B826-CFF705856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4B660-203C-16A8-D252-FC56937C1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E50-CA40-BE7A-A0D0-2F79730C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C9DAE-6AD1-60BC-7F41-DD3BA808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6CC2D-2411-C1B0-F125-8140B4C1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209-C97C-204C-577E-20DF8D25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D8FD-6E37-4A77-C5FC-ECED69731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EA336-F448-44D5-D9ED-E1D4D80AD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6FD7-0F30-8559-1A8A-B423FEEEF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08354-DDBA-0148-CDC0-35B1A39A1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E5B08-3092-F069-61A4-DD9EF5C9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1F20-CA9D-744D-7CE5-CCA72BC4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BF572-FF22-3883-2302-4AC0E989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DF6E-C490-12BD-8C0D-D6384D4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359E8-0AE6-B76E-7B4E-318ACE2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40CAE-8A9F-9D10-FD4D-8DB79097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0789-8A3F-F5C0-4D91-8A63BBC2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41FC3-80B5-ECC5-DA7D-34BE9D23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ACC9-6BB3-E8C4-1DD7-E3914EEE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0620-2FD5-47D0-24AC-9E30A3F9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66B-229A-B819-94AF-C66129D0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6251-19E5-6F7B-A2D2-18648388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894D-622C-A667-2EB6-44555DC21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8636-3AAC-5F5F-9ECD-4499B660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2220-9F56-F357-E05C-BC8FB89A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B46C-54DF-A943-3F8C-C63EB816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8AA7-B1C5-A7B3-3E19-B94F94F1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D4F98-BC1A-8DA0-7072-39BE69945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37492-3F2F-9C51-7196-8BD9E4D12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BC2A-97A4-CF71-10AC-7F2A9FCF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EFBAD-8136-E3F3-2F6B-BA46AA85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B287-B665-40DD-B285-61A4008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6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D986-E52B-39FA-A486-6929BECD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7A935-D4AB-CBF8-E924-389370B9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B261-B0BD-4C39-46F7-8F79F96C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FBBE-A7E1-3A3F-3EB9-DDEFB1DD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B6BC-21D5-62E1-6A25-70CCF687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FD8F5-7DD9-4D17-14EF-FEF4A5C41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CEF29-B977-7774-E05C-8ADD4606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83BD-60BE-16B6-EDBA-5E24DD35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53F9-FD78-F5B0-776B-A6999775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A740-FF61-F67E-A02F-F241F041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3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6770C-2317-D040-4A2C-FCCDA8C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9B29-E6A5-4AE1-CCDE-279E808B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EAD2-DDC8-1474-078E-5770B560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94DD-950C-4C46-B2B6-CE262DB1297D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F784-EF0B-772D-4E77-26EAD1610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E4E81-052F-E13A-81DE-3A780CCAF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09BA275-68A7-7A75-3376-AE534602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52F9E-2A1B-4585-81D9-7A10A22D2DB5}" type="datetime1">
              <a:rPr lang="en-US" smtClean="0"/>
              <a:t>6/17/2025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774637B-0AB0-4237-20ED-EC33526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B10B2-0059-165B-F949-FDFFD6A85D5C}"/>
              </a:ext>
            </a:extLst>
          </p:cNvPr>
          <p:cNvSpPr txBox="1"/>
          <p:nvPr/>
        </p:nvSpPr>
        <p:spPr>
          <a:xfrm>
            <a:off x="2353826" y="1076391"/>
            <a:ext cx="7721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ME 165</a:t>
            </a:r>
          </a:p>
          <a:p>
            <a:pPr algn="ctr"/>
            <a:r>
              <a:rPr lang="en-US" sz="340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Basic Mechanical Engineering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6BE822-34D9-8E49-EEB6-A29F99397F23}"/>
              </a:ext>
            </a:extLst>
          </p:cNvPr>
          <p:cNvSpPr txBox="1"/>
          <p:nvPr/>
        </p:nvSpPr>
        <p:spPr>
          <a:xfrm>
            <a:off x="1446267" y="3696559"/>
            <a:ext cx="9147066" cy="1970625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>
              <a:spcBef>
                <a:spcPts val="7"/>
              </a:spcBef>
            </a:pPr>
            <a:endParaRPr lang="en-US" sz="3000" dirty="0">
              <a:latin typeface="Book Antiqua" panose="02040602050305030304" pitchFamily="18" charset="0"/>
              <a:cs typeface="Dreaming Outloud Pro" panose="03050502040302030504" pitchFamily="66" charset="0"/>
            </a:endParaRPr>
          </a:p>
          <a:p>
            <a:pPr marL="2540" algn="ctr">
              <a:spcBef>
                <a:spcPts val="3"/>
              </a:spcBef>
            </a:pPr>
            <a:r>
              <a:rPr lang="en-US" sz="3000" b="1" spc="-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Sadia Tasnim</a:t>
            </a:r>
            <a:endParaRPr sz="3000" dirty="0">
              <a:latin typeface="Book Antiqua" panose="02040602050305030304" pitchFamily="18" charset="0"/>
              <a:cs typeface="Dreaming Outloud Pro" panose="03050502040302030504" pitchFamily="66" charset="0"/>
            </a:endParaRPr>
          </a:p>
          <a:p>
            <a:pPr marL="3175" algn="ctr">
              <a:spcBef>
                <a:spcPts val="450"/>
              </a:spcBef>
            </a:pPr>
            <a:r>
              <a:rPr sz="3000" spc="-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Lecturer</a:t>
            </a:r>
            <a:endParaRPr sz="3000" dirty="0">
              <a:latin typeface="Book Antiqua" panose="02040602050305030304" pitchFamily="18" charset="0"/>
              <a:cs typeface="Dreaming Outloud Pro" panose="03050502040302030504" pitchFamily="66" charset="0"/>
            </a:endParaRPr>
          </a:p>
          <a:p>
            <a:pPr algn="ctr">
              <a:spcBef>
                <a:spcPts val="440"/>
              </a:spcBef>
            </a:pPr>
            <a:r>
              <a:rPr sz="3000" spc="-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Department</a:t>
            </a:r>
            <a:r>
              <a:rPr sz="300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of</a:t>
            </a:r>
            <a:r>
              <a:rPr sz="300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Mechanical</a:t>
            </a:r>
            <a:r>
              <a:rPr sz="3000" spc="-7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Engineering,</a:t>
            </a:r>
            <a:r>
              <a:rPr sz="3000" spc="-13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sz="3000" spc="-7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BUET</a:t>
            </a:r>
            <a:endParaRPr sz="3000" dirty="0">
              <a:latin typeface="Book Antiqua" panose="02040602050305030304" pitchFamily="18" charset="0"/>
              <a:cs typeface="Dreaming Outloud Pro" panose="030505020403020305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265B27-353A-6FB6-7052-68AFFE0B3269}"/>
              </a:ext>
            </a:extLst>
          </p:cNvPr>
          <p:cNvSpPr txBox="1"/>
          <p:nvPr/>
        </p:nvSpPr>
        <p:spPr>
          <a:xfrm>
            <a:off x="4724400" y="2814320"/>
            <a:ext cx="2743200" cy="1110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3000" b="1" dirty="0">
                <a:solidFill>
                  <a:srgbClr val="FF0000"/>
                </a:solidFill>
                <a:latin typeface="Book Antiqua"/>
                <a:cs typeface="Segoe UI"/>
              </a:rPr>
              <a:t>Lecture 06 </a:t>
            </a:r>
            <a:endParaRPr lang="en-US" dirty="0"/>
          </a:p>
          <a:p>
            <a:pPr algn="ctr">
              <a:lnSpc>
                <a:spcPts val="2550"/>
              </a:lnSpc>
            </a:pPr>
            <a:r>
              <a:rPr lang="en-US" sz="3000" dirty="0">
                <a:latin typeface="Book Antiqua"/>
                <a:cs typeface="Segoe UI"/>
              </a:rPr>
              <a:t>​</a:t>
            </a:r>
            <a:endParaRPr lang="en-US" dirty="0"/>
          </a:p>
          <a:p>
            <a:pPr algn="ctr">
              <a:lnSpc>
                <a:spcPts val="2550"/>
              </a:lnSpc>
            </a:pPr>
            <a:r>
              <a:rPr lang="en-US" sz="3000" b="1" dirty="0">
                <a:solidFill>
                  <a:srgbClr val="C00000"/>
                </a:solidFill>
                <a:latin typeface="Book Antiqua"/>
                <a:cs typeface="Segoe UI"/>
              </a:rPr>
              <a:t>Structure </a:t>
            </a:r>
            <a:r>
              <a:rPr lang="en-US" sz="3000" dirty="0">
                <a:latin typeface="Book Antiqua"/>
                <a:cs typeface="Segoe UI"/>
              </a:rPr>
              <a:t>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28C19-AA94-66A1-7CD4-FACD39C591A0}"/>
              </a:ext>
            </a:extLst>
          </p:cNvPr>
          <p:cNvSpPr txBox="1"/>
          <p:nvPr/>
        </p:nvSpPr>
        <p:spPr>
          <a:xfrm>
            <a:off x="1653807" y="242248"/>
            <a:ext cx="60016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372939">
              <a:spcBef>
                <a:spcPts val="67"/>
              </a:spcBef>
            </a:pPr>
            <a:r>
              <a:rPr lang="en-US" sz="3200" b="1" spc="-3" dirty="0">
                <a:latin typeface="Cambria" panose="02040503050406030204" pitchFamily="18" charset="0"/>
                <a:ea typeface="Cambria" panose="02040503050406030204" pitchFamily="18" charset="0"/>
                <a:cs typeface="Dreaming Outloud Pro" panose="03050502040302030504" pitchFamily="66" charset="0"/>
              </a:rPr>
              <a:t>Analysis of Structures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0F69C99-F799-181A-8672-7DF866966FFD}"/>
              </a:ext>
            </a:extLst>
          </p:cNvPr>
          <p:cNvSpPr txBox="1"/>
          <p:nvPr/>
        </p:nvSpPr>
        <p:spPr>
          <a:xfrm>
            <a:off x="508700" y="827023"/>
            <a:ext cx="98234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S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truc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u</a:t>
            </a:r>
            <a:r>
              <a:rPr sz="240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e:</a:t>
            </a:r>
            <a:endParaRPr sz="2400" dirty="0">
              <a:latin typeface="Times New Roman"/>
              <a:cs typeface="Times New Roman"/>
            </a:endParaRPr>
          </a:p>
          <a:p>
            <a:pPr marL="756285" indent="-287020">
              <a:lnSpc>
                <a:spcPct val="100000"/>
              </a:lnSpc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Consists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several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parts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members.</a:t>
            </a:r>
            <a:endParaRPr sz="2400" dirty="0">
              <a:latin typeface="Times New Roman"/>
              <a:cs typeface="Times New Roman"/>
            </a:endParaRPr>
          </a:p>
          <a:p>
            <a:pPr marL="756285" marR="5080" indent="-287020">
              <a:lnSpc>
                <a:spcPct val="100000"/>
              </a:lnSpc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Apart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external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forces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acting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structure,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consider </a:t>
            </a:r>
            <a:r>
              <a:rPr sz="2400" spc="-5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internal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forces that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hold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together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various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parts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the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structure.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055ED6EE-4D1E-04D7-FF3C-0C56CE9D087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3608" y="2407095"/>
            <a:ext cx="3386026" cy="3581312"/>
          </a:xfrm>
          <a:prstGeom prst="rect">
            <a:avLst/>
          </a:prstGeom>
        </p:spPr>
      </p:pic>
      <p:pic>
        <p:nvPicPr>
          <p:cNvPr id="10" name="object 6">
            <a:extLst>
              <a:ext uri="{FF2B5EF4-FFF2-40B4-BE49-F238E27FC236}">
                <a16:creationId xmlns:a16="http://schemas.microsoft.com/office/drawing/2014/main" id="{A2411723-87EA-9CBE-9D1F-8C7B76E1AE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08207" y="2638513"/>
            <a:ext cx="2088321" cy="3121835"/>
          </a:xfrm>
          <a:prstGeom prst="rect">
            <a:avLst/>
          </a:prstGeom>
        </p:spPr>
      </p:pic>
      <p:pic>
        <p:nvPicPr>
          <p:cNvPr id="11" name="object 7">
            <a:extLst>
              <a:ext uri="{FF2B5EF4-FFF2-40B4-BE49-F238E27FC236}">
                <a16:creationId xmlns:a16="http://schemas.microsoft.com/office/drawing/2014/main" id="{0E36CC1D-8A40-2E6C-270D-C241B6C986D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10600" y="2737535"/>
            <a:ext cx="3184397" cy="29204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A9485B-9AF1-DE67-AA10-2B21168BA9A5}"/>
              </a:ext>
            </a:extLst>
          </p:cNvPr>
          <p:cNvSpPr txBox="1"/>
          <p:nvPr/>
        </p:nvSpPr>
        <p:spPr>
          <a:xfrm>
            <a:off x="3182807" y="5920224"/>
            <a:ext cx="1250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90049-237A-46F2-01CB-3807497555C1}"/>
              </a:ext>
            </a:extLst>
          </p:cNvPr>
          <p:cNvSpPr txBox="1"/>
          <p:nvPr/>
        </p:nvSpPr>
        <p:spPr>
          <a:xfrm>
            <a:off x="5759036" y="5877520"/>
            <a:ext cx="208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FBD of the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1C66A-8512-B654-05E0-7BF65431597F}"/>
              </a:ext>
            </a:extLst>
          </p:cNvPr>
          <p:cNvSpPr txBox="1"/>
          <p:nvPr/>
        </p:nvSpPr>
        <p:spPr>
          <a:xfrm>
            <a:off x="8851529" y="5877520"/>
            <a:ext cx="2961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FBD of individual members</a:t>
            </a:r>
          </a:p>
        </p:txBody>
      </p:sp>
    </p:spTree>
    <p:extLst>
      <p:ext uri="{BB962C8B-B14F-4D97-AF65-F5344CB8AC3E}">
        <p14:creationId xmlns:p14="http://schemas.microsoft.com/office/powerpoint/2010/main" val="25411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FDF3EE1-18A7-7CF4-5AFA-4B84CE5E446D}"/>
              </a:ext>
            </a:extLst>
          </p:cNvPr>
          <p:cNvSpPr txBox="1">
            <a:spLocks/>
          </p:cNvSpPr>
          <p:nvPr/>
        </p:nvSpPr>
        <p:spPr>
          <a:xfrm>
            <a:off x="838200" y="185291"/>
            <a:ext cx="5733687" cy="124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Structures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800" spc="-1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Truss:</a:t>
            </a:r>
            <a:endParaRPr lang="en-US" sz="2800" dirty="0">
              <a:latin typeface="Book Antiqua" panose="02040602050305030304" pitchFamily="18" charset="0"/>
              <a:cs typeface="Dreaming Outloud Pro" panose="03050502040302030504" pitchFamily="66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8333F95B-D54C-9BEE-DF18-806717BA1DB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481884"/>
            <a:ext cx="4262628" cy="2448432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1E5D7C65-7031-0455-8DED-13295802B84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91027" y="1434351"/>
            <a:ext cx="3386730" cy="4695111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6CEE6CED-FB12-4589-F608-D62F1A62DB8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" y="3972901"/>
            <a:ext cx="4354067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73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75586C2-E20F-D00C-F0DA-38BE409241AC}"/>
              </a:ext>
            </a:extLst>
          </p:cNvPr>
          <p:cNvSpPr txBox="1"/>
          <p:nvPr/>
        </p:nvSpPr>
        <p:spPr>
          <a:xfrm>
            <a:off x="1538605" y="1506728"/>
            <a:ext cx="7940675" cy="4933402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756285" indent="-287020">
              <a:lnSpc>
                <a:spcPct val="100000"/>
              </a:lnSpc>
              <a:spcBef>
                <a:spcPts val="940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lang="en-US" sz="2400" spc="-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rigid</a:t>
            </a:r>
            <a:r>
              <a:rPr lang="en-US"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structure</a:t>
            </a:r>
            <a:r>
              <a:rPr lang="en-US"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lang="en-US"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designed</a:t>
            </a:r>
            <a:r>
              <a:rPr lang="en-US"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lang="en-US"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lang="en-US"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loads</a:t>
            </a:r>
            <a:endParaRPr lang="en-US" sz="2400" dirty="0">
              <a:latin typeface="Times New Roman"/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1445"/>
              </a:spcBef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2400" dirty="0">
                <a:solidFill>
                  <a:srgbClr val="ED6D4A"/>
                </a:solidFill>
                <a:latin typeface="Times New Roman"/>
                <a:cs typeface="Times New Roman"/>
              </a:rPr>
              <a:t>Consists</a:t>
            </a:r>
            <a:r>
              <a:rPr sz="2400" spc="-20" dirty="0">
                <a:solidFill>
                  <a:srgbClr val="ED6D4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D6D4A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ED6D4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D6D4A"/>
                </a:solidFill>
                <a:latin typeface="Times New Roman"/>
                <a:cs typeface="Times New Roman"/>
              </a:rPr>
              <a:t>exclusively</a:t>
            </a:r>
            <a:r>
              <a:rPr sz="2400" spc="-45" dirty="0">
                <a:solidFill>
                  <a:srgbClr val="ED6D4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D6D4A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ED6D4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ED6D4A"/>
                </a:solidFill>
                <a:latin typeface="Times New Roman"/>
                <a:cs typeface="Times New Roman"/>
              </a:rPr>
              <a:t>straight</a:t>
            </a:r>
            <a:r>
              <a:rPr sz="2400" spc="-40" dirty="0">
                <a:solidFill>
                  <a:srgbClr val="ED6D4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ED6D4A"/>
                </a:solidFill>
                <a:latin typeface="Times New Roman"/>
                <a:cs typeface="Times New Roman"/>
              </a:rPr>
              <a:t>members</a:t>
            </a:r>
            <a:endParaRPr sz="2400" dirty="0">
              <a:latin typeface="Times New Roman"/>
              <a:cs typeface="Times New Roman"/>
            </a:endParaRPr>
          </a:p>
          <a:p>
            <a:pPr marL="774700" marR="5080" indent="-304800">
              <a:lnSpc>
                <a:spcPct val="150000"/>
              </a:lnSpc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Connected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at joints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located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ends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 each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member </a:t>
            </a:r>
            <a:r>
              <a:rPr sz="2400" b="1" spc="-5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pinned connection</a:t>
            </a:r>
            <a:endParaRPr sz="2400" dirty="0">
              <a:latin typeface="Times New Roman"/>
              <a:cs typeface="Times New Roman"/>
            </a:endParaRPr>
          </a:p>
          <a:p>
            <a:pPr marL="774700" marR="332105" indent="-304800">
              <a:lnSpc>
                <a:spcPct val="150000"/>
              </a:lnSpc>
              <a:buClr>
                <a:srgbClr val="A42F0F"/>
              </a:buClr>
              <a:buFont typeface="Wingdings"/>
              <a:buChar char=""/>
              <a:tabLst>
                <a:tab pos="756920" algn="l"/>
              </a:tabLst>
            </a:pPr>
            <a:r>
              <a:rPr sz="24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Loads</a:t>
            </a:r>
            <a:r>
              <a:rPr sz="2400" b="1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only ever</a:t>
            </a:r>
            <a:r>
              <a:rPr sz="2400" b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applied</a:t>
            </a:r>
            <a:r>
              <a:rPr sz="24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at the joints</a:t>
            </a:r>
            <a:r>
              <a:rPr sz="24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of the</a:t>
            </a:r>
            <a:r>
              <a:rPr sz="2400" b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truss; </a:t>
            </a:r>
            <a:r>
              <a:rPr sz="2400" b="1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but</a:t>
            </a:r>
            <a:r>
              <a:rPr sz="24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not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 in</a:t>
            </a:r>
            <a:r>
              <a:rPr sz="2400" b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 middle</a:t>
            </a:r>
            <a:r>
              <a:rPr sz="2400" b="1" spc="-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of 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member</a:t>
            </a:r>
            <a:endParaRPr sz="2400" dirty="0">
              <a:latin typeface="Times New Roman"/>
              <a:cs typeface="Times New Roman"/>
            </a:endParaRPr>
          </a:p>
          <a:p>
            <a:pPr marL="815340" indent="-346075">
              <a:lnSpc>
                <a:spcPct val="100000"/>
              </a:lnSpc>
              <a:spcBef>
                <a:spcPts val="1440"/>
              </a:spcBef>
              <a:buClr>
                <a:srgbClr val="A42F0F"/>
              </a:buClr>
              <a:buFont typeface="Wingdings"/>
              <a:buChar char=""/>
              <a:tabLst>
                <a:tab pos="815975" algn="l"/>
              </a:tabLst>
            </a:pP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24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52525"/>
                </a:solidFill>
                <a:latin typeface="Times New Roman"/>
                <a:cs typeface="Times New Roman"/>
              </a:rPr>
              <a:t>members</a:t>
            </a:r>
            <a:r>
              <a:rPr sz="2400" b="1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24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two-force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 members</a:t>
            </a:r>
            <a:endParaRPr sz="2400" dirty="0">
              <a:latin typeface="Times New Roman"/>
              <a:cs typeface="Times New Roman"/>
            </a:endParaRPr>
          </a:p>
          <a:p>
            <a:pPr marL="832485" indent="-363220">
              <a:lnSpc>
                <a:spcPct val="100000"/>
              </a:lnSpc>
              <a:spcBef>
                <a:spcPts val="1445"/>
              </a:spcBef>
              <a:buClr>
                <a:srgbClr val="A42F0F"/>
              </a:buClr>
              <a:buFont typeface="Wingdings"/>
              <a:buChar char=""/>
              <a:tabLst>
                <a:tab pos="833119" algn="l"/>
              </a:tabLst>
            </a:pP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Stationary</a:t>
            </a:r>
            <a:endParaRPr sz="2400" dirty="0">
              <a:latin typeface="Times New Roman"/>
              <a:cs typeface="Times New Roman"/>
            </a:endParaRPr>
          </a:p>
          <a:p>
            <a:pPr marL="832485" indent="-363220">
              <a:lnSpc>
                <a:spcPct val="100000"/>
              </a:lnSpc>
              <a:spcBef>
                <a:spcPts val="1440"/>
              </a:spcBef>
              <a:buClr>
                <a:srgbClr val="A42F0F"/>
              </a:buClr>
              <a:buFont typeface="Wingdings"/>
              <a:buChar char=""/>
              <a:tabLst>
                <a:tab pos="833119" algn="l"/>
              </a:tabLst>
            </a:pP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Fully</a:t>
            </a:r>
            <a:r>
              <a:rPr sz="24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constrained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DA67B801-906B-48B8-A4AC-ADD481D443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4935" y="1107947"/>
            <a:ext cx="2417064" cy="1967484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78D4D921-9746-81E6-7EC1-B10B63F587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2492" y="5059678"/>
            <a:ext cx="2159507" cy="1720594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1416046F-CC9A-25BA-0627-241A2BE109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79280" y="3284220"/>
            <a:ext cx="2712720" cy="1624583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4A2F4066-E97F-D792-DA6A-6DD9FCF0E811}"/>
              </a:ext>
            </a:extLst>
          </p:cNvPr>
          <p:cNvSpPr txBox="1">
            <a:spLocks/>
          </p:cNvSpPr>
          <p:nvPr/>
        </p:nvSpPr>
        <p:spPr>
          <a:xfrm>
            <a:off x="1636939" y="257668"/>
            <a:ext cx="5733687" cy="124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Structures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800" spc="-15" dirty="0">
                <a:solidFill>
                  <a:srgbClr val="C00000"/>
                </a:solidFill>
                <a:latin typeface="Book Antiqua" panose="02040602050305030304" pitchFamily="18" charset="0"/>
                <a:cs typeface="Dreaming Outloud Pro" panose="03050502040302030504" pitchFamily="66" charset="0"/>
              </a:rPr>
              <a:t>Truss</a:t>
            </a:r>
            <a:r>
              <a:rPr lang="en-US" sz="2800" spc="-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:</a:t>
            </a:r>
            <a:endParaRPr lang="en-US" sz="28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29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143D95B-6C96-D1FA-D9F9-04BFBBA5E7D0}"/>
              </a:ext>
            </a:extLst>
          </p:cNvPr>
          <p:cNvSpPr txBox="1">
            <a:spLocks/>
          </p:cNvSpPr>
          <p:nvPr/>
        </p:nvSpPr>
        <p:spPr>
          <a:xfrm>
            <a:off x="-1243083" y="951095"/>
            <a:ext cx="7597701" cy="477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30985">
              <a:lnSpc>
                <a:spcPct val="100000"/>
              </a:lnSpc>
              <a:spcBef>
                <a:spcPts val="95"/>
              </a:spcBef>
            </a:pPr>
            <a:r>
              <a:rPr lang="en-US" spc="10" dirty="0">
                <a:solidFill>
                  <a:srgbClr val="C00000"/>
                </a:solidFill>
              </a:rPr>
              <a:t>Frame:</a:t>
            </a:r>
          </a:p>
          <a:p>
            <a:pPr marL="1988185" marR="300990">
              <a:lnSpc>
                <a:spcPct val="100000"/>
              </a:lnSpc>
              <a:spcBef>
                <a:spcPts val="15"/>
              </a:spcBef>
            </a:pP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Almost all the characteristics of a 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truss are valid for </a:t>
            </a: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frame. 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But there </a:t>
            </a: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extra </a:t>
            </a:r>
            <a:r>
              <a:rPr lang="en-US"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features</a:t>
            </a:r>
            <a:r>
              <a:rPr lang="en-US"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lang="en-US"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frame</a:t>
            </a:r>
            <a:r>
              <a:rPr lang="en-US"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differentiate</a:t>
            </a:r>
            <a:r>
              <a:rPr lang="en-US"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lang="en-US"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from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 truss.</a:t>
            </a:r>
            <a:endParaRPr lang="en-US" sz="2400" dirty="0">
              <a:latin typeface="Times New Roman"/>
              <a:cs typeface="Times New Roman"/>
            </a:endParaRPr>
          </a:p>
          <a:p>
            <a:pPr marL="1518285">
              <a:lnSpc>
                <a:spcPct val="100000"/>
              </a:lnSpc>
              <a:spcBef>
                <a:spcPts val="5"/>
              </a:spcBef>
            </a:pPr>
            <a:endParaRPr lang="en-US" sz="2500" dirty="0">
              <a:latin typeface="Times New Roman"/>
              <a:cs typeface="Times New Roman"/>
            </a:endParaRPr>
          </a:p>
          <a:p>
            <a:pPr marL="2274570" marR="5080" indent="-287020">
              <a:lnSpc>
                <a:spcPct val="100000"/>
              </a:lnSpc>
              <a:spcBef>
                <a:spcPts val="5"/>
              </a:spcBef>
              <a:buClr>
                <a:srgbClr val="A42F0F"/>
              </a:buClr>
              <a:buFont typeface="Wingdings"/>
              <a:buChar char=""/>
              <a:tabLst>
                <a:tab pos="2274570" algn="l"/>
                <a:tab pos="2275205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Contains </a:t>
            </a:r>
            <a:r>
              <a:rPr lang="en-US" sz="2400" dirty="0">
                <a:solidFill>
                  <a:srgbClr val="00AFEF"/>
                </a:solidFill>
                <a:latin typeface="Times New Roman"/>
                <a:cs typeface="Times New Roman"/>
              </a:rPr>
              <a:t>at least one </a:t>
            </a:r>
            <a:r>
              <a:rPr lang="en-US" sz="2400" spc="-5" dirty="0">
                <a:solidFill>
                  <a:srgbClr val="00AFEF"/>
                </a:solidFill>
                <a:latin typeface="Times New Roman"/>
                <a:cs typeface="Times New Roman"/>
              </a:rPr>
              <a:t>multi-force </a:t>
            </a:r>
            <a:r>
              <a:rPr lang="en-US" sz="2400" spc="-10" dirty="0">
                <a:solidFill>
                  <a:srgbClr val="00AFEF"/>
                </a:solidFill>
                <a:latin typeface="Times New Roman"/>
                <a:cs typeface="Times New Roman"/>
              </a:rPr>
              <a:t>member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i.e., a </a:t>
            </a:r>
            <a:r>
              <a:rPr lang="en-US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acted upon by three </a:t>
            </a:r>
            <a:r>
              <a:rPr lang="en-US" sz="2400" spc="-5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more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forces which,</a:t>
            </a:r>
            <a:r>
              <a:rPr lang="en-US"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lang="en-US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general,</a:t>
            </a:r>
            <a:r>
              <a:rPr lang="en-US"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lang="en-US"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directed</a:t>
            </a:r>
            <a:r>
              <a:rPr lang="en-US"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along</a:t>
            </a:r>
            <a:r>
              <a:rPr lang="en-US"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lang="en-US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</a:t>
            </a:r>
            <a:endParaRPr lang="en-US" sz="2400" dirty="0">
              <a:latin typeface="Times New Roman"/>
              <a:cs typeface="Times New Roman"/>
            </a:endParaRPr>
          </a:p>
          <a:p>
            <a:pPr marL="2274570" indent="-287020">
              <a:lnSpc>
                <a:spcPct val="100000"/>
              </a:lnSpc>
              <a:buClr>
                <a:srgbClr val="A42F0F"/>
              </a:buClr>
              <a:buFont typeface="Wingdings"/>
              <a:buChar char=""/>
              <a:tabLst>
                <a:tab pos="2274570" algn="l"/>
                <a:tab pos="2275205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also</a:t>
            </a:r>
            <a:r>
              <a:rPr lang="en-US"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lang="en-US"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/>
                <a:cs typeface="Times New Roman"/>
              </a:rPr>
              <a:t>loads</a:t>
            </a:r>
            <a:r>
              <a:rPr lang="en-US"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/>
                <a:cs typeface="Times New Roman"/>
              </a:rPr>
              <a:t>applied</a:t>
            </a:r>
            <a:r>
              <a:rPr lang="en-US"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/>
                <a:cs typeface="Times New Roman"/>
              </a:rPr>
              <a:t>directly</a:t>
            </a:r>
            <a:r>
              <a:rPr lang="en-US" sz="2400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lang="en-US"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/>
                <a:cs typeface="Times New Roman"/>
              </a:rPr>
              <a:t>its</a:t>
            </a:r>
            <a:r>
              <a:rPr lang="en-US"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members</a:t>
            </a:r>
            <a:endParaRPr lang="en-US" sz="2400" dirty="0">
              <a:latin typeface="Times New Roman"/>
              <a:cs typeface="Times New Roman"/>
            </a:endParaRPr>
          </a:p>
          <a:p>
            <a:pPr marL="2274570" indent="-287020">
              <a:lnSpc>
                <a:spcPct val="100000"/>
              </a:lnSpc>
              <a:buClr>
                <a:srgbClr val="A42F0F"/>
              </a:buClr>
              <a:buFont typeface="Wingdings"/>
              <a:buChar char=""/>
              <a:tabLst>
                <a:tab pos="2274570" algn="l"/>
                <a:tab pos="2275205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lang="en-US"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necessarily</a:t>
            </a:r>
            <a:r>
              <a:rPr lang="en-US"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always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lang="en-US"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pin</a:t>
            </a:r>
            <a:r>
              <a:rPr lang="en-US"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joints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4B92980E-AF01-EB14-5722-C454A21A1DD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7141" y="1909617"/>
            <a:ext cx="3000755" cy="2860546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E5EF675A-0444-05B4-F834-3E154C804004}"/>
              </a:ext>
            </a:extLst>
          </p:cNvPr>
          <p:cNvSpPr txBox="1">
            <a:spLocks/>
          </p:cNvSpPr>
          <p:nvPr/>
        </p:nvSpPr>
        <p:spPr>
          <a:xfrm>
            <a:off x="1515568" y="184218"/>
            <a:ext cx="5733687" cy="7668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Structures</a:t>
            </a:r>
          </a:p>
        </p:txBody>
      </p:sp>
    </p:spTree>
    <p:extLst>
      <p:ext uri="{BB962C8B-B14F-4D97-AF65-F5344CB8AC3E}">
        <p14:creationId xmlns:p14="http://schemas.microsoft.com/office/powerpoint/2010/main" val="406632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2917AFC-8CC2-AD6B-4150-FD2278135DD9}"/>
              </a:ext>
            </a:extLst>
          </p:cNvPr>
          <p:cNvSpPr txBox="1"/>
          <p:nvPr/>
        </p:nvSpPr>
        <p:spPr>
          <a:xfrm>
            <a:off x="1804797" y="1128775"/>
            <a:ext cx="6244590" cy="1551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Machine:</a:t>
            </a:r>
            <a:endParaRPr sz="2800" dirty="0">
              <a:latin typeface="Times New Roman"/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15"/>
              </a:spcBef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designed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transmit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modify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loads</a:t>
            </a:r>
            <a:endParaRPr sz="2400" dirty="0">
              <a:latin typeface="Times New Roman"/>
              <a:cs typeface="Times New Roman"/>
            </a:endParaRPr>
          </a:p>
          <a:p>
            <a:pPr marL="756285" indent="-287020">
              <a:lnSpc>
                <a:spcPct val="100000"/>
              </a:lnSpc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moving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parts</a:t>
            </a:r>
            <a:endParaRPr sz="2400" dirty="0">
              <a:latin typeface="Times New Roman"/>
              <a:cs typeface="Times New Roman"/>
            </a:endParaRPr>
          </a:p>
          <a:p>
            <a:pPr marL="756285" indent="-287020">
              <a:lnSpc>
                <a:spcPct val="100000"/>
              </a:lnSpc>
              <a:spcBef>
                <a:spcPts val="5"/>
              </a:spcBef>
              <a:buClr>
                <a:srgbClr val="A42F0F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At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least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multi-forced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9F60B742-3914-B51E-1238-539C4FA5E0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7223" y="3304032"/>
            <a:ext cx="5756148" cy="2446019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BDE42E8F-9D50-DD27-F7AF-3A80C3983890}"/>
              </a:ext>
            </a:extLst>
          </p:cNvPr>
          <p:cNvSpPr txBox="1">
            <a:spLocks/>
          </p:cNvSpPr>
          <p:nvPr/>
        </p:nvSpPr>
        <p:spPr>
          <a:xfrm>
            <a:off x="1515568" y="184218"/>
            <a:ext cx="5733687" cy="76687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latin typeface="Book Antiqua" panose="02040602050305030304" pitchFamily="18" charset="0"/>
                <a:cs typeface="Dreaming Outloud Pro" panose="03050502040302030504" pitchFamily="66" charset="0"/>
              </a:rPr>
              <a:t>Structures</a:t>
            </a:r>
          </a:p>
        </p:txBody>
      </p:sp>
    </p:spTree>
    <p:extLst>
      <p:ext uri="{BB962C8B-B14F-4D97-AF65-F5344CB8AC3E}">
        <p14:creationId xmlns:p14="http://schemas.microsoft.com/office/powerpoint/2010/main" val="70668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3321B9C-3C60-2FCD-2EAF-B1A3245A9AE4}"/>
              </a:ext>
            </a:extLst>
          </p:cNvPr>
          <p:cNvSpPr txBox="1"/>
          <p:nvPr/>
        </p:nvSpPr>
        <p:spPr>
          <a:xfrm>
            <a:off x="1804796" y="1522095"/>
            <a:ext cx="10065385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base shape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of truss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three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members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 triangle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stable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shape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which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won’t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deform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when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loads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applied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D56215D-D0D1-1D12-BE8E-F31BB0713407}"/>
              </a:ext>
            </a:extLst>
          </p:cNvPr>
          <p:cNvSpPr txBox="1"/>
          <p:nvPr/>
        </p:nvSpPr>
        <p:spPr>
          <a:xfrm>
            <a:off x="2141346" y="5218656"/>
            <a:ext cx="972883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670300" algn="l"/>
                <a:tab pos="7328534" algn="l"/>
              </a:tabLst>
            </a:pP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Joining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four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members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together does not form a stable structure. Because of the 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application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of load,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angles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between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members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can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change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without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any change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2400" spc="-5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length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of the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members.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B9D12CB1-26CE-4275-8D5E-99008D8B7B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67" y="2478023"/>
            <a:ext cx="3398520" cy="2011680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B16B637F-A246-BF4D-D5A1-0FEF68C13C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0284" y="2473451"/>
            <a:ext cx="3276600" cy="2010156"/>
          </a:xfrm>
          <a:prstGeom prst="rect">
            <a:avLst/>
          </a:prstGeom>
        </p:spPr>
      </p:pic>
      <p:pic>
        <p:nvPicPr>
          <p:cNvPr id="10" name="object 8">
            <a:extLst>
              <a:ext uri="{FF2B5EF4-FFF2-40B4-BE49-F238E27FC236}">
                <a16:creationId xmlns:a16="http://schemas.microsoft.com/office/drawing/2014/main" id="{8E82B3D7-0CD2-7472-244A-C7FD5CD4B82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08719" y="2473451"/>
            <a:ext cx="3171444" cy="1994916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8BE6E32E-11D7-4E14-A9AF-3E51689DEA6E}"/>
              </a:ext>
            </a:extLst>
          </p:cNvPr>
          <p:cNvSpPr txBox="1">
            <a:spLocks/>
          </p:cNvSpPr>
          <p:nvPr/>
        </p:nvSpPr>
        <p:spPr>
          <a:xfrm>
            <a:off x="1613410" y="221536"/>
            <a:ext cx="5733687" cy="124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Structures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800" spc="-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Truss:</a:t>
            </a:r>
            <a:endParaRPr lang="en-US" sz="28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3F6B32-19AD-FB03-2D17-FE7B8B4CF524}"/>
              </a:ext>
            </a:extLst>
          </p:cNvPr>
          <p:cNvSpPr txBox="1"/>
          <p:nvPr/>
        </p:nvSpPr>
        <p:spPr>
          <a:xfrm>
            <a:off x="2594344" y="4585059"/>
            <a:ext cx="194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6FC0"/>
                </a:solidFill>
                <a:latin typeface="Times New Roman"/>
                <a:cs typeface="Times New Roman"/>
              </a:rPr>
              <a:t>(a)</a:t>
            </a:r>
            <a:r>
              <a:rPr lang="en-US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6FC0"/>
                </a:solidFill>
                <a:latin typeface="Times New Roman"/>
                <a:cs typeface="Times New Roman"/>
              </a:rPr>
              <a:t>Stable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E1918E-B5D5-D96B-2543-85790053D7B3}"/>
              </a:ext>
            </a:extLst>
          </p:cNvPr>
          <p:cNvSpPr txBox="1"/>
          <p:nvPr/>
        </p:nvSpPr>
        <p:spPr>
          <a:xfrm>
            <a:off x="6205797" y="4585059"/>
            <a:ext cx="194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(b)</a:t>
            </a:r>
            <a:r>
              <a:rPr lang="en-US"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Unstable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31340C-DC0D-9B13-6C6B-792CFC9EB1CC}"/>
              </a:ext>
            </a:extLst>
          </p:cNvPr>
          <p:cNvSpPr txBox="1"/>
          <p:nvPr/>
        </p:nvSpPr>
        <p:spPr>
          <a:xfrm>
            <a:off x="9597656" y="4585059"/>
            <a:ext cx="194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6FC0"/>
                </a:solidFill>
                <a:latin typeface="Times New Roman"/>
                <a:cs typeface="Times New Roman"/>
              </a:rPr>
              <a:t>(C)</a:t>
            </a:r>
            <a:r>
              <a:rPr lang="en-US"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6FC0"/>
                </a:solidFill>
                <a:latin typeface="Times New Roman"/>
                <a:cs typeface="Times New Roman"/>
              </a:rPr>
              <a:t>Stable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046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Different types of trusses of a bridge&#10;&#10;Description automatically generated">
            <a:extLst>
              <a:ext uri="{FF2B5EF4-FFF2-40B4-BE49-F238E27FC236}">
                <a16:creationId xmlns:a16="http://schemas.microsoft.com/office/drawing/2014/main" id="{01D6811F-CD0E-3617-6806-C1A9A6124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577" y="1207744"/>
            <a:ext cx="6743700" cy="5331168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E11E31D-FFE2-78C7-4F34-D4C07EBEB003}"/>
              </a:ext>
            </a:extLst>
          </p:cNvPr>
          <p:cNvSpPr txBox="1">
            <a:spLocks/>
          </p:cNvSpPr>
          <p:nvPr/>
        </p:nvSpPr>
        <p:spPr>
          <a:xfrm>
            <a:off x="1804796" y="257668"/>
            <a:ext cx="5733687" cy="124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Structures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800" spc="-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Truss:</a:t>
            </a:r>
            <a:endParaRPr lang="en-US" sz="28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65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E90B76D-A3D5-8199-36F6-18A9C8B82938}"/>
              </a:ext>
            </a:extLst>
          </p:cNvPr>
          <p:cNvSpPr txBox="1">
            <a:spLocks/>
          </p:cNvSpPr>
          <p:nvPr/>
        </p:nvSpPr>
        <p:spPr>
          <a:xfrm>
            <a:off x="1804796" y="257668"/>
            <a:ext cx="5733687" cy="124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Structures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800" spc="-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Truss:</a:t>
            </a:r>
            <a:endParaRPr lang="en-US" sz="28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7" name="Picture 6" descr="A diagram of a structure&#10;&#10;Description automatically generated">
            <a:extLst>
              <a:ext uri="{FF2B5EF4-FFF2-40B4-BE49-F238E27FC236}">
                <a16:creationId xmlns:a16="http://schemas.microsoft.com/office/drawing/2014/main" id="{12FD7927-208F-BBC2-B800-6B83315F0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566" y="1799034"/>
            <a:ext cx="8273164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3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A5A26BE-E796-07B6-CF20-80EBA4A500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167" y="1438655"/>
            <a:ext cx="4951476" cy="236982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95F0E506-693C-C686-F133-984C6FD21C9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8583" y="1438655"/>
            <a:ext cx="5076444" cy="2369820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5406707D-F7C4-6BCE-CE61-7ADE65B5603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167" y="4114800"/>
            <a:ext cx="4954524" cy="2121408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C3094D5A-FD95-01D0-6B48-0553EE382A0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8583" y="4040123"/>
            <a:ext cx="5076444" cy="2167128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94C7B5C6-FA9A-985E-1037-61E637E4D27F}"/>
              </a:ext>
            </a:extLst>
          </p:cNvPr>
          <p:cNvSpPr txBox="1">
            <a:spLocks/>
          </p:cNvSpPr>
          <p:nvPr/>
        </p:nvSpPr>
        <p:spPr>
          <a:xfrm>
            <a:off x="1749500" y="189595"/>
            <a:ext cx="5733687" cy="124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US" spc="-6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Types</a:t>
            </a:r>
            <a:r>
              <a:rPr lang="en-US" spc="-2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pc="-3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pc="-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Structures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800" spc="-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Truss:</a:t>
            </a:r>
            <a:endParaRPr lang="en-US" sz="28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5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7" y="369181"/>
            <a:ext cx="86182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/>
              <a:t>Analysis</a:t>
            </a:r>
            <a:r>
              <a:rPr sz="3600" spc="15" dirty="0"/>
              <a:t> </a:t>
            </a:r>
            <a:r>
              <a:rPr sz="3600" spc="-5" dirty="0"/>
              <a:t>of</a:t>
            </a:r>
            <a:r>
              <a:rPr sz="3600" spc="-70" dirty="0"/>
              <a:t> </a:t>
            </a:r>
            <a:r>
              <a:rPr sz="3600" spc="-45" dirty="0"/>
              <a:t>Trusses</a:t>
            </a:r>
            <a:r>
              <a:rPr sz="3600" spc="10" dirty="0"/>
              <a:t> </a:t>
            </a:r>
            <a:r>
              <a:rPr sz="3600" spc="-5" dirty="0"/>
              <a:t>by</a:t>
            </a:r>
            <a:r>
              <a:rPr sz="3600" spc="5" dirty="0"/>
              <a:t> </a:t>
            </a:r>
            <a:r>
              <a:rPr sz="3600" spc="-5" dirty="0"/>
              <a:t>Method</a:t>
            </a:r>
            <a:r>
              <a:rPr sz="3600" spc="15" dirty="0"/>
              <a:t> </a:t>
            </a:r>
            <a:r>
              <a:rPr sz="3600" spc="-5" dirty="0"/>
              <a:t>of Joints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4797" y="1128776"/>
            <a:ext cx="8141334" cy="2252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265" marR="264160" indent="-342265" algn="r">
              <a:lnSpc>
                <a:spcPct val="100000"/>
              </a:lnSpc>
              <a:spcBef>
                <a:spcPts val="105"/>
              </a:spcBef>
              <a:buClr>
                <a:srgbClr val="A42F0F"/>
              </a:buClr>
              <a:buFont typeface="Wingdings"/>
              <a:buChar char=""/>
              <a:tabLst>
                <a:tab pos="342265" algn="l"/>
                <a:tab pos="342900" algn="l"/>
              </a:tabLst>
            </a:pP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Zero</a:t>
            </a:r>
            <a:r>
              <a:rPr sz="26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force</a:t>
            </a:r>
            <a:r>
              <a:rPr sz="26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members:</a:t>
            </a:r>
            <a:r>
              <a:rPr sz="26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Members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don’t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carry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any loads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endParaRPr sz="2400" dirty="0">
              <a:latin typeface="Times New Roman"/>
              <a:cs typeface="Times New Roman"/>
            </a:endParaRPr>
          </a:p>
          <a:p>
            <a:pPr marR="227329" algn="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A42F0F"/>
                </a:solidFill>
                <a:latin typeface="Courier New"/>
                <a:cs typeface="Courier New"/>
              </a:rPr>
              <a:t>o</a:t>
            </a:r>
            <a:r>
              <a:rPr sz="2400" spc="-625" dirty="0">
                <a:solidFill>
                  <a:srgbClr val="A42F0F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2 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ain 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onfigura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ions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where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we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have zero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force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2400" spc="-2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ber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s:</a:t>
            </a:r>
            <a:endParaRPr sz="2400" dirty="0">
              <a:latin typeface="Times New Roman"/>
              <a:cs typeface="Times New Roman"/>
            </a:endParaRPr>
          </a:p>
          <a:p>
            <a:pPr marL="725170" indent="-255904">
              <a:lnSpc>
                <a:spcPct val="100000"/>
              </a:lnSpc>
              <a:buAutoNum type="romanLcParenR"/>
              <a:tabLst>
                <a:tab pos="725805" algn="l"/>
              </a:tabLst>
            </a:pP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When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three</a:t>
            </a:r>
            <a:r>
              <a:rPr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members</a:t>
            </a:r>
            <a:r>
              <a:rPr sz="2400" spc="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24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at a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single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joint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such that</a:t>
            </a:r>
            <a:endParaRPr sz="2400" dirty="0">
              <a:latin typeface="Times New Roman"/>
              <a:cs typeface="Times New Roman"/>
            </a:endParaRPr>
          </a:p>
          <a:p>
            <a:pPr marL="1104900" lvl="1" indent="-178435">
              <a:lnSpc>
                <a:spcPct val="100000"/>
              </a:lnSpc>
              <a:buChar char="-"/>
              <a:tabLst>
                <a:tab pos="110553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two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members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 are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aligned</a:t>
            </a:r>
            <a:r>
              <a:rPr sz="24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/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collinear</a:t>
            </a:r>
            <a:endParaRPr sz="2400" dirty="0">
              <a:latin typeface="Times New Roman"/>
              <a:cs typeface="Times New Roman"/>
            </a:endParaRPr>
          </a:p>
          <a:p>
            <a:pPr marL="1104900" lvl="1" indent="-178435">
              <a:lnSpc>
                <a:spcPct val="100000"/>
              </a:lnSpc>
              <a:buChar char="-"/>
              <a:tabLst>
                <a:tab pos="110553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third</a:t>
            </a:r>
            <a:r>
              <a:rPr sz="2400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member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makes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angle</a:t>
            </a:r>
            <a:r>
              <a:rPr sz="2400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with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other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two</a:t>
            </a:r>
            <a:endParaRPr sz="2400" dirty="0">
              <a:latin typeface="Times New Roman"/>
              <a:cs typeface="Times New Roman"/>
            </a:endParaRPr>
          </a:p>
          <a:p>
            <a:pPr marL="1104900" lvl="1" indent="-178435">
              <a:lnSpc>
                <a:spcPct val="100000"/>
              </a:lnSpc>
              <a:buChar char="-"/>
              <a:tabLst>
                <a:tab pos="110553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external</a:t>
            </a:r>
            <a:r>
              <a:rPr sz="2400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loads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support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reactions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applied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joint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1997" y="5361838"/>
            <a:ext cx="7684134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indent="-339725">
              <a:lnSpc>
                <a:spcPct val="100000"/>
              </a:lnSpc>
              <a:spcBef>
                <a:spcPts val="100"/>
              </a:spcBef>
              <a:buAutoNum type="romanLcParenR" startAt="2"/>
              <a:tabLst>
                <a:tab pos="352425" algn="l"/>
              </a:tabLst>
            </a:pP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When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two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members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connected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a joint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such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endParaRPr sz="2400">
              <a:latin typeface="Times New Roman"/>
              <a:cs typeface="Times New Roman"/>
            </a:endParaRPr>
          </a:p>
          <a:p>
            <a:pPr marL="647700" lvl="1" indent="-178435"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Times New Roman"/>
              <a:buChar char="-"/>
              <a:tabLst>
                <a:tab pos="64833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two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members</a:t>
            </a:r>
            <a:r>
              <a:rPr sz="2400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are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aligned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/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non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collinear</a:t>
            </a:r>
            <a:endParaRPr sz="2400">
              <a:latin typeface="Times New Roman"/>
              <a:cs typeface="Times New Roman"/>
            </a:endParaRPr>
          </a:p>
          <a:p>
            <a:pPr marL="647700" lvl="1" indent="-178435">
              <a:lnSpc>
                <a:spcPct val="100000"/>
              </a:lnSpc>
              <a:buFont typeface="Times New Roman"/>
              <a:buChar char="-"/>
              <a:tabLst>
                <a:tab pos="648335" algn="l"/>
              </a:tabLst>
            </a:pP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no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external</a:t>
            </a:r>
            <a:r>
              <a:rPr sz="2400" spc="-5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loads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support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reactions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applied</a:t>
            </a:r>
            <a:r>
              <a:rPr sz="24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that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joint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7207" y="3494532"/>
            <a:ext cx="2409444" cy="1752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7016" y="3496055"/>
            <a:ext cx="2279904" cy="17419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F0B7A52-54E1-8326-DF29-95BAA42B68C8}"/>
              </a:ext>
            </a:extLst>
          </p:cNvPr>
          <p:cNvSpPr txBox="1"/>
          <p:nvPr/>
        </p:nvSpPr>
        <p:spPr>
          <a:xfrm>
            <a:off x="1804797" y="3324809"/>
            <a:ext cx="81984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spc="-5" dirty="0">
                <a:solidFill>
                  <a:srgbClr val="A42F0F"/>
                </a:solidFill>
                <a:latin typeface="Times New Roman"/>
                <a:cs typeface="Times New Roman"/>
              </a:rPr>
              <a:t>1)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Draw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free body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diagram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A65F12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A65F1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A65F12"/>
                </a:solidFill>
                <a:latin typeface="Times New Roman"/>
                <a:cs typeface="Times New Roman"/>
              </a:rPr>
              <a:t>truss</a:t>
            </a:r>
            <a:r>
              <a:rPr sz="2400" spc="-15" dirty="0">
                <a:solidFill>
                  <a:srgbClr val="A65F1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solve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reaction</a:t>
            </a:r>
            <a:r>
              <a:rPr sz="24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forces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AA351C6E-56C8-0828-4E02-6509FBA544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1147" y="1107947"/>
            <a:ext cx="4005072" cy="1917191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246070D6-DEA7-8B2A-7156-04B54EE690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6120" y="3846576"/>
            <a:ext cx="5471159" cy="2660904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55A71A1C-4CF1-19F2-402E-17DE70171EE9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Joints</a:t>
            </a:r>
          </a:p>
        </p:txBody>
      </p:sp>
    </p:spTree>
    <p:extLst>
      <p:ext uri="{BB962C8B-B14F-4D97-AF65-F5344CB8AC3E}">
        <p14:creationId xmlns:p14="http://schemas.microsoft.com/office/powerpoint/2010/main" val="277932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B4436E0-BD6E-AC4B-F500-0DBE9699C7A5}"/>
              </a:ext>
            </a:extLst>
          </p:cNvPr>
          <p:cNvSpPr txBox="1"/>
          <p:nvPr/>
        </p:nvSpPr>
        <p:spPr>
          <a:xfrm>
            <a:off x="1804797" y="1130300"/>
            <a:ext cx="820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2)	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Draw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free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body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A65F12"/>
                </a:solidFill>
                <a:latin typeface="Times New Roman"/>
                <a:cs typeface="Times New Roman"/>
              </a:rPr>
              <a:t>each</a:t>
            </a:r>
            <a:r>
              <a:rPr sz="2400" spc="-5" dirty="0">
                <a:solidFill>
                  <a:srgbClr val="A65F1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A65F12"/>
                </a:solidFill>
                <a:latin typeface="Times New Roman"/>
                <a:cs typeface="Times New Roman"/>
              </a:rPr>
              <a:t>joint</a:t>
            </a:r>
            <a:r>
              <a:rPr sz="2400" spc="-35" dirty="0">
                <a:solidFill>
                  <a:srgbClr val="A65F1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solve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Times New Roman"/>
                <a:cs typeface="Times New Roman"/>
              </a:rPr>
              <a:t>internal</a:t>
            </a:r>
            <a:r>
              <a:rPr sz="2400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Times New Roman"/>
                <a:cs typeface="Times New Roman"/>
              </a:rPr>
              <a:t>forces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FC0A13A-CA71-5E5C-6986-B0D1D128C8E5}"/>
              </a:ext>
            </a:extLst>
          </p:cNvPr>
          <p:cNvSpPr txBox="1"/>
          <p:nvPr/>
        </p:nvSpPr>
        <p:spPr>
          <a:xfrm>
            <a:off x="1804797" y="4057015"/>
            <a:ext cx="10146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Here,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will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calculate</a:t>
            </a:r>
            <a:r>
              <a:rPr sz="2400" b="1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forces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acting on</a:t>
            </a:r>
            <a:r>
              <a:rPr sz="2400" b="1" spc="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joint,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not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forces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in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sz="24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member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051BF5D9-3C31-B402-80D9-5B985AB4F1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1944" y="1627632"/>
            <a:ext cx="5266944" cy="2439924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B67D54D1-2467-520E-5C87-A8164C50B5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1944" y="4585715"/>
            <a:ext cx="5344667" cy="1883664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308347E8-10C1-C010-699F-E0589A5E7FF0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Joints</a:t>
            </a:r>
          </a:p>
        </p:txBody>
      </p:sp>
    </p:spTree>
    <p:extLst>
      <p:ext uri="{BB962C8B-B14F-4D97-AF65-F5344CB8AC3E}">
        <p14:creationId xmlns:p14="http://schemas.microsoft.com/office/powerpoint/2010/main" val="309639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08347E8-10C1-C010-699F-E0589A5E7FF0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Joints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36A98F4-2BA4-5A26-BA27-4123F2CF8D36}"/>
              </a:ext>
            </a:extLst>
          </p:cNvPr>
          <p:cNvSpPr txBox="1"/>
          <p:nvPr/>
        </p:nvSpPr>
        <p:spPr>
          <a:xfrm>
            <a:off x="1804797" y="1128775"/>
            <a:ext cx="9695815" cy="118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800" dirty="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  <a:spcBef>
                <a:spcPts val="15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Using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method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joints,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force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 each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the truss </a:t>
            </a:r>
            <a:r>
              <a:rPr sz="2400" spc="-5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shown.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State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whether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each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</a:t>
            </a:r>
            <a:r>
              <a:rPr sz="24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 in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tension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compression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44C47F3E-0C73-B08B-0E1E-C01785B5CEE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5740" y="2668523"/>
            <a:ext cx="4664964" cy="352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10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C5F0AA3-4788-6122-C860-5A5CA8D459BB}"/>
              </a:ext>
            </a:extLst>
          </p:cNvPr>
          <p:cNvSpPr txBox="1">
            <a:spLocks/>
          </p:cNvSpPr>
          <p:nvPr/>
        </p:nvSpPr>
        <p:spPr>
          <a:xfrm>
            <a:off x="1749499" y="1130300"/>
            <a:ext cx="10078771" cy="161903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283210" indent="-342900">
              <a:lnSpc>
                <a:spcPct val="100400"/>
              </a:lnSpc>
              <a:spcBef>
                <a:spcPts val="85"/>
              </a:spcBef>
              <a:buClr>
                <a:srgbClr val="A42F0F"/>
              </a:buClr>
              <a:buFont typeface="Wingdings"/>
              <a:buChar char=""/>
              <a:tabLst>
                <a:tab pos="1795780" algn="l"/>
                <a:tab pos="1796414" algn="l"/>
              </a:tabLst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of Joints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the best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spc="-5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truss</a:t>
            </a:r>
            <a:r>
              <a:rPr lang="en-US"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found.</a:t>
            </a:r>
          </a:p>
          <a:p>
            <a:pPr>
              <a:lnSpc>
                <a:spcPts val="287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Sections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2400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lang="en-US" sz="2400" spc="-1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400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en-US" sz="2400" i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i="1" spc="-1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2400" i="1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400" i="1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  <a:r>
              <a:rPr lang="en-US" sz="2400" i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the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lang="en-US" sz="2400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  <a:r>
              <a:rPr lang="en-US" sz="2400" spc="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</a:t>
            </a:r>
            <a:r>
              <a:rPr lang="en-US" sz="2400" i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n-US" sz="2400" i="1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lang="en-US" sz="2400" i="1" spc="-1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spc="-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2400" i="1" spc="3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sz="2400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truss</a:t>
            </a:r>
            <a:r>
              <a:rPr lang="en-US" sz="2400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desired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3BAD3F9-2113-4333-3D88-5DFB58587985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Sections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C9C2D-B295-E9E7-5353-F2C5C0977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4096" y="3039846"/>
            <a:ext cx="2627792" cy="35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99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959D46E-9F07-5E99-24D1-7D51D7EFC5FB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Sections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83A6071-C103-CBF1-13DB-FF18B5F9B812}"/>
              </a:ext>
            </a:extLst>
          </p:cNvPr>
          <p:cNvSpPr txBox="1"/>
          <p:nvPr/>
        </p:nvSpPr>
        <p:spPr>
          <a:xfrm>
            <a:off x="1804797" y="3630295"/>
            <a:ext cx="81984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dirty="0">
                <a:solidFill>
                  <a:srgbClr val="A42F0F"/>
                </a:solidFill>
                <a:latin typeface="Times New Roman"/>
                <a:cs typeface="Times New Roman"/>
              </a:rPr>
              <a:t>1)	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Draw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free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body diagram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A65F12"/>
                </a:solidFill>
                <a:latin typeface="Times New Roman"/>
                <a:cs typeface="Times New Roman"/>
              </a:rPr>
              <a:t>the truss</a:t>
            </a:r>
            <a:r>
              <a:rPr sz="2400" spc="-10" dirty="0">
                <a:solidFill>
                  <a:srgbClr val="A65F1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solve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reaction forces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DE1A31F4-18FC-7CA7-FEE6-B2F4C89AA2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6932" y="1223772"/>
            <a:ext cx="5422392" cy="2042160"/>
          </a:xfrm>
          <a:prstGeom prst="rect">
            <a:avLst/>
          </a:prstGeom>
        </p:spPr>
      </p:pic>
      <p:pic>
        <p:nvPicPr>
          <p:cNvPr id="10" name="object 5">
            <a:extLst>
              <a:ext uri="{FF2B5EF4-FFF2-40B4-BE49-F238E27FC236}">
                <a16:creationId xmlns:a16="http://schemas.microsoft.com/office/drawing/2014/main" id="{03BDE263-9F8C-A646-8816-AD388075F5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7335" y="4261103"/>
            <a:ext cx="5422392" cy="2179320"/>
          </a:xfrm>
          <a:prstGeom prst="rect">
            <a:avLst/>
          </a:prstGeom>
        </p:spPr>
      </p:pic>
      <p:pic>
        <p:nvPicPr>
          <p:cNvPr id="11" name="object 6">
            <a:extLst>
              <a:ext uri="{FF2B5EF4-FFF2-40B4-BE49-F238E27FC236}">
                <a16:creationId xmlns:a16="http://schemas.microsoft.com/office/drawing/2014/main" id="{F8DBAE6C-17F2-2D45-3E0D-F63B136008E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0676" y="4261103"/>
            <a:ext cx="1569720" cy="202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65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FAA3B96-C519-0EF8-CA57-727E489355D5}"/>
              </a:ext>
            </a:extLst>
          </p:cNvPr>
          <p:cNvSpPr txBox="1"/>
          <p:nvPr/>
        </p:nvSpPr>
        <p:spPr>
          <a:xfrm>
            <a:off x="1804797" y="1130300"/>
            <a:ext cx="9463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2)	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Cut</a:t>
            </a:r>
            <a:r>
              <a:rPr sz="24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50"/>
                </a:solidFill>
                <a:latin typeface="Times New Roman"/>
                <a:cs typeface="Times New Roman"/>
              </a:rPr>
              <a:t>truss</a:t>
            </a:r>
            <a:r>
              <a:rPr sz="24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members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draw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Times New Roman"/>
                <a:cs typeface="Times New Roman"/>
              </a:rPr>
              <a:t>internal</a:t>
            </a:r>
            <a:r>
              <a:rPr sz="2400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AFEF"/>
                </a:solidFill>
                <a:latin typeface="Times New Roman"/>
                <a:cs typeface="Times New Roman"/>
              </a:rPr>
              <a:t>forces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C832F28-2959-FBAF-4D70-C1CFB5B95383}"/>
              </a:ext>
            </a:extLst>
          </p:cNvPr>
          <p:cNvSpPr txBox="1"/>
          <p:nvPr/>
        </p:nvSpPr>
        <p:spPr>
          <a:xfrm>
            <a:off x="1804797" y="4057015"/>
            <a:ext cx="7287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3)	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Apply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/>
                <a:cs typeface="Times New Roman"/>
              </a:rPr>
              <a:t>equilibrium</a:t>
            </a:r>
            <a:r>
              <a:rPr sz="2400" spc="-6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/>
                <a:cs typeface="Times New Roman"/>
              </a:rPr>
              <a:t>equations</a:t>
            </a:r>
            <a:r>
              <a:rPr sz="2400" spc="-2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solve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internal</a:t>
            </a:r>
            <a:r>
              <a:rPr sz="2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663FA5A-FC89-94DD-A388-96669A0E5E77}"/>
              </a:ext>
            </a:extLst>
          </p:cNvPr>
          <p:cNvSpPr txBox="1"/>
          <p:nvPr/>
        </p:nvSpPr>
        <p:spPr>
          <a:xfrm>
            <a:off x="6529831" y="5518810"/>
            <a:ext cx="323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16C333DB-8633-5E9F-97B6-C297432A17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5740" y="1801367"/>
            <a:ext cx="5148071" cy="2136647"/>
          </a:xfrm>
          <a:prstGeom prst="rect">
            <a:avLst/>
          </a:prstGeom>
        </p:spPr>
      </p:pic>
      <p:pic>
        <p:nvPicPr>
          <p:cNvPr id="10" name="object 7">
            <a:extLst>
              <a:ext uri="{FF2B5EF4-FFF2-40B4-BE49-F238E27FC236}">
                <a16:creationId xmlns:a16="http://schemas.microsoft.com/office/drawing/2014/main" id="{AB2E4537-A7E9-D5EC-501A-7C43476C53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5167" y="4631434"/>
            <a:ext cx="4456176" cy="2142742"/>
          </a:xfrm>
          <a:prstGeom prst="rect">
            <a:avLst/>
          </a:prstGeom>
        </p:spPr>
      </p:pic>
      <p:pic>
        <p:nvPicPr>
          <p:cNvPr id="11" name="object 8">
            <a:extLst>
              <a:ext uri="{FF2B5EF4-FFF2-40B4-BE49-F238E27FC236}">
                <a16:creationId xmlns:a16="http://schemas.microsoft.com/office/drawing/2014/main" id="{67E60F42-8AD2-9787-74B5-F1D6C2BBA4D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5283" y="4631434"/>
            <a:ext cx="4739639" cy="2142742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1ABAA045-C6F5-ADC4-1165-C37DC2CD6D0F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Sections</a:t>
            </a:r>
          </a:p>
        </p:txBody>
      </p:sp>
    </p:spTree>
    <p:extLst>
      <p:ext uri="{BB962C8B-B14F-4D97-AF65-F5344CB8AC3E}">
        <p14:creationId xmlns:p14="http://schemas.microsoft.com/office/powerpoint/2010/main" val="2404321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5199650-DBC4-1EBB-BD9F-CEAA9DFD4CF9}"/>
              </a:ext>
            </a:extLst>
          </p:cNvPr>
          <p:cNvSpPr txBox="1"/>
          <p:nvPr/>
        </p:nvSpPr>
        <p:spPr>
          <a:xfrm>
            <a:off x="1570880" y="1138334"/>
            <a:ext cx="10287000" cy="84137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6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20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force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members</a:t>
            </a:r>
            <a:r>
              <a:rPr sz="2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DE</a:t>
            </a:r>
            <a:r>
              <a:rPr sz="2400" b="1" i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DF</a:t>
            </a:r>
            <a:r>
              <a:rPr sz="2400" b="1" i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the truss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shown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sz="2400" b="1" i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=20</a:t>
            </a:r>
            <a:r>
              <a:rPr sz="2400" b="1" i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kips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2FE9274-D4A2-A2F1-F543-3264757267C1}"/>
              </a:ext>
            </a:extLst>
          </p:cNvPr>
          <p:cNvSpPr txBox="1">
            <a:spLocks/>
          </p:cNvSpPr>
          <p:nvPr/>
        </p:nvSpPr>
        <p:spPr>
          <a:xfrm>
            <a:off x="1768982" y="334772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Sections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6EB12B-D083-B9A0-7582-62B622735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441" y="3062562"/>
            <a:ext cx="76485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36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6/17/2025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6B34151-3526-12BB-B855-B5345AD472BB}"/>
              </a:ext>
            </a:extLst>
          </p:cNvPr>
          <p:cNvSpPr txBox="1"/>
          <p:nvPr/>
        </p:nvSpPr>
        <p:spPr>
          <a:xfrm>
            <a:off x="1570880" y="1138334"/>
            <a:ext cx="10287000" cy="1223861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600" b="1" spc="-5">
                <a:solidFill>
                  <a:srgbClr val="C00000"/>
                </a:solidFill>
                <a:latin typeface="Times New Roman"/>
                <a:cs typeface="Times New Roman"/>
              </a:rPr>
              <a:t>Practice </a:t>
            </a:r>
            <a:r>
              <a:rPr sz="2600" b="1" spc="-5">
                <a:solidFill>
                  <a:srgbClr val="C00000"/>
                </a:solidFill>
                <a:latin typeface="Times New Roman"/>
                <a:cs typeface="Times New Roman"/>
              </a:rPr>
              <a:t>Problem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6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17500" marR="5080" indent="25400">
              <a:lnSpc>
                <a:spcPct val="101699"/>
              </a:lnSpc>
              <a:spcBef>
                <a:spcPts val="150"/>
              </a:spcBef>
            </a:pP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</a:t>
            </a:r>
            <a:r>
              <a:rPr lang="en-US"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force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lang="en-US"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members</a:t>
            </a:r>
            <a:r>
              <a:rPr lang="en-US" sz="2400" spc="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EH</a:t>
            </a:r>
            <a:r>
              <a:rPr lang="en-US" sz="2400" b="1" i="1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lang="en-US"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GI</a:t>
            </a:r>
            <a:r>
              <a:rPr lang="en-US"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lang="en-US"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truss shown. </a:t>
            </a:r>
            <a:r>
              <a:rPr lang="en-US" sz="2400" spc="-5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</a:p>
          <a:p>
            <a:pPr marL="317500" marR="5080" indent="25400">
              <a:lnSpc>
                <a:spcPct val="101699"/>
              </a:lnSpc>
              <a:spcBef>
                <a:spcPts val="150"/>
              </a:spcBef>
            </a:pP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lang="en-US"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Hint:</a:t>
            </a:r>
            <a:r>
              <a:rPr lang="en-US" sz="2400" b="1" i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lang="en-US"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section</a:t>
            </a:r>
            <a:r>
              <a:rPr lang="en-US"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aa)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B9DA7EE-8AA6-A30C-0F97-2DA57FC58165}"/>
              </a:ext>
            </a:extLst>
          </p:cNvPr>
          <p:cNvSpPr txBox="1">
            <a:spLocks/>
          </p:cNvSpPr>
          <p:nvPr/>
        </p:nvSpPr>
        <p:spPr>
          <a:xfrm>
            <a:off x="1749500" y="319088"/>
            <a:ext cx="86540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Analysis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</a:t>
            </a:r>
            <a:r>
              <a:rPr lang="en-US" sz="3200" spc="-7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4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Trusses</a:t>
            </a:r>
            <a:r>
              <a:rPr lang="en-US" sz="3200" spc="10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by</a:t>
            </a:r>
            <a:r>
              <a:rPr lang="en-US" sz="3200" spc="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Method</a:t>
            </a:r>
            <a:r>
              <a:rPr lang="en-US" sz="3200" spc="1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of Sections</a:t>
            </a:r>
          </a:p>
        </p:txBody>
      </p:sp>
      <p:pic>
        <p:nvPicPr>
          <p:cNvPr id="8" name="Picture 7" descr="A diagram of a truss with red arrows&#10;&#10;Description automatically generated">
            <a:extLst>
              <a:ext uri="{FF2B5EF4-FFF2-40B4-BE49-F238E27FC236}">
                <a16:creationId xmlns:a16="http://schemas.microsoft.com/office/drawing/2014/main" id="{A994566F-D737-9139-FF22-EC11BF25C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277" y="2750844"/>
            <a:ext cx="8592658" cy="37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27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9E3B196684499E884074FD3CB02C" ma:contentTypeVersion="4" ma:contentTypeDescription="Create a new document." ma:contentTypeScope="" ma:versionID="28b3d92f1e6fa517cf934b1e63e8382b">
  <xsd:schema xmlns:xsd="http://www.w3.org/2001/XMLSchema" xmlns:xs="http://www.w3.org/2001/XMLSchema" xmlns:p="http://schemas.microsoft.com/office/2006/metadata/properties" xmlns:ns2="fe4160f2-581c-44de-8c1e-f3a36bb236c5" targetNamespace="http://schemas.microsoft.com/office/2006/metadata/properties" ma:root="true" ma:fieldsID="fab7115323ebc58acf5357dd32b4bda1" ns2:_="">
    <xsd:import namespace="fe4160f2-581c-44de-8c1e-f3a36bb23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160f2-581c-44de-8c1e-f3a36bb236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7D0422-F402-4F7F-A9A5-CF4AC4102A71}"/>
</file>

<file path=customXml/itemProps2.xml><?xml version="1.0" encoding="utf-8"?>
<ds:datastoreItem xmlns:ds="http://schemas.openxmlformats.org/officeDocument/2006/customXml" ds:itemID="{667C8D28-8A71-4439-940D-A7F90F5AEEB8}"/>
</file>

<file path=customXml/itemProps3.xml><?xml version="1.0" encoding="utf-8"?>
<ds:datastoreItem xmlns:ds="http://schemas.openxmlformats.org/officeDocument/2006/customXml" ds:itemID="{6644E51E-4F11-4BF5-86C1-BF16F0AAF98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</TotalTime>
  <Words>726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of Trusses by Method of Joints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Aminul Islam</dc:creator>
  <cp:lastModifiedBy>Sadia Tasnim</cp:lastModifiedBy>
  <cp:revision>15</cp:revision>
  <cp:lastPrinted>2024-11-12T16:20:19Z</cp:lastPrinted>
  <dcterms:created xsi:type="dcterms:W3CDTF">2023-06-01T16:56:59Z</dcterms:created>
  <dcterms:modified xsi:type="dcterms:W3CDTF">2025-06-17T16:32:07Z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0x01010008EF9E3B196684499E884074FD3CB02C</vt:lpwstr>
  </property>
</Properties>
</file>