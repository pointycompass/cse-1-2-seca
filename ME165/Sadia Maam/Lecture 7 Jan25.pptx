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7.jpg" ContentType="image/jpg"/>
  <Override PartName="/ppt/media/image8.jpg" ContentType="image/jpg"/>
  <Override PartName="/ppt/media/image9.jpg" ContentType="image/jpg"/>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20" r:id="rId3"/>
    <p:sldId id="280" r:id="rId4"/>
    <p:sldId id="285" r:id="rId5"/>
    <p:sldId id="284" r:id="rId6"/>
    <p:sldId id="283" r:id="rId7"/>
    <p:sldId id="282" r:id="rId8"/>
    <p:sldId id="287" r:id="rId9"/>
    <p:sldId id="288" r:id="rId10"/>
    <p:sldId id="289"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0F4DBC-6A16-1D47-70AA-487DA8967E86}" v="5" dt="2025-06-24T18:03:06.7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3" d="100"/>
          <a:sy n="83" d="100"/>
        </p:scale>
        <p:origin x="61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ia Tasnim" userId="S::sadiatasnim@me.buet.ac.bd::0a7a5d6a-8466-4436-9475-c4c27ed18f50" providerId="AD" clId="Web-{5B0F4DBC-6A16-1D47-70AA-487DA8967E86}"/>
    <pc:docChg chg="modSld">
      <pc:chgData name="Sadia Tasnim" userId="S::sadiatasnim@me.buet.ac.bd::0a7a5d6a-8466-4436-9475-c4c27ed18f50" providerId="AD" clId="Web-{5B0F4DBC-6A16-1D47-70AA-487DA8967E86}" dt="2025-06-24T18:03:05.904" v="0" actId="20577"/>
      <pc:docMkLst>
        <pc:docMk/>
      </pc:docMkLst>
      <pc:sldChg chg="modSp">
        <pc:chgData name="Sadia Tasnim" userId="S::sadiatasnim@me.buet.ac.bd::0a7a5d6a-8466-4436-9475-c4c27ed18f50" providerId="AD" clId="Web-{5B0F4DBC-6A16-1D47-70AA-487DA8967E86}" dt="2025-06-24T18:03:05.904" v="0" actId="20577"/>
        <pc:sldMkLst>
          <pc:docMk/>
          <pc:sldMk cId="0" sldId="257"/>
        </pc:sldMkLst>
        <pc:spChg chg="mod">
          <ac:chgData name="Sadia Tasnim" userId="S::sadiatasnim@me.buet.ac.bd::0a7a5d6a-8466-4436-9475-c4c27ed18f50" providerId="AD" clId="Web-{5B0F4DBC-6A16-1D47-70AA-487DA8967E86}" dt="2025-06-24T18:03:05.904" v="0" actId="20577"/>
          <ac:spMkLst>
            <pc:docMk/>
            <pc:sldMk cId="0" sldId="257"/>
            <ac:spMk id="7" creationId="{F16BE822-34D9-8E49-EEB6-A29F99397F23}"/>
          </ac:spMkLst>
        </pc:spChg>
      </pc:sldChg>
    </pc:docChg>
  </pc:docChgLst>
  <pc:docChgLst>
    <pc:chgData clId="Web-{5B0F4DBC-6A16-1D47-70AA-487DA8967E86}"/>
    <pc:docChg chg="modSld">
      <pc:chgData name="" userId="" providerId="" clId="Web-{5B0F4DBC-6A16-1D47-70AA-487DA8967E86}" dt="2025-06-24T18:03:03.560" v="0" actId="20577"/>
      <pc:docMkLst>
        <pc:docMk/>
      </pc:docMkLst>
      <pc:sldChg chg="modSp">
        <pc:chgData name="" userId="" providerId="" clId="Web-{5B0F4DBC-6A16-1D47-70AA-487DA8967E86}" dt="2025-06-24T18:03:03.560" v="0" actId="20577"/>
        <pc:sldMkLst>
          <pc:docMk/>
          <pc:sldMk cId="0" sldId="257"/>
        </pc:sldMkLst>
        <pc:spChg chg="mod">
          <ac:chgData name="" userId="" providerId="" clId="Web-{5B0F4DBC-6A16-1D47-70AA-487DA8967E86}" dt="2025-06-24T18:03:03.560" v="0" actId="20577"/>
          <ac:spMkLst>
            <pc:docMk/>
            <pc:sldMk cId="0" sldId="257"/>
            <ac:spMk id="7" creationId="{F16BE822-34D9-8E49-EEB6-A29F99397F2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365CA-A64B-40AD-3D3E-D9CB98082B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DD5A05-C905-DD1D-C847-9D47B7753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2DB09E-6584-7D99-BD93-CEC3A3181B85}"/>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5" name="Footer Placeholder 4">
            <a:extLst>
              <a:ext uri="{FF2B5EF4-FFF2-40B4-BE49-F238E27FC236}">
                <a16:creationId xmlns:a16="http://schemas.microsoft.com/office/drawing/2014/main" id="{1D043659-F363-7BE2-282C-2DA76FA210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CB2D9-5378-3476-9A48-7093E18DA637}"/>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2282654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730B-CE28-BD90-6C18-ACF5440258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A9252A-A163-C914-FBCC-44A442329B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F8A58-4F97-857C-562E-E5471E0C3323}"/>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5" name="Footer Placeholder 4">
            <a:extLst>
              <a:ext uri="{FF2B5EF4-FFF2-40B4-BE49-F238E27FC236}">
                <a16:creationId xmlns:a16="http://schemas.microsoft.com/office/drawing/2014/main" id="{592D10E5-50CD-A148-2780-EF387D4EF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ABB09-CF8E-17D6-751D-949D3B60BEC3}"/>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3900013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BFDC4-149A-1F61-AEBF-C77928EE45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B7EBB3-A39D-6EB2-FFF9-747CBE21BA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F321E8-41CB-F2E3-114A-AC2D3020DFED}"/>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5" name="Footer Placeholder 4">
            <a:extLst>
              <a:ext uri="{FF2B5EF4-FFF2-40B4-BE49-F238E27FC236}">
                <a16:creationId xmlns:a16="http://schemas.microsoft.com/office/drawing/2014/main" id="{C059B06E-79EC-F8B0-A2A7-696C185CFE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AF5FFB-BDB9-BF7C-DAF5-2F4EDAC7DB4D}"/>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225370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43B58-F799-8E50-C2BF-E3A1E259DF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21EF81-5FC5-1F2B-B826-CFF7058560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E4B660-203C-16A8-D252-FC56937C1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4B8E50-CA40-BE7A-A0D0-2F79730CD8C3}"/>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6" name="Footer Placeholder 5">
            <a:extLst>
              <a:ext uri="{FF2B5EF4-FFF2-40B4-BE49-F238E27FC236}">
                <a16:creationId xmlns:a16="http://schemas.microsoft.com/office/drawing/2014/main" id="{86EC9DAE-6AD1-60BC-7F41-DD3BA8083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86CC2D-2411-C1B0-F125-8140B4C108CC}"/>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278169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6F209-C97C-204C-577E-20DF8D255E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C1D8FD-6E37-4A77-C5FC-ECED69731D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CEA336-F448-44D5-D9ED-E1D4D80ADC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856FD7-0F30-8559-1A8A-B423FEEEF0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008354-DDBA-0148-CDC0-35B1A39A1B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5E5B08-3092-F069-61A4-DD9EF5C9B1C1}"/>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8" name="Footer Placeholder 7">
            <a:extLst>
              <a:ext uri="{FF2B5EF4-FFF2-40B4-BE49-F238E27FC236}">
                <a16:creationId xmlns:a16="http://schemas.microsoft.com/office/drawing/2014/main" id="{21431F20-CA9D-744D-7CE5-CCA72BC4BC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CBF572-FF22-3883-2302-4AC0E989183E}"/>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1419846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7DF6E-C490-12BD-8C0D-D6384D4A25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6359E8-0AE6-B76E-7B4E-318ACE2C42AB}"/>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4" name="Footer Placeholder 3">
            <a:extLst>
              <a:ext uri="{FF2B5EF4-FFF2-40B4-BE49-F238E27FC236}">
                <a16:creationId xmlns:a16="http://schemas.microsoft.com/office/drawing/2014/main" id="{A3D40CAE-8A9F-9D10-FD4D-8DB7909793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200789-8A3F-F5C0-4D91-8A63BBC2FB55}"/>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421945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B41FC3-80B5-ECC5-DA7D-34BE9D23F0AE}"/>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3" name="Footer Placeholder 2">
            <a:extLst>
              <a:ext uri="{FF2B5EF4-FFF2-40B4-BE49-F238E27FC236}">
                <a16:creationId xmlns:a16="http://schemas.microsoft.com/office/drawing/2014/main" id="{240DACC9-6BB3-E8C4-1DD7-E3914EEEDD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220620-2FD5-47D0-24AC-9E30A3F9EA6D}"/>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1596229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866B-229A-B819-94AF-C66129D0BE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636251-19E5-6F7B-A2D2-18648388C8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B8894D-622C-A667-2EB6-44555DC21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1A8636-3AAC-5F5F-9ECD-4499B660484C}"/>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6" name="Footer Placeholder 5">
            <a:extLst>
              <a:ext uri="{FF2B5EF4-FFF2-40B4-BE49-F238E27FC236}">
                <a16:creationId xmlns:a16="http://schemas.microsoft.com/office/drawing/2014/main" id="{91192220-9F56-F357-E05C-BC8FB89A73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2B46C-54DF-A943-3F8C-C63EB8166F47}"/>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3938550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8AA7-B1C5-A7B3-3E19-B94F94F19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4D4F98-BC1A-8DA0-7072-39BE699451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637492-3F2F-9C51-7196-8BD9E4D12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ABC2A-97A4-CF71-10AC-7F2A9FCFAE37}"/>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6" name="Footer Placeholder 5">
            <a:extLst>
              <a:ext uri="{FF2B5EF4-FFF2-40B4-BE49-F238E27FC236}">
                <a16:creationId xmlns:a16="http://schemas.microsoft.com/office/drawing/2014/main" id="{857EFBAD-8136-E3F3-2F6B-BA46AA8506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59B287-B665-40DD-B285-61A400814874}"/>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359206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FD986-E52B-39FA-A486-6929BECD1C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07A935-D4AB-CBF8-E924-389370B9D6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8DB261-B0BD-4C39-46F7-8F79F96C6CD8}"/>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5" name="Footer Placeholder 4">
            <a:extLst>
              <a:ext uri="{FF2B5EF4-FFF2-40B4-BE49-F238E27FC236}">
                <a16:creationId xmlns:a16="http://schemas.microsoft.com/office/drawing/2014/main" id="{9303FBBE-A7E1-3A3F-3EB9-DDEFB1DD2A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0B6BC-21D5-62E1-6A25-70CCF6876A6C}"/>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1991064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8FD8F5-7DD9-4D17-14EF-FEF4A5C41E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DCEF29-B977-7774-E05C-8ADD460664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C83BD-60BE-16B6-EDBA-5E24DD350AF7}"/>
              </a:ext>
            </a:extLst>
          </p:cNvPr>
          <p:cNvSpPr>
            <a:spLocks noGrp="1"/>
          </p:cNvSpPr>
          <p:nvPr>
            <p:ph type="dt" sz="half" idx="10"/>
          </p:nvPr>
        </p:nvSpPr>
        <p:spPr/>
        <p:txBody>
          <a:bodyPr/>
          <a:lstStyle/>
          <a:p>
            <a:fld id="{F2DC94DD-950C-4C46-B2B6-CE262DB1297D}" type="datetimeFigureOut">
              <a:rPr lang="en-US" smtClean="0"/>
              <a:t>6/24/2025</a:t>
            </a:fld>
            <a:endParaRPr lang="en-US"/>
          </a:p>
        </p:txBody>
      </p:sp>
      <p:sp>
        <p:nvSpPr>
          <p:cNvPr id="5" name="Footer Placeholder 4">
            <a:extLst>
              <a:ext uri="{FF2B5EF4-FFF2-40B4-BE49-F238E27FC236}">
                <a16:creationId xmlns:a16="http://schemas.microsoft.com/office/drawing/2014/main" id="{D0A053F9-FD78-F5B0-776B-A69997752F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1A740-FF61-F67E-A02F-F241F04188EA}"/>
              </a:ext>
            </a:extLst>
          </p:cNvPr>
          <p:cNvSpPr>
            <a:spLocks noGrp="1"/>
          </p:cNvSpPr>
          <p:nvPr>
            <p:ph type="sldNum" sz="quarter" idx="12"/>
          </p:nvPr>
        </p:nvSpPr>
        <p:spPr/>
        <p:txBody>
          <a:bodyPr/>
          <a:lstStyle/>
          <a:p>
            <a:fld id="{122726F0-E596-4888-80E3-016B2DEB6A40}" type="slidenum">
              <a:rPr lang="en-US" smtClean="0"/>
              <a:t>‹#›</a:t>
            </a:fld>
            <a:endParaRPr lang="en-US"/>
          </a:p>
        </p:txBody>
      </p:sp>
    </p:spTree>
    <p:extLst>
      <p:ext uri="{BB962C8B-B14F-4D97-AF65-F5344CB8AC3E}">
        <p14:creationId xmlns:p14="http://schemas.microsoft.com/office/powerpoint/2010/main" val="1357433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6770C-2317-D040-4A2C-FCCDA8C104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CE9B29-E6A5-4AE1-CCDE-279E808B67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39EAD2-DDC8-1474-078E-5770B560AE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C94DD-950C-4C46-B2B6-CE262DB1297D}" type="datetimeFigureOut">
              <a:rPr lang="en-US" smtClean="0"/>
              <a:t>6/24/2025</a:t>
            </a:fld>
            <a:endParaRPr lang="en-US"/>
          </a:p>
        </p:txBody>
      </p:sp>
      <p:sp>
        <p:nvSpPr>
          <p:cNvPr id="5" name="Footer Placeholder 4">
            <a:extLst>
              <a:ext uri="{FF2B5EF4-FFF2-40B4-BE49-F238E27FC236}">
                <a16:creationId xmlns:a16="http://schemas.microsoft.com/office/drawing/2014/main" id="{A83DF784-EF0B-772D-4E77-26EAD16106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DE4E81-052F-E13A-81DE-3A780CCAF6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2726F0-E596-4888-80E3-016B2DEB6A40}" type="slidenum">
              <a:rPr lang="en-US" smtClean="0"/>
              <a:t>‹#›</a:t>
            </a:fld>
            <a:endParaRPr lang="en-US"/>
          </a:p>
        </p:txBody>
      </p:sp>
    </p:spTree>
    <p:extLst>
      <p:ext uri="{BB962C8B-B14F-4D97-AF65-F5344CB8AC3E}">
        <p14:creationId xmlns:p14="http://schemas.microsoft.com/office/powerpoint/2010/main" val="1575212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Date Placeholder 20">
            <a:extLst>
              <a:ext uri="{FF2B5EF4-FFF2-40B4-BE49-F238E27FC236}">
                <a16:creationId xmlns:a16="http://schemas.microsoft.com/office/drawing/2014/main" id="{A09BA275-68A7-7A75-3376-AE5346023DAB}"/>
              </a:ext>
            </a:extLst>
          </p:cNvPr>
          <p:cNvSpPr>
            <a:spLocks noGrp="1"/>
          </p:cNvSpPr>
          <p:nvPr>
            <p:ph type="dt" sz="half" idx="10"/>
          </p:nvPr>
        </p:nvSpPr>
        <p:spPr/>
        <p:txBody>
          <a:bodyPr/>
          <a:lstStyle/>
          <a:p>
            <a:fld id="{67652F9E-2A1B-4585-81D9-7A10A22D2DB5}" type="datetime1">
              <a:rPr lang="en-US" smtClean="0"/>
              <a:t>6/24/2025</a:t>
            </a:fld>
            <a:endParaRPr lang="en-US"/>
          </a:p>
        </p:txBody>
      </p:sp>
      <p:sp>
        <p:nvSpPr>
          <p:cNvPr id="22" name="Slide Number Placeholder 21">
            <a:extLst>
              <a:ext uri="{FF2B5EF4-FFF2-40B4-BE49-F238E27FC236}">
                <a16:creationId xmlns:a16="http://schemas.microsoft.com/office/drawing/2014/main" id="{9774637B-0AB0-4237-20ED-EC335262043B}"/>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6" name="TextBox 5">
            <a:extLst>
              <a:ext uri="{FF2B5EF4-FFF2-40B4-BE49-F238E27FC236}">
                <a16:creationId xmlns:a16="http://schemas.microsoft.com/office/drawing/2014/main" id="{5DFB10B2-0059-165B-F949-FDFFD6A85D5C}"/>
              </a:ext>
            </a:extLst>
          </p:cNvPr>
          <p:cNvSpPr txBox="1"/>
          <p:nvPr/>
        </p:nvSpPr>
        <p:spPr>
          <a:xfrm>
            <a:off x="2409245" y="993264"/>
            <a:ext cx="7721600" cy="1138773"/>
          </a:xfrm>
          <a:prstGeom prst="rect">
            <a:avLst/>
          </a:prstGeom>
          <a:noFill/>
        </p:spPr>
        <p:txBody>
          <a:bodyPr wrap="square" rtlCol="0">
            <a:spAutoFit/>
          </a:bodyPr>
          <a:lstStyle/>
          <a:p>
            <a:pPr algn="ctr"/>
            <a:r>
              <a:rPr lang="en-US" sz="3400" dirty="0">
                <a:latin typeface="Bookman Old Style" panose="02050604050505020204" pitchFamily="18" charset="0"/>
                <a:cs typeface="Dreaming Outloud Pro" panose="03050502040302030504" pitchFamily="66" charset="0"/>
              </a:rPr>
              <a:t>ME 165</a:t>
            </a:r>
          </a:p>
          <a:p>
            <a:pPr algn="ctr"/>
            <a:r>
              <a:rPr lang="en-US" sz="3400" dirty="0">
                <a:latin typeface="Bookman Old Style" panose="02050604050505020204" pitchFamily="18" charset="0"/>
                <a:cs typeface="Dreaming Outloud Pro" panose="03050502040302030504" pitchFamily="66" charset="0"/>
              </a:rPr>
              <a:t>Basic Mechanical Engineering</a:t>
            </a:r>
          </a:p>
        </p:txBody>
      </p:sp>
      <p:sp>
        <p:nvSpPr>
          <p:cNvPr id="7" name="object 4">
            <a:extLst>
              <a:ext uri="{FF2B5EF4-FFF2-40B4-BE49-F238E27FC236}">
                <a16:creationId xmlns:a16="http://schemas.microsoft.com/office/drawing/2014/main" id="{F16BE822-34D9-8E49-EEB6-A29F99397F23}"/>
              </a:ext>
            </a:extLst>
          </p:cNvPr>
          <p:cNvSpPr txBox="1"/>
          <p:nvPr/>
        </p:nvSpPr>
        <p:spPr>
          <a:xfrm>
            <a:off x="1019948" y="2543209"/>
            <a:ext cx="9502666" cy="3381268"/>
          </a:xfrm>
          <a:prstGeom prst="rect">
            <a:avLst/>
          </a:prstGeom>
        </p:spPr>
        <p:txBody>
          <a:bodyPr vert="horz" wrap="square" lIns="0" tIns="8467" rIns="0" bIns="0" rtlCol="0" anchor="t">
            <a:spAutoFit/>
          </a:bodyPr>
          <a:lstStyle/>
          <a:p>
            <a:pPr marL="1379220" marR="1372870" algn="ctr">
              <a:spcBef>
                <a:spcPts val="67"/>
              </a:spcBef>
            </a:pPr>
            <a:r>
              <a:rPr sz="3000" b="1" spc="-7" dirty="0">
                <a:solidFill>
                  <a:srgbClr val="FF0000"/>
                </a:solidFill>
                <a:latin typeface="Bookman Old Style"/>
                <a:cs typeface="Dreaming Outloud Pro"/>
              </a:rPr>
              <a:t>Lecture</a:t>
            </a:r>
            <a:r>
              <a:rPr sz="3000" b="1" spc="-63" dirty="0">
                <a:solidFill>
                  <a:srgbClr val="FF0000"/>
                </a:solidFill>
                <a:latin typeface="Bookman Old Style"/>
                <a:cs typeface="Dreaming Outloud Pro"/>
              </a:rPr>
              <a:t> </a:t>
            </a:r>
            <a:r>
              <a:rPr lang="en-US" sz="3000" b="1" spc="-63" dirty="0">
                <a:solidFill>
                  <a:srgbClr val="FF0000"/>
                </a:solidFill>
                <a:latin typeface="Bookman Old Style"/>
                <a:cs typeface="Dreaming Outloud Pro"/>
              </a:rPr>
              <a:t>7</a:t>
            </a:r>
            <a:endParaRPr lang="en-US" sz="3000" b="1" spc="-63" dirty="0">
              <a:solidFill>
                <a:srgbClr val="FF0000"/>
              </a:solidFill>
              <a:latin typeface="Bookman Old Style" panose="02050604050505020204" pitchFamily="18" charset="0"/>
              <a:cs typeface="Dreaming Outloud Pro" panose="03050502040302030504" pitchFamily="66" charset="0"/>
            </a:endParaRPr>
          </a:p>
          <a:p>
            <a:pPr marL="1379289" marR="1372939" algn="ctr">
              <a:spcBef>
                <a:spcPts val="67"/>
              </a:spcBef>
            </a:pPr>
            <a:endParaRPr lang="en-US" sz="3000" b="1" dirty="0">
              <a:solidFill>
                <a:srgbClr val="FF0000"/>
              </a:solidFill>
              <a:latin typeface="Bookman Old Style" panose="02050604050505020204" pitchFamily="18" charset="0"/>
              <a:cs typeface="Dreaming Outloud Pro" panose="03050502040302030504" pitchFamily="66" charset="0"/>
            </a:endParaRPr>
          </a:p>
          <a:p>
            <a:pPr marL="1379289" marR="1372939" algn="ctr">
              <a:spcBef>
                <a:spcPts val="67"/>
              </a:spcBef>
            </a:pPr>
            <a:r>
              <a:rPr lang="en-US" sz="3000" b="1" spc="-3" dirty="0">
                <a:solidFill>
                  <a:srgbClr val="C00000"/>
                </a:solidFill>
                <a:latin typeface="Bookman Old Style" panose="02050604050505020204" pitchFamily="18" charset="0"/>
                <a:cs typeface="Dreaming Outloud Pro" panose="03050502040302030504" pitchFamily="66" charset="0"/>
              </a:rPr>
              <a:t>Analysis of Structures</a:t>
            </a:r>
          </a:p>
          <a:p>
            <a:pPr>
              <a:spcBef>
                <a:spcPts val="7"/>
              </a:spcBef>
            </a:pPr>
            <a:endParaRPr sz="3000" dirty="0">
              <a:latin typeface="Bookman Old Style" panose="02050604050505020204" pitchFamily="18" charset="0"/>
              <a:cs typeface="Dreaming Outloud Pro" panose="03050502040302030504" pitchFamily="66" charset="0"/>
            </a:endParaRPr>
          </a:p>
          <a:p>
            <a:pPr marL="2540" algn="ctr">
              <a:spcBef>
                <a:spcPts val="3"/>
              </a:spcBef>
            </a:pPr>
            <a:r>
              <a:rPr lang="en-US" sz="3000" b="1" spc="-3" dirty="0">
                <a:latin typeface="Bookman Old Style" panose="02050604050505020204" pitchFamily="18" charset="0"/>
                <a:cs typeface="Dreaming Outloud Pro" panose="03050502040302030504" pitchFamily="66" charset="0"/>
              </a:rPr>
              <a:t>Sadia Tasnim</a:t>
            </a:r>
            <a:endParaRPr sz="3000" dirty="0">
              <a:latin typeface="Bookman Old Style" panose="02050604050505020204" pitchFamily="18" charset="0"/>
              <a:cs typeface="Dreaming Outloud Pro" panose="03050502040302030504" pitchFamily="66" charset="0"/>
            </a:endParaRPr>
          </a:p>
          <a:p>
            <a:pPr marL="3387" algn="ctr">
              <a:spcBef>
                <a:spcPts val="450"/>
              </a:spcBef>
            </a:pPr>
            <a:r>
              <a:rPr sz="3000" spc="-3" dirty="0">
                <a:latin typeface="Bookman Old Style" panose="02050604050505020204" pitchFamily="18" charset="0"/>
                <a:cs typeface="Dreaming Outloud Pro" panose="03050502040302030504" pitchFamily="66" charset="0"/>
              </a:rPr>
              <a:t>Lecturer</a:t>
            </a:r>
            <a:endParaRPr sz="3000" dirty="0">
              <a:latin typeface="Bookman Old Style" panose="02050604050505020204" pitchFamily="18" charset="0"/>
              <a:cs typeface="Dreaming Outloud Pro" panose="03050502040302030504" pitchFamily="66" charset="0"/>
            </a:endParaRPr>
          </a:p>
          <a:p>
            <a:pPr algn="ctr">
              <a:spcBef>
                <a:spcPts val="440"/>
              </a:spcBef>
            </a:pPr>
            <a:r>
              <a:rPr sz="3000" spc="-3" dirty="0">
                <a:latin typeface="Bookman Old Style" panose="02050604050505020204" pitchFamily="18" charset="0"/>
                <a:cs typeface="Dreaming Outloud Pro" panose="03050502040302030504" pitchFamily="66" charset="0"/>
              </a:rPr>
              <a:t>Department</a:t>
            </a:r>
            <a:r>
              <a:rPr sz="3000" dirty="0">
                <a:latin typeface="Bookman Old Style" panose="02050604050505020204" pitchFamily="18" charset="0"/>
                <a:cs typeface="Dreaming Outloud Pro" panose="03050502040302030504" pitchFamily="66" charset="0"/>
              </a:rPr>
              <a:t> </a:t>
            </a:r>
            <a:r>
              <a:rPr sz="3000" spc="-3" dirty="0">
                <a:latin typeface="Bookman Old Style" panose="02050604050505020204" pitchFamily="18" charset="0"/>
                <a:cs typeface="Dreaming Outloud Pro" panose="03050502040302030504" pitchFamily="66" charset="0"/>
              </a:rPr>
              <a:t>of</a:t>
            </a:r>
            <a:r>
              <a:rPr sz="3000" dirty="0">
                <a:latin typeface="Bookman Old Style" panose="02050604050505020204" pitchFamily="18" charset="0"/>
                <a:cs typeface="Dreaming Outloud Pro" panose="03050502040302030504" pitchFamily="66" charset="0"/>
              </a:rPr>
              <a:t> </a:t>
            </a:r>
            <a:r>
              <a:rPr sz="3000" spc="-3" dirty="0">
                <a:latin typeface="Bookman Old Style" panose="02050604050505020204" pitchFamily="18" charset="0"/>
                <a:cs typeface="Dreaming Outloud Pro" panose="03050502040302030504" pitchFamily="66" charset="0"/>
              </a:rPr>
              <a:t>Mechanical</a:t>
            </a:r>
            <a:r>
              <a:rPr sz="3000" spc="-7" dirty="0">
                <a:latin typeface="Bookman Old Style" panose="02050604050505020204" pitchFamily="18" charset="0"/>
                <a:cs typeface="Dreaming Outloud Pro" panose="03050502040302030504" pitchFamily="66" charset="0"/>
              </a:rPr>
              <a:t> </a:t>
            </a:r>
            <a:r>
              <a:rPr sz="3000" spc="-3" dirty="0">
                <a:latin typeface="Bookman Old Style" panose="02050604050505020204" pitchFamily="18" charset="0"/>
                <a:cs typeface="Dreaming Outloud Pro" panose="03050502040302030504" pitchFamily="66" charset="0"/>
              </a:rPr>
              <a:t>Engineering,</a:t>
            </a:r>
            <a:r>
              <a:rPr sz="3000" spc="-13" dirty="0">
                <a:latin typeface="Bookman Old Style" panose="02050604050505020204" pitchFamily="18" charset="0"/>
                <a:cs typeface="Dreaming Outloud Pro" panose="03050502040302030504" pitchFamily="66" charset="0"/>
              </a:rPr>
              <a:t> </a:t>
            </a:r>
            <a:r>
              <a:rPr sz="3000" spc="-7" dirty="0">
                <a:latin typeface="Bookman Old Style" panose="02050604050505020204" pitchFamily="18" charset="0"/>
                <a:cs typeface="Dreaming Outloud Pro" panose="03050502040302030504" pitchFamily="66" charset="0"/>
              </a:rPr>
              <a:t>BUET</a:t>
            </a:r>
            <a:endParaRPr sz="3000" dirty="0">
              <a:latin typeface="Bookman Old Style" panose="02050604050505020204" pitchFamily="18" charset="0"/>
              <a:cs typeface="Dreaming Outloud Pro" panose="03050502040302030504" pitchFamily="66"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5" name="object 3">
            <a:extLst>
              <a:ext uri="{FF2B5EF4-FFF2-40B4-BE49-F238E27FC236}">
                <a16:creationId xmlns:a16="http://schemas.microsoft.com/office/drawing/2014/main" id="{F5199650-DBC4-1EBB-BD9F-CEAA9DFD4CF9}"/>
              </a:ext>
            </a:extLst>
          </p:cNvPr>
          <p:cNvSpPr txBox="1"/>
          <p:nvPr/>
        </p:nvSpPr>
        <p:spPr>
          <a:xfrm>
            <a:off x="1570880" y="1138334"/>
            <a:ext cx="10287000" cy="841375"/>
          </a:xfrm>
          <a:prstGeom prst="rect">
            <a:avLst/>
          </a:prstGeom>
        </p:spPr>
        <p:txBody>
          <a:bodyPr vert="horz" wrap="square" lIns="0" tIns="40640" rIns="0" bIns="0" rtlCol="0">
            <a:spAutoFit/>
          </a:bodyPr>
          <a:lstStyle/>
          <a:p>
            <a:pPr marL="355600" indent="-342900">
              <a:lnSpc>
                <a:spcPct val="100000"/>
              </a:lnSpc>
              <a:spcBef>
                <a:spcPts val="320"/>
              </a:spcBef>
              <a:buClr>
                <a:srgbClr val="A42F0F"/>
              </a:buClr>
              <a:buFont typeface="Wingdings"/>
              <a:buChar char=""/>
              <a:tabLst>
                <a:tab pos="355600" algn="l"/>
              </a:tabLst>
            </a:pPr>
            <a:r>
              <a:rPr sz="2600" b="1" spc="-5" dirty="0">
                <a:solidFill>
                  <a:srgbClr val="C00000"/>
                </a:solidFill>
                <a:latin typeface="Times New Roman"/>
                <a:cs typeface="Times New Roman"/>
              </a:rPr>
              <a:t>Problem:</a:t>
            </a:r>
            <a:endParaRPr sz="2600" dirty="0">
              <a:solidFill>
                <a:srgbClr val="C00000"/>
              </a:solidFill>
              <a:latin typeface="Times New Roman"/>
              <a:cs typeface="Times New Roman"/>
            </a:endParaRPr>
          </a:p>
          <a:p>
            <a:pPr marL="342900">
              <a:lnSpc>
                <a:spcPct val="100000"/>
              </a:lnSpc>
              <a:spcBef>
                <a:spcPts val="200"/>
              </a:spcBef>
            </a:pPr>
            <a:r>
              <a:rPr sz="2400" spc="-5" dirty="0">
                <a:solidFill>
                  <a:srgbClr val="404040"/>
                </a:solidFill>
                <a:latin typeface="Times New Roman"/>
                <a:cs typeface="Times New Roman"/>
              </a:rPr>
              <a:t>Determine</a:t>
            </a:r>
            <a:r>
              <a:rPr sz="2400" spc="-20" dirty="0">
                <a:solidFill>
                  <a:srgbClr val="404040"/>
                </a:solidFill>
                <a:latin typeface="Times New Roman"/>
                <a:cs typeface="Times New Roman"/>
              </a:rPr>
              <a:t> </a:t>
            </a:r>
            <a:r>
              <a:rPr sz="2400" spc="-5" dirty="0">
                <a:solidFill>
                  <a:srgbClr val="404040"/>
                </a:solidFill>
                <a:latin typeface="Times New Roman"/>
                <a:cs typeface="Times New Roman"/>
              </a:rPr>
              <a:t>the</a:t>
            </a:r>
            <a:r>
              <a:rPr sz="2400" dirty="0">
                <a:solidFill>
                  <a:srgbClr val="404040"/>
                </a:solidFill>
                <a:latin typeface="Times New Roman"/>
                <a:cs typeface="Times New Roman"/>
              </a:rPr>
              <a:t> </a:t>
            </a:r>
            <a:r>
              <a:rPr sz="2400" spc="-5" dirty="0">
                <a:solidFill>
                  <a:srgbClr val="404040"/>
                </a:solidFill>
                <a:latin typeface="Times New Roman"/>
                <a:cs typeface="Times New Roman"/>
              </a:rPr>
              <a:t>force</a:t>
            </a:r>
            <a:r>
              <a:rPr sz="2400" spc="5" dirty="0">
                <a:solidFill>
                  <a:srgbClr val="404040"/>
                </a:solidFill>
                <a:latin typeface="Times New Roman"/>
                <a:cs typeface="Times New Roman"/>
              </a:rPr>
              <a:t> </a:t>
            </a:r>
            <a:r>
              <a:rPr sz="2400" spc="-5" dirty="0">
                <a:solidFill>
                  <a:srgbClr val="404040"/>
                </a:solidFill>
                <a:latin typeface="Times New Roman"/>
                <a:cs typeface="Times New Roman"/>
              </a:rPr>
              <a:t>in</a:t>
            </a:r>
            <a:r>
              <a:rPr sz="2400" dirty="0">
                <a:solidFill>
                  <a:srgbClr val="404040"/>
                </a:solidFill>
                <a:latin typeface="Times New Roman"/>
                <a:cs typeface="Times New Roman"/>
              </a:rPr>
              <a:t> </a:t>
            </a:r>
            <a:r>
              <a:rPr sz="2400" spc="-10" dirty="0">
                <a:solidFill>
                  <a:srgbClr val="404040"/>
                </a:solidFill>
                <a:latin typeface="Times New Roman"/>
                <a:cs typeface="Times New Roman"/>
              </a:rPr>
              <a:t>members</a:t>
            </a:r>
            <a:r>
              <a:rPr sz="2400" spc="25" dirty="0">
                <a:solidFill>
                  <a:srgbClr val="404040"/>
                </a:solidFill>
                <a:latin typeface="Times New Roman"/>
                <a:cs typeface="Times New Roman"/>
              </a:rPr>
              <a:t> </a:t>
            </a:r>
            <a:r>
              <a:rPr sz="2400" b="1" i="1" spc="-5" dirty="0">
                <a:solidFill>
                  <a:srgbClr val="404040"/>
                </a:solidFill>
                <a:latin typeface="Times New Roman"/>
                <a:cs typeface="Times New Roman"/>
              </a:rPr>
              <a:t>DE</a:t>
            </a:r>
            <a:r>
              <a:rPr sz="2400" b="1" i="1" spc="10" dirty="0">
                <a:solidFill>
                  <a:srgbClr val="404040"/>
                </a:solidFill>
                <a:latin typeface="Times New Roman"/>
                <a:cs typeface="Times New Roman"/>
              </a:rPr>
              <a:t> </a:t>
            </a:r>
            <a:r>
              <a:rPr sz="2400" b="1" spc="-5" dirty="0">
                <a:solidFill>
                  <a:srgbClr val="404040"/>
                </a:solidFill>
                <a:latin typeface="Times New Roman"/>
                <a:cs typeface="Times New Roman"/>
              </a:rPr>
              <a:t>and</a:t>
            </a:r>
            <a:r>
              <a:rPr sz="2400" b="1" spc="5" dirty="0">
                <a:solidFill>
                  <a:srgbClr val="404040"/>
                </a:solidFill>
                <a:latin typeface="Times New Roman"/>
                <a:cs typeface="Times New Roman"/>
              </a:rPr>
              <a:t> </a:t>
            </a:r>
            <a:r>
              <a:rPr sz="2400" b="1" i="1" spc="-5" dirty="0">
                <a:solidFill>
                  <a:srgbClr val="404040"/>
                </a:solidFill>
                <a:latin typeface="Times New Roman"/>
                <a:cs typeface="Times New Roman"/>
              </a:rPr>
              <a:t>DF</a:t>
            </a:r>
            <a:r>
              <a:rPr sz="2400" b="1" i="1" spc="-30" dirty="0">
                <a:solidFill>
                  <a:srgbClr val="404040"/>
                </a:solidFill>
                <a:latin typeface="Times New Roman"/>
                <a:cs typeface="Times New Roman"/>
              </a:rPr>
              <a:t> </a:t>
            </a:r>
            <a:r>
              <a:rPr sz="2400" dirty="0">
                <a:solidFill>
                  <a:srgbClr val="404040"/>
                </a:solidFill>
                <a:latin typeface="Times New Roman"/>
                <a:cs typeface="Times New Roman"/>
              </a:rPr>
              <a:t>of the truss</a:t>
            </a:r>
            <a:r>
              <a:rPr sz="2400" spc="5" dirty="0">
                <a:solidFill>
                  <a:srgbClr val="404040"/>
                </a:solidFill>
                <a:latin typeface="Times New Roman"/>
                <a:cs typeface="Times New Roman"/>
              </a:rPr>
              <a:t> </a:t>
            </a:r>
            <a:r>
              <a:rPr sz="2400" dirty="0">
                <a:solidFill>
                  <a:srgbClr val="404040"/>
                </a:solidFill>
                <a:latin typeface="Times New Roman"/>
                <a:cs typeface="Times New Roman"/>
              </a:rPr>
              <a:t>shown</a:t>
            </a:r>
            <a:r>
              <a:rPr sz="2400" spc="10" dirty="0">
                <a:solidFill>
                  <a:srgbClr val="404040"/>
                </a:solidFill>
                <a:latin typeface="Times New Roman"/>
                <a:cs typeface="Times New Roman"/>
              </a:rPr>
              <a:t> </a:t>
            </a:r>
            <a:r>
              <a:rPr sz="2400" dirty="0">
                <a:solidFill>
                  <a:srgbClr val="404040"/>
                </a:solidFill>
                <a:latin typeface="Times New Roman"/>
                <a:cs typeface="Times New Roman"/>
              </a:rPr>
              <a:t>when</a:t>
            </a:r>
            <a:r>
              <a:rPr sz="2400" spc="-30" dirty="0">
                <a:solidFill>
                  <a:srgbClr val="404040"/>
                </a:solidFill>
                <a:latin typeface="Times New Roman"/>
                <a:cs typeface="Times New Roman"/>
              </a:rPr>
              <a:t> </a:t>
            </a:r>
            <a:r>
              <a:rPr sz="2400" b="1" i="1" dirty="0">
                <a:solidFill>
                  <a:srgbClr val="404040"/>
                </a:solidFill>
                <a:latin typeface="Times New Roman"/>
                <a:cs typeface="Times New Roman"/>
              </a:rPr>
              <a:t>P</a:t>
            </a:r>
            <a:r>
              <a:rPr sz="2400" b="1" i="1" spc="-90" dirty="0">
                <a:solidFill>
                  <a:srgbClr val="404040"/>
                </a:solidFill>
                <a:latin typeface="Times New Roman"/>
                <a:cs typeface="Times New Roman"/>
              </a:rPr>
              <a:t> </a:t>
            </a:r>
            <a:r>
              <a:rPr sz="2400" b="1" i="1" dirty="0">
                <a:solidFill>
                  <a:srgbClr val="404040"/>
                </a:solidFill>
                <a:latin typeface="Times New Roman"/>
                <a:cs typeface="Times New Roman"/>
              </a:rPr>
              <a:t>=20</a:t>
            </a:r>
            <a:r>
              <a:rPr sz="2400" b="1" i="1" spc="-15" dirty="0">
                <a:solidFill>
                  <a:srgbClr val="404040"/>
                </a:solidFill>
                <a:latin typeface="Times New Roman"/>
                <a:cs typeface="Times New Roman"/>
              </a:rPr>
              <a:t> </a:t>
            </a:r>
            <a:r>
              <a:rPr sz="2400" b="1" i="1" dirty="0">
                <a:solidFill>
                  <a:srgbClr val="404040"/>
                </a:solidFill>
                <a:latin typeface="Times New Roman"/>
                <a:cs typeface="Times New Roman"/>
              </a:rPr>
              <a:t>kips</a:t>
            </a:r>
            <a:endParaRPr sz="2400" dirty="0">
              <a:latin typeface="Times New Roman"/>
              <a:cs typeface="Times New Roman"/>
            </a:endParaRPr>
          </a:p>
        </p:txBody>
      </p:sp>
      <p:sp>
        <p:nvSpPr>
          <p:cNvPr id="6" name="object 3">
            <a:extLst>
              <a:ext uri="{FF2B5EF4-FFF2-40B4-BE49-F238E27FC236}">
                <a16:creationId xmlns:a16="http://schemas.microsoft.com/office/drawing/2014/main" id="{42FE9274-D4A2-A2F1-F543-3264757267C1}"/>
              </a:ext>
            </a:extLst>
          </p:cNvPr>
          <p:cNvSpPr txBox="1">
            <a:spLocks/>
          </p:cNvSpPr>
          <p:nvPr/>
        </p:nvSpPr>
        <p:spPr>
          <a:xfrm>
            <a:off x="1768982" y="334772"/>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 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Trusses</a:t>
            </a:r>
            <a:r>
              <a:rPr lang="en-US" sz="3200" spc="10"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by</a:t>
            </a:r>
            <a:r>
              <a:rPr lang="en-US" sz="3200" spc="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Method</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 Sections</a:t>
            </a:r>
          </a:p>
        </p:txBody>
      </p:sp>
      <p:pic>
        <p:nvPicPr>
          <p:cNvPr id="8" name="Picture 7">
            <a:extLst>
              <a:ext uri="{FF2B5EF4-FFF2-40B4-BE49-F238E27FC236}">
                <a16:creationId xmlns:a16="http://schemas.microsoft.com/office/drawing/2014/main" id="{F66EB12B-D083-B9A0-7582-62B622735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4441" y="3062562"/>
            <a:ext cx="7648575" cy="3686175"/>
          </a:xfrm>
          <a:prstGeom prst="rect">
            <a:avLst/>
          </a:prstGeom>
        </p:spPr>
      </p:pic>
    </p:spTree>
    <p:extLst>
      <p:ext uri="{BB962C8B-B14F-4D97-AF65-F5344CB8AC3E}">
        <p14:creationId xmlns:p14="http://schemas.microsoft.com/office/powerpoint/2010/main" val="2367036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5" name="object 3">
            <a:extLst>
              <a:ext uri="{FF2B5EF4-FFF2-40B4-BE49-F238E27FC236}">
                <a16:creationId xmlns:a16="http://schemas.microsoft.com/office/drawing/2014/main" id="{3CC2280B-DB0D-1444-2492-7206078D91BE}"/>
              </a:ext>
            </a:extLst>
          </p:cNvPr>
          <p:cNvSpPr txBox="1">
            <a:spLocks/>
          </p:cNvSpPr>
          <p:nvPr/>
        </p:nvSpPr>
        <p:spPr>
          <a:xfrm>
            <a:off x="1768982" y="334772"/>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pic>
        <p:nvPicPr>
          <p:cNvPr id="6" name="object 5">
            <a:extLst>
              <a:ext uri="{FF2B5EF4-FFF2-40B4-BE49-F238E27FC236}">
                <a16:creationId xmlns:a16="http://schemas.microsoft.com/office/drawing/2014/main" id="{E11D449F-9865-FB6F-E4D8-B4F0E8AB4617}"/>
              </a:ext>
            </a:extLst>
          </p:cNvPr>
          <p:cNvPicPr/>
          <p:nvPr/>
        </p:nvPicPr>
        <p:blipFill>
          <a:blip r:embed="rId2">
            <a:extLst>
              <a:ext uri="{28A0092B-C50C-407E-A947-70E740481C1C}">
                <a14:useLocalDpi xmlns:a14="http://schemas.microsoft.com/office/drawing/2010/main" val="0"/>
              </a:ext>
            </a:extLst>
          </a:blip>
          <a:srcRect/>
          <a:stretch/>
        </p:blipFill>
        <p:spPr>
          <a:xfrm>
            <a:off x="647995" y="1579283"/>
            <a:ext cx="3386026" cy="3581312"/>
          </a:xfrm>
          <a:prstGeom prst="rect">
            <a:avLst/>
          </a:prstGeom>
        </p:spPr>
      </p:pic>
      <p:pic>
        <p:nvPicPr>
          <p:cNvPr id="7" name="object 6">
            <a:extLst>
              <a:ext uri="{FF2B5EF4-FFF2-40B4-BE49-F238E27FC236}">
                <a16:creationId xmlns:a16="http://schemas.microsoft.com/office/drawing/2014/main" id="{1C60BC37-2506-E777-AA3B-F65528FDBED6}"/>
              </a:ext>
            </a:extLst>
          </p:cNvPr>
          <p:cNvPicPr/>
          <p:nvPr/>
        </p:nvPicPr>
        <p:blipFill>
          <a:blip r:embed="rId3">
            <a:extLst>
              <a:ext uri="{28A0092B-C50C-407E-A947-70E740481C1C}">
                <a14:useLocalDpi xmlns:a14="http://schemas.microsoft.com/office/drawing/2010/main" val="0"/>
              </a:ext>
            </a:extLst>
          </a:blip>
          <a:srcRect/>
          <a:stretch/>
        </p:blipFill>
        <p:spPr>
          <a:xfrm>
            <a:off x="4572306" y="1936860"/>
            <a:ext cx="2088321" cy="3121835"/>
          </a:xfrm>
          <a:prstGeom prst="rect">
            <a:avLst/>
          </a:prstGeom>
        </p:spPr>
      </p:pic>
      <p:pic>
        <p:nvPicPr>
          <p:cNvPr id="8" name="object 7">
            <a:extLst>
              <a:ext uri="{FF2B5EF4-FFF2-40B4-BE49-F238E27FC236}">
                <a16:creationId xmlns:a16="http://schemas.microsoft.com/office/drawing/2014/main" id="{3737039C-F7C4-A44D-D070-B1FA3C75486D}"/>
              </a:ext>
            </a:extLst>
          </p:cNvPr>
          <p:cNvPicPr/>
          <p:nvPr/>
        </p:nvPicPr>
        <p:blipFill>
          <a:blip r:embed="rId4">
            <a:extLst>
              <a:ext uri="{28A0092B-C50C-407E-A947-70E740481C1C}">
                <a14:useLocalDpi xmlns:a14="http://schemas.microsoft.com/office/drawing/2010/main" val="0"/>
              </a:ext>
            </a:extLst>
          </a:blip>
          <a:srcRect/>
          <a:stretch/>
        </p:blipFill>
        <p:spPr>
          <a:xfrm>
            <a:off x="7083315" y="2035152"/>
            <a:ext cx="3184397" cy="2920431"/>
          </a:xfrm>
          <a:prstGeom prst="rect">
            <a:avLst/>
          </a:prstGeom>
        </p:spPr>
      </p:pic>
      <p:sp>
        <p:nvSpPr>
          <p:cNvPr id="10" name="object 3">
            <a:extLst>
              <a:ext uri="{FF2B5EF4-FFF2-40B4-BE49-F238E27FC236}">
                <a16:creationId xmlns:a16="http://schemas.microsoft.com/office/drawing/2014/main" id="{24A4D869-6981-A300-1F08-6C65FA05BFBF}"/>
              </a:ext>
            </a:extLst>
          </p:cNvPr>
          <p:cNvSpPr txBox="1"/>
          <p:nvPr/>
        </p:nvSpPr>
        <p:spPr>
          <a:xfrm>
            <a:off x="518687" y="1008716"/>
            <a:ext cx="10195560" cy="758825"/>
          </a:xfrm>
          <a:prstGeom prst="rect">
            <a:avLst/>
          </a:prstGeom>
        </p:spPr>
        <p:txBody>
          <a:bodyPr vert="horz" wrap="square" lIns="0" tIns="10795" rIns="0" bIns="0" rtlCol="0">
            <a:spAutoFit/>
          </a:bodyPr>
          <a:lstStyle/>
          <a:p>
            <a:pPr marL="355600" marR="5080" indent="-342900">
              <a:lnSpc>
                <a:spcPct val="100400"/>
              </a:lnSpc>
              <a:spcBef>
                <a:spcPts val="85"/>
              </a:spcBef>
              <a:buClr>
                <a:srgbClr val="A42F0F"/>
              </a:buClr>
              <a:buFont typeface="Wingdings"/>
              <a:buChar char=""/>
              <a:tabLst>
                <a:tab pos="355600" algn="l"/>
              </a:tabLst>
            </a:pPr>
            <a:r>
              <a:rPr sz="2400" spc="-5" dirty="0">
                <a:solidFill>
                  <a:srgbClr val="404040"/>
                </a:solidFill>
                <a:latin typeface="Times New Roman"/>
                <a:cs typeface="Times New Roman"/>
              </a:rPr>
              <a:t>Frames</a:t>
            </a:r>
            <a:r>
              <a:rPr sz="2400" spc="10" dirty="0">
                <a:solidFill>
                  <a:srgbClr val="404040"/>
                </a:solidFill>
                <a:latin typeface="Times New Roman"/>
                <a:cs typeface="Times New Roman"/>
              </a:rPr>
              <a:t> </a:t>
            </a:r>
            <a:r>
              <a:rPr sz="2400" dirty="0">
                <a:solidFill>
                  <a:srgbClr val="404040"/>
                </a:solidFill>
                <a:latin typeface="Times New Roman"/>
                <a:cs typeface="Times New Roman"/>
              </a:rPr>
              <a:t>are</a:t>
            </a:r>
            <a:r>
              <a:rPr sz="2400" spc="-20" dirty="0">
                <a:solidFill>
                  <a:srgbClr val="404040"/>
                </a:solidFill>
                <a:latin typeface="Times New Roman"/>
                <a:cs typeface="Times New Roman"/>
              </a:rPr>
              <a:t> </a:t>
            </a:r>
            <a:r>
              <a:rPr sz="2400" dirty="0">
                <a:solidFill>
                  <a:srgbClr val="404040"/>
                </a:solidFill>
                <a:latin typeface="Times New Roman"/>
                <a:cs typeface="Times New Roman"/>
              </a:rPr>
              <a:t>structures</a:t>
            </a:r>
            <a:r>
              <a:rPr sz="2400" spc="-35" dirty="0">
                <a:solidFill>
                  <a:srgbClr val="404040"/>
                </a:solidFill>
                <a:latin typeface="Times New Roman"/>
                <a:cs typeface="Times New Roman"/>
              </a:rPr>
              <a:t> </a:t>
            </a:r>
            <a:r>
              <a:rPr sz="2400" dirty="0">
                <a:solidFill>
                  <a:srgbClr val="404040"/>
                </a:solidFill>
                <a:latin typeface="Times New Roman"/>
                <a:cs typeface="Times New Roman"/>
              </a:rPr>
              <a:t>with</a:t>
            </a:r>
            <a:r>
              <a:rPr sz="2400" spc="20" dirty="0">
                <a:solidFill>
                  <a:srgbClr val="404040"/>
                </a:solidFill>
                <a:latin typeface="Times New Roman"/>
                <a:cs typeface="Times New Roman"/>
              </a:rPr>
              <a:t> </a:t>
            </a:r>
            <a:r>
              <a:rPr sz="2400" dirty="0">
                <a:solidFill>
                  <a:srgbClr val="00AF50"/>
                </a:solidFill>
                <a:latin typeface="Times New Roman"/>
                <a:cs typeface="Times New Roman"/>
              </a:rPr>
              <a:t>at</a:t>
            </a:r>
            <a:r>
              <a:rPr sz="2400" spc="-15" dirty="0">
                <a:solidFill>
                  <a:srgbClr val="00AF50"/>
                </a:solidFill>
                <a:latin typeface="Times New Roman"/>
                <a:cs typeface="Times New Roman"/>
              </a:rPr>
              <a:t> </a:t>
            </a:r>
            <a:r>
              <a:rPr sz="2400" dirty="0">
                <a:solidFill>
                  <a:srgbClr val="00AF50"/>
                </a:solidFill>
                <a:latin typeface="Times New Roman"/>
                <a:cs typeface="Times New Roman"/>
              </a:rPr>
              <a:t>least</a:t>
            </a:r>
            <a:r>
              <a:rPr sz="2400" spc="-15" dirty="0">
                <a:solidFill>
                  <a:srgbClr val="00AF50"/>
                </a:solidFill>
                <a:latin typeface="Times New Roman"/>
                <a:cs typeface="Times New Roman"/>
              </a:rPr>
              <a:t> </a:t>
            </a:r>
            <a:r>
              <a:rPr sz="2400" dirty="0">
                <a:solidFill>
                  <a:srgbClr val="00AF50"/>
                </a:solidFill>
                <a:latin typeface="Times New Roman"/>
                <a:cs typeface="Times New Roman"/>
              </a:rPr>
              <a:t>one</a:t>
            </a:r>
            <a:r>
              <a:rPr sz="2400" spc="10" dirty="0">
                <a:solidFill>
                  <a:srgbClr val="00AF50"/>
                </a:solidFill>
                <a:latin typeface="Times New Roman"/>
                <a:cs typeface="Times New Roman"/>
              </a:rPr>
              <a:t> </a:t>
            </a:r>
            <a:r>
              <a:rPr sz="2400" spc="-5" dirty="0">
                <a:solidFill>
                  <a:srgbClr val="00AF50"/>
                </a:solidFill>
                <a:latin typeface="Times New Roman"/>
                <a:cs typeface="Times New Roman"/>
              </a:rPr>
              <a:t>multi-force</a:t>
            </a:r>
            <a:r>
              <a:rPr sz="2400" spc="-30" dirty="0">
                <a:solidFill>
                  <a:srgbClr val="00AF50"/>
                </a:solidFill>
                <a:latin typeface="Times New Roman"/>
                <a:cs typeface="Times New Roman"/>
              </a:rPr>
              <a:t> member</a:t>
            </a:r>
            <a:r>
              <a:rPr sz="2400" spc="-30" dirty="0">
                <a:solidFill>
                  <a:srgbClr val="404040"/>
                </a:solidFill>
                <a:latin typeface="Times New Roman"/>
                <a:cs typeface="Times New Roman"/>
              </a:rPr>
              <a:t>.</a:t>
            </a:r>
            <a:r>
              <a:rPr sz="2400" spc="20" dirty="0">
                <a:solidFill>
                  <a:srgbClr val="404040"/>
                </a:solidFill>
                <a:latin typeface="Times New Roman"/>
                <a:cs typeface="Times New Roman"/>
              </a:rPr>
              <a:t> </a:t>
            </a:r>
            <a:r>
              <a:rPr sz="2400" spc="-5" dirty="0">
                <a:solidFill>
                  <a:srgbClr val="404040"/>
                </a:solidFill>
                <a:latin typeface="Times New Roman"/>
                <a:cs typeface="Times New Roman"/>
              </a:rPr>
              <a:t>Frames</a:t>
            </a:r>
            <a:r>
              <a:rPr sz="2400" spc="15" dirty="0">
                <a:solidFill>
                  <a:srgbClr val="404040"/>
                </a:solidFill>
                <a:latin typeface="Times New Roman"/>
                <a:cs typeface="Times New Roman"/>
              </a:rPr>
              <a:t> </a:t>
            </a:r>
            <a:r>
              <a:rPr sz="2400" dirty="0">
                <a:solidFill>
                  <a:srgbClr val="404040"/>
                </a:solidFill>
                <a:latin typeface="Times New Roman"/>
                <a:cs typeface="Times New Roman"/>
              </a:rPr>
              <a:t>are</a:t>
            </a:r>
            <a:r>
              <a:rPr sz="2400" spc="-5" dirty="0">
                <a:solidFill>
                  <a:srgbClr val="404040"/>
                </a:solidFill>
                <a:latin typeface="Times New Roman"/>
                <a:cs typeface="Times New Roman"/>
              </a:rPr>
              <a:t> </a:t>
            </a:r>
            <a:r>
              <a:rPr sz="2400" dirty="0">
                <a:solidFill>
                  <a:srgbClr val="404040"/>
                </a:solidFill>
                <a:latin typeface="Times New Roman"/>
                <a:cs typeface="Times New Roman"/>
              </a:rPr>
              <a:t>designed </a:t>
            </a:r>
            <a:r>
              <a:rPr sz="2400" spc="-585" dirty="0">
                <a:solidFill>
                  <a:srgbClr val="404040"/>
                </a:solidFill>
                <a:latin typeface="Times New Roman"/>
                <a:cs typeface="Times New Roman"/>
              </a:rPr>
              <a:t> </a:t>
            </a:r>
            <a:r>
              <a:rPr sz="2400" dirty="0">
                <a:solidFill>
                  <a:srgbClr val="404040"/>
                </a:solidFill>
                <a:latin typeface="Times New Roman"/>
                <a:cs typeface="Times New Roman"/>
              </a:rPr>
              <a:t>to</a:t>
            </a:r>
            <a:r>
              <a:rPr sz="2400" spc="-15" dirty="0">
                <a:solidFill>
                  <a:srgbClr val="404040"/>
                </a:solidFill>
                <a:latin typeface="Times New Roman"/>
                <a:cs typeface="Times New Roman"/>
              </a:rPr>
              <a:t> </a:t>
            </a:r>
            <a:r>
              <a:rPr sz="2400" dirty="0">
                <a:solidFill>
                  <a:srgbClr val="404040"/>
                </a:solidFill>
                <a:latin typeface="Times New Roman"/>
                <a:cs typeface="Times New Roman"/>
              </a:rPr>
              <a:t>support</a:t>
            </a:r>
            <a:r>
              <a:rPr sz="2400" spc="-10" dirty="0">
                <a:solidFill>
                  <a:srgbClr val="404040"/>
                </a:solidFill>
                <a:latin typeface="Times New Roman"/>
                <a:cs typeface="Times New Roman"/>
              </a:rPr>
              <a:t> </a:t>
            </a:r>
            <a:r>
              <a:rPr sz="2400" dirty="0">
                <a:solidFill>
                  <a:srgbClr val="404040"/>
                </a:solidFill>
                <a:latin typeface="Times New Roman"/>
                <a:cs typeface="Times New Roman"/>
              </a:rPr>
              <a:t>loads</a:t>
            </a:r>
            <a:r>
              <a:rPr sz="2400" spc="-10" dirty="0">
                <a:solidFill>
                  <a:srgbClr val="404040"/>
                </a:solidFill>
                <a:latin typeface="Times New Roman"/>
                <a:cs typeface="Times New Roman"/>
              </a:rPr>
              <a:t> </a:t>
            </a:r>
            <a:r>
              <a:rPr sz="2400" dirty="0">
                <a:solidFill>
                  <a:srgbClr val="404040"/>
                </a:solidFill>
                <a:latin typeface="Times New Roman"/>
                <a:cs typeface="Times New Roman"/>
              </a:rPr>
              <a:t>and are</a:t>
            </a:r>
            <a:r>
              <a:rPr sz="2400" spc="-30" dirty="0">
                <a:solidFill>
                  <a:srgbClr val="404040"/>
                </a:solidFill>
                <a:latin typeface="Times New Roman"/>
                <a:cs typeface="Times New Roman"/>
              </a:rPr>
              <a:t> </a:t>
            </a:r>
            <a:r>
              <a:rPr sz="2400" dirty="0">
                <a:solidFill>
                  <a:srgbClr val="404040"/>
                </a:solidFill>
                <a:latin typeface="Times New Roman"/>
                <a:cs typeface="Times New Roman"/>
              </a:rPr>
              <a:t>usually</a:t>
            </a:r>
            <a:r>
              <a:rPr sz="2400" spc="-20" dirty="0">
                <a:solidFill>
                  <a:srgbClr val="404040"/>
                </a:solidFill>
                <a:latin typeface="Times New Roman"/>
                <a:cs typeface="Times New Roman"/>
              </a:rPr>
              <a:t> </a:t>
            </a:r>
            <a:r>
              <a:rPr sz="2400" spc="-15" dirty="0">
                <a:solidFill>
                  <a:srgbClr val="404040"/>
                </a:solidFill>
                <a:latin typeface="Times New Roman"/>
                <a:cs typeface="Times New Roman"/>
              </a:rPr>
              <a:t>stationary,</a:t>
            </a:r>
            <a:r>
              <a:rPr sz="2400" spc="-45" dirty="0">
                <a:solidFill>
                  <a:srgbClr val="404040"/>
                </a:solidFill>
                <a:latin typeface="Times New Roman"/>
                <a:cs typeface="Times New Roman"/>
              </a:rPr>
              <a:t> </a:t>
            </a:r>
            <a:r>
              <a:rPr sz="2400" dirty="0">
                <a:solidFill>
                  <a:srgbClr val="404040"/>
                </a:solidFill>
                <a:latin typeface="Times New Roman"/>
                <a:cs typeface="Times New Roman"/>
              </a:rPr>
              <a:t>fully</a:t>
            </a:r>
            <a:r>
              <a:rPr sz="2400" spc="-10" dirty="0">
                <a:solidFill>
                  <a:srgbClr val="404040"/>
                </a:solidFill>
                <a:latin typeface="Times New Roman"/>
                <a:cs typeface="Times New Roman"/>
              </a:rPr>
              <a:t> </a:t>
            </a:r>
            <a:r>
              <a:rPr sz="2400" dirty="0">
                <a:solidFill>
                  <a:srgbClr val="404040"/>
                </a:solidFill>
                <a:latin typeface="Times New Roman"/>
                <a:cs typeface="Times New Roman"/>
              </a:rPr>
              <a:t>constrained</a:t>
            </a:r>
            <a:r>
              <a:rPr sz="2400" spc="-40" dirty="0">
                <a:solidFill>
                  <a:srgbClr val="404040"/>
                </a:solidFill>
                <a:latin typeface="Times New Roman"/>
                <a:cs typeface="Times New Roman"/>
              </a:rPr>
              <a:t> </a:t>
            </a:r>
            <a:r>
              <a:rPr sz="2400" dirty="0">
                <a:solidFill>
                  <a:srgbClr val="404040"/>
                </a:solidFill>
                <a:latin typeface="Times New Roman"/>
                <a:cs typeface="Times New Roman"/>
              </a:rPr>
              <a:t>structures.</a:t>
            </a:r>
            <a:endParaRPr sz="2400" dirty="0">
              <a:latin typeface="Times New Roman"/>
              <a:cs typeface="Times New Roman"/>
            </a:endParaRPr>
          </a:p>
        </p:txBody>
      </p:sp>
      <p:sp>
        <p:nvSpPr>
          <p:cNvPr id="11" name="object 4">
            <a:extLst>
              <a:ext uri="{FF2B5EF4-FFF2-40B4-BE49-F238E27FC236}">
                <a16:creationId xmlns:a16="http://schemas.microsoft.com/office/drawing/2014/main" id="{A45F3E46-3A6B-B5C2-9FA5-E08F885446A9}"/>
              </a:ext>
            </a:extLst>
          </p:cNvPr>
          <p:cNvSpPr txBox="1"/>
          <p:nvPr/>
        </p:nvSpPr>
        <p:spPr>
          <a:xfrm>
            <a:off x="1089025" y="5040857"/>
            <a:ext cx="10264775" cy="1489075"/>
          </a:xfrm>
          <a:prstGeom prst="rect">
            <a:avLst/>
          </a:prstGeom>
        </p:spPr>
        <p:txBody>
          <a:bodyPr vert="horz" wrap="square" lIns="0" tIns="12700" rIns="0" bIns="0" rtlCol="0">
            <a:spAutoFit/>
          </a:bodyPr>
          <a:lstStyle/>
          <a:p>
            <a:pPr marL="355600" marR="605790" indent="-342900">
              <a:lnSpc>
                <a:spcPct val="100000"/>
              </a:lnSpc>
              <a:spcBef>
                <a:spcPts val="100"/>
              </a:spcBef>
              <a:buClr>
                <a:srgbClr val="A42F0F"/>
              </a:buClr>
              <a:buFont typeface="Wingdings"/>
              <a:buChar char=""/>
              <a:tabLst>
                <a:tab pos="355600" algn="l"/>
              </a:tabLst>
            </a:pPr>
            <a:r>
              <a:rPr sz="2400" spc="-5" dirty="0">
                <a:solidFill>
                  <a:srgbClr val="404040"/>
                </a:solidFill>
                <a:latin typeface="Times New Roman"/>
                <a:cs typeface="Times New Roman"/>
              </a:rPr>
              <a:t>A</a:t>
            </a:r>
            <a:r>
              <a:rPr sz="2400" spc="-135" dirty="0">
                <a:solidFill>
                  <a:srgbClr val="404040"/>
                </a:solidFill>
                <a:latin typeface="Times New Roman"/>
                <a:cs typeface="Times New Roman"/>
              </a:rPr>
              <a:t> </a:t>
            </a:r>
            <a:r>
              <a:rPr sz="2400" dirty="0">
                <a:solidFill>
                  <a:srgbClr val="404040"/>
                </a:solidFill>
                <a:latin typeface="Times New Roman"/>
                <a:cs typeface="Times New Roman"/>
              </a:rPr>
              <a:t>free</a:t>
            </a:r>
            <a:r>
              <a:rPr sz="2400" spc="-10" dirty="0">
                <a:solidFill>
                  <a:srgbClr val="404040"/>
                </a:solidFill>
                <a:latin typeface="Times New Roman"/>
                <a:cs typeface="Times New Roman"/>
              </a:rPr>
              <a:t> </a:t>
            </a:r>
            <a:r>
              <a:rPr sz="2400" dirty="0">
                <a:solidFill>
                  <a:srgbClr val="404040"/>
                </a:solidFill>
                <a:latin typeface="Times New Roman"/>
                <a:cs typeface="Times New Roman"/>
              </a:rPr>
              <a:t>body diagram</a:t>
            </a:r>
            <a:r>
              <a:rPr sz="2400" spc="-40" dirty="0">
                <a:solidFill>
                  <a:srgbClr val="404040"/>
                </a:solidFill>
                <a:latin typeface="Times New Roman"/>
                <a:cs typeface="Times New Roman"/>
              </a:rPr>
              <a:t> </a:t>
            </a:r>
            <a:r>
              <a:rPr sz="2400" dirty="0">
                <a:solidFill>
                  <a:srgbClr val="404040"/>
                </a:solidFill>
                <a:latin typeface="Times New Roman"/>
                <a:cs typeface="Times New Roman"/>
              </a:rPr>
              <a:t>of the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complete</a:t>
            </a:r>
            <a:r>
              <a:rPr sz="2400" spc="-30" dirty="0">
                <a:solidFill>
                  <a:srgbClr val="404040"/>
                </a:solidFill>
                <a:latin typeface="Times New Roman"/>
                <a:cs typeface="Times New Roman"/>
              </a:rPr>
              <a:t> </a:t>
            </a:r>
            <a:r>
              <a:rPr sz="2400" spc="-5" dirty="0">
                <a:solidFill>
                  <a:srgbClr val="404040"/>
                </a:solidFill>
                <a:latin typeface="Times New Roman"/>
                <a:cs typeface="Times New Roman"/>
              </a:rPr>
              <a:t>frame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is</a:t>
            </a:r>
            <a:r>
              <a:rPr sz="2400" dirty="0">
                <a:solidFill>
                  <a:srgbClr val="404040"/>
                </a:solidFill>
                <a:latin typeface="Times New Roman"/>
                <a:cs typeface="Times New Roman"/>
              </a:rPr>
              <a:t> used</a:t>
            </a:r>
            <a:r>
              <a:rPr sz="2400" spc="-5" dirty="0">
                <a:solidFill>
                  <a:srgbClr val="404040"/>
                </a:solidFill>
                <a:latin typeface="Times New Roman"/>
                <a:cs typeface="Times New Roman"/>
              </a:rPr>
              <a:t> </a:t>
            </a:r>
            <a:r>
              <a:rPr sz="2400" dirty="0">
                <a:solidFill>
                  <a:srgbClr val="404040"/>
                </a:solidFill>
                <a:latin typeface="Times New Roman"/>
                <a:cs typeface="Times New Roman"/>
              </a:rPr>
              <a:t>to </a:t>
            </a:r>
            <a:r>
              <a:rPr sz="2400" spc="-5" dirty="0">
                <a:solidFill>
                  <a:srgbClr val="404040"/>
                </a:solidFill>
                <a:latin typeface="Times New Roman"/>
                <a:cs typeface="Times New Roman"/>
              </a:rPr>
              <a:t>determine</a:t>
            </a:r>
            <a:r>
              <a:rPr sz="2400" spc="-20" dirty="0">
                <a:solidFill>
                  <a:srgbClr val="404040"/>
                </a:solidFill>
                <a:latin typeface="Times New Roman"/>
                <a:cs typeface="Times New Roman"/>
              </a:rPr>
              <a:t> </a:t>
            </a:r>
            <a:r>
              <a:rPr sz="2400" dirty="0">
                <a:solidFill>
                  <a:srgbClr val="404040"/>
                </a:solidFill>
                <a:latin typeface="Times New Roman"/>
                <a:cs typeface="Times New Roman"/>
              </a:rPr>
              <a:t>the</a:t>
            </a:r>
            <a:r>
              <a:rPr sz="2400" spc="20" dirty="0">
                <a:solidFill>
                  <a:srgbClr val="404040"/>
                </a:solidFill>
                <a:latin typeface="Times New Roman"/>
                <a:cs typeface="Times New Roman"/>
              </a:rPr>
              <a:t> </a:t>
            </a:r>
            <a:r>
              <a:rPr sz="2400" dirty="0">
                <a:solidFill>
                  <a:srgbClr val="FF0000"/>
                </a:solidFill>
                <a:latin typeface="Times New Roman"/>
                <a:cs typeface="Times New Roman"/>
              </a:rPr>
              <a:t>external </a:t>
            </a:r>
            <a:r>
              <a:rPr sz="2400" spc="-585" dirty="0">
                <a:solidFill>
                  <a:srgbClr val="FF0000"/>
                </a:solidFill>
                <a:latin typeface="Times New Roman"/>
                <a:cs typeface="Times New Roman"/>
              </a:rPr>
              <a:t> </a:t>
            </a:r>
            <a:r>
              <a:rPr sz="2400" spc="-5" dirty="0">
                <a:solidFill>
                  <a:srgbClr val="FF0000"/>
                </a:solidFill>
                <a:latin typeface="Times New Roman"/>
                <a:cs typeface="Times New Roman"/>
              </a:rPr>
              <a:t>forces</a:t>
            </a:r>
            <a:r>
              <a:rPr sz="2400" dirty="0">
                <a:solidFill>
                  <a:srgbClr val="FF0000"/>
                </a:solidFill>
                <a:latin typeface="Times New Roman"/>
                <a:cs typeface="Times New Roman"/>
              </a:rPr>
              <a:t> </a:t>
            </a:r>
            <a:r>
              <a:rPr sz="2400" dirty="0">
                <a:solidFill>
                  <a:srgbClr val="404040"/>
                </a:solidFill>
                <a:latin typeface="Times New Roman"/>
                <a:cs typeface="Times New Roman"/>
              </a:rPr>
              <a:t>acting</a:t>
            </a:r>
            <a:r>
              <a:rPr sz="2400" spc="-40" dirty="0">
                <a:solidFill>
                  <a:srgbClr val="404040"/>
                </a:solidFill>
                <a:latin typeface="Times New Roman"/>
                <a:cs typeface="Times New Roman"/>
              </a:rPr>
              <a:t> </a:t>
            </a:r>
            <a:r>
              <a:rPr sz="2400" dirty="0">
                <a:solidFill>
                  <a:srgbClr val="404040"/>
                </a:solidFill>
                <a:latin typeface="Times New Roman"/>
                <a:cs typeface="Times New Roman"/>
              </a:rPr>
              <a:t>on the</a:t>
            </a:r>
            <a:r>
              <a:rPr sz="2400" spc="-15" dirty="0">
                <a:solidFill>
                  <a:srgbClr val="404040"/>
                </a:solidFill>
                <a:latin typeface="Times New Roman"/>
                <a:cs typeface="Times New Roman"/>
              </a:rPr>
              <a:t> </a:t>
            </a:r>
            <a:r>
              <a:rPr sz="2400" spc="-5" dirty="0">
                <a:solidFill>
                  <a:srgbClr val="404040"/>
                </a:solidFill>
                <a:latin typeface="Times New Roman"/>
                <a:cs typeface="Times New Roman"/>
              </a:rPr>
              <a:t>frame.</a:t>
            </a:r>
            <a:endParaRPr sz="2400" dirty="0">
              <a:latin typeface="Times New Roman"/>
              <a:cs typeface="Times New Roman"/>
            </a:endParaRPr>
          </a:p>
          <a:p>
            <a:pPr marL="355600" marR="5080" indent="-342900">
              <a:lnSpc>
                <a:spcPct val="100000"/>
              </a:lnSpc>
              <a:buClr>
                <a:srgbClr val="A42F0F"/>
              </a:buClr>
              <a:buFont typeface="Wingdings"/>
              <a:buChar char=""/>
              <a:tabLst>
                <a:tab pos="355600" algn="l"/>
              </a:tabLst>
            </a:pPr>
            <a:r>
              <a:rPr sz="2400" dirty="0">
                <a:solidFill>
                  <a:srgbClr val="FF0000"/>
                </a:solidFill>
                <a:latin typeface="Times New Roman"/>
                <a:cs typeface="Times New Roman"/>
              </a:rPr>
              <a:t>Internal</a:t>
            </a:r>
            <a:r>
              <a:rPr sz="2400" spc="-35" dirty="0">
                <a:solidFill>
                  <a:srgbClr val="FF0000"/>
                </a:solidFill>
                <a:latin typeface="Times New Roman"/>
                <a:cs typeface="Times New Roman"/>
              </a:rPr>
              <a:t> </a:t>
            </a:r>
            <a:r>
              <a:rPr sz="2400" dirty="0">
                <a:solidFill>
                  <a:srgbClr val="FF0000"/>
                </a:solidFill>
                <a:latin typeface="Times New Roman"/>
                <a:cs typeface="Times New Roman"/>
              </a:rPr>
              <a:t>forces </a:t>
            </a:r>
            <a:r>
              <a:rPr sz="2400" dirty="0">
                <a:solidFill>
                  <a:srgbClr val="404040"/>
                </a:solidFill>
                <a:latin typeface="Times New Roman"/>
                <a:cs typeface="Times New Roman"/>
              </a:rPr>
              <a:t>are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determined</a:t>
            </a:r>
            <a:r>
              <a:rPr sz="2400" spc="-20" dirty="0">
                <a:solidFill>
                  <a:srgbClr val="404040"/>
                </a:solidFill>
                <a:latin typeface="Times New Roman"/>
                <a:cs typeface="Times New Roman"/>
              </a:rPr>
              <a:t> </a:t>
            </a:r>
            <a:r>
              <a:rPr sz="2400" dirty="0">
                <a:solidFill>
                  <a:srgbClr val="404040"/>
                </a:solidFill>
                <a:latin typeface="Times New Roman"/>
                <a:cs typeface="Times New Roman"/>
              </a:rPr>
              <a:t>by </a:t>
            </a:r>
            <a:r>
              <a:rPr sz="2400" spc="-5" dirty="0">
                <a:solidFill>
                  <a:srgbClr val="404040"/>
                </a:solidFill>
                <a:latin typeface="Times New Roman"/>
                <a:cs typeface="Times New Roman"/>
              </a:rPr>
              <a:t>dismembering </a:t>
            </a:r>
            <a:r>
              <a:rPr sz="2400" dirty="0">
                <a:solidFill>
                  <a:srgbClr val="404040"/>
                </a:solidFill>
                <a:latin typeface="Times New Roman"/>
                <a:cs typeface="Times New Roman"/>
              </a:rPr>
              <a:t>the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frame</a:t>
            </a:r>
            <a:r>
              <a:rPr sz="2400" dirty="0">
                <a:solidFill>
                  <a:srgbClr val="404040"/>
                </a:solidFill>
                <a:latin typeface="Times New Roman"/>
                <a:cs typeface="Times New Roman"/>
              </a:rPr>
              <a:t> and</a:t>
            </a:r>
            <a:r>
              <a:rPr sz="2400" spc="-5" dirty="0">
                <a:solidFill>
                  <a:srgbClr val="404040"/>
                </a:solidFill>
                <a:latin typeface="Times New Roman"/>
                <a:cs typeface="Times New Roman"/>
              </a:rPr>
              <a:t> </a:t>
            </a:r>
            <a:r>
              <a:rPr sz="2400" dirty="0">
                <a:solidFill>
                  <a:srgbClr val="404040"/>
                </a:solidFill>
                <a:latin typeface="Times New Roman"/>
                <a:cs typeface="Times New Roman"/>
              </a:rPr>
              <a:t>creating</a:t>
            </a:r>
            <a:r>
              <a:rPr sz="2400" spc="-40" dirty="0">
                <a:solidFill>
                  <a:srgbClr val="404040"/>
                </a:solidFill>
                <a:latin typeface="Times New Roman"/>
                <a:cs typeface="Times New Roman"/>
              </a:rPr>
              <a:t> </a:t>
            </a:r>
            <a:r>
              <a:rPr sz="2400" dirty="0">
                <a:solidFill>
                  <a:srgbClr val="404040"/>
                </a:solidFill>
                <a:latin typeface="Times New Roman"/>
                <a:cs typeface="Times New Roman"/>
              </a:rPr>
              <a:t>free</a:t>
            </a:r>
            <a:r>
              <a:rPr sz="2400" spc="-5" dirty="0">
                <a:solidFill>
                  <a:srgbClr val="404040"/>
                </a:solidFill>
                <a:latin typeface="Times New Roman"/>
                <a:cs typeface="Times New Roman"/>
              </a:rPr>
              <a:t> </a:t>
            </a:r>
            <a:r>
              <a:rPr sz="2400" dirty="0">
                <a:solidFill>
                  <a:srgbClr val="404040"/>
                </a:solidFill>
                <a:latin typeface="Times New Roman"/>
                <a:cs typeface="Times New Roman"/>
              </a:rPr>
              <a:t>body </a:t>
            </a:r>
            <a:r>
              <a:rPr sz="2400" spc="-585" dirty="0">
                <a:solidFill>
                  <a:srgbClr val="404040"/>
                </a:solidFill>
                <a:latin typeface="Times New Roman"/>
                <a:cs typeface="Times New Roman"/>
              </a:rPr>
              <a:t> </a:t>
            </a:r>
            <a:r>
              <a:rPr sz="2400" spc="-5" dirty="0">
                <a:solidFill>
                  <a:srgbClr val="404040"/>
                </a:solidFill>
                <a:latin typeface="Times New Roman"/>
                <a:cs typeface="Times New Roman"/>
              </a:rPr>
              <a:t>diagrams</a:t>
            </a:r>
            <a:r>
              <a:rPr sz="2400" spc="-15" dirty="0">
                <a:solidFill>
                  <a:srgbClr val="404040"/>
                </a:solidFill>
                <a:latin typeface="Times New Roman"/>
                <a:cs typeface="Times New Roman"/>
              </a:rPr>
              <a:t> </a:t>
            </a:r>
            <a:r>
              <a:rPr sz="2400" dirty="0">
                <a:solidFill>
                  <a:srgbClr val="404040"/>
                </a:solidFill>
                <a:latin typeface="Times New Roman"/>
                <a:cs typeface="Times New Roman"/>
              </a:rPr>
              <a:t>for</a:t>
            </a:r>
            <a:r>
              <a:rPr sz="2400" spc="5" dirty="0">
                <a:solidFill>
                  <a:srgbClr val="404040"/>
                </a:solidFill>
                <a:latin typeface="Times New Roman"/>
                <a:cs typeface="Times New Roman"/>
              </a:rPr>
              <a:t> </a:t>
            </a:r>
            <a:r>
              <a:rPr sz="2400" dirty="0">
                <a:solidFill>
                  <a:srgbClr val="404040"/>
                </a:solidFill>
                <a:latin typeface="Times New Roman"/>
                <a:cs typeface="Times New Roman"/>
              </a:rPr>
              <a:t>each</a:t>
            </a:r>
            <a:r>
              <a:rPr sz="2400" spc="-20" dirty="0">
                <a:solidFill>
                  <a:srgbClr val="404040"/>
                </a:solidFill>
                <a:latin typeface="Times New Roman"/>
                <a:cs typeface="Times New Roman"/>
              </a:rPr>
              <a:t> </a:t>
            </a:r>
            <a:r>
              <a:rPr sz="2400" spc="-5" dirty="0">
                <a:solidFill>
                  <a:srgbClr val="404040"/>
                </a:solidFill>
                <a:latin typeface="Times New Roman"/>
                <a:cs typeface="Times New Roman"/>
              </a:rPr>
              <a:t>component.</a:t>
            </a:r>
            <a:endParaRPr sz="2400" dirty="0">
              <a:latin typeface="Times New Roman"/>
              <a:cs typeface="Times New Roman"/>
            </a:endParaRPr>
          </a:p>
        </p:txBody>
      </p:sp>
    </p:spTree>
    <p:extLst>
      <p:ext uri="{BB962C8B-B14F-4D97-AF65-F5344CB8AC3E}">
        <p14:creationId xmlns:p14="http://schemas.microsoft.com/office/powerpoint/2010/main" val="10366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5" name="object 3">
            <a:extLst>
              <a:ext uri="{FF2B5EF4-FFF2-40B4-BE49-F238E27FC236}">
                <a16:creationId xmlns:a16="http://schemas.microsoft.com/office/drawing/2014/main" id="{BD3918DF-93D2-67EC-609F-DDCCDBCDB6CE}"/>
              </a:ext>
            </a:extLst>
          </p:cNvPr>
          <p:cNvSpPr txBox="1">
            <a:spLocks/>
          </p:cNvSpPr>
          <p:nvPr/>
        </p:nvSpPr>
        <p:spPr>
          <a:xfrm>
            <a:off x="1768982" y="334772"/>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pic>
        <p:nvPicPr>
          <p:cNvPr id="10" name="Picture 9">
            <a:extLst>
              <a:ext uri="{FF2B5EF4-FFF2-40B4-BE49-F238E27FC236}">
                <a16:creationId xmlns:a16="http://schemas.microsoft.com/office/drawing/2014/main" id="{C3B3D83C-B2A5-21C2-444A-5E747EDEE28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00904" y="3182857"/>
            <a:ext cx="5565826" cy="3538618"/>
          </a:xfrm>
          <a:prstGeom prst="rect">
            <a:avLst/>
          </a:prstGeom>
        </p:spPr>
      </p:pic>
      <p:sp>
        <p:nvSpPr>
          <p:cNvPr id="14" name="object 3">
            <a:extLst>
              <a:ext uri="{FF2B5EF4-FFF2-40B4-BE49-F238E27FC236}">
                <a16:creationId xmlns:a16="http://schemas.microsoft.com/office/drawing/2014/main" id="{82A27167-E4CC-5620-B106-8652F41EB635}"/>
              </a:ext>
            </a:extLst>
          </p:cNvPr>
          <p:cNvSpPr txBox="1"/>
          <p:nvPr/>
        </p:nvSpPr>
        <p:spPr>
          <a:xfrm>
            <a:off x="1749500" y="1039131"/>
            <a:ext cx="10018608" cy="821507"/>
          </a:xfrm>
          <a:prstGeom prst="rect">
            <a:avLst/>
          </a:prstGeom>
        </p:spPr>
        <p:txBody>
          <a:bodyPr vert="horz" wrap="square" lIns="0" tIns="40640" rIns="0" bIns="0" rtlCol="0">
            <a:spAutoFit/>
          </a:bodyPr>
          <a:lstStyle/>
          <a:p>
            <a:pPr marL="355600" indent="-342900">
              <a:lnSpc>
                <a:spcPct val="100000"/>
              </a:lnSpc>
              <a:spcBef>
                <a:spcPts val="320"/>
              </a:spcBef>
              <a:buClr>
                <a:srgbClr val="A42F0F"/>
              </a:buClr>
              <a:buFont typeface="Wingdings"/>
              <a:buChar char=""/>
              <a:tabLst>
                <a:tab pos="355600" algn="l"/>
              </a:tabLst>
            </a:pPr>
            <a:r>
              <a:rPr sz="2600" b="1" spc="-5" dirty="0">
                <a:solidFill>
                  <a:srgbClr val="00AF50"/>
                </a:solidFill>
                <a:latin typeface="Times New Roman"/>
                <a:cs typeface="Times New Roman"/>
              </a:rPr>
              <a:t>Problem:</a:t>
            </a:r>
            <a:endParaRPr sz="2600" dirty="0">
              <a:latin typeface="Times New Roman"/>
              <a:cs typeface="Times New Roman"/>
            </a:endParaRPr>
          </a:p>
          <a:p>
            <a:pPr marL="317500" marR="5080" indent="25400">
              <a:lnSpc>
                <a:spcPct val="101699"/>
              </a:lnSpc>
              <a:spcBef>
                <a:spcPts val="150"/>
              </a:spcBef>
              <a:tabLst>
                <a:tab pos="1129665" algn="l"/>
              </a:tabLst>
            </a:pPr>
            <a:r>
              <a:rPr sz="2400" spc="-5" dirty="0">
                <a:solidFill>
                  <a:srgbClr val="404040"/>
                </a:solidFill>
                <a:latin typeface="Times New Roman"/>
                <a:cs typeface="Times New Roman"/>
              </a:rPr>
              <a:t>Determine</a:t>
            </a:r>
            <a:r>
              <a:rPr sz="2400" spc="-15" dirty="0">
                <a:solidFill>
                  <a:srgbClr val="404040"/>
                </a:solidFill>
                <a:latin typeface="Times New Roman"/>
                <a:cs typeface="Times New Roman"/>
              </a:rPr>
              <a:t> </a:t>
            </a:r>
            <a:r>
              <a:rPr sz="2400" spc="-5" dirty="0">
                <a:solidFill>
                  <a:srgbClr val="404040"/>
                </a:solidFill>
                <a:latin typeface="Times New Roman"/>
                <a:cs typeface="Times New Roman"/>
              </a:rPr>
              <a:t>the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components</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of</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all</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forces</a:t>
            </a:r>
            <a:r>
              <a:rPr sz="2400" spc="5" dirty="0">
                <a:solidFill>
                  <a:srgbClr val="404040"/>
                </a:solidFill>
                <a:latin typeface="Times New Roman"/>
                <a:cs typeface="Times New Roman"/>
              </a:rPr>
              <a:t> </a:t>
            </a:r>
            <a:r>
              <a:rPr sz="2400" spc="-5" dirty="0">
                <a:solidFill>
                  <a:srgbClr val="404040"/>
                </a:solidFill>
                <a:latin typeface="Times New Roman"/>
                <a:cs typeface="Times New Roman"/>
              </a:rPr>
              <a:t>on</a:t>
            </a:r>
            <a:r>
              <a:rPr sz="2400" spc="10" dirty="0">
                <a:solidFill>
                  <a:srgbClr val="404040"/>
                </a:solidFill>
                <a:latin typeface="Times New Roman"/>
                <a:cs typeface="Times New Roman"/>
              </a:rPr>
              <a:t> </a:t>
            </a:r>
            <a:r>
              <a:rPr sz="2400" spc="-10" dirty="0">
                <a:solidFill>
                  <a:srgbClr val="404040"/>
                </a:solidFill>
                <a:latin typeface="Times New Roman"/>
                <a:cs typeface="Times New Roman"/>
              </a:rPr>
              <a:t>member</a:t>
            </a:r>
            <a:r>
              <a:rPr sz="2400" spc="-114" dirty="0">
                <a:solidFill>
                  <a:srgbClr val="404040"/>
                </a:solidFill>
                <a:latin typeface="Times New Roman"/>
                <a:cs typeface="Times New Roman"/>
              </a:rPr>
              <a:t> </a:t>
            </a:r>
            <a:r>
              <a:rPr sz="2400" spc="-5" dirty="0">
                <a:solidFill>
                  <a:srgbClr val="404040"/>
                </a:solidFill>
                <a:latin typeface="Times New Roman"/>
                <a:cs typeface="Times New Roman"/>
              </a:rPr>
              <a:t>ABCD</a:t>
            </a:r>
            <a:r>
              <a:rPr lang="en-US" sz="2400" spc="-5" dirty="0">
                <a:solidFill>
                  <a:srgbClr val="404040"/>
                </a:solidFill>
                <a:latin typeface="Times New Roman"/>
                <a:cs typeface="Times New Roman"/>
              </a:rPr>
              <a:t>.</a:t>
            </a:r>
            <a:endParaRPr sz="2400" dirty="0">
              <a:latin typeface="Times New Roman"/>
              <a:cs typeface="Times New Roman"/>
            </a:endParaRPr>
          </a:p>
        </p:txBody>
      </p:sp>
    </p:spTree>
    <p:extLst>
      <p:ext uri="{BB962C8B-B14F-4D97-AF65-F5344CB8AC3E}">
        <p14:creationId xmlns:p14="http://schemas.microsoft.com/office/powerpoint/2010/main" val="254118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1341283" cy="6858000"/>
            <a:chOff x="0" y="0"/>
            <a:chExt cx="529889" cy="2709333"/>
          </a:xfrm>
        </p:grpSpPr>
        <p:sp>
          <p:nvSpPr>
            <p:cNvPr id="3" name="Freeform 3"/>
            <p:cNvSpPr/>
            <p:nvPr/>
          </p:nvSpPr>
          <p:spPr>
            <a:xfrm>
              <a:off x="0" y="0"/>
              <a:ext cx="529889" cy="2709333"/>
            </a:xfrm>
            <a:custGeom>
              <a:avLst/>
              <a:gdLst/>
              <a:ahLst/>
              <a:cxnLst/>
              <a:rect l="l" t="t" r="r" b="b"/>
              <a:pathLst>
                <a:path w="529889" h="2709333">
                  <a:moveTo>
                    <a:pt x="0" y="0"/>
                  </a:moveTo>
                  <a:lnTo>
                    <a:pt x="529889" y="0"/>
                  </a:lnTo>
                  <a:lnTo>
                    <a:pt x="529889" y="2709333"/>
                  </a:lnTo>
                  <a:lnTo>
                    <a:pt x="0" y="2709333"/>
                  </a:lnTo>
                  <a:close/>
                </a:path>
              </a:pathLst>
            </a:custGeom>
            <a:solidFill>
              <a:schemeClr val="accent3">
                <a:lumMod val="75000"/>
              </a:schemeClr>
            </a:solidFill>
          </p:spPr>
        </p:sp>
        <p:sp>
          <p:nvSpPr>
            <p:cNvPr id="4" name="TextBox 4"/>
            <p:cNvSpPr txBox="1"/>
            <p:nvPr/>
          </p:nvSpPr>
          <p:spPr>
            <a:xfrm>
              <a:off x="0" y="-38100"/>
              <a:ext cx="812800" cy="850900"/>
            </a:xfrm>
            <a:prstGeom prst="rect">
              <a:avLst/>
            </a:prstGeom>
          </p:spPr>
          <p:txBody>
            <a:bodyPr lIns="33867" tIns="33867" rIns="33867" bIns="33867" rtlCol="0" anchor="ctr"/>
            <a:lstStyle/>
            <a:p>
              <a:pPr algn="ctr">
                <a:lnSpc>
                  <a:spcPts val="1867"/>
                </a:lnSpc>
              </a:pPr>
              <a:endParaRPr sz="800"/>
            </a:p>
          </p:txBody>
        </p:sp>
      </p:grpSp>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a:xfrm>
            <a:off x="256873" y="6280330"/>
            <a:ext cx="1174763" cy="365125"/>
          </a:xfrm>
        </p:spPr>
        <p:txBody>
          <a:bodyPr/>
          <a:lstStyle/>
          <a:p>
            <a:fld id="{CF25AD66-A4B4-4281-BA8F-C7D6C36F42AC}" type="datetime1">
              <a:rPr lang="en-US" smtClean="0">
                <a:solidFill>
                  <a:schemeClr val="bg1"/>
                </a:solidFill>
              </a:rPr>
              <a:t>6/24/2025</a:t>
            </a:fld>
            <a:endParaRPr lang="en-US" dirty="0">
              <a:solidFill>
                <a:schemeClr val="bg1"/>
              </a:solidFill>
            </a:endParaRPr>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5" name="object 3">
            <a:extLst>
              <a:ext uri="{FF2B5EF4-FFF2-40B4-BE49-F238E27FC236}">
                <a16:creationId xmlns:a16="http://schemas.microsoft.com/office/drawing/2014/main" id="{15397505-AB7E-1797-E90F-C00A643E079D}"/>
              </a:ext>
            </a:extLst>
          </p:cNvPr>
          <p:cNvSpPr txBox="1">
            <a:spLocks/>
          </p:cNvSpPr>
          <p:nvPr/>
        </p:nvSpPr>
        <p:spPr>
          <a:xfrm>
            <a:off x="1768982" y="334772"/>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sp>
        <p:nvSpPr>
          <p:cNvPr id="6" name="object 3">
            <a:extLst>
              <a:ext uri="{FF2B5EF4-FFF2-40B4-BE49-F238E27FC236}">
                <a16:creationId xmlns:a16="http://schemas.microsoft.com/office/drawing/2014/main" id="{1CC16F23-0705-4BEE-FAFF-E868A41158A1}"/>
              </a:ext>
            </a:extLst>
          </p:cNvPr>
          <p:cNvSpPr txBox="1"/>
          <p:nvPr/>
        </p:nvSpPr>
        <p:spPr>
          <a:xfrm>
            <a:off x="1749500" y="1039131"/>
            <a:ext cx="10018608" cy="441146"/>
          </a:xfrm>
          <a:prstGeom prst="rect">
            <a:avLst/>
          </a:prstGeom>
        </p:spPr>
        <p:txBody>
          <a:bodyPr vert="horz" wrap="square" lIns="0" tIns="40640" rIns="0" bIns="0" rtlCol="0">
            <a:spAutoFit/>
          </a:bodyPr>
          <a:lstStyle/>
          <a:p>
            <a:pPr marL="355600" indent="-342900">
              <a:lnSpc>
                <a:spcPct val="100000"/>
              </a:lnSpc>
              <a:spcBef>
                <a:spcPts val="320"/>
              </a:spcBef>
              <a:buClr>
                <a:srgbClr val="A42F0F"/>
              </a:buClr>
              <a:buFont typeface="Wingdings"/>
              <a:buChar char=""/>
              <a:tabLst>
                <a:tab pos="355600" algn="l"/>
              </a:tabLst>
            </a:pPr>
            <a:r>
              <a:rPr lang="en-US" sz="2600" b="1" spc="-5" dirty="0">
                <a:solidFill>
                  <a:srgbClr val="00AF50"/>
                </a:solidFill>
                <a:latin typeface="Times New Roman"/>
                <a:cs typeface="Times New Roman"/>
              </a:rPr>
              <a:t>Solution</a:t>
            </a:r>
            <a:r>
              <a:rPr sz="2600" b="1" spc="-5" dirty="0">
                <a:solidFill>
                  <a:srgbClr val="00AF50"/>
                </a:solidFill>
                <a:latin typeface="Times New Roman"/>
                <a:cs typeface="Times New Roman"/>
              </a:rPr>
              <a:t>:</a:t>
            </a:r>
            <a:endParaRPr sz="2600" dirty="0">
              <a:latin typeface="Times New Roman"/>
              <a:cs typeface="Times New Roman"/>
            </a:endParaRPr>
          </a:p>
        </p:txBody>
      </p:sp>
      <p:pic>
        <p:nvPicPr>
          <p:cNvPr id="7" name="Picture 6">
            <a:extLst>
              <a:ext uri="{FF2B5EF4-FFF2-40B4-BE49-F238E27FC236}">
                <a16:creationId xmlns:a16="http://schemas.microsoft.com/office/drawing/2014/main" id="{B0D50315-14DE-D01F-EEB5-0BEAF46702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57402" y="3361017"/>
            <a:ext cx="4344876" cy="2762367"/>
          </a:xfrm>
          <a:prstGeom prst="rect">
            <a:avLst/>
          </a:prstGeom>
        </p:spPr>
      </p:pic>
      <p:pic>
        <p:nvPicPr>
          <p:cNvPr id="10" name="Picture 9" descr="A drawing of a metal corner&#10;&#10;Description automatically generated with medium confidence">
            <a:extLst>
              <a:ext uri="{FF2B5EF4-FFF2-40B4-BE49-F238E27FC236}">
                <a16:creationId xmlns:a16="http://schemas.microsoft.com/office/drawing/2014/main" id="{719D2312-10B3-B958-1748-55F00757DE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7153" y="3172401"/>
            <a:ext cx="5007974" cy="3183949"/>
          </a:xfrm>
          <a:prstGeom prst="rect">
            <a:avLst/>
          </a:prstGeom>
        </p:spPr>
      </p:pic>
    </p:spTree>
    <p:extLst>
      <p:ext uri="{BB962C8B-B14F-4D97-AF65-F5344CB8AC3E}">
        <p14:creationId xmlns:p14="http://schemas.microsoft.com/office/powerpoint/2010/main" val="690373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5" name="object 3">
            <a:extLst>
              <a:ext uri="{FF2B5EF4-FFF2-40B4-BE49-F238E27FC236}">
                <a16:creationId xmlns:a16="http://schemas.microsoft.com/office/drawing/2014/main" id="{E00B5F89-A731-0513-D656-884755BD1DC7}"/>
              </a:ext>
            </a:extLst>
          </p:cNvPr>
          <p:cNvSpPr txBox="1">
            <a:spLocks/>
          </p:cNvSpPr>
          <p:nvPr/>
        </p:nvSpPr>
        <p:spPr>
          <a:xfrm>
            <a:off x="1768982" y="334772"/>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sp>
        <p:nvSpPr>
          <p:cNvPr id="6" name="object 3">
            <a:extLst>
              <a:ext uri="{FF2B5EF4-FFF2-40B4-BE49-F238E27FC236}">
                <a16:creationId xmlns:a16="http://schemas.microsoft.com/office/drawing/2014/main" id="{7D0870E3-8409-391C-5847-0518D5F89F9C}"/>
              </a:ext>
            </a:extLst>
          </p:cNvPr>
          <p:cNvSpPr txBox="1"/>
          <p:nvPr/>
        </p:nvSpPr>
        <p:spPr>
          <a:xfrm>
            <a:off x="1314196" y="981575"/>
            <a:ext cx="10156831" cy="396262"/>
          </a:xfrm>
          <a:prstGeom prst="rect">
            <a:avLst/>
          </a:prstGeom>
        </p:spPr>
        <p:txBody>
          <a:bodyPr vert="horz" wrap="square" lIns="0" tIns="11430" rIns="0" bIns="0" rtlCol="0">
            <a:spAutoFit/>
          </a:bodyPr>
          <a:lstStyle/>
          <a:p>
            <a:pPr marL="355600" marR="5080" indent="-342900">
              <a:lnSpc>
                <a:spcPct val="100400"/>
              </a:lnSpc>
              <a:spcBef>
                <a:spcPts val="90"/>
              </a:spcBef>
              <a:buClr>
                <a:srgbClr val="A42F0F"/>
              </a:buClr>
              <a:buFont typeface="Wingdings"/>
              <a:buChar char=""/>
              <a:tabLst>
                <a:tab pos="355600" algn="l"/>
              </a:tabLst>
            </a:pPr>
            <a:r>
              <a:rPr sz="2500" b="1" u="heavy" dirty="0">
                <a:solidFill>
                  <a:srgbClr val="C00000"/>
                </a:solidFill>
                <a:uFill>
                  <a:solidFill>
                    <a:srgbClr val="C00000"/>
                  </a:solidFill>
                </a:uFill>
                <a:latin typeface="Times New Roman"/>
                <a:cs typeface="Times New Roman"/>
              </a:rPr>
              <a:t>Frames</a:t>
            </a:r>
            <a:r>
              <a:rPr sz="2500" b="1" u="heavy" spc="-85" dirty="0">
                <a:solidFill>
                  <a:srgbClr val="C00000"/>
                </a:solidFill>
                <a:uFill>
                  <a:solidFill>
                    <a:srgbClr val="C00000"/>
                  </a:solidFill>
                </a:uFill>
                <a:latin typeface="Times New Roman"/>
                <a:cs typeface="Times New Roman"/>
              </a:rPr>
              <a:t> </a:t>
            </a:r>
            <a:r>
              <a:rPr sz="2500" b="1" u="heavy" dirty="0">
                <a:solidFill>
                  <a:srgbClr val="C00000"/>
                </a:solidFill>
                <a:uFill>
                  <a:solidFill>
                    <a:srgbClr val="C00000"/>
                  </a:solidFill>
                </a:uFill>
                <a:latin typeface="Times New Roman"/>
                <a:cs typeface="Times New Roman"/>
              </a:rPr>
              <a:t>Which Cease</a:t>
            </a:r>
            <a:r>
              <a:rPr sz="2500" b="1" u="heavy" spc="-70" dirty="0">
                <a:solidFill>
                  <a:srgbClr val="C00000"/>
                </a:solidFill>
                <a:uFill>
                  <a:solidFill>
                    <a:srgbClr val="C00000"/>
                  </a:solidFill>
                </a:uFill>
                <a:latin typeface="Times New Roman"/>
                <a:cs typeface="Times New Roman"/>
              </a:rPr>
              <a:t> </a:t>
            </a:r>
            <a:r>
              <a:rPr sz="2500" b="1" u="heavy" spc="-120" dirty="0">
                <a:solidFill>
                  <a:srgbClr val="C00000"/>
                </a:solidFill>
                <a:uFill>
                  <a:solidFill>
                    <a:srgbClr val="C00000"/>
                  </a:solidFill>
                </a:uFill>
                <a:latin typeface="Times New Roman"/>
                <a:cs typeface="Times New Roman"/>
              </a:rPr>
              <a:t>To</a:t>
            </a:r>
            <a:r>
              <a:rPr sz="2500" b="1" u="heavy" spc="-10" dirty="0">
                <a:solidFill>
                  <a:srgbClr val="C00000"/>
                </a:solidFill>
                <a:uFill>
                  <a:solidFill>
                    <a:srgbClr val="C00000"/>
                  </a:solidFill>
                </a:uFill>
                <a:latin typeface="Times New Roman"/>
                <a:cs typeface="Times New Roman"/>
              </a:rPr>
              <a:t> </a:t>
            </a:r>
            <a:r>
              <a:rPr sz="2500" b="1" u="heavy" dirty="0">
                <a:solidFill>
                  <a:srgbClr val="C00000"/>
                </a:solidFill>
                <a:uFill>
                  <a:solidFill>
                    <a:srgbClr val="C00000"/>
                  </a:solidFill>
                </a:uFill>
                <a:latin typeface="Times New Roman"/>
                <a:cs typeface="Times New Roman"/>
              </a:rPr>
              <a:t>Be Rigid</a:t>
            </a:r>
            <a:r>
              <a:rPr sz="2500" b="1" u="heavy" spc="-55" dirty="0">
                <a:solidFill>
                  <a:srgbClr val="C00000"/>
                </a:solidFill>
                <a:uFill>
                  <a:solidFill>
                    <a:srgbClr val="C00000"/>
                  </a:solidFill>
                </a:uFill>
                <a:latin typeface="Times New Roman"/>
                <a:cs typeface="Times New Roman"/>
              </a:rPr>
              <a:t> </a:t>
            </a:r>
            <a:r>
              <a:rPr sz="2500" b="1" u="heavy" dirty="0">
                <a:solidFill>
                  <a:srgbClr val="C00000"/>
                </a:solidFill>
                <a:uFill>
                  <a:solidFill>
                    <a:srgbClr val="C00000"/>
                  </a:solidFill>
                </a:uFill>
                <a:latin typeface="Times New Roman"/>
                <a:cs typeface="Times New Roman"/>
              </a:rPr>
              <a:t>When Detached</a:t>
            </a:r>
            <a:r>
              <a:rPr sz="2500" b="1" u="heavy" spc="-25" dirty="0">
                <a:solidFill>
                  <a:srgbClr val="C00000"/>
                </a:solidFill>
                <a:uFill>
                  <a:solidFill>
                    <a:srgbClr val="C00000"/>
                  </a:solidFill>
                </a:uFill>
                <a:latin typeface="Times New Roman"/>
                <a:cs typeface="Times New Roman"/>
              </a:rPr>
              <a:t> </a:t>
            </a:r>
            <a:r>
              <a:rPr sz="2500" b="1" u="heavy" spc="-15" dirty="0">
                <a:solidFill>
                  <a:srgbClr val="C00000"/>
                </a:solidFill>
                <a:uFill>
                  <a:solidFill>
                    <a:srgbClr val="C00000"/>
                  </a:solidFill>
                </a:uFill>
                <a:latin typeface="Times New Roman"/>
                <a:cs typeface="Times New Roman"/>
              </a:rPr>
              <a:t>From</a:t>
            </a:r>
            <a:r>
              <a:rPr sz="2500" b="1" u="heavy" spc="-70" dirty="0">
                <a:solidFill>
                  <a:srgbClr val="C00000"/>
                </a:solidFill>
                <a:uFill>
                  <a:solidFill>
                    <a:srgbClr val="C00000"/>
                  </a:solidFill>
                </a:uFill>
                <a:latin typeface="Times New Roman"/>
                <a:cs typeface="Times New Roman"/>
              </a:rPr>
              <a:t> </a:t>
            </a:r>
            <a:r>
              <a:rPr sz="2500" b="1" u="heavy" dirty="0">
                <a:solidFill>
                  <a:srgbClr val="C00000"/>
                </a:solidFill>
                <a:uFill>
                  <a:solidFill>
                    <a:srgbClr val="C00000"/>
                  </a:solidFill>
                </a:uFill>
                <a:latin typeface="Times New Roman"/>
                <a:cs typeface="Times New Roman"/>
              </a:rPr>
              <a:t>Their </a:t>
            </a:r>
            <a:r>
              <a:rPr sz="2500" b="1" spc="-635" dirty="0">
                <a:solidFill>
                  <a:srgbClr val="C00000"/>
                </a:solidFill>
                <a:latin typeface="Times New Roman"/>
                <a:cs typeface="Times New Roman"/>
              </a:rPr>
              <a:t> </a:t>
            </a:r>
            <a:r>
              <a:rPr sz="2500" b="1" u="heavy" dirty="0">
                <a:solidFill>
                  <a:srgbClr val="C00000"/>
                </a:solidFill>
                <a:uFill>
                  <a:solidFill>
                    <a:srgbClr val="C00000"/>
                  </a:solidFill>
                </a:uFill>
                <a:latin typeface="Times New Roman"/>
                <a:cs typeface="Times New Roman"/>
              </a:rPr>
              <a:t>Supports</a:t>
            </a:r>
            <a:endParaRPr sz="2500" dirty="0">
              <a:latin typeface="Times New Roman"/>
              <a:cs typeface="Times New Roman"/>
            </a:endParaRPr>
          </a:p>
        </p:txBody>
      </p:sp>
      <p:sp>
        <p:nvSpPr>
          <p:cNvPr id="7" name="object 4">
            <a:extLst>
              <a:ext uri="{FF2B5EF4-FFF2-40B4-BE49-F238E27FC236}">
                <a16:creationId xmlns:a16="http://schemas.microsoft.com/office/drawing/2014/main" id="{D3463B02-F53C-8A8A-3CFC-4F4F011FFD33}"/>
              </a:ext>
            </a:extLst>
          </p:cNvPr>
          <p:cNvSpPr txBox="1"/>
          <p:nvPr/>
        </p:nvSpPr>
        <p:spPr>
          <a:xfrm>
            <a:off x="457418" y="1563206"/>
            <a:ext cx="7533640" cy="4415790"/>
          </a:xfrm>
          <a:prstGeom prst="rect">
            <a:avLst/>
          </a:prstGeom>
        </p:spPr>
        <p:txBody>
          <a:bodyPr vert="horz" wrap="square" lIns="0" tIns="12700" rIns="0" bIns="0" rtlCol="0">
            <a:spAutoFit/>
          </a:bodyPr>
          <a:lstStyle/>
          <a:p>
            <a:pPr marL="317500" marR="5080" indent="-304800">
              <a:lnSpc>
                <a:spcPct val="100000"/>
              </a:lnSpc>
              <a:spcBef>
                <a:spcPts val="100"/>
              </a:spcBef>
              <a:buClr>
                <a:srgbClr val="A42F0F"/>
              </a:buClr>
              <a:buFont typeface="Wingdings"/>
              <a:buChar char=""/>
              <a:tabLst>
                <a:tab pos="355600" algn="l"/>
              </a:tabLst>
            </a:pPr>
            <a:r>
              <a:rPr dirty="0"/>
              <a:t>	</a:t>
            </a:r>
            <a:r>
              <a:rPr sz="2400" spc="-10" dirty="0">
                <a:solidFill>
                  <a:srgbClr val="404040"/>
                </a:solidFill>
                <a:latin typeface="Times New Roman"/>
                <a:cs typeface="Times New Roman"/>
              </a:rPr>
              <a:t>Some </a:t>
            </a:r>
            <a:r>
              <a:rPr sz="2400" spc="-5" dirty="0">
                <a:solidFill>
                  <a:srgbClr val="404040"/>
                </a:solidFill>
                <a:latin typeface="Times New Roman"/>
                <a:cs typeface="Times New Roman"/>
              </a:rPr>
              <a:t>frames </a:t>
            </a:r>
            <a:r>
              <a:rPr sz="2400" spc="-10" dirty="0">
                <a:solidFill>
                  <a:srgbClr val="404040"/>
                </a:solidFill>
                <a:latin typeface="Times New Roman"/>
                <a:cs typeface="Times New Roman"/>
              </a:rPr>
              <a:t>may </a:t>
            </a:r>
            <a:r>
              <a:rPr sz="2400" dirty="0">
                <a:solidFill>
                  <a:srgbClr val="404040"/>
                </a:solidFill>
                <a:latin typeface="Times New Roman"/>
                <a:cs typeface="Times New Roman"/>
              </a:rPr>
              <a:t>collapse if </a:t>
            </a:r>
            <a:r>
              <a:rPr sz="2400" spc="-5" dirty="0">
                <a:solidFill>
                  <a:srgbClr val="404040"/>
                </a:solidFill>
                <a:latin typeface="Times New Roman"/>
                <a:cs typeface="Times New Roman"/>
              </a:rPr>
              <a:t>removed </a:t>
            </a:r>
            <a:r>
              <a:rPr sz="2400" dirty="0">
                <a:solidFill>
                  <a:srgbClr val="404040"/>
                </a:solidFill>
                <a:latin typeface="Times New Roman"/>
                <a:cs typeface="Times New Roman"/>
              </a:rPr>
              <a:t>from their supports. </a:t>
            </a:r>
            <a:r>
              <a:rPr sz="2400" spc="-585" dirty="0">
                <a:solidFill>
                  <a:srgbClr val="404040"/>
                </a:solidFill>
                <a:latin typeface="Times New Roman"/>
                <a:cs typeface="Times New Roman"/>
              </a:rPr>
              <a:t> </a:t>
            </a:r>
            <a:r>
              <a:rPr sz="2400" dirty="0">
                <a:solidFill>
                  <a:srgbClr val="404040"/>
                </a:solidFill>
                <a:latin typeface="Times New Roman"/>
                <a:cs typeface="Times New Roman"/>
              </a:rPr>
              <a:t>Such</a:t>
            </a:r>
            <a:r>
              <a:rPr sz="2400" spc="-5" dirty="0">
                <a:solidFill>
                  <a:srgbClr val="404040"/>
                </a:solidFill>
                <a:latin typeface="Times New Roman"/>
                <a:cs typeface="Times New Roman"/>
              </a:rPr>
              <a:t> frames</a:t>
            </a:r>
            <a:r>
              <a:rPr sz="2400" spc="20" dirty="0">
                <a:solidFill>
                  <a:srgbClr val="404040"/>
                </a:solidFill>
                <a:latin typeface="Times New Roman"/>
                <a:cs typeface="Times New Roman"/>
              </a:rPr>
              <a:t> </a:t>
            </a:r>
            <a:r>
              <a:rPr sz="2400" dirty="0">
                <a:solidFill>
                  <a:srgbClr val="404040"/>
                </a:solidFill>
                <a:latin typeface="Times New Roman"/>
                <a:cs typeface="Times New Roman"/>
              </a:rPr>
              <a:t>can</a:t>
            </a:r>
            <a:r>
              <a:rPr sz="2400" spc="-20" dirty="0">
                <a:solidFill>
                  <a:srgbClr val="404040"/>
                </a:solidFill>
                <a:latin typeface="Times New Roman"/>
                <a:cs typeface="Times New Roman"/>
              </a:rPr>
              <a:t> </a:t>
            </a:r>
            <a:r>
              <a:rPr sz="2400" dirty="0">
                <a:solidFill>
                  <a:srgbClr val="404040"/>
                </a:solidFill>
                <a:latin typeface="Times New Roman"/>
                <a:cs typeface="Times New Roman"/>
              </a:rPr>
              <a:t>not</a:t>
            </a:r>
            <a:r>
              <a:rPr sz="2400" spc="-10" dirty="0">
                <a:solidFill>
                  <a:srgbClr val="404040"/>
                </a:solidFill>
                <a:latin typeface="Times New Roman"/>
                <a:cs typeface="Times New Roman"/>
              </a:rPr>
              <a:t> </a:t>
            </a:r>
            <a:r>
              <a:rPr sz="2400" dirty="0">
                <a:solidFill>
                  <a:srgbClr val="404040"/>
                </a:solidFill>
                <a:latin typeface="Times New Roman"/>
                <a:cs typeface="Times New Roman"/>
              </a:rPr>
              <a:t>be</a:t>
            </a:r>
            <a:r>
              <a:rPr sz="2400" spc="-5" dirty="0">
                <a:solidFill>
                  <a:srgbClr val="404040"/>
                </a:solidFill>
                <a:latin typeface="Times New Roman"/>
                <a:cs typeface="Times New Roman"/>
              </a:rPr>
              <a:t> </a:t>
            </a:r>
            <a:r>
              <a:rPr sz="2400" dirty="0">
                <a:solidFill>
                  <a:srgbClr val="404040"/>
                </a:solidFill>
                <a:latin typeface="Times New Roman"/>
                <a:cs typeface="Times New Roman"/>
              </a:rPr>
              <a:t>treated</a:t>
            </a:r>
            <a:r>
              <a:rPr sz="2400" spc="-30" dirty="0">
                <a:solidFill>
                  <a:srgbClr val="404040"/>
                </a:solidFill>
                <a:latin typeface="Times New Roman"/>
                <a:cs typeface="Times New Roman"/>
              </a:rPr>
              <a:t> </a:t>
            </a:r>
            <a:r>
              <a:rPr sz="2400" spc="-5" dirty="0">
                <a:solidFill>
                  <a:srgbClr val="404040"/>
                </a:solidFill>
                <a:latin typeface="Times New Roman"/>
                <a:cs typeface="Times New Roman"/>
              </a:rPr>
              <a:t>as </a:t>
            </a:r>
            <a:r>
              <a:rPr sz="2400" dirty="0">
                <a:solidFill>
                  <a:srgbClr val="404040"/>
                </a:solidFill>
                <a:latin typeface="Times New Roman"/>
                <a:cs typeface="Times New Roman"/>
              </a:rPr>
              <a:t>rigid</a:t>
            </a:r>
            <a:r>
              <a:rPr sz="2400" spc="-20" dirty="0">
                <a:solidFill>
                  <a:srgbClr val="404040"/>
                </a:solidFill>
                <a:latin typeface="Times New Roman"/>
                <a:cs typeface="Times New Roman"/>
              </a:rPr>
              <a:t> </a:t>
            </a:r>
            <a:r>
              <a:rPr sz="2400" dirty="0">
                <a:solidFill>
                  <a:srgbClr val="404040"/>
                </a:solidFill>
                <a:latin typeface="Times New Roman"/>
                <a:cs typeface="Times New Roman"/>
              </a:rPr>
              <a:t>bodies.</a:t>
            </a:r>
            <a:endParaRPr sz="2400" dirty="0">
              <a:latin typeface="Times New Roman"/>
              <a:cs typeface="Times New Roman"/>
            </a:endParaRPr>
          </a:p>
          <a:p>
            <a:pPr marL="355600" indent="-342900">
              <a:lnSpc>
                <a:spcPct val="100000"/>
              </a:lnSpc>
              <a:buClr>
                <a:srgbClr val="A42F0F"/>
              </a:buClr>
              <a:buFont typeface="Wingdings"/>
              <a:buChar char=""/>
              <a:tabLst>
                <a:tab pos="355600" algn="l"/>
              </a:tabLst>
            </a:pPr>
            <a:r>
              <a:rPr sz="2400" dirty="0">
                <a:solidFill>
                  <a:srgbClr val="404040"/>
                </a:solidFill>
                <a:latin typeface="Times New Roman"/>
                <a:cs typeface="Times New Roman"/>
              </a:rPr>
              <a:t>The</a:t>
            </a:r>
            <a:r>
              <a:rPr sz="2400" spc="-25" dirty="0">
                <a:solidFill>
                  <a:srgbClr val="404040"/>
                </a:solidFill>
                <a:latin typeface="Times New Roman"/>
                <a:cs typeface="Times New Roman"/>
              </a:rPr>
              <a:t> </a:t>
            </a:r>
            <a:r>
              <a:rPr sz="2400" spc="-5" dirty="0">
                <a:solidFill>
                  <a:srgbClr val="404040"/>
                </a:solidFill>
                <a:latin typeface="Times New Roman"/>
                <a:cs typeface="Times New Roman"/>
              </a:rPr>
              <a:t>frame</a:t>
            </a:r>
            <a:r>
              <a:rPr sz="2400" spc="15" dirty="0">
                <a:solidFill>
                  <a:srgbClr val="404040"/>
                </a:solidFill>
                <a:latin typeface="Times New Roman"/>
                <a:cs typeface="Times New Roman"/>
              </a:rPr>
              <a:t> </a:t>
            </a:r>
            <a:r>
              <a:rPr sz="2400" spc="-10" dirty="0">
                <a:solidFill>
                  <a:srgbClr val="404040"/>
                </a:solidFill>
                <a:latin typeface="Times New Roman"/>
                <a:cs typeface="Times New Roman"/>
              </a:rPr>
              <a:t>must</a:t>
            </a:r>
            <a:r>
              <a:rPr sz="2400" spc="15" dirty="0">
                <a:solidFill>
                  <a:srgbClr val="404040"/>
                </a:solidFill>
                <a:latin typeface="Times New Roman"/>
                <a:cs typeface="Times New Roman"/>
              </a:rPr>
              <a:t> </a:t>
            </a:r>
            <a:r>
              <a:rPr sz="2400" spc="-5" dirty="0">
                <a:solidFill>
                  <a:srgbClr val="404040"/>
                </a:solidFill>
                <a:latin typeface="Times New Roman"/>
                <a:cs typeface="Times New Roman"/>
              </a:rPr>
              <a:t>be</a:t>
            </a:r>
            <a:r>
              <a:rPr sz="2400" spc="-15" dirty="0">
                <a:solidFill>
                  <a:srgbClr val="404040"/>
                </a:solidFill>
                <a:latin typeface="Times New Roman"/>
                <a:cs typeface="Times New Roman"/>
              </a:rPr>
              <a:t> </a:t>
            </a:r>
            <a:r>
              <a:rPr sz="2400" dirty="0">
                <a:solidFill>
                  <a:srgbClr val="404040"/>
                </a:solidFill>
                <a:latin typeface="Times New Roman"/>
                <a:cs typeface="Times New Roman"/>
              </a:rPr>
              <a:t>considered</a:t>
            </a:r>
            <a:r>
              <a:rPr sz="2400" spc="-30" dirty="0">
                <a:solidFill>
                  <a:srgbClr val="404040"/>
                </a:solidFill>
                <a:latin typeface="Times New Roman"/>
                <a:cs typeface="Times New Roman"/>
              </a:rPr>
              <a:t> </a:t>
            </a:r>
            <a:r>
              <a:rPr sz="2400" dirty="0">
                <a:solidFill>
                  <a:srgbClr val="404040"/>
                </a:solidFill>
                <a:latin typeface="Times New Roman"/>
                <a:cs typeface="Times New Roman"/>
              </a:rPr>
              <a:t>as</a:t>
            </a:r>
            <a:r>
              <a:rPr sz="2400" spc="-15" dirty="0">
                <a:solidFill>
                  <a:srgbClr val="404040"/>
                </a:solidFill>
                <a:latin typeface="Times New Roman"/>
                <a:cs typeface="Times New Roman"/>
              </a:rPr>
              <a:t> </a:t>
            </a:r>
            <a:r>
              <a:rPr sz="2400" dirty="0">
                <a:solidFill>
                  <a:srgbClr val="404040"/>
                </a:solidFill>
                <a:latin typeface="Times New Roman"/>
                <a:cs typeface="Times New Roman"/>
              </a:rPr>
              <a:t>two</a:t>
            </a:r>
            <a:r>
              <a:rPr sz="2400" spc="-5" dirty="0">
                <a:solidFill>
                  <a:srgbClr val="404040"/>
                </a:solidFill>
                <a:latin typeface="Times New Roman"/>
                <a:cs typeface="Times New Roman"/>
              </a:rPr>
              <a:t> </a:t>
            </a:r>
            <a:r>
              <a:rPr sz="2400" dirty="0">
                <a:solidFill>
                  <a:srgbClr val="404040"/>
                </a:solidFill>
                <a:latin typeface="Times New Roman"/>
                <a:cs typeface="Times New Roman"/>
              </a:rPr>
              <a:t>distinct,</a:t>
            </a:r>
            <a:r>
              <a:rPr sz="2400" spc="-30" dirty="0">
                <a:solidFill>
                  <a:srgbClr val="404040"/>
                </a:solidFill>
                <a:latin typeface="Times New Roman"/>
                <a:cs typeface="Times New Roman"/>
              </a:rPr>
              <a:t> </a:t>
            </a:r>
            <a:r>
              <a:rPr sz="2400" spc="-5" dirty="0">
                <a:solidFill>
                  <a:srgbClr val="404040"/>
                </a:solidFill>
                <a:latin typeface="Times New Roman"/>
                <a:cs typeface="Times New Roman"/>
              </a:rPr>
              <a:t>but</a:t>
            </a:r>
            <a:r>
              <a:rPr sz="2400" spc="-15" dirty="0">
                <a:solidFill>
                  <a:srgbClr val="404040"/>
                </a:solidFill>
                <a:latin typeface="Times New Roman"/>
                <a:cs typeface="Times New Roman"/>
              </a:rPr>
              <a:t> </a:t>
            </a:r>
            <a:r>
              <a:rPr sz="2400" dirty="0">
                <a:solidFill>
                  <a:srgbClr val="404040"/>
                </a:solidFill>
                <a:latin typeface="Times New Roman"/>
                <a:cs typeface="Times New Roman"/>
              </a:rPr>
              <a:t>related,</a:t>
            </a:r>
            <a:endParaRPr sz="2400" dirty="0">
              <a:latin typeface="Times New Roman"/>
              <a:cs typeface="Times New Roman"/>
            </a:endParaRPr>
          </a:p>
          <a:p>
            <a:pPr marL="393700">
              <a:lnSpc>
                <a:spcPct val="100000"/>
              </a:lnSpc>
            </a:pPr>
            <a:r>
              <a:rPr sz="2400" dirty="0">
                <a:solidFill>
                  <a:srgbClr val="404040"/>
                </a:solidFill>
                <a:latin typeface="Times New Roman"/>
                <a:cs typeface="Times New Roman"/>
              </a:rPr>
              <a:t>rigid</a:t>
            </a:r>
            <a:r>
              <a:rPr sz="2400" spc="-60" dirty="0">
                <a:solidFill>
                  <a:srgbClr val="404040"/>
                </a:solidFill>
                <a:latin typeface="Times New Roman"/>
                <a:cs typeface="Times New Roman"/>
              </a:rPr>
              <a:t> </a:t>
            </a:r>
            <a:r>
              <a:rPr sz="2400" dirty="0">
                <a:solidFill>
                  <a:srgbClr val="404040"/>
                </a:solidFill>
                <a:latin typeface="Times New Roman"/>
                <a:cs typeface="Times New Roman"/>
              </a:rPr>
              <a:t>bodies.</a:t>
            </a:r>
            <a:endParaRPr sz="2400" dirty="0">
              <a:latin typeface="Times New Roman"/>
              <a:cs typeface="Times New Roman"/>
            </a:endParaRPr>
          </a:p>
          <a:p>
            <a:pPr marL="317500" marR="716280" indent="-304800">
              <a:lnSpc>
                <a:spcPct val="100000"/>
              </a:lnSpc>
              <a:buClr>
                <a:srgbClr val="A42F0F"/>
              </a:buClr>
              <a:buFont typeface="Wingdings"/>
              <a:buChar char=""/>
              <a:tabLst>
                <a:tab pos="355600" algn="l"/>
              </a:tabLst>
            </a:pPr>
            <a:r>
              <a:rPr dirty="0"/>
              <a:t>	</a:t>
            </a:r>
            <a:r>
              <a:rPr sz="2400" spc="-5" dirty="0">
                <a:solidFill>
                  <a:srgbClr val="404040"/>
                </a:solidFill>
                <a:latin typeface="Times New Roman"/>
                <a:cs typeface="Times New Roman"/>
              </a:rPr>
              <a:t>A</a:t>
            </a:r>
            <a:r>
              <a:rPr sz="2400" spc="-135" dirty="0">
                <a:solidFill>
                  <a:srgbClr val="404040"/>
                </a:solidFill>
                <a:latin typeface="Times New Roman"/>
                <a:cs typeface="Times New Roman"/>
              </a:rPr>
              <a:t> </a:t>
            </a:r>
            <a:r>
              <a:rPr sz="2400" dirty="0">
                <a:solidFill>
                  <a:srgbClr val="404040"/>
                </a:solidFill>
                <a:latin typeface="Times New Roman"/>
                <a:cs typeface="Times New Roman"/>
              </a:rPr>
              <a:t>free-body</a:t>
            </a:r>
            <a:r>
              <a:rPr sz="2400" spc="-20" dirty="0">
                <a:solidFill>
                  <a:srgbClr val="404040"/>
                </a:solidFill>
                <a:latin typeface="Times New Roman"/>
                <a:cs typeface="Times New Roman"/>
              </a:rPr>
              <a:t> </a:t>
            </a:r>
            <a:r>
              <a:rPr sz="2400" dirty="0">
                <a:solidFill>
                  <a:srgbClr val="404040"/>
                </a:solidFill>
                <a:latin typeface="Times New Roman"/>
                <a:cs typeface="Times New Roman"/>
              </a:rPr>
              <a:t>diagram</a:t>
            </a:r>
            <a:r>
              <a:rPr sz="2400" spc="-40" dirty="0">
                <a:solidFill>
                  <a:srgbClr val="404040"/>
                </a:solidFill>
                <a:latin typeface="Times New Roman"/>
                <a:cs typeface="Times New Roman"/>
              </a:rPr>
              <a:t> </a:t>
            </a:r>
            <a:r>
              <a:rPr sz="2400" dirty="0">
                <a:solidFill>
                  <a:srgbClr val="404040"/>
                </a:solidFill>
                <a:latin typeface="Times New Roman"/>
                <a:cs typeface="Times New Roman"/>
              </a:rPr>
              <a:t>of</a:t>
            </a:r>
            <a:r>
              <a:rPr sz="2400" spc="-10" dirty="0">
                <a:solidFill>
                  <a:srgbClr val="404040"/>
                </a:solidFill>
                <a:latin typeface="Times New Roman"/>
                <a:cs typeface="Times New Roman"/>
              </a:rPr>
              <a:t> </a:t>
            </a:r>
            <a:r>
              <a:rPr sz="2400" dirty="0">
                <a:solidFill>
                  <a:srgbClr val="404040"/>
                </a:solidFill>
                <a:latin typeface="Times New Roman"/>
                <a:cs typeface="Times New Roman"/>
              </a:rPr>
              <a:t>the</a:t>
            </a:r>
            <a:r>
              <a:rPr sz="2400" spc="-30" dirty="0">
                <a:solidFill>
                  <a:srgbClr val="404040"/>
                </a:solidFill>
                <a:latin typeface="Times New Roman"/>
                <a:cs typeface="Times New Roman"/>
              </a:rPr>
              <a:t> </a:t>
            </a:r>
            <a:r>
              <a:rPr sz="2400" dirty="0">
                <a:solidFill>
                  <a:srgbClr val="404040"/>
                </a:solidFill>
                <a:latin typeface="Times New Roman"/>
                <a:cs typeface="Times New Roman"/>
              </a:rPr>
              <a:t>complete</a:t>
            </a:r>
            <a:r>
              <a:rPr sz="2400" spc="-30" dirty="0">
                <a:solidFill>
                  <a:srgbClr val="404040"/>
                </a:solidFill>
                <a:latin typeface="Times New Roman"/>
                <a:cs typeface="Times New Roman"/>
              </a:rPr>
              <a:t> </a:t>
            </a:r>
            <a:r>
              <a:rPr sz="2400" spc="-5" dirty="0">
                <a:solidFill>
                  <a:srgbClr val="404040"/>
                </a:solidFill>
                <a:latin typeface="Times New Roman"/>
                <a:cs typeface="Times New Roman"/>
              </a:rPr>
              <a:t>frame</a:t>
            </a:r>
            <a:r>
              <a:rPr sz="2400" spc="-10" dirty="0">
                <a:solidFill>
                  <a:srgbClr val="404040"/>
                </a:solidFill>
                <a:latin typeface="Times New Roman"/>
                <a:cs typeface="Times New Roman"/>
              </a:rPr>
              <a:t> </a:t>
            </a:r>
            <a:r>
              <a:rPr sz="2400" dirty="0">
                <a:solidFill>
                  <a:srgbClr val="404040"/>
                </a:solidFill>
                <a:latin typeface="Times New Roman"/>
                <a:cs typeface="Times New Roman"/>
              </a:rPr>
              <a:t>indicates </a:t>
            </a:r>
            <a:r>
              <a:rPr sz="2400" spc="-585" dirty="0">
                <a:solidFill>
                  <a:srgbClr val="404040"/>
                </a:solidFill>
                <a:latin typeface="Times New Roman"/>
                <a:cs typeface="Times New Roman"/>
              </a:rPr>
              <a:t> </a:t>
            </a:r>
            <a:r>
              <a:rPr sz="2400" dirty="0">
                <a:solidFill>
                  <a:srgbClr val="404040"/>
                </a:solidFill>
                <a:latin typeface="Times New Roman"/>
                <a:cs typeface="Times New Roman"/>
              </a:rPr>
              <a:t>four unknown force </a:t>
            </a:r>
            <a:r>
              <a:rPr sz="2400" spc="-5" dirty="0">
                <a:solidFill>
                  <a:srgbClr val="404040"/>
                </a:solidFill>
                <a:latin typeface="Times New Roman"/>
                <a:cs typeface="Times New Roman"/>
              </a:rPr>
              <a:t>components </a:t>
            </a:r>
            <a:r>
              <a:rPr sz="2400" dirty="0">
                <a:solidFill>
                  <a:srgbClr val="404040"/>
                </a:solidFill>
                <a:latin typeface="Times New Roman"/>
                <a:cs typeface="Times New Roman"/>
              </a:rPr>
              <a:t>which can not be </a:t>
            </a:r>
            <a:r>
              <a:rPr sz="2400" spc="5" dirty="0">
                <a:solidFill>
                  <a:srgbClr val="404040"/>
                </a:solidFill>
                <a:latin typeface="Times New Roman"/>
                <a:cs typeface="Times New Roman"/>
              </a:rPr>
              <a:t> </a:t>
            </a:r>
            <a:r>
              <a:rPr sz="2400" spc="-5" dirty="0">
                <a:solidFill>
                  <a:srgbClr val="404040"/>
                </a:solidFill>
                <a:latin typeface="Times New Roman"/>
                <a:cs typeface="Times New Roman"/>
              </a:rPr>
              <a:t>determined</a:t>
            </a:r>
            <a:r>
              <a:rPr sz="2400" spc="-15" dirty="0">
                <a:solidFill>
                  <a:srgbClr val="404040"/>
                </a:solidFill>
                <a:latin typeface="Times New Roman"/>
                <a:cs typeface="Times New Roman"/>
              </a:rPr>
              <a:t> </a:t>
            </a:r>
            <a:r>
              <a:rPr sz="2400" spc="-5" dirty="0">
                <a:solidFill>
                  <a:srgbClr val="404040"/>
                </a:solidFill>
                <a:latin typeface="Times New Roman"/>
                <a:cs typeface="Times New Roman"/>
              </a:rPr>
              <a:t>from</a:t>
            </a:r>
            <a:r>
              <a:rPr sz="2400" spc="-15" dirty="0">
                <a:solidFill>
                  <a:srgbClr val="404040"/>
                </a:solidFill>
                <a:latin typeface="Times New Roman"/>
                <a:cs typeface="Times New Roman"/>
              </a:rPr>
              <a:t> </a:t>
            </a:r>
            <a:r>
              <a:rPr sz="2400" dirty="0">
                <a:solidFill>
                  <a:srgbClr val="404040"/>
                </a:solidFill>
                <a:latin typeface="Times New Roman"/>
                <a:cs typeface="Times New Roman"/>
              </a:rPr>
              <a:t>the</a:t>
            </a:r>
            <a:r>
              <a:rPr sz="2400" spc="-10" dirty="0">
                <a:solidFill>
                  <a:srgbClr val="404040"/>
                </a:solidFill>
                <a:latin typeface="Times New Roman"/>
                <a:cs typeface="Times New Roman"/>
              </a:rPr>
              <a:t> </a:t>
            </a:r>
            <a:r>
              <a:rPr sz="2400" dirty="0">
                <a:solidFill>
                  <a:srgbClr val="404040"/>
                </a:solidFill>
                <a:latin typeface="Times New Roman"/>
                <a:cs typeface="Times New Roman"/>
              </a:rPr>
              <a:t>three</a:t>
            </a:r>
            <a:r>
              <a:rPr sz="2400" spc="-20" dirty="0">
                <a:solidFill>
                  <a:srgbClr val="404040"/>
                </a:solidFill>
                <a:latin typeface="Times New Roman"/>
                <a:cs typeface="Times New Roman"/>
              </a:rPr>
              <a:t> </a:t>
            </a:r>
            <a:r>
              <a:rPr sz="2400" dirty="0">
                <a:solidFill>
                  <a:srgbClr val="404040"/>
                </a:solidFill>
                <a:latin typeface="Times New Roman"/>
                <a:cs typeface="Times New Roman"/>
              </a:rPr>
              <a:t>equilibrium</a:t>
            </a:r>
            <a:r>
              <a:rPr sz="2400" spc="-50" dirty="0">
                <a:solidFill>
                  <a:srgbClr val="404040"/>
                </a:solidFill>
                <a:latin typeface="Times New Roman"/>
                <a:cs typeface="Times New Roman"/>
              </a:rPr>
              <a:t> </a:t>
            </a:r>
            <a:r>
              <a:rPr sz="2400" dirty="0">
                <a:solidFill>
                  <a:srgbClr val="404040"/>
                </a:solidFill>
                <a:latin typeface="Times New Roman"/>
                <a:cs typeface="Times New Roman"/>
              </a:rPr>
              <a:t>conditions.</a:t>
            </a:r>
            <a:endParaRPr sz="2400" dirty="0">
              <a:latin typeface="Times New Roman"/>
              <a:cs typeface="Times New Roman"/>
            </a:endParaRPr>
          </a:p>
          <a:p>
            <a:pPr marL="355600" marR="1087120" indent="-355600">
              <a:lnSpc>
                <a:spcPct val="100000"/>
              </a:lnSpc>
              <a:spcBef>
                <a:spcPts val="5"/>
              </a:spcBef>
              <a:buClr>
                <a:srgbClr val="A42F0F"/>
              </a:buClr>
              <a:buFont typeface="Wingdings"/>
              <a:buChar char=""/>
              <a:tabLst>
                <a:tab pos="355600" algn="l"/>
              </a:tabLst>
            </a:pPr>
            <a:r>
              <a:rPr sz="2400" spc="-30" dirty="0">
                <a:solidFill>
                  <a:srgbClr val="404040"/>
                </a:solidFill>
                <a:latin typeface="Times New Roman"/>
                <a:cs typeface="Times New Roman"/>
              </a:rPr>
              <a:t>With</a:t>
            </a:r>
            <a:r>
              <a:rPr sz="2400" spc="-15" dirty="0">
                <a:solidFill>
                  <a:srgbClr val="404040"/>
                </a:solidFill>
                <a:latin typeface="Times New Roman"/>
                <a:cs typeface="Times New Roman"/>
              </a:rPr>
              <a:t> </a:t>
            </a:r>
            <a:r>
              <a:rPr sz="2400" dirty="0">
                <a:solidFill>
                  <a:srgbClr val="404040"/>
                </a:solidFill>
                <a:latin typeface="Times New Roman"/>
                <a:cs typeface="Times New Roman"/>
              </a:rPr>
              <a:t>equal</a:t>
            </a:r>
            <a:r>
              <a:rPr sz="2400" spc="-25" dirty="0">
                <a:solidFill>
                  <a:srgbClr val="404040"/>
                </a:solidFill>
                <a:latin typeface="Times New Roman"/>
                <a:cs typeface="Times New Roman"/>
              </a:rPr>
              <a:t> </a:t>
            </a:r>
            <a:r>
              <a:rPr sz="2400" dirty="0">
                <a:solidFill>
                  <a:srgbClr val="404040"/>
                </a:solidFill>
                <a:latin typeface="Times New Roman"/>
                <a:cs typeface="Times New Roman"/>
              </a:rPr>
              <a:t>and</a:t>
            </a:r>
            <a:r>
              <a:rPr sz="2400" spc="-10" dirty="0">
                <a:solidFill>
                  <a:srgbClr val="404040"/>
                </a:solidFill>
                <a:latin typeface="Times New Roman"/>
                <a:cs typeface="Times New Roman"/>
              </a:rPr>
              <a:t> </a:t>
            </a:r>
            <a:r>
              <a:rPr sz="2400" dirty="0">
                <a:solidFill>
                  <a:srgbClr val="404040"/>
                </a:solidFill>
                <a:latin typeface="Times New Roman"/>
                <a:cs typeface="Times New Roman"/>
              </a:rPr>
              <a:t>opposite</a:t>
            </a:r>
            <a:r>
              <a:rPr sz="2400" spc="-30" dirty="0">
                <a:solidFill>
                  <a:srgbClr val="404040"/>
                </a:solidFill>
                <a:latin typeface="Times New Roman"/>
                <a:cs typeface="Times New Roman"/>
              </a:rPr>
              <a:t> </a:t>
            </a:r>
            <a:r>
              <a:rPr sz="2400" dirty="0">
                <a:solidFill>
                  <a:srgbClr val="404040"/>
                </a:solidFill>
                <a:latin typeface="Times New Roman"/>
                <a:cs typeface="Times New Roman"/>
              </a:rPr>
              <a:t>reactions</a:t>
            </a:r>
            <a:r>
              <a:rPr sz="2400" spc="-40" dirty="0">
                <a:solidFill>
                  <a:srgbClr val="404040"/>
                </a:solidFill>
                <a:latin typeface="Times New Roman"/>
                <a:cs typeface="Times New Roman"/>
              </a:rPr>
              <a:t> </a:t>
            </a:r>
            <a:r>
              <a:rPr sz="2400" dirty="0">
                <a:solidFill>
                  <a:srgbClr val="404040"/>
                </a:solidFill>
                <a:latin typeface="Times New Roman"/>
                <a:cs typeface="Times New Roman"/>
              </a:rPr>
              <a:t>at</a:t>
            </a:r>
            <a:r>
              <a:rPr sz="2400" spc="-30" dirty="0">
                <a:solidFill>
                  <a:srgbClr val="404040"/>
                </a:solidFill>
                <a:latin typeface="Times New Roman"/>
                <a:cs typeface="Times New Roman"/>
              </a:rPr>
              <a:t> </a:t>
            </a:r>
            <a:r>
              <a:rPr sz="2400" dirty="0">
                <a:solidFill>
                  <a:srgbClr val="404040"/>
                </a:solidFill>
                <a:latin typeface="Times New Roman"/>
                <a:cs typeface="Times New Roman"/>
              </a:rPr>
              <a:t>contact</a:t>
            </a:r>
            <a:r>
              <a:rPr sz="2400" spc="-25" dirty="0">
                <a:solidFill>
                  <a:srgbClr val="404040"/>
                </a:solidFill>
                <a:latin typeface="Times New Roman"/>
                <a:cs typeface="Times New Roman"/>
              </a:rPr>
              <a:t> </a:t>
            </a:r>
            <a:r>
              <a:rPr sz="2400" dirty="0">
                <a:solidFill>
                  <a:srgbClr val="404040"/>
                </a:solidFill>
                <a:latin typeface="Times New Roman"/>
                <a:cs typeface="Times New Roman"/>
              </a:rPr>
              <a:t>point </a:t>
            </a:r>
            <a:r>
              <a:rPr sz="2400" spc="-585" dirty="0">
                <a:solidFill>
                  <a:srgbClr val="404040"/>
                </a:solidFill>
                <a:latin typeface="Times New Roman"/>
                <a:cs typeface="Times New Roman"/>
              </a:rPr>
              <a:t> </a:t>
            </a:r>
            <a:r>
              <a:rPr sz="2400" dirty="0">
                <a:solidFill>
                  <a:srgbClr val="404040"/>
                </a:solidFill>
                <a:latin typeface="Times New Roman"/>
                <a:cs typeface="Times New Roman"/>
              </a:rPr>
              <a:t>between </a:t>
            </a:r>
            <a:r>
              <a:rPr sz="2400" spc="-5" dirty="0">
                <a:solidFill>
                  <a:srgbClr val="404040"/>
                </a:solidFill>
                <a:latin typeface="Times New Roman"/>
                <a:cs typeface="Times New Roman"/>
              </a:rPr>
              <a:t>members, </a:t>
            </a:r>
            <a:r>
              <a:rPr sz="2400" dirty="0">
                <a:solidFill>
                  <a:srgbClr val="404040"/>
                </a:solidFill>
                <a:latin typeface="Times New Roman"/>
                <a:cs typeface="Times New Roman"/>
              </a:rPr>
              <a:t>the </a:t>
            </a:r>
            <a:r>
              <a:rPr sz="2400" spc="-5" dirty="0">
                <a:solidFill>
                  <a:srgbClr val="404040"/>
                </a:solidFill>
                <a:latin typeface="Times New Roman"/>
                <a:cs typeface="Times New Roman"/>
              </a:rPr>
              <a:t>two </a:t>
            </a:r>
            <a:r>
              <a:rPr sz="2400" dirty="0">
                <a:solidFill>
                  <a:srgbClr val="404040"/>
                </a:solidFill>
                <a:latin typeface="Times New Roman"/>
                <a:cs typeface="Times New Roman"/>
              </a:rPr>
              <a:t>free-body </a:t>
            </a:r>
            <a:r>
              <a:rPr sz="2400" spc="-5" dirty="0">
                <a:solidFill>
                  <a:srgbClr val="404040"/>
                </a:solidFill>
                <a:latin typeface="Times New Roman"/>
                <a:cs typeface="Times New Roman"/>
              </a:rPr>
              <a:t>diagrams </a:t>
            </a:r>
            <a:r>
              <a:rPr sz="2400" dirty="0">
                <a:solidFill>
                  <a:srgbClr val="404040"/>
                </a:solidFill>
                <a:latin typeface="Times New Roman"/>
                <a:cs typeface="Times New Roman"/>
              </a:rPr>
              <a:t> indicate</a:t>
            </a:r>
            <a:r>
              <a:rPr sz="2400" spc="-45" dirty="0">
                <a:solidFill>
                  <a:srgbClr val="404040"/>
                </a:solidFill>
                <a:latin typeface="Times New Roman"/>
                <a:cs typeface="Times New Roman"/>
              </a:rPr>
              <a:t> </a:t>
            </a:r>
            <a:r>
              <a:rPr sz="2400" dirty="0">
                <a:solidFill>
                  <a:srgbClr val="404040"/>
                </a:solidFill>
                <a:latin typeface="Times New Roman"/>
                <a:cs typeface="Times New Roman"/>
              </a:rPr>
              <a:t>6 unknown force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components.</a:t>
            </a:r>
            <a:endParaRPr sz="2400" dirty="0">
              <a:latin typeface="Times New Roman"/>
              <a:cs typeface="Times New Roman"/>
            </a:endParaRPr>
          </a:p>
          <a:p>
            <a:pPr marL="355600" indent="-342900">
              <a:lnSpc>
                <a:spcPct val="100000"/>
              </a:lnSpc>
              <a:buClr>
                <a:srgbClr val="A42F0F"/>
              </a:buClr>
              <a:buFont typeface="Wingdings"/>
              <a:buChar char=""/>
              <a:tabLst>
                <a:tab pos="355600" algn="l"/>
              </a:tabLst>
            </a:pPr>
            <a:r>
              <a:rPr sz="2400" dirty="0">
                <a:solidFill>
                  <a:srgbClr val="404040"/>
                </a:solidFill>
                <a:latin typeface="Times New Roman"/>
                <a:cs typeface="Times New Roman"/>
              </a:rPr>
              <a:t>Equilibrium</a:t>
            </a:r>
            <a:r>
              <a:rPr sz="2400" spc="-35" dirty="0">
                <a:solidFill>
                  <a:srgbClr val="404040"/>
                </a:solidFill>
                <a:latin typeface="Times New Roman"/>
                <a:cs typeface="Times New Roman"/>
              </a:rPr>
              <a:t> </a:t>
            </a:r>
            <a:r>
              <a:rPr sz="2400" spc="-5" dirty="0">
                <a:solidFill>
                  <a:srgbClr val="404040"/>
                </a:solidFill>
                <a:latin typeface="Times New Roman"/>
                <a:cs typeface="Times New Roman"/>
              </a:rPr>
              <a:t>requirements</a:t>
            </a:r>
            <a:r>
              <a:rPr sz="2400" spc="-30" dirty="0">
                <a:solidFill>
                  <a:srgbClr val="404040"/>
                </a:solidFill>
                <a:latin typeface="Times New Roman"/>
                <a:cs typeface="Times New Roman"/>
              </a:rPr>
              <a:t> </a:t>
            </a:r>
            <a:r>
              <a:rPr sz="2400" spc="-5" dirty="0">
                <a:solidFill>
                  <a:srgbClr val="404040"/>
                </a:solidFill>
                <a:latin typeface="Times New Roman"/>
                <a:cs typeface="Times New Roman"/>
              </a:rPr>
              <a:t>for</a:t>
            </a:r>
            <a:r>
              <a:rPr sz="2400" spc="15" dirty="0">
                <a:solidFill>
                  <a:srgbClr val="404040"/>
                </a:solidFill>
                <a:latin typeface="Times New Roman"/>
                <a:cs typeface="Times New Roman"/>
              </a:rPr>
              <a:t> </a:t>
            </a:r>
            <a:r>
              <a:rPr sz="2400" dirty="0">
                <a:solidFill>
                  <a:srgbClr val="404040"/>
                </a:solidFill>
                <a:latin typeface="Times New Roman"/>
                <a:cs typeface="Times New Roman"/>
              </a:rPr>
              <a:t>the</a:t>
            </a:r>
            <a:r>
              <a:rPr sz="2400" spc="-20" dirty="0">
                <a:solidFill>
                  <a:srgbClr val="404040"/>
                </a:solidFill>
                <a:latin typeface="Times New Roman"/>
                <a:cs typeface="Times New Roman"/>
              </a:rPr>
              <a:t> </a:t>
            </a:r>
            <a:r>
              <a:rPr sz="2400" dirty="0">
                <a:solidFill>
                  <a:srgbClr val="404040"/>
                </a:solidFill>
                <a:latin typeface="Times New Roman"/>
                <a:cs typeface="Times New Roman"/>
              </a:rPr>
              <a:t>two</a:t>
            </a:r>
            <a:r>
              <a:rPr sz="2400" spc="-5" dirty="0">
                <a:solidFill>
                  <a:srgbClr val="404040"/>
                </a:solidFill>
                <a:latin typeface="Times New Roman"/>
                <a:cs typeface="Times New Roman"/>
              </a:rPr>
              <a:t> </a:t>
            </a:r>
            <a:r>
              <a:rPr sz="2400" dirty="0">
                <a:solidFill>
                  <a:srgbClr val="404040"/>
                </a:solidFill>
                <a:latin typeface="Times New Roman"/>
                <a:cs typeface="Times New Roman"/>
              </a:rPr>
              <a:t>rigid</a:t>
            </a:r>
            <a:r>
              <a:rPr sz="2400" spc="-20" dirty="0">
                <a:solidFill>
                  <a:srgbClr val="404040"/>
                </a:solidFill>
                <a:latin typeface="Times New Roman"/>
                <a:cs typeface="Times New Roman"/>
              </a:rPr>
              <a:t> </a:t>
            </a:r>
            <a:r>
              <a:rPr sz="2400" dirty="0">
                <a:solidFill>
                  <a:srgbClr val="404040"/>
                </a:solidFill>
                <a:latin typeface="Times New Roman"/>
                <a:cs typeface="Times New Roman"/>
              </a:rPr>
              <a:t>bodies</a:t>
            </a:r>
            <a:r>
              <a:rPr sz="2400" spc="-10" dirty="0">
                <a:solidFill>
                  <a:srgbClr val="404040"/>
                </a:solidFill>
                <a:latin typeface="Times New Roman"/>
                <a:cs typeface="Times New Roman"/>
              </a:rPr>
              <a:t> </a:t>
            </a:r>
            <a:r>
              <a:rPr sz="2400" dirty="0">
                <a:solidFill>
                  <a:srgbClr val="404040"/>
                </a:solidFill>
                <a:latin typeface="Times New Roman"/>
                <a:cs typeface="Times New Roman"/>
              </a:rPr>
              <a:t>yield</a:t>
            </a:r>
            <a:r>
              <a:rPr sz="2400" spc="-25" dirty="0">
                <a:solidFill>
                  <a:srgbClr val="404040"/>
                </a:solidFill>
                <a:latin typeface="Times New Roman"/>
                <a:cs typeface="Times New Roman"/>
              </a:rPr>
              <a:t> </a:t>
            </a:r>
            <a:r>
              <a:rPr sz="2400" dirty="0">
                <a:solidFill>
                  <a:srgbClr val="404040"/>
                </a:solidFill>
                <a:latin typeface="Times New Roman"/>
                <a:cs typeface="Times New Roman"/>
              </a:rPr>
              <a:t>6</a:t>
            </a:r>
            <a:endParaRPr sz="2400" dirty="0">
              <a:latin typeface="Times New Roman"/>
              <a:cs typeface="Times New Roman"/>
            </a:endParaRPr>
          </a:p>
          <a:p>
            <a:pPr marL="393700">
              <a:lnSpc>
                <a:spcPct val="100000"/>
              </a:lnSpc>
            </a:pPr>
            <a:r>
              <a:rPr sz="2400" dirty="0">
                <a:solidFill>
                  <a:srgbClr val="404040"/>
                </a:solidFill>
                <a:latin typeface="Times New Roman"/>
                <a:cs typeface="Times New Roman"/>
              </a:rPr>
              <a:t>independent</a:t>
            </a:r>
            <a:r>
              <a:rPr sz="2400" spc="-65" dirty="0">
                <a:solidFill>
                  <a:srgbClr val="404040"/>
                </a:solidFill>
                <a:latin typeface="Times New Roman"/>
                <a:cs typeface="Times New Roman"/>
              </a:rPr>
              <a:t> </a:t>
            </a:r>
            <a:r>
              <a:rPr sz="2400" dirty="0">
                <a:solidFill>
                  <a:srgbClr val="404040"/>
                </a:solidFill>
                <a:latin typeface="Times New Roman"/>
                <a:cs typeface="Times New Roman"/>
              </a:rPr>
              <a:t>equations.</a:t>
            </a:r>
            <a:endParaRPr sz="2400" dirty="0">
              <a:latin typeface="Times New Roman"/>
              <a:cs typeface="Times New Roman"/>
            </a:endParaRPr>
          </a:p>
        </p:txBody>
      </p:sp>
      <p:pic>
        <p:nvPicPr>
          <p:cNvPr id="8" name="object 5">
            <a:extLst>
              <a:ext uri="{FF2B5EF4-FFF2-40B4-BE49-F238E27FC236}">
                <a16:creationId xmlns:a16="http://schemas.microsoft.com/office/drawing/2014/main" id="{140A5D57-81FF-26FB-58F9-CEAE48075B6A}"/>
              </a:ext>
            </a:extLst>
          </p:cNvPr>
          <p:cNvPicPr/>
          <p:nvPr/>
        </p:nvPicPr>
        <p:blipFill>
          <a:blip r:embed="rId2" cstate="print"/>
          <a:stretch>
            <a:fillRect/>
          </a:stretch>
        </p:blipFill>
        <p:spPr>
          <a:xfrm>
            <a:off x="9552432" y="1606397"/>
            <a:ext cx="2639568" cy="1359408"/>
          </a:xfrm>
          <a:prstGeom prst="rect">
            <a:avLst/>
          </a:prstGeom>
        </p:spPr>
      </p:pic>
      <p:pic>
        <p:nvPicPr>
          <p:cNvPr id="10" name="object 6">
            <a:extLst>
              <a:ext uri="{FF2B5EF4-FFF2-40B4-BE49-F238E27FC236}">
                <a16:creationId xmlns:a16="http://schemas.microsoft.com/office/drawing/2014/main" id="{9EE045D6-E972-37E3-3C2F-BE8B92AFBB73}"/>
              </a:ext>
            </a:extLst>
          </p:cNvPr>
          <p:cNvPicPr/>
          <p:nvPr/>
        </p:nvPicPr>
        <p:blipFill>
          <a:blip r:embed="rId3" cstate="print"/>
          <a:stretch>
            <a:fillRect/>
          </a:stretch>
        </p:blipFill>
        <p:spPr>
          <a:xfrm>
            <a:off x="9552432" y="3252317"/>
            <a:ext cx="2639568" cy="1437131"/>
          </a:xfrm>
          <a:prstGeom prst="rect">
            <a:avLst/>
          </a:prstGeom>
        </p:spPr>
      </p:pic>
      <p:pic>
        <p:nvPicPr>
          <p:cNvPr id="11" name="object 7">
            <a:extLst>
              <a:ext uri="{FF2B5EF4-FFF2-40B4-BE49-F238E27FC236}">
                <a16:creationId xmlns:a16="http://schemas.microsoft.com/office/drawing/2014/main" id="{898E188F-216C-5CB1-B6AF-59537DF21CE5}"/>
              </a:ext>
            </a:extLst>
          </p:cNvPr>
          <p:cNvPicPr/>
          <p:nvPr/>
        </p:nvPicPr>
        <p:blipFill>
          <a:blip r:embed="rId4" cstate="print"/>
          <a:stretch>
            <a:fillRect/>
          </a:stretch>
        </p:blipFill>
        <p:spPr>
          <a:xfrm>
            <a:off x="9552432" y="4797653"/>
            <a:ext cx="2639568" cy="1501140"/>
          </a:xfrm>
          <a:prstGeom prst="rect">
            <a:avLst/>
          </a:prstGeom>
        </p:spPr>
      </p:pic>
    </p:spTree>
    <p:extLst>
      <p:ext uri="{BB962C8B-B14F-4D97-AF65-F5344CB8AC3E}">
        <p14:creationId xmlns:p14="http://schemas.microsoft.com/office/powerpoint/2010/main" val="1064297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5" name="object 3">
            <a:extLst>
              <a:ext uri="{FF2B5EF4-FFF2-40B4-BE49-F238E27FC236}">
                <a16:creationId xmlns:a16="http://schemas.microsoft.com/office/drawing/2014/main" id="{AA7FCCFB-0CDE-A4BD-F7C2-74A006896B02}"/>
              </a:ext>
            </a:extLst>
          </p:cNvPr>
          <p:cNvSpPr txBox="1">
            <a:spLocks/>
          </p:cNvSpPr>
          <p:nvPr/>
        </p:nvSpPr>
        <p:spPr>
          <a:xfrm>
            <a:off x="1682161" y="190043"/>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pic>
        <p:nvPicPr>
          <p:cNvPr id="7" name="Picture 6" descr="A diagram of a mechanical mechanism&#10;&#10;Description automatically generated">
            <a:extLst>
              <a:ext uri="{FF2B5EF4-FFF2-40B4-BE49-F238E27FC236}">
                <a16:creationId xmlns:a16="http://schemas.microsoft.com/office/drawing/2014/main" id="{4CE60C45-4F4D-4173-E3B6-07D6F550581A}"/>
              </a:ext>
            </a:extLst>
          </p:cNvPr>
          <p:cNvPicPr>
            <a:picLocks noChangeAspect="1"/>
          </p:cNvPicPr>
          <p:nvPr/>
        </p:nvPicPr>
        <p:blipFill>
          <a:blip r:embed="rId2">
            <a:clrChange>
              <a:clrFrom>
                <a:srgbClr val="DFE7F2"/>
              </a:clrFrom>
              <a:clrTo>
                <a:srgbClr val="DFE7F2">
                  <a:alpha val="0"/>
                </a:srgbClr>
              </a:clrTo>
            </a:clrChange>
            <a:extLst>
              <a:ext uri="{28A0092B-C50C-407E-A947-70E740481C1C}">
                <a14:useLocalDpi xmlns:a14="http://schemas.microsoft.com/office/drawing/2010/main" val="0"/>
              </a:ext>
            </a:extLst>
          </a:blip>
          <a:stretch>
            <a:fillRect/>
          </a:stretch>
        </p:blipFill>
        <p:spPr>
          <a:xfrm>
            <a:off x="4419601" y="2973285"/>
            <a:ext cx="4671597" cy="3884715"/>
          </a:xfrm>
          <a:prstGeom prst="rect">
            <a:avLst/>
          </a:prstGeom>
        </p:spPr>
      </p:pic>
      <p:sp>
        <p:nvSpPr>
          <p:cNvPr id="8" name="object 3">
            <a:extLst>
              <a:ext uri="{FF2B5EF4-FFF2-40B4-BE49-F238E27FC236}">
                <a16:creationId xmlns:a16="http://schemas.microsoft.com/office/drawing/2014/main" id="{E625AE6A-C589-C891-9F48-BAEBA3634D20}"/>
              </a:ext>
            </a:extLst>
          </p:cNvPr>
          <p:cNvSpPr txBox="1"/>
          <p:nvPr/>
        </p:nvSpPr>
        <p:spPr>
          <a:xfrm>
            <a:off x="1499191" y="760363"/>
            <a:ext cx="9664995" cy="1177887"/>
          </a:xfrm>
          <a:prstGeom prst="rect">
            <a:avLst/>
          </a:prstGeom>
        </p:spPr>
        <p:txBody>
          <a:bodyPr vert="horz" wrap="square" lIns="0" tIns="13335" rIns="0" bIns="0" rtlCol="0">
            <a:spAutoFit/>
          </a:bodyPr>
          <a:lstStyle/>
          <a:p>
            <a:pPr marL="355600" indent="-342900">
              <a:lnSpc>
                <a:spcPct val="100000"/>
              </a:lnSpc>
              <a:spcBef>
                <a:spcPts val="105"/>
              </a:spcBef>
              <a:buClr>
                <a:srgbClr val="A42F0F"/>
              </a:buClr>
              <a:buFont typeface="Wingdings"/>
              <a:buChar char=""/>
              <a:tabLst>
                <a:tab pos="355600" algn="l"/>
              </a:tabLst>
            </a:pPr>
            <a:r>
              <a:rPr lang="en-US" sz="2600" b="1" spc="-5" dirty="0">
                <a:solidFill>
                  <a:srgbClr val="00AF50"/>
                </a:solidFill>
                <a:latin typeface="Times New Roman"/>
                <a:cs typeface="Times New Roman"/>
              </a:rPr>
              <a:t>Practice </a:t>
            </a:r>
            <a:r>
              <a:rPr sz="2600" b="1" spc="-5" dirty="0">
                <a:solidFill>
                  <a:srgbClr val="00AF50"/>
                </a:solidFill>
                <a:latin typeface="Times New Roman"/>
                <a:cs typeface="Times New Roman"/>
              </a:rPr>
              <a:t>Problem:</a:t>
            </a:r>
            <a:endParaRPr lang="en-US" sz="2600" b="1" dirty="0">
              <a:latin typeface="Times New Roman"/>
              <a:cs typeface="Times New Roman"/>
            </a:endParaRPr>
          </a:p>
          <a:p>
            <a:pPr marL="12700">
              <a:lnSpc>
                <a:spcPct val="100000"/>
              </a:lnSpc>
              <a:spcBef>
                <a:spcPts val="105"/>
              </a:spcBef>
              <a:buClr>
                <a:srgbClr val="A42F0F"/>
              </a:buClr>
              <a:tabLst>
                <a:tab pos="355600" algn="l"/>
              </a:tabLst>
            </a:pPr>
            <a:r>
              <a:rPr lang="en-US" sz="2400" spc="-5" dirty="0">
                <a:solidFill>
                  <a:srgbClr val="404040"/>
                </a:solidFill>
                <a:latin typeface="Times New Roman"/>
                <a:cs typeface="Times New Roman"/>
              </a:rPr>
              <a:t>	</a:t>
            </a:r>
            <a:r>
              <a:rPr sz="2400" spc="-5" dirty="0">
                <a:solidFill>
                  <a:srgbClr val="404040"/>
                </a:solidFill>
                <a:latin typeface="Times New Roman"/>
                <a:cs typeface="Times New Roman"/>
              </a:rPr>
              <a:t>Knowing</a:t>
            </a:r>
            <a:r>
              <a:rPr sz="2400" spc="10" dirty="0">
                <a:solidFill>
                  <a:srgbClr val="404040"/>
                </a:solidFill>
                <a:latin typeface="Times New Roman"/>
                <a:cs typeface="Times New Roman"/>
              </a:rPr>
              <a:t> </a:t>
            </a:r>
            <a:r>
              <a:rPr sz="2400" dirty="0">
                <a:solidFill>
                  <a:srgbClr val="404040"/>
                </a:solidFill>
                <a:latin typeface="Times New Roman"/>
                <a:cs typeface="Times New Roman"/>
              </a:rPr>
              <a:t>that</a:t>
            </a:r>
            <a:r>
              <a:rPr sz="2400" spc="-15" dirty="0">
                <a:solidFill>
                  <a:srgbClr val="404040"/>
                </a:solidFill>
                <a:latin typeface="Times New Roman"/>
                <a:cs typeface="Times New Roman"/>
              </a:rPr>
              <a:t> </a:t>
            </a:r>
            <a:r>
              <a:rPr sz="2400" dirty="0">
                <a:solidFill>
                  <a:srgbClr val="404040"/>
                </a:solidFill>
                <a:latin typeface="Times New Roman"/>
                <a:cs typeface="Times New Roman"/>
              </a:rPr>
              <a:t>the</a:t>
            </a:r>
            <a:r>
              <a:rPr sz="2400" spc="-5" dirty="0">
                <a:solidFill>
                  <a:srgbClr val="404040"/>
                </a:solidFill>
                <a:latin typeface="Times New Roman"/>
                <a:cs typeface="Times New Roman"/>
              </a:rPr>
              <a:t> </a:t>
            </a:r>
            <a:r>
              <a:rPr sz="2400" dirty="0">
                <a:solidFill>
                  <a:srgbClr val="404040"/>
                </a:solidFill>
                <a:latin typeface="Times New Roman"/>
                <a:cs typeface="Times New Roman"/>
              </a:rPr>
              <a:t>pulley</a:t>
            </a:r>
            <a:r>
              <a:rPr sz="2400" spc="-35" dirty="0">
                <a:solidFill>
                  <a:srgbClr val="404040"/>
                </a:solidFill>
                <a:latin typeface="Times New Roman"/>
                <a:cs typeface="Times New Roman"/>
              </a:rPr>
              <a:t> </a:t>
            </a:r>
            <a:r>
              <a:rPr sz="2400" dirty="0">
                <a:solidFill>
                  <a:srgbClr val="404040"/>
                </a:solidFill>
                <a:latin typeface="Times New Roman"/>
                <a:cs typeface="Times New Roman"/>
              </a:rPr>
              <a:t>has</a:t>
            </a:r>
            <a:r>
              <a:rPr sz="2400" spc="5" dirty="0">
                <a:solidFill>
                  <a:srgbClr val="404040"/>
                </a:solidFill>
                <a:latin typeface="Times New Roman"/>
                <a:cs typeface="Times New Roman"/>
              </a:rPr>
              <a:t> </a:t>
            </a:r>
            <a:r>
              <a:rPr sz="2400" dirty="0">
                <a:solidFill>
                  <a:srgbClr val="404040"/>
                </a:solidFill>
                <a:latin typeface="Times New Roman"/>
                <a:cs typeface="Times New Roman"/>
              </a:rPr>
              <a:t>a</a:t>
            </a:r>
            <a:r>
              <a:rPr sz="2400" spc="5" dirty="0">
                <a:solidFill>
                  <a:srgbClr val="404040"/>
                </a:solidFill>
                <a:latin typeface="Times New Roman"/>
                <a:cs typeface="Times New Roman"/>
              </a:rPr>
              <a:t> </a:t>
            </a:r>
            <a:r>
              <a:rPr sz="2400" dirty="0">
                <a:solidFill>
                  <a:srgbClr val="404040"/>
                </a:solidFill>
                <a:latin typeface="Times New Roman"/>
                <a:cs typeface="Times New Roman"/>
              </a:rPr>
              <a:t>radius</a:t>
            </a:r>
            <a:r>
              <a:rPr sz="2400" spc="-25" dirty="0">
                <a:solidFill>
                  <a:srgbClr val="404040"/>
                </a:solidFill>
                <a:latin typeface="Times New Roman"/>
                <a:cs typeface="Times New Roman"/>
              </a:rPr>
              <a:t> </a:t>
            </a:r>
            <a:r>
              <a:rPr sz="2400" dirty="0">
                <a:solidFill>
                  <a:srgbClr val="404040"/>
                </a:solidFill>
                <a:latin typeface="Times New Roman"/>
                <a:cs typeface="Times New Roman"/>
              </a:rPr>
              <a:t>of</a:t>
            </a:r>
            <a:r>
              <a:rPr sz="2400" spc="5" dirty="0">
                <a:solidFill>
                  <a:srgbClr val="404040"/>
                </a:solidFill>
                <a:latin typeface="Times New Roman"/>
                <a:cs typeface="Times New Roman"/>
              </a:rPr>
              <a:t> </a:t>
            </a:r>
            <a:r>
              <a:rPr sz="2400" dirty="0">
                <a:solidFill>
                  <a:srgbClr val="404040"/>
                </a:solidFill>
                <a:latin typeface="Times New Roman"/>
                <a:cs typeface="Times New Roman"/>
              </a:rPr>
              <a:t>75</a:t>
            </a:r>
            <a:r>
              <a:rPr sz="2400" spc="5" dirty="0">
                <a:solidFill>
                  <a:srgbClr val="404040"/>
                </a:solidFill>
                <a:latin typeface="Times New Roman"/>
                <a:cs typeface="Times New Roman"/>
              </a:rPr>
              <a:t> </a:t>
            </a:r>
            <a:r>
              <a:rPr sz="2400" spc="-20" dirty="0">
                <a:solidFill>
                  <a:srgbClr val="404040"/>
                </a:solidFill>
                <a:latin typeface="Times New Roman"/>
                <a:cs typeface="Times New Roman"/>
              </a:rPr>
              <a:t>mm,</a:t>
            </a:r>
            <a:r>
              <a:rPr sz="2400" spc="15" dirty="0">
                <a:solidFill>
                  <a:srgbClr val="404040"/>
                </a:solidFill>
                <a:latin typeface="Times New Roman"/>
                <a:cs typeface="Times New Roman"/>
              </a:rPr>
              <a:t> </a:t>
            </a:r>
            <a:r>
              <a:rPr sz="2400" spc="-5" dirty="0">
                <a:solidFill>
                  <a:srgbClr val="404040"/>
                </a:solidFill>
                <a:latin typeface="Times New Roman"/>
                <a:cs typeface="Times New Roman"/>
              </a:rPr>
              <a:t>determine</a:t>
            </a:r>
            <a:r>
              <a:rPr sz="2400" spc="-15" dirty="0">
                <a:solidFill>
                  <a:srgbClr val="404040"/>
                </a:solidFill>
                <a:latin typeface="Times New Roman"/>
                <a:cs typeface="Times New Roman"/>
              </a:rPr>
              <a:t> </a:t>
            </a:r>
            <a:r>
              <a:rPr sz="2400" dirty="0">
                <a:solidFill>
                  <a:srgbClr val="404040"/>
                </a:solidFill>
                <a:latin typeface="Times New Roman"/>
                <a:cs typeface="Times New Roman"/>
              </a:rPr>
              <a:t>the</a:t>
            </a:r>
            <a:r>
              <a:rPr sz="2400" spc="-5" dirty="0">
                <a:solidFill>
                  <a:srgbClr val="404040"/>
                </a:solidFill>
                <a:latin typeface="Times New Roman"/>
                <a:cs typeface="Times New Roman"/>
              </a:rPr>
              <a:t> components</a:t>
            </a:r>
            <a:r>
              <a:rPr sz="2400" dirty="0">
                <a:solidFill>
                  <a:srgbClr val="404040"/>
                </a:solidFill>
                <a:latin typeface="Times New Roman"/>
                <a:cs typeface="Times New Roman"/>
              </a:rPr>
              <a:t> </a:t>
            </a:r>
            <a:r>
              <a:rPr lang="en-US" sz="2400" dirty="0">
                <a:solidFill>
                  <a:srgbClr val="404040"/>
                </a:solidFill>
                <a:latin typeface="Times New Roman"/>
                <a:cs typeface="Times New Roman"/>
              </a:rPr>
              <a:t>   </a:t>
            </a:r>
          </a:p>
          <a:p>
            <a:pPr marL="12700">
              <a:lnSpc>
                <a:spcPct val="100000"/>
              </a:lnSpc>
              <a:spcBef>
                <a:spcPts val="105"/>
              </a:spcBef>
              <a:buClr>
                <a:srgbClr val="A42F0F"/>
              </a:buClr>
              <a:tabLst>
                <a:tab pos="355600" algn="l"/>
              </a:tabLst>
            </a:pPr>
            <a:r>
              <a:rPr lang="en-US" sz="2400" dirty="0">
                <a:solidFill>
                  <a:srgbClr val="404040"/>
                </a:solidFill>
                <a:latin typeface="Times New Roman"/>
                <a:cs typeface="Times New Roman"/>
              </a:rPr>
              <a:t>     </a:t>
            </a:r>
            <a:r>
              <a:rPr sz="2400" dirty="0">
                <a:solidFill>
                  <a:srgbClr val="404040"/>
                </a:solidFill>
                <a:latin typeface="Times New Roman"/>
                <a:cs typeface="Times New Roman"/>
              </a:rPr>
              <a:t>of</a:t>
            </a:r>
            <a:r>
              <a:rPr lang="en-US" sz="2400" dirty="0">
                <a:latin typeface="Times New Roman"/>
                <a:cs typeface="Times New Roman"/>
              </a:rPr>
              <a:t> </a:t>
            </a:r>
            <a:r>
              <a:rPr sz="2400" dirty="0">
                <a:solidFill>
                  <a:srgbClr val="404040"/>
                </a:solidFill>
                <a:latin typeface="Times New Roman"/>
                <a:cs typeface="Times New Roman"/>
              </a:rPr>
              <a:t>the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reactions</a:t>
            </a:r>
            <a:r>
              <a:rPr sz="2400" spc="-35" dirty="0">
                <a:solidFill>
                  <a:srgbClr val="404040"/>
                </a:solidFill>
                <a:latin typeface="Times New Roman"/>
                <a:cs typeface="Times New Roman"/>
              </a:rPr>
              <a:t> </a:t>
            </a:r>
            <a:r>
              <a:rPr sz="2400" dirty="0">
                <a:solidFill>
                  <a:srgbClr val="404040"/>
                </a:solidFill>
                <a:latin typeface="Times New Roman"/>
                <a:cs typeface="Times New Roman"/>
              </a:rPr>
              <a:t>at</a:t>
            </a:r>
            <a:r>
              <a:rPr sz="2400" spc="-20" dirty="0">
                <a:solidFill>
                  <a:srgbClr val="404040"/>
                </a:solidFill>
                <a:latin typeface="Times New Roman"/>
                <a:cs typeface="Times New Roman"/>
              </a:rPr>
              <a:t> </a:t>
            </a:r>
            <a:r>
              <a:rPr sz="2400" i="1" dirty="0">
                <a:solidFill>
                  <a:srgbClr val="404040"/>
                </a:solidFill>
                <a:latin typeface="Times New Roman"/>
                <a:cs typeface="Times New Roman"/>
              </a:rPr>
              <a:t>A</a:t>
            </a:r>
            <a:r>
              <a:rPr sz="2400" i="1" spc="-15" dirty="0">
                <a:solidFill>
                  <a:srgbClr val="404040"/>
                </a:solidFill>
                <a:latin typeface="Times New Roman"/>
                <a:cs typeface="Times New Roman"/>
              </a:rPr>
              <a:t> </a:t>
            </a:r>
            <a:r>
              <a:rPr sz="2400" dirty="0">
                <a:solidFill>
                  <a:srgbClr val="404040"/>
                </a:solidFill>
                <a:latin typeface="Times New Roman"/>
                <a:cs typeface="Times New Roman"/>
              </a:rPr>
              <a:t>and</a:t>
            </a:r>
            <a:r>
              <a:rPr sz="2400" spc="-10" dirty="0">
                <a:solidFill>
                  <a:srgbClr val="404040"/>
                </a:solidFill>
                <a:latin typeface="Times New Roman"/>
                <a:cs typeface="Times New Roman"/>
              </a:rPr>
              <a:t> </a:t>
            </a:r>
            <a:r>
              <a:rPr sz="2400" i="1" spc="-5" dirty="0">
                <a:solidFill>
                  <a:srgbClr val="404040"/>
                </a:solidFill>
                <a:latin typeface="Times New Roman"/>
                <a:cs typeface="Times New Roman"/>
              </a:rPr>
              <a:t>B.</a:t>
            </a:r>
            <a:endParaRPr sz="2400" dirty="0">
              <a:latin typeface="Times New Roman"/>
              <a:cs typeface="Times New Roman"/>
            </a:endParaRPr>
          </a:p>
        </p:txBody>
      </p:sp>
    </p:spTree>
    <p:extLst>
      <p:ext uri="{BB962C8B-B14F-4D97-AF65-F5344CB8AC3E}">
        <p14:creationId xmlns:p14="http://schemas.microsoft.com/office/powerpoint/2010/main" val="4066329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1341283" cy="6858000"/>
            <a:chOff x="0" y="0"/>
            <a:chExt cx="529889" cy="2709333"/>
          </a:xfrm>
        </p:grpSpPr>
        <p:sp>
          <p:nvSpPr>
            <p:cNvPr id="3" name="Freeform 3"/>
            <p:cNvSpPr/>
            <p:nvPr/>
          </p:nvSpPr>
          <p:spPr>
            <a:xfrm>
              <a:off x="0" y="0"/>
              <a:ext cx="529889" cy="2709333"/>
            </a:xfrm>
            <a:custGeom>
              <a:avLst/>
              <a:gdLst/>
              <a:ahLst/>
              <a:cxnLst/>
              <a:rect l="l" t="t" r="r" b="b"/>
              <a:pathLst>
                <a:path w="529889" h="2709333">
                  <a:moveTo>
                    <a:pt x="0" y="0"/>
                  </a:moveTo>
                  <a:lnTo>
                    <a:pt x="529889" y="0"/>
                  </a:lnTo>
                  <a:lnTo>
                    <a:pt x="529889" y="2709333"/>
                  </a:lnTo>
                  <a:lnTo>
                    <a:pt x="0" y="2709333"/>
                  </a:lnTo>
                  <a:close/>
                </a:path>
              </a:pathLst>
            </a:custGeom>
            <a:solidFill>
              <a:schemeClr val="bg1">
                <a:lumMod val="85000"/>
              </a:schemeClr>
            </a:solidFill>
            <a:ln>
              <a:solidFill>
                <a:schemeClr val="accent3">
                  <a:lumMod val="20000"/>
                  <a:lumOff val="80000"/>
                </a:schemeClr>
              </a:solidFill>
            </a:ln>
          </p:spPr>
        </p:sp>
        <p:sp>
          <p:nvSpPr>
            <p:cNvPr id="4" name="TextBox 4"/>
            <p:cNvSpPr txBox="1"/>
            <p:nvPr/>
          </p:nvSpPr>
          <p:spPr>
            <a:xfrm>
              <a:off x="0" y="-38100"/>
              <a:ext cx="812800" cy="850900"/>
            </a:xfrm>
            <a:prstGeom prst="rect">
              <a:avLst/>
            </a:prstGeom>
            <a:ln>
              <a:solidFill>
                <a:schemeClr val="accent3">
                  <a:lumMod val="20000"/>
                  <a:lumOff val="80000"/>
                </a:schemeClr>
              </a:solidFill>
            </a:ln>
          </p:spPr>
          <p:txBody>
            <a:bodyPr lIns="33867" tIns="33867" rIns="33867" bIns="33867" rtlCol="0" anchor="ctr"/>
            <a:lstStyle/>
            <a:p>
              <a:pPr algn="ctr">
                <a:lnSpc>
                  <a:spcPts val="1867"/>
                </a:lnSpc>
              </a:pPr>
              <a:endParaRPr sz="800"/>
            </a:p>
          </p:txBody>
        </p:sp>
      </p:grpSp>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5" name="object 3">
            <a:extLst>
              <a:ext uri="{FF2B5EF4-FFF2-40B4-BE49-F238E27FC236}">
                <a16:creationId xmlns:a16="http://schemas.microsoft.com/office/drawing/2014/main" id="{AA7FCCFB-0CDE-A4BD-F7C2-74A006896B02}"/>
              </a:ext>
            </a:extLst>
          </p:cNvPr>
          <p:cNvSpPr txBox="1">
            <a:spLocks/>
          </p:cNvSpPr>
          <p:nvPr/>
        </p:nvSpPr>
        <p:spPr>
          <a:xfrm>
            <a:off x="1768983" y="162198"/>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pic>
        <p:nvPicPr>
          <p:cNvPr id="7" name="Picture 6" descr="A diagram of a metal frame with a number of angles&#10;&#10;Description automatically generated with medium confidence">
            <a:extLst>
              <a:ext uri="{FF2B5EF4-FFF2-40B4-BE49-F238E27FC236}">
                <a16:creationId xmlns:a16="http://schemas.microsoft.com/office/drawing/2014/main" id="{0ABFFFC1-7611-DFD7-60FB-79CE538E8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4911" y="2782390"/>
            <a:ext cx="2845053" cy="4036419"/>
          </a:xfrm>
          <a:prstGeom prst="rect">
            <a:avLst/>
          </a:prstGeom>
        </p:spPr>
      </p:pic>
      <p:sp>
        <p:nvSpPr>
          <p:cNvPr id="8" name="object 3">
            <a:extLst>
              <a:ext uri="{FF2B5EF4-FFF2-40B4-BE49-F238E27FC236}">
                <a16:creationId xmlns:a16="http://schemas.microsoft.com/office/drawing/2014/main" id="{58850942-7F66-8D01-E2ED-8DFF6DFE1741}"/>
              </a:ext>
            </a:extLst>
          </p:cNvPr>
          <p:cNvSpPr txBox="1"/>
          <p:nvPr/>
        </p:nvSpPr>
        <p:spPr>
          <a:xfrm>
            <a:off x="1549616" y="634012"/>
            <a:ext cx="10055860" cy="1156335"/>
          </a:xfrm>
          <a:prstGeom prst="rect">
            <a:avLst/>
          </a:prstGeom>
        </p:spPr>
        <p:txBody>
          <a:bodyPr vert="horz" wrap="square" lIns="0" tIns="13335" rIns="0" bIns="0" rtlCol="0">
            <a:spAutoFit/>
          </a:bodyPr>
          <a:lstStyle/>
          <a:p>
            <a:pPr marL="355600" indent="-342900">
              <a:lnSpc>
                <a:spcPct val="100000"/>
              </a:lnSpc>
              <a:spcBef>
                <a:spcPts val="105"/>
              </a:spcBef>
              <a:buClr>
                <a:srgbClr val="A42F0F"/>
              </a:buClr>
              <a:buFont typeface="Wingdings"/>
              <a:buChar char=""/>
              <a:tabLst>
                <a:tab pos="355600" algn="l"/>
              </a:tabLst>
            </a:pPr>
            <a:r>
              <a:rPr sz="2600" b="1" spc="-5" dirty="0">
                <a:solidFill>
                  <a:srgbClr val="00AF50"/>
                </a:solidFill>
                <a:latin typeface="Times New Roman"/>
                <a:cs typeface="Times New Roman"/>
              </a:rPr>
              <a:t>Problem:</a:t>
            </a:r>
            <a:endParaRPr sz="2600" dirty="0">
              <a:latin typeface="Times New Roman"/>
              <a:cs typeface="Times New Roman"/>
            </a:endParaRPr>
          </a:p>
          <a:p>
            <a:pPr marL="469900" marR="5080">
              <a:lnSpc>
                <a:spcPts val="2890"/>
              </a:lnSpc>
              <a:spcBef>
                <a:spcPts val="95"/>
              </a:spcBef>
            </a:pPr>
            <a:r>
              <a:rPr sz="2400" spc="-5" dirty="0">
                <a:solidFill>
                  <a:srgbClr val="404040"/>
                </a:solidFill>
                <a:latin typeface="Times New Roman"/>
                <a:cs typeface="Times New Roman"/>
              </a:rPr>
              <a:t>For</a:t>
            </a:r>
            <a:r>
              <a:rPr sz="2400" dirty="0">
                <a:solidFill>
                  <a:srgbClr val="404040"/>
                </a:solidFill>
                <a:latin typeface="Times New Roman"/>
                <a:cs typeface="Times New Roman"/>
              </a:rPr>
              <a:t> the</a:t>
            </a:r>
            <a:r>
              <a:rPr sz="2400" spc="-10" dirty="0">
                <a:solidFill>
                  <a:srgbClr val="404040"/>
                </a:solidFill>
                <a:latin typeface="Times New Roman"/>
                <a:cs typeface="Times New Roman"/>
              </a:rPr>
              <a:t> </a:t>
            </a:r>
            <a:r>
              <a:rPr sz="2400" spc="-5" dirty="0">
                <a:solidFill>
                  <a:srgbClr val="404040"/>
                </a:solidFill>
                <a:latin typeface="Times New Roman"/>
                <a:cs typeface="Times New Roman"/>
              </a:rPr>
              <a:t>frame</a:t>
            </a:r>
            <a:r>
              <a:rPr sz="2400" spc="15" dirty="0">
                <a:solidFill>
                  <a:srgbClr val="404040"/>
                </a:solidFill>
                <a:latin typeface="Times New Roman"/>
                <a:cs typeface="Times New Roman"/>
              </a:rPr>
              <a:t> </a:t>
            </a:r>
            <a:r>
              <a:rPr sz="2400" dirty="0">
                <a:solidFill>
                  <a:srgbClr val="404040"/>
                </a:solidFill>
                <a:latin typeface="Times New Roman"/>
                <a:cs typeface="Times New Roman"/>
              </a:rPr>
              <a:t>and</a:t>
            </a:r>
            <a:r>
              <a:rPr sz="2400" spc="-10" dirty="0">
                <a:solidFill>
                  <a:srgbClr val="404040"/>
                </a:solidFill>
                <a:latin typeface="Times New Roman"/>
                <a:cs typeface="Times New Roman"/>
              </a:rPr>
              <a:t> </a:t>
            </a:r>
            <a:r>
              <a:rPr sz="2400" dirty="0">
                <a:solidFill>
                  <a:srgbClr val="404040"/>
                </a:solidFill>
                <a:latin typeface="Times New Roman"/>
                <a:cs typeface="Times New Roman"/>
              </a:rPr>
              <a:t>loading</a:t>
            </a:r>
            <a:r>
              <a:rPr sz="2400" spc="-20" dirty="0">
                <a:solidFill>
                  <a:srgbClr val="404040"/>
                </a:solidFill>
                <a:latin typeface="Times New Roman"/>
                <a:cs typeface="Times New Roman"/>
              </a:rPr>
              <a:t> </a:t>
            </a:r>
            <a:r>
              <a:rPr sz="2400" spc="-5" dirty="0">
                <a:solidFill>
                  <a:srgbClr val="404040"/>
                </a:solidFill>
                <a:latin typeface="Times New Roman"/>
                <a:cs typeface="Times New Roman"/>
              </a:rPr>
              <a:t>shown,</a:t>
            </a:r>
            <a:r>
              <a:rPr sz="2400" spc="5" dirty="0">
                <a:solidFill>
                  <a:srgbClr val="404040"/>
                </a:solidFill>
                <a:latin typeface="Times New Roman"/>
                <a:cs typeface="Times New Roman"/>
              </a:rPr>
              <a:t> </a:t>
            </a:r>
            <a:r>
              <a:rPr sz="2400" spc="-5" dirty="0">
                <a:solidFill>
                  <a:srgbClr val="404040"/>
                </a:solidFill>
                <a:latin typeface="Times New Roman"/>
                <a:cs typeface="Times New Roman"/>
              </a:rPr>
              <a:t>determine</a:t>
            </a:r>
            <a:r>
              <a:rPr sz="2400" spc="-20" dirty="0">
                <a:solidFill>
                  <a:srgbClr val="404040"/>
                </a:solidFill>
                <a:latin typeface="Times New Roman"/>
                <a:cs typeface="Times New Roman"/>
              </a:rPr>
              <a:t> </a:t>
            </a:r>
            <a:r>
              <a:rPr sz="2400" spc="5" dirty="0">
                <a:solidFill>
                  <a:srgbClr val="404040"/>
                </a:solidFill>
                <a:latin typeface="Times New Roman"/>
                <a:cs typeface="Times New Roman"/>
              </a:rPr>
              <a:t>(</a:t>
            </a:r>
            <a:r>
              <a:rPr sz="2400" i="1" spc="5" dirty="0">
                <a:solidFill>
                  <a:srgbClr val="404040"/>
                </a:solidFill>
                <a:latin typeface="Times New Roman"/>
                <a:cs typeface="Times New Roman"/>
              </a:rPr>
              <a:t>a</a:t>
            </a:r>
            <a:r>
              <a:rPr sz="2400" spc="5" dirty="0">
                <a:solidFill>
                  <a:srgbClr val="404040"/>
                </a:solidFill>
                <a:latin typeface="Times New Roman"/>
                <a:cs typeface="Times New Roman"/>
              </a:rPr>
              <a:t>)</a:t>
            </a:r>
            <a:r>
              <a:rPr sz="2400" spc="-5" dirty="0">
                <a:solidFill>
                  <a:srgbClr val="404040"/>
                </a:solidFill>
                <a:latin typeface="Times New Roman"/>
                <a:cs typeface="Times New Roman"/>
              </a:rPr>
              <a:t> </a:t>
            </a:r>
            <a:r>
              <a:rPr sz="2400" dirty="0">
                <a:solidFill>
                  <a:srgbClr val="404040"/>
                </a:solidFill>
                <a:latin typeface="Times New Roman"/>
                <a:cs typeface="Times New Roman"/>
              </a:rPr>
              <a:t>the reaction</a:t>
            </a:r>
            <a:r>
              <a:rPr sz="2400" spc="-30" dirty="0">
                <a:solidFill>
                  <a:srgbClr val="404040"/>
                </a:solidFill>
                <a:latin typeface="Times New Roman"/>
                <a:cs typeface="Times New Roman"/>
              </a:rPr>
              <a:t> </a:t>
            </a:r>
            <a:r>
              <a:rPr sz="2400" dirty="0">
                <a:solidFill>
                  <a:srgbClr val="404040"/>
                </a:solidFill>
                <a:latin typeface="Times New Roman"/>
                <a:cs typeface="Times New Roman"/>
              </a:rPr>
              <a:t>at</a:t>
            </a:r>
            <a:r>
              <a:rPr sz="2400" spc="-15" dirty="0">
                <a:solidFill>
                  <a:srgbClr val="404040"/>
                </a:solidFill>
                <a:latin typeface="Times New Roman"/>
                <a:cs typeface="Times New Roman"/>
              </a:rPr>
              <a:t> </a:t>
            </a:r>
            <a:r>
              <a:rPr sz="2400" i="1" spc="-5" dirty="0">
                <a:solidFill>
                  <a:srgbClr val="404040"/>
                </a:solidFill>
                <a:latin typeface="Times New Roman"/>
                <a:cs typeface="Times New Roman"/>
              </a:rPr>
              <a:t>C</a:t>
            </a:r>
            <a:r>
              <a:rPr sz="2400" spc="-5" dirty="0">
                <a:solidFill>
                  <a:srgbClr val="404040"/>
                </a:solidFill>
                <a:latin typeface="Times New Roman"/>
                <a:cs typeface="Times New Roman"/>
              </a:rPr>
              <a:t>,</a:t>
            </a:r>
            <a:r>
              <a:rPr sz="2400" spc="5" dirty="0">
                <a:solidFill>
                  <a:srgbClr val="404040"/>
                </a:solidFill>
                <a:latin typeface="Times New Roman"/>
                <a:cs typeface="Times New Roman"/>
              </a:rPr>
              <a:t> </a:t>
            </a:r>
            <a:r>
              <a:rPr sz="2400" dirty="0">
                <a:solidFill>
                  <a:srgbClr val="404040"/>
                </a:solidFill>
                <a:latin typeface="Times New Roman"/>
                <a:cs typeface="Times New Roman"/>
              </a:rPr>
              <a:t>(</a:t>
            </a:r>
            <a:r>
              <a:rPr sz="2400" i="1" dirty="0">
                <a:solidFill>
                  <a:srgbClr val="404040"/>
                </a:solidFill>
                <a:latin typeface="Times New Roman"/>
                <a:cs typeface="Times New Roman"/>
              </a:rPr>
              <a:t>b</a:t>
            </a:r>
            <a:r>
              <a:rPr sz="2400" dirty="0">
                <a:solidFill>
                  <a:srgbClr val="404040"/>
                </a:solidFill>
                <a:latin typeface="Times New Roman"/>
                <a:cs typeface="Times New Roman"/>
              </a:rPr>
              <a:t>)</a:t>
            </a:r>
            <a:r>
              <a:rPr sz="2400" spc="-5" dirty="0">
                <a:solidFill>
                  <a:srgbClr val="404040"/>
                </a:solidFill>
                <a:latin typeface="Times New Roman"/>
                <a:cs typeface="Times New Roman"/>
              </a:rPr>
              <a:t> </a:t>
            </a:r>
            <a:r>
              <a:rPr sz="2400" dirty="0">
                <a:solidFill>
                  <a:srgbClr val="404040"/>
                </a:solidFill>
                <a:latin typeface="Times New Roman"/>
                <a:cs typeface="Times New Roman"/>
              </a:rPr>
              <a:t>the </a:t>
            </a:r>
            <a:r>
              <a:rPr sz="2400" spc="-5" dirty="0">
                <a:solidFill>
                  <a:srgbClr val="404040"/>
                </a:solidFill>
                <a:latin typeface="Times New Roman"/>
                <a:cs typeface="Times New Roman"/>
              </a:rPr>
              <a:t>force </a:t>
            </a:r>
            <a:r>
              <a:rPr sz="2400" spc="-585" dirty="0">
                <a:solidFill>
                  <a:srgbClr val="404040"/>
                </a:solidFill>
                <a:latin typeface="Times New Roman"/>
                <a:cs typeface="Times New Roman"/>
              </a:rPr>
              <a:t> </a:t>
            </a:r>
            <a:r>
              <a:rPr sz="2400" dirty="0">
                <a:solidFill>
                  <a:srgbClr val="404040"/>
                </a:solidFill>
                <a:latin typeface="Times New Roman"/>
                <a:cs typeface="Times New Roman"/>
              </a:rPr>
              <a:t>in</a:t>
            </a:r>
            <a:r>
              <a:rPr sz="2400" spc="-15" dirty="0">
                <a:solidFill>
                  <a:srgbClr val="404040"/>
                </a:solidFill>
                <a:latin typeface="Times New Roman"/>
                <a:cs typeface="Times New Roman"/>
              </a:rPr>
              <a:t> </a:t>
            </a:r>
            <a:r>
              <a:rPr sz="2400" spc="-10" dirty="0">
                <a:solidFill>
                  <a:srgbClr val="404040"/>
                </a:solidFill>
                <a:latin typeface="Times New Roman"/>
                <a:cs typeface="Times New Roman"/>
              </a:rPr>
              <a:t>member</a:t>
            </a:r>
            <a:r>
              <a:rPr sz="2400" spc="20" dirty="0">
                <a:solidFill>
                  <a:srgbClr val="404040"/>
                </a:solidFill>
                <a:latin typeface="Times New Roman"/>
                <a:cs typeface="Times New Roman"/>
              </a:rPr>
              <a:t> </a:t>
            </a:r>
            <a:r>
              <a:rPr sz="2400" i="1" spc="-5" dirty="0">
                <a:solidFill>
                  <a:srgbClr val="404040"/>
                </a:solidFill>
                <a:latin typeface="Times New Roman"/>
                <a:cs typeface="Times New Roman"/>
              </a:rPr>
              <a:t>AD</a:t>
            </a:r>
            <a:r>
              <a:rPr sz="2400" spc="-5" dirty="0">
                <a:solidFill>
                  <a:srgbClr val="404040"/>
                </a:solidFill>
                <a:latin typeface="Times New Roman"/>
                <a:cs typeface="Times New Roman"/>
              </a:rPr>
              <a:t>,</a:t>
            </a:r>
            <a:r>
              <a:rPr sz="2400" spc="5" dirty="0">
                <a:solidFill>
                  <a:srgbClr val="404040"/>
                </a:solidFill>
                <a:latin typeface="Times New Roman"/>
                <a:cs typeface="Times New Roman"/>
              </a:rPr>
              <a:t> </a:t>
            </a:r>
            <a:r>
              <a:rPr sz="2400" dirty="0">
                <a:solidFill>
                  <a:srgbClr val="404040"/>
                </a:solidFill>
                <a:latin typeface="Times New Roman"/>
                <a:cs typeface="Times New Roman"/>
              </a:rPr>
              <a:t>(</a:t>
            </a:r>
            <a:r>
              <a:rPr sz="2400" i="1" dirty="0">
                <a:solidFill>
                  <a:srgbClr val="404040"/>
                </a:solidFill>
                <a:latin typeface="Times New Roman"/>
                <a:cs typeface="Times New Roman"/>
              </a:rPr>
              <a:t>c</a:t>
            </a:r>
            <a:r>
              <a:rPr sz="2400" dirty="0">
                <a:solidFill>
                  <a:srgbClr val="404040"/>
                </a:solidFill>
                <a:latin typeface="Times New Roman"/>
                <a:cs typeface="Times New Roman"/>
              </a:rPr>
              <a:t>)</a:t>
            </a:r>
            <a:r>
              <a:rPr sz="2400" spc="-10" dirty="0">
                <a:solidFill>
                  <a:srgbClr val="404040"/>
                </a:solidFill>
                <a:latin typeface="Times New Roman"/>
                <a:cs typeface="Times New Roman"/>
              </a:rPr>
              <a:t> </a:t>
            </a:r>
            <a:r>
              <a:rPr sz="2400" dirty="0">
                <a:solidFill>
                  <a:srgbClr val="404040"/>
                </a:solidFill>
                <a:latin typeface="Times New Roman"/>
                <a:cs typeface="Times New Roman"/>
              </a:rPr>
              <a:t>the </a:t>
            </a:r>
            <a:r>
              <a:rPr sz="2400" spc="-5" dirty="0">
                <a:solidFill>
                  <a:srgbClr val="404040"/>
                </a:solidFill>
                <a:latin typeface="Times New Roman"/>
                <a:cs typeface="Times New Roman"/>
              </a:rPr>
              <a:t>force</a:t>
            </a:r>
            <a:r>
              <a:rPr sz="2400" spc="-10" dirty="0">
                <a:solidFill>
                  <a:srgbClr val="404040"/>
                </a:solidFill>
                <a:latin typeface="Times New Roman"/>
                <a:cs typeface="Times New Roman"/>
              </a:rPr>
              <a:t> </a:t>
            </a:r>
            <a:r>
              <a:rPr sz="2400" dirty="0">
                <a:solidFill>
                  <a:srgbClr val="404040"/>
                </a:solidFill>
                <a:latin typeface="Times New Roman"/>
                <a:cs typeface="Times New Roman"/>
              </a:rPr>
              <a:t>in</a:t>
            </a:r>
            <a:r>
              <a:rPr sz="2400" spc="-10" dirty="0">
                <a:solidFill>
                  <a:srgbClr val="404040"/>
                </a:solidFill>
                <a:latin typeface="Times New Roman"/>
                <a:cs typeface="Times New Roman"/>
              </a:rPr>
              <a:t> member</a:t>
            </a:r>
            <a:r>
              <a:rPr sz="2400" spc="20" dirty="0">
                <a:solidFill>
                  <a:srgbClr val="404040"/>
                </a:solidFill>
                <a:latin typeface="Times New Roman"/>
                <a:cs typeface="Times New Roman"/>
              </a:rPr>
              <a:t> </a:t>
            </a:r>
            <a:r>
              <a:rPr sz="2400" i="1" spc="-5" dirty="0">
                <a:solidFill>
                  <a:srgbClr val="404040"/>
                </a:solidFill>
                <a:latin typeface="Times New Roman"/>
                <a:cs typeface="Times New Roman"/>
              </a:rPr>
              <a:t>BE</a:t>
            </a:r>
            <a:r>
              <a:rPr sz="2400" spc="-5" dirty="0">
                <a:solidFill>
                  <a:srgbClr val="404040"/>
                </a:solidFill>
                <a:latin typeface="Times New Roman"/>
                <a:cs typeface="Times New Roman"/>
              </a:rPr>
              <a:t>.</a:t>
            </a:r>
            <a:endParaRPr sz="2400" dirty="0">
              <a:latin typeface="Times New Roman"/>
              <a:cs typeface="Times New Roman"/>
            </a:endParaRPr>
          </a:p>
        </p:txBody>
      </p:sp>
    </p:spTree>
    <p:extLst>
      <p:ext uri="{BB962C8B-B14F-4D97-AF65-F5344CB8AC3E}">
        <p14:creationId xmlns:p14="http://schemas.microsoft.com/office/powerpoint/2010/main" val="1643862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5" name="object 3">
            <a:extLst>
              <a:ext uri="{FF2B5EF4-FFF2-40B4-BE49-F238E27FC236}">
                <a16:creationId xmlns:a16="http://schemas.microsoft.com/office/drawing/2014/main" id="{AA7FCCFB-0CDE-A4BD-F7C2-74A006896B02}"/>
              </a:ext>
            </a:extLst>
          </p:cNvPr>
          <p:cNvSpPr txBox="1">
            <a:spLocks/>
          </p:cNvSpPr>
          <p:nvPr/>
        </p:nvSpPr>
        <p:spPr>
          <a:xfrm>
            <a:off x="1768983" y="148733"/>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pic>
        <p:nvPicPr>
          <p:cNvPr id="7" name="Picture 6" descr="A red car with a trailer attached to it&#10;&#10;Description automatically generated">
            <a:extLst>
              <a:ext uri="{FF2B5EF4-FFF2-40B4-BE49-F238E27FC236}">
                <a16:creationId xmlns:a16="http://schemas.microsoft.com/office/drawing/2014/main" id="{108033F4-7E64-44E1-8F28-70BDE59DA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7393" y="3046730"/>
            <a:ext cx="7175624" cy="2762140"/>
          </a:xfrm>
          <a:prstGeom prst="rect">
            <a:avLst/>
          </a:prstGeom>
        </p:spPr>
      </p:pic>
      <p:sp>
        <p:nvSpPr>
          <p:cNvPr id="8" name="object 3">
            <a:extLst>
              <a:ext uri="{FF2B5EF4-FFF2-40B4-BE49-F238E27FC236}">
                <a16:creationId xmlns:a16="http://schemas.microsoft.com/office/drawing/2014/main" id="{8841FC4E-00A1-7A53-A70A-46904CDF1007}"/>
              </a:ext>
            </a:extLst>
          </p:cNvPr>
          <p:cNvSpPr txBox="1"/>
          <p:nvPr/>
        </p:nvSpPr>
        <p:spPr>
          <a:xfrm>
            <a:off x="1549616" y="634012"/>
            <a:ext cx="10055860" cy="1905971"/>
          </a:xfrm>
          <a:prstGeom prst="rect">
            <a:avLst/>
          </a:prstGeom>
        </p:spPr>
        <p:txBody>
          <a:bodyPr vert="horz" wrap="square" lIns="0" tIns="13335" rIns="0" bIns="0" rtlCol="0">
            <a:spAutoFit/>
          </a:bodyPr>
          <a:lstStyle/>
          <a:p>
            <a:pPr marL="355600" indent="-342900">
              <a:lnSpc>
                <a:spcPct val="100000"/>
              </a:lnSpc>
              <a:spcBef>
                <a:spcPts val="105"/>
              </a:spcBef>
              <a:buClr>
                <a:srgbClr val="A42F0F"/>
              </a:buClr>
              <a:buFont typeface="Wingdings"/>
              <a:buChar char=""/>
              <a:tabLst>
                <a:tab pos="355600" algn="l"/>
              </a:tabLst>
            </a:pPr>
            <a:r>
              <a:rPr lang="en-US" sz="2600" b="1" spc="-5">
                <a:solidFill>
                  <a:srgbClr val="00AF50"/>
                </a:solidFill>
                <a:latin typeface="Times New Roman"/>
                <a:cs typeface="Times New Roman"/>
              </a:rPr>
              <a:t>Practice </a:t>
            </a:r>
            <a:r>
              <a:rPr sz="2600" b="1" spc="-5">
                <a:solidFill>
                  <a:srgbClr val="00AF50"/>
                </a:solidFill>
                <a:latin typeface="Times New Roman"/>
                <a:cs typeface="Times New Roman"/>
              </a:rPr>
              <a:t>Problem</a:t>
            </a:r>
            <a:r>
              <a:rPr sz="2600" b="1" spc="-5" dirty="0">
                <a:solidFill>
                  <a:srgbClr val="00AF50"/>
                </a:solidFill>
                <a:latin typeface="Times New Roman"/>
                <a:cs typeface="Times New Roman"/>
              </a:rPr>
              <a:t>:</a:t>
            </a:r>
            <a:endParaRPr sz="2600" dirty="0">
              <a:latin typeface="Times New Roman"/>
              <a:cs typeface="Times New Roman"/>
            </a:endParaRPr>
          </a:p>
          <a:p>
            <a:pPr marL="469900" marR="5080">
              <a:lnSpc>
                <a:spcPts val="2890"/>
              </a:lnSpc>
              <a:spcBef>
                <a:spcPts val="95"/>
              </a:spcBef>
            </a:pPr>
            <a:r>
              <a:rPr lang="en-US" sz="2400" spc="-5" dirty="0">
                <a:solidFill>
                  <a:srgbClr val="404040"/>
                </a:solidFill>
                <a:latin typeface="Times New Roman"/>
                <a:cs typeface="Times New Roman"/>
              </a:rPr>
              <a:t>A trailer weighing 2400 </a:t>
            </a:r>
            <a:r>
              <a:rPr lang="en-US" sz="2400" spc="-5" dirty="0" err="1">
                <a:solidFill>
                  <a:srgbClr val="404040"/>
                </a:solidFill>
                <a:latin typeface="Times New Roman"/>
                <a:cs typeface="Times New Roman"/>
              </a:rPr>
              <a:t>lb</a:t>
            </a:r>
            <a:r>
              <a:rPr lang="en-US" sz="2400" spc="-5" dirty="0">
                <a:solidFill>
                  <a:srgbClr val="404040"/>
                </a:solidFill>
                <a:latin typeface="Times New Roman"/>
                <a:cs typeface="Times New Roman"/>
              </a:rPr>
              <a:t> is attached to a 2900-lb pickup truck </a:t>
            </a:r>
          </a:p>
          <a:p>
            <a:pPr marL="469900" marR="5080">
              <a:lnSpc>
                <a:spcPts val="2890"/>
              </a:lnSpc>
              <a:spcBef>
                <a:spcPts val="95"/>
              </a:spcBef>
            </a:pPr>
            <a:r>
              <a:rPr lang="en-US" sz="2400" spc="-5" dirty="0">
                <a:solidFill>
                  <a:srgbClr val="404040"/>
                </a:solidFill>
                <a:latin typeface="Times New Roman"/>
                <a:cs typeface="Times New Roman"/>
              </a:rPr>
              <a:t>by a ball-and-socket truck hitch at D. Determine (a) the reactions at each of the six wheels when the truck and trailer are at rest, (b) the additional load on each of the truck wheels due to the trailer.</a:t>
            </a:r>
            <a:endParaRPr sz="2400" dirty="0">
              <a:latin typeface="Times New Roman"/>
              <a:cs typeface="Times New Roman"/>
            </a:endParaRPr>
          </a:p>
        </p:txBody>
      </p:sp>
    </p:spTree>
    <p:extLst>
      <p:ext uri="{BB962C8B-B14F-4D97-AF65-F5344CB8AC3E}">
        <p14:creationId xmlns:p14="http://schemas.microsoft.com/office/powerpoint/2010/main" val="428554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6">
            <a:extLst>
              <a:ext uri="{FF2B5EF4-FFF2-40B4-BE49-F238E27FC236}">
                <a16:creationId xmlns:a16="http://schemas.microsoft.com/office/drawing/2014/main" id="{1A55CEC0-1A57-5942-1E1D-7B98F8794D81}"/>
              </a:ext>
            </a:extLst>
          </p:cNvPr>
          <p:cNvSpPr>
            <a:spLocks noGrp="1"/>
          </p:cNvSpPr>
          <p:nvPr>
            <p:ph type="dt" sz="half" idx="10"/>
          </p:nvPr>
        </p:nvSpPr>
        <p:spPr/>
        <p:txBody>
          <a:bodyPr/>
          <a:lstStyle/>
          <a:p>
            <a:fld id="{CF25AD66-A4B4-4281-BA8F-C7D6C36F42AC}" type="datetime1">
              <a:rPr lang="en-US" smtClean="0"/>
              <a:t>6/24/2025</a:t>
            </a:fld>
            <a:endParaRPr lang="en-US"/>
          </a:p>
        </p:txBody>
      </p:sp>
      <p:sp>
        <p:nvSpPr>
          <p:cNvPr id="18" name="Slide Number Placeholder 17">
            <a:extLst>
              <a:ext uri="{FF2B5EF4-FFF2-40B4-BE49-F238E27FC236}">
                <a16:creationId xmlns:a16="http://schemas.microsoft.com/office/drawing/2014/main" id="{69BA6916-93D4-248A-F4CA-937D3F16761F}"/>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5" name="object 3">
            <a:extLst>
              <a:ext uri="{FF2B5EF4-FFF2-40B4-BE49-F238E27FC236}">
                <a16:creationId xmlns:a16="http://schemas.microsoft.com/office/drawing/2014/main" id="{AA7FCCFB-0CDE-A4BD-F7C2-74A006896B02}"/>
              </a:ext>
            </a:extLst>
          </p:cNvPr>
          <p:cNvSpPr txBox="1">
            <a:spLocks/>
          </p:cNvSpPr>
          <p:nvPr/>
        </p:nvSpPr>
        <p:spPr>
          <a:xfrm>
            <a:off x="1768983" y="148733"/>
            <a:ext cx="8654034" cy="504625"/>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8260">
              <a:lnSpc>
                <a:spcPct val="100000"/>
              </a:lnSpc>
              <a:spcBef>
                <a:spcPts val="95"/>
              </a:spcBef>
            </a:pPr>
            <a:r>
              <a:rPr lang="en-US" sz="3200" spc="-5" dirty="0">
                <a:solidFill>
                  <a:srgbClr val="C00000"/>
                </a:solidFill>
                <a:latin typeface="Dreaming Outloud Pro" panose="03050502040302030504" pitchFamily="66" charset="0"/>
                <a:cs typeface="Dreaming Outloud Pro" panose="03050502040302030504" pitchFamily="66" charset="0"/>
              </a:rPr>
              <a:t>Analysis</a:t>
            </a:r>
            <a:r>
              <a:rPr lang="en-US" sz="3200" spc="15" dirty="0">
                <a:solidFill>
                  <a:srgbClr val="C00000"/>
                </a:solidFill>
                <a:latin typeface="Dreaming Outloud Pro" panose="03050502040302030504" pitchFamily="66" charset="0"/>
                <a:cs typeface="Dreaming Outloud Pro" panose="03050502040302030504" pitchFamily="66" charset="0"/>
              </a:rPr>
              <a:t> </a:t>
            </a:r>
            <a:r>
              <a:rPr lang="en-US" sz="3200" spc="-5" dirty="0">
                <a:solidFill>
                  <a:srgbClr val="C00000"/>
                </a:solidFill>
                <a:latin typeface="Dreaming Outloud Pro" panose="03050502040302030504" pitchFamily="66" charset="0"/>
                <a:cs typeface="Dreaming Outloud Pro" panose="03050502040302030504" pitchFamily="66" charset="0"/>
              </a:rPr>
              <a:t>of</a:t>
            </a:r>
            <a:r>
              <a:rPr lang="en-US" sz="3200" spc="-70" dirty="0">
                <a:solidFill>
                  <a:srgbClr val="C00000"/>
                </a:solidFill>
                <a:latin typeface="Dreaming Outloud Pro" panose="03050502040302030504" pitchFamily="66" charset="0"/>
                <a:cs typeface="Dreaming Outloud Pro" panose="03050502040302030504" pitchFamily="66" charset="0"/>
              </a:rPr>
              <a:t> </a:t>
            </a:r>
            <a:r>
              <a:rPr lang="en-US" sz="3200" spc="-45" dirty="0">
                <a:solidFill>
                  <a:srgbClr val="C00000"/>
                </a:solidFill>
                <a:latin typeface="Dreaming Outloud Pro" panose="03050502040302030504" pitchFamily="66" charset="0"/>
                <a:cs typeface="Dreaming Outloud Pro" panose="03050502040302030504" pitchFamily="66" charset="0"/>
              </a:rPr>
              <a:t>frames</a:t>
            </a:r>
            <a:endParaRPr lang="en-US" sz="3200" spc="-5" dirty="0">
              <a:solidFill>
                <a:srgbClr val="C00000"/>
              </a:solidFill>
              <a:latin typeface="Dreaming Outloud Pro" panose="03050502040302030504" pitchFamily="66" charset="0"/>
              <a:cs typeface="Dreaming Outloud Pro" panose="03050502040302030504" pitchFamily="66" charset="0"/>
            </a:endParaRPr>
          </a:p>
        </p:txBody>
      </p:sp>
      <p:sp>
        <p:nvSpPr>
          <p:cNvPr id="8" name="object 3">
            <a:extLst>
              <a:ext uri="{FF2B5EF4-FFF2-40B4-BE49-F238E27FC236}">
                <a16:creationId xmlns:a16="http://schemas.microsoft.com/office/drawing/2014/main" id="{8841FC4E-00A1-7A53-A70A-46904CDF1007}"/>
              </a:ext>
            </a:extLst>
          </p:cNvPr>
          <p:cNvSpPr txBox="1"/>
          <p:nvPr/>
        </p:nvSpPr>
        <p:spPr>
          <a:xfrm>
            <a:off x="1549616" y="634012"/>
            <a:ext cx="10055860" cy="1162178"/>
          </a:xfrm>
          <a:prstGeom prst="rect">
            <a:avLst/>
          </a:prstGeom>
        </p:spPr>
        <p:txBody>
          <a:bodyPr vert="horz" wrap="square" lIns="0" tIns="13335" rIns="0" bIns="0" rtlCol="0">
            <a:spAutoFit/>
          </a:bodyPr>
          <a:lstStyle/>
          <a:p>
            <a:pPr marL="355600" indent="-342900">
              <a:lnSpc>
                <a:spcPct val="100000"/>
              </a:lnSpc>
              <a:spcBef>
                <a:spcPts val="105"/>
              </a:spcBef>
              <a:buClr>
                <a:srgbClr val="A42F0F"/>
              </a:buClr>
              <a:buFont typeface="Wingdings"/>
              <a:buChar char=""/>
              <a:tabLst>
                <a:tab pos="355600" algn="l"/>
              </a:tabLst>
            </a:pPr>
            <a:r>
              <a:rPr sz="2600" b="1" spc="-5" dirty="0">
                <a:solidFill>
                  <a:srgbClr val="00AF50"/>
                </a:solidFill>
                <a:latin typeface="Times New Roman"/>
                <a:cs typeface="Times New Roman"/>
              </a:rPr>
              <a:t>Problem:</a:t>
            </a:r>
            <a:endParaRPr sz="2600" dirty="0">
              <a:latin typeface="Times New Roman"/>
              <a:cs typeface="Times New Roman"/>
            </a:endParaRPr>
          </a:p>
          <a:p>
            <a:pPr marL="469900" marR="5080">
              <a:lnSpc>
                <a:spcPts val="2890"/>
              </a:lnSpc>
              <a:spcBef>
                <a:spcPts val="95"/>
              </a:spcBef>
            </a:pPr>
            <a:r>
              <a:rPr lang="en-US" sz="2400" dirty="0">
                <a:latin typeface="Times New Roman"/>
                <a:cs typeface="Times New Roman"/>
              </a:rPr>
              <a:t>Knowing that each pulley has a radius of 250 mm, determine the </a:t>
            </a:r>
          </a:p>
          <a:p>
            <a:pPr marL="469900" marR="5080">
              <a:lnSpc>
                <a:spcPts val="2890"/>
              </a:lnSpc>
              <a:spcBef>
                <a:spcPts val="95"/>
              </a:spcBef>
            </a:pPr>
            <a:r>
              <a:rPr lang="en-US" sz="2400" dirty="0">
                <a:latin typeface="Times New Roman"/>
                <a:cs typeface="Times New Roman"/>
              </a:rPr>
              <a:t>components of the reactions at D and E</a:t>
            </a:r>
            <a:endParaRPr sz="2400" dirty="0">
              <a:latin typeface="Times New Roman"/>
              <a:cs typeface="Times New Roman"/>
            </a:endParaRPr>
          </a:p>
        </p:txBody>
      </p:sp>
      <p:sp>
        <p:nvSpPr>
          <p:cNvPr id="10" name="TextBox 9">
            <a:extLst>
              <a:ext uri="{FF2B5EF4-FFF2-40B4-BE49-F238E27FC236}">
                <a16:creationId xmlns:a16="http://schemas.microsoft.com/office/drawing/2014/main" id="{41361600-4A6B-90B9-E548-E052A3D4F4BE}"/>
              </a:ext>
            </a:extLst>
          </p:cNvPr>
          <p:cNvSpPr txBox="1"/>
          <p:nvPr/>
        </p:nvSpPr>
        <p:spPr>
          <a:xfrm>
            <a:off x="8430273" y="5061811"/>
            <a:ext cx="3531355" cy="646331"/>
          </a:xfrm>
          <a:prstGeom prst="rect">
            <a:avLst/>
          </a:prstGeom>
          <a:noFill/>
        </p:spPr>
        <p:txBody>
          <a:bodyPr wrap="square" rtlCol="0">
            <a:spAutoFit/>
          </a:bodyPr>
          <a:lstStyle/>
          <a:p>
            <a:r>
              <a:rPr lang="en-US" b="1" dirty="0">
                <a:solidFill>
                  <a:schemeClr val="tx2"/>
                </a:solidFill>
                <a:latin typeface="Times New Roman" panose="02020603050405020304" pitchFamily="18" charset="0"/>
                <a:cs typeface="Times New Roman" panose="02020603050405020304" pitchFamily="18" charset="0"/>
              </a:rPr>
              <a:t>Practice: 6.76, 6.82, 6.87, 6.89, </a:t>
            </a:r>
          </a:p>
          <a:p>
            <a:r>
              <a:rPr lang="en-US" b="1" dirty="0">
                <a:solidFill>
                  <a:schemeClr val="tx2"/>
                </a:solidFill>
                <a:latin typeface="Times New Roman" panose="02020603050405020304" pitchFamily="18" charset="0"/>
                <a:cs typeface="Times New Roman" panose="02020603050405020304" pitchFamily="18" charset="0"/>
              </a:rPr>
              <a:t>                 6.94, 6.101, 6.170</a:t>
            </a:r>
          </a:p>
        </p:txBody>
      </p:sp>
      <p:pic>
        <p:nvPicPr>
          <p:cNvPr id="11" name="Picture 10" descr="A diagram of a mechanical mechanism&#10;&#10;Description automatically generated">
            <a:extLst>
              <a:ext uri="{FF2B5EF4-FFF2-40B4-BE49-F238E27FC236}">
                <a16:creationId xmlns:a16="http://schemas.microsoft.com/office/drawing/2014/main" id="{456A177B-653F-8E4E-672F-991FDD953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4349" y="2921418"/>
            <a:ext cx="5479201" cy="3869169"/>
          </a:xfrm>
          <a:prstGeom prst="rect">
            <a:avLst/>
          </a:prstGeom>
        </p:spPr>
      </p:pic>
    </p:spTree>
    <p:extLst>
      <p:ext uri="{BB962C8B-B14F-4D97-AF65-F5344CB8AC3E}">
        <p14:creationId xmlns:p14="http://schemas.microsoft.com/office/powerpoint/2010/main" val="541552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14" name="Date Placeholder 13">
            <a:extLst>
              <a:ext uri="{FF2B5EF4-FFF2-40B4-BE49-F238E27FC236}">
                <a16:creationId xmlns:a16="http://schemas.microsoft.com/office/drawing/2014/main" id="{BBEB6D0E-BEE7-EC05-4BC3-280EC3F2B579}"/>
              </a:ext>
            </a:extLst>
          </p:cNvPr>
          <p:cNvSpPr>
            <a:spLocks noGrp="1"/>
          </p:cNvSpPr>
          <p:nvPr>
            <p:ph type="dt" sz="half" idx="10"/>
          </p:nvPr>
        </p:nvSpPr>
        <p:spPr>
          <a:xfrm>
            <a:off x="838200" y="6356350"/>
            <a:ext cx="2743200" cy="365125"/>
          </a:xfrm>
        </p:spPr>
        <p:txBody>
          <a:bodyPr/>
          <a:lstStyle/>
          <a:p>
            <a:fld id="{079E1127-BB35-464B-95CA-0936B7D8F30D}" type="datetime1">
              <a:rPr lang="en-US" smtClean="0"/>
              <a:pPr/>
              <a:t>6/24/2025</a:t>
            </a:fld>
            <a:endParaRPr lang="en-US"/>
          </a:p>
        </p:txBody>
      </p:sp>
      <p:sp>
        <p:nvSpPr>
          <p:cNvPr id="15" name="Slide Number Placeholder 14">
            <a:extLst>
              <a:ext uri="{FF2B5EF4-FFF2-40B4-BE49-F238E27FC236}">
                <a16:creationId xmlns:a16="http://schemas.microsoft.com/office/drawing/2014/main" id="{EB85D5C8-C9AE-A683-08D9-2D50746915D0}"/>
              </a:ext>
            </a:extLst>
          </p:cNvPr>
          <p:cNvSpPr>
            <a:spLocks noGrp="1"/>
          </p:cNvSpPr>
          <p:nvPr>
            <p:ph type="sldNum" sz="quarter" idx="12"/>
          </p:nvPr>
        </p:nvSpPr>
        <p:spPr>
          <a:xfrm>
            <a:off x="8610600" y="6356350"/>
            <a:ext cx="2743200" cy="365125"/>
          </a:xfrm>
        </p:spPr>
        <p:txBody>
          <a:bodyPr/>
          <a:lstStyle/>
          <a:p>
            <a:fld id="{B6F15528-21DE-4FAA-801E-634DDDAF4B2B}" type="slidenum">
              <a:rPr lang="en-US" smtClean="0"/>
              <a:pPr/>
              <a:t>11</a:t>
            </a:fld>
            <a:endParaRPr lang="en-US"/>
          </a:p>
        </p:txBody>
      </p:sp>
      <p:sp>
        <p:nvSpPr>
          <p:cNvPr id="8" name="TextBox 7">
            <a:extLst>
              <a:ext uri="{FF2B5EF4-FFF2-40B4-BE49-F238E27FC236}">
                <a16:creationId xmlns:a16="http://schemas.microsoft.com/office/drawing/2014/main" id="{C1ABD29A-0F61-651C-698C-23DA7EC96A28}"/>
              </a:ext>
            </a:extLst>
          </p:cNvPr>
          <p:cNvSpPr txBox="1"/>
          <p:nvPr/>
        </p:nvSpPr>
        <p:spPr>
          <a:xfrm>
            <a:off x="7049728" y="1448457"/>
            <a:ext cx="4778477" cy="4057607"/>
          </a:xfrm>
          <a:prstGeom prst="rect">
            <a:avLst/>
          </a:prstGeom>
          <a:blipFill>
            <a:blip r:embed="rId2">
              <a:duotone>
                <a:prstClr val="black"/>
                <a:schemeClr val="tx2">
                  <a:tint val="45000"/>
                  <a:satMod val="400000"/>
                </a:schemeClr>
              </a:duotone>
            </a:blip>
            <a:tile tx="0" ty="0" sx="100000" sy="100000" flip="none" algn="tl"/>
          </a:blipFill>
        </p:spPr>
        <p:txBody>
          <a:bodyPr wrap="square">
            <a:spAutoFit/>
          </a:bodyPr>
          <a:lstStyle/>
          <a:p>
            <a:pPr marL="12700" marR="5080" indent="687070" algn="r">
              <a:lnSpc>
                <a:spcPct val="115199"/>
              </a:lnSpc>
              <a:spcBef>
                <a:spcPts val="95"/>
              </a:spcBef>
            </a:pPr>
            <a:r>
              <a:rPr lang="en-US" sz="4400" b="1" i="1" dirty="0">
                <a:solidFill>
                  <a:srgbClr val="0D0D0D"/>
                </a:solidFill>
                <a:latin typeface="Monotype Corsiva" panose="03010101010201010101" pitchFamily="66" charset="0"/>
                <a:cs typeface="Times New Roman"/>
              </a:rPr>
              <a:t>“The</a:t>
            </a:r>
            <a:r>
              <a:rPr lang="en-US" sz="4400" b="1" i="1" spc="-20" dirty="0">
                <a:solidFill>
                  <a:srgbClr val="0D0D0D"/>
                </a:solidFill>
                <a:latin typeface="Monotype Corsiva" panose="03010101010201010101" pitchFamily="66" charset="0"/>
                <a:cs typeface="Times New Roman"/>
              </a:rPr>
              <a:t> </a:t>
            </a:r>
            <a:r>
              <a:rPr lang="en-US" sz="4400" b="1" i="1" spc="-5" dirty="0">
                <a:solidFill>
                  <a:srgbClr val="0D0D0D"/>
                </a:solidFill>
                <a:latin typeface="Monotype Corsiva" panose="03010101010201010101" pitchFamily="66" charset="0"/>
                <a:cs typeface="Times New Roman"/>
              </a:rPr>
              <a:t>Struggle</a:t>
            </a:r>
            <a:r>
              <a:rPr lang="en-US" sz="4400" b="1" i="1" spc="-25" dirty="0">
                <a:solidFill>
                  <a:srgbClr val="0D0D0D"/>
                </a:solidFill>
                <a:latin typeface="Monotype Corsiva" panose="03010101010201010101" pitchFamily="66" charset="0"/>
                <a:cs typeface="Times New Roman"/>
              </a:rPr>
              <a:t> </a:t>
            </a:r>
            <a:r>
              <a:rPr lang="en-US" sz="4400" b="1" i="1" dirty="0">
                <a:solidFill>
                  <a:srgbClr val="0D0D0D"/>
                </a:solidFill>
                <a:latin typeface="Monotype Corsiva" panose="03010101010201010101" pitchFamily="66" charset="0"/>
                <a:cs typeface="Times New Roman"/>
              </a:rPr>
              <a:t>you</a:t>
            </a:r>
            <a:r>
              <a:rPr lang="en-US" sz="4400" b="1" i="1" spc="-15" dirty="0">
                <a:solidFill>
                  <a:srgbClr val="0D0D0D"/>
                </a:solidFill>
                <a:latin typeface="Monotype Corsiva" panose="03010101010201010101" pitchFamily="66" charset="0"/>
                <a:cs typeface="Times New Roman"/>
              </a:rPr>
              <a:t> </a:t>
            </a:r>
            <a:r>
              <a:rPr lang="en-US" sz="4400" b="1" i="1" dirty="0">
                <a:solidFill>
                  <a:srgbClr val="0D0D0D"/>
                </a:solidFill>
                <a:latin typeface="Monotype Corsiva" panose="03010101010201010101" pitchFamily="66" charset="0"/>
                <a:cs typeface="Times New Roman"/>
              </a:rPr>
              <a:t>are</a:t>
            </a:r>
            <a:r>
              <a:rPr lang="en-US" sz="4400" b="1" i="1" spc="-20" dirty="0">
                <a:solidFill>
                  <a:srgbClr val="0D0D0D"/>
                </a:solidFill>
                <a:latin typeface="Monotype Corsiva" panose="03010101010201010101" pitchFamily="66" charset="0"/>
                <a:cs typeface="Times New Roman"/>
              </a:rPr>
              <a:t> </a:t>
            </a:r>
            <a:r>
              <a:rPr lang="en-US" sz="4400" b="1" i="1" spc="-5" dirty="0">
                <a:solidFill>
                  <a:srgbClr val="0D0D0D"/>
                </a:solidFill>
                <a:latin typeface="Monotype Corsiva" panose="03010101010201010101" pitchFamily="66" charset="0"/>
                <a:cs typeface="Times New Roman"/>
              </a:rPr>
              <a:t>in</a:t>
            </a:r>
            <a:r>
              <a:rPr lang="en-US" sz="4400" b="1" i="1" spc="-20" dirty="0">
                <a:solidFill>
                  <a:srgbClr val="0D0D0D"/>
                </a:solidFill>
                <a:latin typeface="Monotype Corsiva" panose="03010101010201010101" pitchFamily="66" charset="0"/>
                <a:cs typeface="Times New Roman"/>
              </a:rPr>
              <a:t> </a:t>
            </a:r>
            <a:r>
              <a:rPr lang="en-US" sz="4400" b="1" i="1" spc="-60" dirty="0">
                <a:solidFill>
                  <a:srgbClr val="0D0D0D"/>
                </a:solidFill>
                <a:latin typeface="Monotype Corsiva" panose="03010101010201010101" pitchFamily="66" charset="0"/>
                <a:cs typeface="Times New Roman"/>
              </a:rPr>
              <a:t>Today </a:t>
            </a:r>
            <a:r>
              <a:rPr lang="en-US" sz="4400" b="1" i="1" spc="-810" dirty="0">
                <a:solidFill>
                  <a:srgbClr val="0D0D0D"/>
                </a:solidFill>
                <a:latin typeface="Monotype Corsiva" panose="03010101010201010101" pitchFamily="66" charset="0"/>
                <a:cs typeface="Times New Roman"/>
              </a:rPr>
              <a:t> </a:t>
            </a:r>
            <a:r>
              <a:rPr lang="en-US" sz="4400" b="1" i="1" spc="-5" dirty="0">
                <a:solidFill>
                  <a:srgbClr val="0D0D0D"/>
                </a:solidFill>
                <a:latin typeface="Monotype Corsiva" panose="03010101010201010101" pitchFamily="66" charset="0"/>
                <a:cs typeface="Times New Roman"/>
              </a:rPr>
              <a:t>is </a:t>
            </a:r>
            <a:r>
              <a:rPr lang="en-US" sz="4400" b="1" i="1" dirty="0">
                <a:solidFill>
                  <a:srgbClr val="0D0D0D"/>
                </a:solidFill>
                <a:latin typeface="Monotype Corsiva" panose="03010101010201010101" pitchFamily="66" charset="0"/>
                <a:cs typeface="Times New Roman"/>
              </a:rPr>
              <a:t>developing</a:t>
            </a:r>
            <a:r>
              <a:rPr lang="en-US" sz="4400" b="1" i="1" spc="-20" dirty="0">
                <a:solidFill>
                  <a:srgbClr val="0D0D0D"/>
                </a:solidFill>
                <a:latin typeface="Monotype Corsiva" panose="03010101010201010101" pitchFamily="66" charset="0"/>
                <a:cs typeface="Times New Roman"/>
              </a:rPr>
              <a:t> </a:t>
            </a:r>
            <a:r>
              <a:rPr lang="en-US" sz="4400" b="1" i="1" spc="-5" dirty="0">
                <a:solidFill>
                  <a:srgbClr val="0D0D0D"/>
                </a:solidFill>
                <a:latin typeface="Monotype Corsiva" panose="03010101010201010101" pitchFamily="66" charset="0"/>
                <a:cs typeface="Times New Roman"/>
              </a:rPr>
              <a:t>the</a:t>
            </a:r>
            <a:r>
              <a:rPr lang="en-US" sz="4400" b="1" i="1" spc="-20" dirty="0">
                <a:solidFill>
                  <a:srgbClr val="0D0D0D"/>
                </a:solidFill>
                <a:latin typeface="Monotype Corsiva" panose="03010101010201010101" pitchFamily="66" charset="0"/>
                <a:cs typeface="Times New Roman"/>
              </a:rPr>
              <a:t> </a:t>
            </a:r>
            <a:r>
              <a:rPr lang="en-US" sz="4400" b="1" i="1" spc="-5" dirty="0">
                <a:solidFill>
                  <a:srgbClr val="0D0D0D"/>
                </a:solidFill>
                <a:latin typeface="Monotype Corsiva" panose="03010101010201010101" pitchFamily="66" charset="0"/>
                <a:cs typeface="Times New Roman"/>
              </a:rPr>
              <a:t>Strength you</a:t>
            </a:r>
            <a:r>
              <a:rPr lang="en-US" sz="4400" b="1" i="1" dirty="0">
                <a:solidFill>
                  <a:srgbClr val="0D0D0D"/>
                </a:solidFill>
                <a:latin typeface="Monotype Corsiva" panose="03010101010201010101" pitchFamily="66" charset="0"/>
                <a:cs typeface="Times New Roman"/>
              </a:rPr>
              <a:t> need</a:t>
            </a:r>
            <a:endParaRPr lang="en-US" sz="4400" dirty="0">
              <a:latin typeface="Monotype Corsiva" panose="03010101010201010101" pitchFamily="66" charset="0"/>
              <a:cs typeface="Times New Roman"/>
            </a:endParaRPr>
          </a:p>
          <a:p>
            <a:pPr marR="5080" algn="r">
              <a:lnSpc>
                <a:spcPct val="100000"/>
              </a:lnSpc>
              <a:spcBef>
                <a:spcPts val="615"/>
              </a:spcBef>
            </a:pPr>
            <a:r>
              <a:rPr lang="en-US" sz="4400" b="1" i="1" dirty="0">
                <a:solidFill>
                  <a:srgbClr val="0D0D0D"/>
                </a:solidFill>
                <a:latin typeface="Monotype Corsiva" panose="03010101010201010101" pitchFamily="66" charset="0"/>
                <a:cs typeface="Times New Roman"/>
              </a:rPr>
              <a:t>for</a:t>
            </a:r>
            <a:r>
              <a:rPr lang="en-US" sz="4400" b="1" i="1" spc="-70" dirty="0">
                <a:solidFill>
                  <a:srgbClr val="0D0D0D"/>
                </a:solidFill>
                <a:latin typeface="Monotype Corsiva" panose="03010101010201010101" pitchFamily="66" charset="0"/>
                <a:cs typeface="Times New Roman"/>
              </a:rPr>
              <a:t> </a:t>
            </a:r>
            <a:r>
              <a:rPr lang="en-US" sz="4400" b="1" i="1" spc="-40" dirty="0">
                <a:solidFill>
                  <a:srgbClr val="0D0D0D"/>
                </a:solidFill>
                <a:latin typeface="Monotype Corsiva" panose="03010101010201010101" pitchFamily="66" charset="0"/>
                <a:cs typeface="Times New Roman"/>
              </a:rPr>
              <a:t>Tomorrow”</a:t>
            </a:r>
            <a:endParaRPr lang="en-US" sz="4400" dirty="0">
              <a:latin typeface="Monotype Corsiva" panose="03010101010201010101" pitchFamily="66" charset="0"/>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8EF9E3B196684499E884074FD3CB02C" ma:contentTypeVersion="4" ma:contentTypeDescription="Create a new document." ma:contentTypeScope="" ma:versionID="28b3d92f1e6fa517cf934b1e63e8382b">
  <xsd:schema xmlns:xsd="http://www.w3.org/2001/XMLSchema" xmlns:xs="http://www.w3.org/2001/XMLSchema" xmlns:p="http://schemas.microsoft.com/office/2006/metadata/properties" xmlns:ns2="fe4160f2-581c-44de-8c1e-f3a36bb236c5" targetNamespace="http://schemas.microsoft.com/office/2006/metadata/properties" ma:root="true" ma:fieldsID="fab7115323ebc58acf5357dd32b4bda1" ns2:_="">
    <xsd:import namespace="fe4160f2-581c-44de-8c1e-f3a36bb236c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4160f2-581c-44de-8c1e-f3a36bb236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38457FB-960D-42F9-BAF4-ED5E1A6E95E4}"/>
</file>

<file path=customXml/itemProps2.xml><?xml version="1.0" encoding="utf-8"?>
<ds:datastoreItem xmlns:ds="http://schemas.openxmlformats.org/officeDocument/2006/customXml" ds:itemID="{8CD18DD9-D614-4C20-A230-3A21E90CC065}"/>
</file>

<file path=customXml/itemProps3.xml><?xml version="1.0" encoding="utf-8"?>
<ds:datastoreItem xmlns:ds="http://schemas.openxmlformats.org/officeDocument/2006/customXml" ds:itemID="{3DDFA1EC-6F53-4655-9B3F-CAEAA5514233}"/>
</file>

<file path=docProps/app.xml><?xml version="1.0" encoding="utf-8"?>
<Properties xmlns="http://schemas.openxmlformats.org/officeDocument/2006/extended-properties" xmlns:vt="http://schemas.openxmlformats.org/officeDocument/2006/docPropsVTypes">
  <TotalTime>96</TotalTime>
  <Words>451</Words>
  <Application>Microsoft Office PowerPoint</Application>
  <PresentationFormat>Widescreen</PresentationFormat>
  <Paragraphs>71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Aminul Islam</dc:creator>
  <cp:lastModifiedBy>Sadia Tasnim</cp:lastModifiedBy>
  <cp:revision>4</cp:revision>
  <dcterms:created xsi:type="dcterms:W3CDTF">2023-06-01T16:56:59Z</dcterms:created>
  <dcterms:modified xsi:type="dcterms:W3CDTF">2025-06-24T18:03:14Z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0x01010008EF9E3B196684499E884074FD3CB02C</vt:lpwstr>
  </property>
</Properties>
</file>