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22.JPG" ContentType="image/jpeg"/>
  <Override PartName="/ppt/media/image23.JPG" ContentType="image/jpeg"/>
  <Override PartName="/ppt/media/image37.jpg" ContentType="image/jpe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80" r:id="rId6"/>
    <p:sldId id="285" r:id="rId7"/>
    <p:sldId id="284" r:id="rId8"/>
    <p:sldId id="283" r:id="rId9"/>
    <p:sldId id="282" r:id="rId10"/>
    <p:sldId id="281" r:id="rId11"/>
    <p:sldId id="286" r:id="rId12"/>
    <p:sldId id="287" r:id="rId13"/>
    <p:sldId id="271" r:id="rId14"/>
    <p:sldId id="288" r:id="rId15"/>
    <p:sldId id="289" r:id="rId16"/>
    <p:sldId id="290" r:id="rId17"/>
    <p:sldId id="291" r:id="rId18"/>
    <p:sldId id="292" r:id="rId19"/>
    <p:sldId id="264" r:id="rId20"/>
    <p:sldId id="265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47F119-CE56-5304-EDFA-072602D770B5}" v="4" dt="2025-07-01T17:20:32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Aminul Islam" userId="234d8b6a-e43d-4ead-9a93-1202e0b73365" providerId="ADAL" clId="{3698DE22-02DF-42B3-BDA6-3AAF46D47BDE}"/>
    <pc:docChg chg="undo custSel addSld delSld modSld sldOrd">
      <pc:chgData name="Md. Aminul Islam" userId="234d8b6a-e43d-4ead-9a93-1202e0b73365" providerId="ADAL" clId="{3698DE22-02DF-42B3-BDA6-3AAF46D47BDE}" dt="2023-08-20T19:06:31.552" v="708" actId="47"/>
      <pc:docMkLst>
        <pc:docMk/>
      </pc:docMkLst>
      <pc:sldChg chg="modSp mod">
        <pc:chgData name="Md. Aminul Islam" userId="234d8b6a-e43d-4ead-9a93-1202e0b73365" providerId="ADAL" clId="{3698DE22-02DF-42B3-BDA6-3AAF46D47BDE}" dt="2023-08-20T16:53:20" v="4" actId="20577"/>
        <pc:sldMkLst>
          <pc:docMk/>
          <pc:sldMk cId="0" sldId="257"/>
        </pc:sldMkLst>
      </pc:sldChg>
      <pc:sldChg chg="del">
        <pc:chgData name="Md. Aminul Islam" userId="234d8b6a-e43d-4ead-9a93-1202e0b73365" providerId="ADAL" clId="{3698DE22-02DF-42B3-BDA6-3AAF46D47BDE}" dt="2023-08-20T17:24:44.186" v="83" actId="47"/>
        <pc:sldMkLst>
          <pc:docMk/>
          <pc:sldMk cId="0" sldId="264"/>
        </pc:sldMkLst>
      </pc:sldChg>
      <pc:sldChg chg="addSp delSp modSp mod modAnim">
        <pc:chgData name="Md. Aminul Islam" userId="234d8b6a-e43d-4ead-9a93-1202e0b73365" providerId="ADAL" clId="{3698DE22-02DF-42B3-BDA6-3AAF46D47BDE}" dt="2023-08-20T19:01:25.976" v="679"/>
        <pc:sldMkLst>
          <pc:docMk/>
          <pc:sldMk cId="103669164" sldId="280"/>
        </pc:sldMkLst>
      </pc:sldChg>
      <pc:sldChg chg="addSp modSp mod">
        <pc:chgData name="Md. Aminul Islam" userId="234d8b6a-e43d-4ead-9a93-1202e0b73365" providerId="ADAL" clId="{3698DE22-02DF-42B3-BDA6-3AAF46D47BDE}" dt="2023-08-20T17:45:28.445" v="440"/>
        <pc:sldMkLst>
          <pc:docMk/>
          <pc:sldMk cId="3560462347" sldId="281"/>
        </pc:sldMkLst>
      </pc:sldChg>
      <pc:sldChg chg="addSp delSp modSp mod">
        <pc:chgData name="Md. Aminul Islam" userId="234d8b6a-e43d-4ead-9a93-1202e0b73365" providerId="ADAL" clId="{3698DE22-02DF-42B3-BDA6-3AAF46D47BDE}" dt="2023-08-20T17:44:39.717" v="437" actId="207"/>
        <pc:sldMkLst>
          <pc:docMk/>
          <pc:sldMk cId="4066329106" sldId="282"/>
        </pc:sldMkLst>
      </pc:sldChg>
      <pc:sldChg chg="addSp delSp modSp mod ord modAnim">
        <pc:chgData name="Md. Aminul Islam" userId="234d8b6a-e43d-4ead-9a93-1202e0b73365" providerId="ADAL" clId="{3698DE22-02DF-42B3-BDA6-3AAF46D47BDE}" dt="2023-08-20T19:02:12.470" v="684"/>
        <pc:sldMkLst>
          <pc:docMk/>
          <pc:sldMk cId="1064297895" sldId="283"/>
        </pc:sldMkLst>
      </pc:sldChg>
      <pc:sldChg chg="addSp modSp">
        <pc:chgData name="Md. Aminul Islam" userId="234d8b6a-e43d-4ead-9a93-1202e0b73365" providerId="ADAL" clId="{3698DE22-02DF-42B3-BDA6-3AAF46D47BDE}" dt="2023-08-20T17:23:45.179" v="78"/>
        <pc:sldMkLst>
          <pc:docMk/>
          <pc:sldMk cId="690373200" sldId="284"/>
        </pc:sldMkLst>
      </pc:sldChg>
      <pc:sldChg chg="addSp modSp">
        <pc:chgData name="Md. Aminul Islam" userId="234d8b6a-e43d-4ead-9a93-1202e0b73365" providerId="ADAL" clId="{3698DE22-02DF-42B3-BDA6-3AAF46D47BDE}" dt="2023-08-20T17:22:21.794" v="75"/>
        <pc:sldMkLst>
          <pc:docMk/>
          <pc:sldMk cId="254118423" sldId="285"/>
        </pc:sldMkLst>
      </pc:sldChg>
      <pc:sldChg chg="addSp modSp add">
        <pc:chgData name="Md. Aminul Islam" userId="234d8b6a-e43d-4ead-9a93-1202e0b73365" providerId="ADAL" clId="{3698DE22-02DF-42B3-BDA6-3AAF46D47BDE}" dt="2023-08-20T17:45:50.391" v="442"/>
        <pc:sldMkLst>
          <pc:docMk/>
          <pc:sldMk cId="1532270692" sldId="286"/>
        </pc:sldMkLst>
      </pc:sldChg>
      <pc:sldChg chg="addSp modSp add mod">
        <pc:chgData name="Md. Aminul Islam" userId="234d8b6a-e43d-4ead-9a93-1202e0b73365" providerId="ADAL" clId="{3698DE22-02DF-42B3-BDA6-3AAF46D47BDE}" dt="2023-08-20T18:29:08.919" v="495" actId="20577"/>
        <pc:sldMkLst>
          <pc:docMk/>
          <pc:sldMk cId="3381465179" sldId="287"/>
        </pc:sldMkLst>
      </pc:sldChg>
      <pc:sldChg chg="addSp modSp add mod">
        <pc:chgData name="Md. Aminul Islam" userId="234d8b6a-e43d-4ead-9a93-1202e0b73365" providerId="ADAL" clId="{3698DE22-02DF-42B3-BDA6-3AAF46D47BDE}" dt="2023-08-20T18:36:38.602" v="498"/>
        <pc:sldMkLst>
          <pc:docMk/>
          <pc:sldMk cId="3725043732" sldId="288"/>
        </pc:sldMkLst>
      </pc:sldChg>
      <pc:sldChg chg="addSp modSp add mod">
        <pc:chgData name="Md. Aminul Islam" userId="234d8b6a-e43d-4ead-9a93-1202e0b73365" providerId="ADAL" clId="{3698DE22-02DF-42B3-BDA6-3AAF46D47BDE}" dt="2023-08-20T18:37:54.639" v="503" actId="14100"/>
        <pc:sldMkLst>
          <pc:docMk/>
          <pc:sldMk cId="3521957010" sldId="289"/>
        </pc:sldMkLst>
      </pc:sldChg>
      <pc:sldChg chg="addSp modSp add mod">
        <pc:chgData name="Md. Aminul Islam" userId="234d8b6a-e43d-4ead-9a93-1202e0b73365" providerId="ADAL" clId="{3698DE22-02DF-42B3-BDA6-3AAF46D47BDE}" dt="2023-08-20T19:00:21.888" v="670" actId="1076"/>
        <pc:sldMkLst>
          <pc:docMk/>
          <pc:sldMk cId="3901981189" sldId="290"/>
        </pc:sldMkLst>
      </pc:sldChg>
      <pc:sldChg chg="addSp modSp add mod">
        <pc:chgData name="Md. Aminul Islam" userId="234d8b6a-e43d-4ead-9a93-1202e0b73365" providerId="ADAL" clId="{3698DE22-02DF-42B3-BDA6-3AAF46D47BDE}" dt="2023-08-20T18:46:40.251" v="529" actId="1076"/>
        <pc:sldMkLst>
          <pc:docMk/>
          <pc:sldMk cId="4286511866" sldId="291"/>
        </pc:sldMkLst>
      </pc:sldChg>
      <pc:sldChg chg="addSp delSp modSp add mod modAnim">
        <pc:chgData name="Md. Aminul Islam" userId="234d8b6a-e43d-4ead-9a93-1202e0b73365" providerId="ADAL" clId="{3698DE22-02DF-42B3-BDA6-3AAF46D47BDE}" dt="2023-08-20T19:00:44.667" v="674" actId="1076"/>
        <pc:sldMkLst>
          <pc:docMk/>
          <pc:sldMk cId="1151955364" sldId="292"/>
        </pc:sldMkLst>
      </pc:sldChg>
      <pc:sldChg chg="addSp modSp add mod">
        <pc:chgData name="Md. Aminul Islam" userId="234d8b6a-e43d-4ead-9a93-1202e0b73365" providerId="ADAL" clId="{3698DE22-02DF-42B3-BDA6-3AAF46D47BDE}" dt="2023-08-20T19:06:28.191" v="707" actId="1076"/>
        <pc:sldMkLst>
          <pc:docMk/>
          <pc:sldMk cId="1549703860" sldId="293"/>
        </pc:sldMkLst>
      </pc:sldChg>
      <pc:sldChg chg="add del">
        <pc:chgData name="Md. Aminul Islam" userId="234d8b6a-e43d-4ead-9a93-1202e0b73365" providerId="ADAL" clId="{3698DE22-02DF-42B3-BDA6-3AAF46D47BDE}" dt="2023-08-20T19:06:31.552" v="708" actId="47"/>
        <pc:sldMkLst>
          <pc:docMk/>
          <pc:sldMk cId="2331267685" sldId="294"/>
        </pc:sldMkLst>
      </pc:sldChg>
    </pc:docChg>
  </pc:docChgLst>
  <pc:docChgLst>
    <pc:chgData name="Sadia Tasnim" userId="0a7a5d6a-8466-4436-9475-c4c27ed18f50" providerId="ADAL" clId="{7CEE9BC2-33AF-40FC-93ED-8EA82617BE76}"/>
    <pc:docChg chg="undo custSel addSld delSld modSld">
      <pc:chgData name="Sadia Tasnim" userId="0a7a5d6a-8466-4436-9475-c4c27ed18f50" providerId="ADAL" clId="{7CEE9BC2-33AF-40FC-93ED-8EA82617BE76}" dt="2024-11-26T17:28:19.541" v="170" actId="47"/>
      <pc:docMkLst>
        <pc:docMk/>
      </pc:docMkLst>
      <pc:sldChg chg="delSp modSp mod">
        <pc:chgData name="Sadia Tasnim" userId="0a7a5d6a-8466-4436-9475-c4c27ed18f50" providerId="ADAL" clId="{7CEE9BC2-33AF-40FC-93ED-8EA82617BE76}" dt="2024-11-26T02:43:08.517" v="89" actId="20577"/>
        <pc:sldMkLst>
          <pc:docMk/>
          <pc:sldMk cId="0" sldId="257"/>
        </pc:sldMkLst>
      </pc:sldChg>
      <pc:sldChg chg="modSp add mod">
        <pc:chgData name="Sadia Tasnim" userId="0a7a5d6a-8466-4436-9475-c4c27ed18f50" providerId="ADAL" clId="{7CEE9BC2-33AF-40FC-93ED-8EA82617BE76}" dt="2024-11-26T03:47:14.328" v="143" actId="14100"/>
        <pc:sldMkLst>
          <pc:docMk/>
          <pc:sldMk cId="0" sldId="264"/>
        </pc:sldMkLst>
      </pc:sldChg>
      <pc:sldChg chg="addSp modSp add del mod">
        <pc:chgData name="Sadia Tasnim" userId="0a7a5d6a-8466-4436-9475-c4c27ed18f50" providerId="ADAL" clId="{7CEE9BC2-33AF-40FC-93ED-8EA82617BE76}" dt="2024-11-26T03:50:51.274" v="148" actId="207"/>
        <pc:sldMkLst>
          <pc:docMk/>
          <pc:sldMk cId="0" sldId="265"/>
        </pc:sldMkLst>
      </pc:sldChg>
      <pc:sldChg chg="modSp add del mod">
        <pc:chgData name="Sadia Tasnim" userId="0a7a5d6a-8466-4436-9475-c4c27ed18f50" providerId="ADAL" clId="{7CEE9BC2-33AF-40FC-93ED-8EA82617BE76}" dt="2024-11-26T02:49:41.488" v="105" actId="14100"/>
        <pc:sldMkLst>
          <pc:docMk/>
          <pc:sldMk cId="0" sldId="271"/>
        </pc:sldMkLst>
      </pc:sldChg>
      <pc:sldChg chg="delSp modSp mod">
        <pc:chgData name="Sadia Tasnim" userId="0a7a5d6a-8466-4436-9475-c4c27ed18f50" providerId="ADAL" clId="{7CEE9BC2-33AF-40FC-93ED-8EA82617BE76}" dt="2024-11-26T02:42:18.972" v="63" actId="115"/>
        <pc:sldMkLst>
          <pc:docMk/>
          <pc:sldMk cId="103669164" sldId="280"/>
        </pc:sldMkLst>
      </pc:sldChg>
      <pc:sldChg chg="delSp modSp mod">
        <pc:chgData name="Sadia Tasnim" userId="0a7a5d6a-8466-4436-9475-c4c27ed18f50" providerId="ADAL" clId="{7CEE9BC2-33AF-40FC-93ED-8EA82617BE76}" dt="2024-11-26T02:40:46.279" v="36" actId="1076"/>
        <pc:sldMkLst>
          <pc:docMk/>
          <pc:sldMk cId="3560462347" sldId="281"/>
        </pc:sldMkLst>
      </pc:sldChg>
      <pc:sldChg chg="delSp modSp mod">
        <pc:chgData name="Sadia Tasnim" userId="0a7a5d6a-8466-4436-9475-c4c27ed18f50" providerId="ADAL" clId="{7CEE9BC2-33AF-40FC-93ED-8EA82617BE76}" dt="2024-11-26T02:41:03.030" v="40" actId="2711"/>
        <pc:sldMkLst>
          <pc:docMk/>
          <pc:sldMk cId="4066329106" sldId="282"/>
        </pc:sldMkLst>
      </pc:sldChg>
      <pc:sldChg chg="delSp modSp mod">
        <pc:chgData name="Sadia Tasnim" userId="0a7a5d6a-8466-4436-9475-c4c27ed18f50" providerId="ADAL" clId="{7CEE9BC2-33AF-40FC-93ED-8EA82617BE76}" dt="2024-11-26T02:41:58.141" v="58" actId="2711"/>
        <pc:sldMkLst>
          <pc:docMk/>
          <pc:sldMk cId="1064297895" sldId="283"/>
        </pc:sldMkLst>
      </pc:sldChg>
      <pc:sldChg chg="delSp modSp mod">
        <pc:chgData name="Sadia Tasnim" userId="0a7a5d6a-8466-4436-9475-c4c27ed18f50" providerId="ADAL" clId="{7CEE9BC2-33AF-40FC-93ED-8EA82617BE76}" dt="2024-11-26T02:41:37.605" v="53" actId="122"/>
        <pc:sldMkLst>
          <pc:docMk/>
          <pc:sldMk cId="690373200" sldId="284"/>
        </pc:sldMkLst>
      </pc:sldChg>
      <pc:sldChg chg="delSp modSp mod">
        <pc:chgData name="Sadia Tasnim" userId="0a7a5d6a-8466-4436-9475-c4c27ed18f50" providerId="ADAL" clId="{7CEE9BC2-33AF-40FC-93ED-8EA82617BE76}" dt="2024-11-26T02:41:52.743" v="57" actId="1076"/>
        <pc:sldMkLst>
          <pc:docMk/>
          <pc:sldMk cId="254118423" sldId="285"/>
        </pc:sldMkLst>
      </pc:sldChg>
      <pc:sldChg chg="delSp modSp mod">
        <pc:chgData name="Sadia Tasnim" userId="0a7a5d6a-8466-4436-9475-c4c27ed18f50" providerId="ADAL" clId="{7CEE9BC2-33AF-40FC-93ED-8EA82617BE76}" dt="2024-11-26T02:40:34.567" v="32" actId="1076"/>
        <pc:sldMkLst>
          <pc:docMk/>
          <pc:sldMk cId="1532270692" sldId="286"/>
        </pc:sldMkLst>
      </pc:sldChg>
      <pc:sldChg chg="addSp delSp modSp mod">
        <pc:chgData name="Sadia Tasnim" userId="0a7a5d6a-8466-4436-9475-c4c27ed18f50" providerId="ADAL" clId="{7CEE9BC2-33AF-40FC-93ED-8EA82617BE76}" dt="2024-11-26T02:48:01.790" v="100" actId="1076"/>
        <pc:sldMkLst>
          <pc:docMk/>
          <pc:sldMk cId="3381465179" sldId="287"/>
        </pc:sldMkLst>
      </pc:sldChg>
      <pc:sldChg chg="delSp modSp mod">
        <pc:chgData name="Sadia Tasnim" userId="0a7a5d6a-8466-4436-9475-c4c27ed18f50" providerId="ADAL" clId="{7CEE9BC2-33AF-40FC-93ED-8EA82617BE76}" dt="2024-11-26T02:39:33.558" v="20" actId="2711"/>
        <pc:sldMkLst>
          <pc:docMk/>
          <pc:sldMk cId="3725043732" sldId="288"/>
        </pc:sldMkLst>
      </pc:sldChg>
      <pc:sldChg chg="delSp modSp mod">
        <pc:chgData name="Sadia Tasnim" userId="0a7a5d6a-8466-4436-9475-c4c27ed18f50" providerId="ADAL" clId="{7CEE9BC2-33AF-40FC-93ED-8EA82617BE76}" dt="2024-11-26T03:42:48.248" v="115" actId="2711"/>
        <pc:sldMkLst>
          <pc:docMk/>
          <pc:sldMk cId="3521957010" sldId="289"/>
        </pc:sldMkLst>
      </pc:sldChg>
      <pc:sldChg chg="delSp modSp mod">
        <pc:chgData name="Sadia Tasnim" userId="0a7a5d6a-8466-4436-9475-c4c27ed18f50" providerId="ADAL" clId="{7CEE9BC2-33AF-40FC-93ED-8EA82617BE76}" dt="2024-11-26T02:38:59.262" v="12" actId="2711"/>
        <pc:sldMkLst>
          <pc:docMk/>
          <pc:sldMk cId="3901981189" sldId="290"/>
        </pc:sldMkLst>
      </pc:sldChg>
      <pc:sldChg chg="addSp delSp modSp mod">
        <pc:chgData name="Sadia Tasnim" userId="0a7a5d6a-8466-4436-9475-c4c27ed18f50" providerId="ADAL" clId="{7CEE9BC2-33AF-40FC-93ED-8EA82617BE76}" dt="2024-11-26T03:01:33.804" v="113" actId="1076"/>
        <pc:sldMkLst>
          <pc:docMk/>
          <pc:sldMk cId="4286511866" sldId="291"/>
        </pc:sldMkLst>
      </pc:sldChg>
      <pc:sldChg chg="delSp mod">
        <pc:chgData name="Sadia Tasnim" userId="0a7a5d6a-8466-4436-9475-c4c27ed18f50" providerId="ADAL" clId="{7CEE9BC2-33AF-40FC-93ED-8EA82617BE76}" dt="2024-11-26T02:38:31.187" v="7" actId="478"/>
        <pc:sldMkLst>
          <pc:docMk/>
          <pc:sldMk cId="1151955364" sldId="292"/>
        </pc:sldMkLst>
      </pc:sldChg>
      <pc:sldChg chg="delSp del mod">
        <pc:chgData name="Sadia Tasnim" userId="0a7a5d6a-8466-4436-9475-c4c27ed18f50" providerId="ADAL" clId="{7CEE9BC2-33AF-40FC-93ED-8EA82617BE76}" dt="2024-11-26T02:38:22.958" v="3" actId="47"/>
        <pc:sldMkLst>
          <pc:docMk/>
          <pc:sldMk cId="1549703860" sldId="293"/>
        </pc:sldMkLst>
      </pc:sldChg>
      <pc:sldChg chg="delSp add mod">
        <pc:chgData name="Sadia Tasnim" userId="0a7a5d6a-8466-4436-9475-c4c27ed18f50" providerId="ADAL" clId="{7CEE9BC2-33AF-40FC-93ED-8EA82617BE76}" dt="2024-11-26T17:20:56.465" v="151" actId="478"/>
        <pc:sldMkLst>
          <pc:docMk/>
          <pc:sldMk cId="3849498701" sldId="293"/>
        </pc:sldMkLst>
      </pc:sldChg>
      <pc:sldChg chg="delSp modSp add mod">
        <pc:chgData name="Sadia Tasnim" userId="0a7a5d6a-8466-4436-9475-c4c27ed18f50" providerId="ADAL" clId="{7CEE9BC2-33AF-40FC-93ED-8EA82617BE76}" dt="2024-11-26T17:21:08.168" v="155" actId="1076"/>
        <pc:sldMkLst>
          <pc:docMk/>
          <pc:sldMk cId="4034938322" sldId="294"/>
        </pc:sldMkLst>
      </pc:sldChg>
      <pc:sldChg chg="delSp modSp add mod">
        <pc:chgData name="Sadia Tasnim" userId="0a7a5d6a-8466-4436-9475-c4c27ed18f50" providerId="ADAL" clId="{7CEE9BC2-33AF-40FC-93ED-8EA82617BE76}" dt="2024-11-26T17:21:15.031" v="158" actId="1076"/>
        <pc:sldMkLst>
          <pc:docMk/>
          <pc:sldMk cId="112146023" sldId="295"/>
        </pc:sldMkLst>
      </pc:sldChg>
      <pc:sldChg chg="delSp modSp add mod">
        <pc:chgData name="Sadia Tasnim" userId="0a7a5d6a-8466-4436-9475-c4c27ed18f50" providerId="ADAL" clId="{7CEE9BC2-33AF-40FC-93ED-8EA82617BE76}" dt="2024-11-26T17:21:26.039" v="161" actId="1076"/>
        <pc:sldMkLst>
          <pc:docMk/>
          <pc:sldMk cId="690089122" sldId="296"/>
        </pc:sldMkLst>
      </pc:sldChg>
      <pc:sldChg chg="delSp modSp add mod">
        <pc:chgData name="Sadia Tasnim" userId="0a7a5d6a-8466-4436-9475-c4c27ed18f50" providerId="ADAL" clId="{7CEE9BC2-33AF-40FC-93ED-8EA82617BE76}" dt="2024-11-26T17:22:04.647" v="164" actId="1076"/>
        <pc:sldMkLst>
          <pc:docMk/>
          <pc:sldMk cId="2021678125" sldId="297"/>
        </pc:sldMkLst>
      </pc:sldChg>
      <pc:sldChg chg="delSp add mod">
        <pc:chgData name="Sadia Tasnim" userId="0a7a5d6a-8466-4436-9475-c4c27ed18f50" providerId="ADAL" clId="{7CEE9BC2-33AF-40FC-93ED-8EA82617BE76}" dt="2024-11-26T17:22:25.983" v="166" actId="478"/>
        <pc:sldMkLst>
          <pc:docMk/>
          <pc:sldMk cId="3716852502" sldId="298"/>
        </pc:sldMkLst>
      </pc:sldChg>
      <pc:sldChg chg="delSp add mod">
        <pc:chgData name="Sadia Tasnim" userId="0a7a5d6a-8466-4436-9475-c4c27ed18f50" providerId="ADAL" clId="{7CEE9BC2-33AF-40FC-93ED-8EA82617BE76}" dt="2024-11-26T17:22:29.458" v="168" actId="478"/>
        <pc:sldMkLst>
          <pc:docMk/>
          <pc:sldMk cId="2558122386" sldId="299"/>
        </pc:sldMkLst>
      </pc:sldChg>
      <pc:sldChg chg="add">
        <pc:chgData name="Sadia Tasnim" userId="0a7a5d6a-8466-4436-9475-c4c27ed18f50" providerId="ADAL" clId="{7CEE9BC2-33AF-40FC-93ED-8EA82617BE76}" dt="2024-11-26T17:27:38.421" v="169"/>
        <pc:sldMkLst>
          <pc:docMk/>
          <pc:sldMk cId="0" sldId="300"/>
        </pc:sldMkLst>
      </pc:sldChg>
      <pc:sldChg chg="add del">
        <pc:chgData name="Sadia Tasnim" userId="0a7a5d6a-8466-4436-9475-c4c27ed18f50" providerId="ADAL" clId="{7CEE9BC2-33AF-40FC-93ED-8EA82617BE76}" dt="2024-11-26T17:28:19.541" v="170" actId="47"/>
        <pc:sldMkLst>
          <pc:docMk/>
          <pc:sldMk cId="0" sldId="301"/>
        </pc:sldMkLst>
      </pc:sldChg>
    </pc:docChg>
  </pc:docChgLst>
  <pc:docChgLst>
    <pc:chgData name="Sadia Tasnim" userId="S::sadiatasnim@me.buet.ac.bd::0a7a5d6a-8466-4436-9475-c4c27ed18f50" providerId="AD" clId="Web-{9547F119-CE56-5304-EDFA-072602D770B5}"/>
    <pc:docChg chg="modSld">
      <pc:chgData name="Sadia Tasnim" userId="S::sadiatasnim@me.buet.ac.bd::0a7a5d6a-8466-4436-9475-c4c27ed18f50" providerId="AD" clId="Web-{9547F119-CE56-5304-EDFA-072602D770B5}" dt="2025-07-01T17:20:32.903" v="3" actId="20577"/>
      <pc:docMkLst>
        <pc:docMk/>
      </pc:docMkLst>
      <pc:sldChg chg="modSp">
        <pc:chgData name="Sadia Tasnim" userId="S::sadiatasnim@me.buet.ac.bd::0a7a5d6a-8466-4436-9475-c4c27ed18f50" providerId="AD" clId="Web-{9547F119-CE56-5304-EDFA-072602D770B5}" dt="2025-07-01T17:20:32.903" v="3" actId="20577"/>
        <pc:sldMkLst>
          <pc:docMk/>
          <pc:sldMk cId="0" sldId="257"/>
        </pc:sldMkLst>
        <pc:spChg chg="mod">
          <ac:chgData name="Sadia Tasnim" userId="S::sadiatasnim@me.buet.ac.bd::0a7a5d6a-8466-4436-9475-c4c27ed18f50" providerId="AD" clId="Web-{9547F119-CE56-5304-EDFA-072602D770B5}" dt="2025-07-01T17:20:15.496" v="0" actId="1076"/>
          <ac:spMkLst>
            <pc:docMk/>
            <pc:sldMk cId="0" sldId="257"/>
            <ac:spMk id="6" creationId="{5DFB10B2-0059-165B-F949-FDFFD6A85D5C}"/>
          </ac:spMkLst>
        </pc:spChg>
        <pc:spChg chg="mod">
          <ac:chgData name="Sadia Tasnim" userId="S::sadiatasnim@me.buet.ac.bd::0a7a5d6a-8466-4436-9475-c4c27ed18f50" providerId="AD" clId="Web-{9547F119-CE56-5304-EDFA-072602D770B5}" dt="2025-07-01T17:20:32.903" v="3" actId="20577"/>
          <ac:spMkLst>
            <pc:docMk/>
            <pc:sldMk cId="0" sldId="257"/>
            <ac:spMk id="7" creationId="{F16BE822-34D9-8E49-EEB6-A29F99397F2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65CA-A64B-40AD-3D3E-D9CB98082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D5A05-C905-DD1D-C847-9D47B7753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DB09E-6584-7D99-BD93-CEC3A3181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43659-F363-7BE2-282C-2DA76FA21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CB2D9-5378-3476-9A48-7093E18DA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54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730B-CE28-BD90-6C18-ACF544025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9252A-A163-C914-FBCC-44A442329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F8A58-4F97-857C-562E-E5471E0C3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D10E5-50CD-A148-2780-EF387D4EF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ABB09-CF8E-17D6-751D-949D3B60B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13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BFDC4-149A-1F61-AEBF-C77928EE4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7EBB3-A39D-6EB2-FFF9-747CBE21B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321E8-41CB-F2E3-114A-AC2D3020D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9B06E-79EC-F8B0-A2A7-696C185CF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F5FFB-BDB9-BF7C-DAF5-2F4EDAC7D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05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43B58-F799-8E50-C2BF-E3A1E259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1EF81-5FC5-1F2B-B826-CFF705856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E4B660-203C-16A8-D252-FC56937C1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B8E50-CA40-BE7A-A0D0-2F79730CD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C9DAE-6AD1-60BC-7F41-DD3BA808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6CC2D-2411-C1B0-F125-8140B4C10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694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6F209-C97C-204C-577E-20DF8D255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1D8FD-6E37-4A77-C5FC-ECED69731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EA336-F448-44D5-D9ED-E1D4D80AD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856FD7-0F30-8559-1A8A-B423FEEEF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008354-DDBA-0148-CDC0-35B1A39A1B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5E5B08-3092-F069-61A4-DD9EF5C9B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431F20-CA9D-744D-7CE5-CCA72BC4B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CBF572-FF22-3883-2302-4AC0E9891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84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7DF6E-C490-12BD-8C0D-D6384D4A2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6359E8-0AE6-B76E-7B4E-318ACE2C4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D40CAE-8A9F-9D10-FD4D-8DB790979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00789-8A3F-F5C0-4D91-8A63BBC2F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56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B41FC3-80B5-ECC5-DA7D-34BE9D23F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0DACC9-6BB3-E8C4-1DD7-E3914EEED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20620-2FD5-47D0-24AC-9E30A3F9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4866B-229A-B819-94AF-C66129D0B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36251-19E5-6F7B-A2D2-18648388C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8894D-622C-A667-2EB6-44555DC21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A8636-3AAC-5F5F-9ECD-4499B660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92220-9F56-F357-E05C-BC8FB89A7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B46C-54DF-A943-3F8C-C63EB816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50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B8AA7-B1C5-A7B3-3E19-B94F94F19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4D4F98-BC1A-8DA0-7072-39BE699451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37492-3F2F-9C51-7196-8BD9E4D12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ABC2A-97A4-CF71-10AC-7F2A9FCF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EFBAD-8136-E3F3-2F6B-BA46AA850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9B287-B665-40DD-B285-61A40081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066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FD986-E52B-39FA-A486-6929BECD1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7A935-D4AB-CBF8-E924-389370B9D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DB261-B0BD-4C39-46F7-8F79F96C6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3FBBE-A7E1-3A3F-3EB9-DDEFB1DD2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0B6BC-21D5-62E1-6A25-70CCF6876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64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8FD8F5-7DD9-4D17-14EF-FEF4A5C41E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DCEF29-B977-7774-E05C-8ADD46066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C83BD-60BE-16B6-EDBA-5E24DD350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94DD-950C-4C46-B2B6-CE262DB1297D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053F9-FD78-F5B0-776B-A69997752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1A740-FF61-F67E-A02F-F241F0418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433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B6770C-2317-D040-4A2C-FCCDA8C10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E9B29-E6A5-4AE1-CCDE-279E808B6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9EAD2-DDC8-1474-078E-5770B560A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C94DD-950C-4C46-B2B6-CE262DB1297D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DF784-EF0B-772D-4E77-26EAD16106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E4E81-052F-E13A-81DE-3A780CCAF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726F0-E596-4888-80E3-016B2DEB6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12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7" Type="http://schemas.openxmlformats.org/officeDocument/2006/relationships/image" Target="../media/image2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26.jpg"/><Relationship Id="rId4" Type="http://schemas.openxmlformats.org/officeDocument/2006/relationships/image" Target="../media/image80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image" Target="../media/image16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0.png"/><Relationship Id="rId5" Type="http://schemas.openxmlformats.org/officeDocument/2006/relationships/image" Target="../media/image17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jpg"/><Relationship Id="rId5" Type="http://schemas.openxmlformats.org/officeDocument/2006/relationships/image" Target="../media/image41.png"/><Relationship Id="rId4" Type="http://schemas.openxmlformats.org/officeDocument/2006/relationships/image" Target="../media/image4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A09BA275-68A7-7A75-3376-AE5346023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52F9E-2A1B-4585-81D9-7A10A22D2DB5}" type="datetime1">
              <a:rPr lang="en-US" smtClean="0"/>
              <a:t>7/1/2025</a:t>
            </a:fld>
            <a:endParaRPr lang="en-US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9774637B-0AB0-4237-20ED-EC335262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FB10B2-0059-165B-F949-FDFFD6A85D5C}"/>
              </a:ext>
            </a:extLst>
          </p:cNvPr>
          <p:cNvSpPr txBox="1"/>
          <p:nvPr/>
        </p:nvSpPr>
        <p:spPr>
          <a:xfrm>
            <a:off x="2435254" y="1015786"/>
            <a:ext cx="77216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ME 165</a:t>
            </a:r>
          </a:p>
          <a:p>
            <a:pPr algn="ctr"/>
            <a:r>
              <a:rPr lang="en-US" sz="3400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Basic Mechanical Engineering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F16BE822-34D9-8E49-EEB6-A29F99397F23}"/>
              </a:ext>
            </a:extLst>
          </p:cNvPr>
          <p:cNvSpPr txBox="1"/>
          <p:nvPr/>
        </p:nvSpPr>
        <p:spPr>
          <a:xfrm>
            <a:off x="972843" y="2450786"/>
            <a:ext cx="9614426" cy="2906779"/>
          </a:xfrm>
          <a:prstGeom prst="rect">
            <a:avLst/>
          </a:prstGeom>
        </p:spPr>
        <p:txBody>
          <a:bodyPr vert="horz" wrap="square" lIns="0" tIns="8467" rIns="0" bIns="0" rtlCol="0" anchor="t">
            <a:spAutoFit/>
          </a:bodyPr>
          <a:lstStyle/>
          <a:p>
            <a:pPr marL="1379289" marR="1372939" algn="ctr">
              <a:spcBef>
                <a:spcPts val="67"/>
              </a:spcBef>
            </a:pPr>
            <a:r>
              <a:rPr sz="3000" b="1" spc="-7" dirty="0">
                <a:solidFill>
                  <a:srgbClr val="FF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Lecture</a:t>
            </a:r>
            <a:r>
              <a:rPr sz="3000" b="1" spc="-63" dirty="0">
                <a:solidFill>
                  <a:srgbClr val="FF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 </a:t>
            </a:r>
            <a:r>
              <a:rPr lang="en-US" sz="3000" b="1" spc="-63" dirty="0">
                <a:solidFill>
                  <a:srgbClr val="FF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8</a:t>
            </a:r>
            <a:endParaRPr lang="en-US" sz="3000" b="1" dirty="0">
              <a:solidFill>
                <a:srgbClr val="FF0000"/>
              </a:solidFill>
              <a:latin typeface="Bookman Old Style" panose="02050604050505020204" pitchFamily="18" charset="0"/>
              <a:cs typeface="Dreaming Outloud Pro" panose="03050502040302030504" pitchFamily="66" charset="0"/>
            </a:endParaRPr>
          </a:p>
          <a:p>
            <a:pPr marL="1379220" marR="1372870" algn="ctr">
              <a:spcBef>
                <a:spcPts val="67"/>
              </a:spcBef>
            </a:pPr>
            <a:r>
              <a:rPr lang="en-US" sz="3000" b="1" spc="-3">
                <a:solidFill>
                  <a:srgbClr val="C00000"/>
                </a:solidFill>
                <a:latin typeface="Bookman Old Style"/>
                <a:cs typeface="Dreaming Outloud Pro"/>
              </a:rPr>
              <a:t>Kinematics of Particles</a:t>
            </a:r>
            <a:endParaRPr lang="en-US" sz="3000" b="1">
              <a:solidFill>
                <a:srgbClr val="FF0000"/>
              </a:solidFill>
              <a:latin typeface="Bookman Old Style"/>
              <a:cs typeface="Dreaming Outloud Pro"/>
            </a:endParaRPr>
          </a:p>
          <a:p>
            <a:pPr>
              <a:spcBef>
                <a:spcPts val="7"/>
              </a:spcBef>
            </a:pPr>
            <a:endParaRPr sz="3000" dirty="0">
              <a:latin typeface="Bookman Old Style" panose="02050604050505020204" pitchFamily="18" charset="0"/>
              <a:cs typeface="Dreaming Outloud Pro" panose="03050502040302030504" pitchFamily="66" charset="0"/>
            </a:endParaRPr>
          </a:p>
          <a:p>
            <a:pPr marL="2540" algn="ctr">
              <a:spcBef>
                <a:spcPts val="3"/>
              </a:spcBef>
            </a:pPr>
            <a:r>
              <a:rPr lang="en-US" sz="3000" b="1" spc="-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Sadia Tasnim</a:t>
            </a:r>
            <a:endParaRPr sz="3000" dirty="0">
              <a:latin typeface="Bookman Old Style" panose="02050604050505020204" pitchFamily="18" charset="0"/>
              <a:cs typeface="Dreaming Outloud Pro" panose="03050502040302030504" pitchFamily="66" charset="0"/>
            </a:endParaRPr>
          </a:p>
          <a:p>
            <a:pPr marL="3387" algn="ctr">
              <a:spcBef>
                <a:spcPts val="450"/>
              </a:spcBef>
            </a:pPr>
            <a:r>
              <a:rPr sz="3000" spc="-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Lecturer</a:t>
            </a:r>
            <a:endParaRPr sz="3000" dirty="0">
              <a:latin typeface="Bookman Old Style" panose="02050604050505020204" pitchFamily="18" charset="0"/>
              <a:cs typeface="Dreaming Outloud Pro" panose="03050502040302030504" pitchFamily="66" charset="0"/>
            </a:endParaRPr>
          </a:p>
          <a:p>
            <a:pPr algn="ctr">
              <a:spcBef>
                <a:spcPts val="440"/>
              </a:spcBef>
            </a:pPr>
            <a:r>
              <a:rPr sz="3000" spc="-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Department</a:t>
            </a:r>
            <a:r>
              <a:rPr sz="3000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 </a:t>
            </a:r>
            <a:r>
              <a:rPr sz="3000" spc="-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of</a:t>
            </a:r>
            <a:r>
              <a:rPr sz="3000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 </a:t>
            </a:r>
            <a:r>
              <a:rPr sz="3000" spc="-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Mechanical</a:t>
            </a:r>
            <a:r>
              <a:rPr sz="3000" spc="-7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 </a:t>
            </a:r>
            <a:r>
              <a:rPr sz="3000" spc="-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Engineering,</a:t>
            </a:r>
            <a:r>
              <a:rPr sz="3000" spc="-13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 </a:t>
            </a:r>
            <a:r>
              <a:rPr sz="3000" spc="-7" dirty="0">
                <a:latin typeface="Bookman Old Style" panose="02050604050505020204" pitchFamily="18" charset="0"/>
                <a:cs typeface="Dreaming Outloud Pro" panose="03050502040302030504" pitchFamily="66" charset="0"/>
              </a:rPr>
              <a:t>BUET</a:t>
            </a:r>
            <a:endParaRPr sz="3000" dirty="0">
              <a:latin typeface="Bookman Old Style" panose="02050604050505020204" pitchFamily="18" charset="0"/>
              <a:cs typeface="Dreaming Outloud Pro" panose="03050502040302030504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7/1/2025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5007E623-8738-EC70-3F1E-4FE5D1BEC259}"/>
              </a:ext>
            </a:extLst>
          </p:cNvPr>
          <p:cNvSpPr txBox="1">
            <a:spLocks/>
          </p:cNvSpPr>
          <p:nvPr/>
        </p:nvSpPr>
        <p:spPr>
          <a:xfrm>
            <a:off x="378691" y="334772"/>
            <a:ext cx="626665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lang="en-US" sz="3200" u="sng" spc="-5" dirty="0">
                <a:solidFill>
                  <a:srgbClr val="C0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Introduction of Dynamics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5F87AEA-007E-6E55-1419-BB220CAC1EC9}"/>
              </a:ext>
            </a:extLst>
          </p:cNvPr>
          <p:cNvSpPr txBox="1"/>
          <p:nvPr/>
        </p:nvSpPr>
        <p:spPr>
          <a:xfrm>
            <a:off x="5007838" y="939876"/>
            <a:ext cx="327501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92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Engineering </a:t>
            </a: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Mechanics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19C7CF52-9A09-93CC-D9BF-BC5F77911BF6}"/>
              </a:ext>
            </a:extLst>
          </p:cNvPr>
          <p:cNvSpPr txBox="1"/>
          <p:nvPr/>
        </p:nvSpPr>
        <p:spPr>
          <a:xfrm>
            <a:off x="2682566" y="2484466"/>
            <a:ext cx="26390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225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Statics</a:t>
            </a:r>
            <a:r>
              <a:rPr sz="2400" b="1" dirty="0">
                <a:latin typeface="Times New Roman"/>
                <a:cs typeface="Times New Roman"/>
              </a:rPr>
              <a:t>: </a:t>
            </a:r>
            <a:r>
              <a:rPr sz="2400" dirty="0">
                <a:latin typeface="Times New Roman"/>
                <a:cs typeface="Times New Roman"/>
              </a:rPr>
              <a:t>Study of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bodies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equilibrium</a:t>
            </a: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FD1E029F-E178-9076-B922-53369C38CD84}"/>
              </a:ext>
            </a:extLst>
          </p:cNvPr>
          <p:cNvSpPr txBox="1"/>
          <p:nvPr/>
        </p:nvSpPr>
        <p:spPr>
          <a:xfrm>
            <a:off x="7646346" y="2559642"/>
            <a:ext cx="3470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AFEF"/>
                </a:solidFill>
                <a:latin typeface="Times New Roman"/>
                <a:cs typeface="Times New Roman"/>
              </a:rPr>
              <a:t>Dynamics</a:t>
            </a:r>
            <a:r>
              <a:rPr sz="2400" b="1" dirty="0">
                <a:latin typeface="Times New Roman"/>
                <a:cs typeface="Times New Roman"/>
              </a:rPr>
              <a:t>: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Study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motion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5904586C-12CC-9650-6A48-B76350BF572B}"/>
              </a:ext>
            </a:extLst>
          </p:cNvPr>
          <p:cNvSpPr txBox="1"/>
          <p:nvPr/>
        </p:nvSpPr>
        <p:spPr>
          <a:xfrm>
            <a:off x="8239442" y="3046730"/>
            <a:ext cx="348551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marR="5080" indent="-34163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1.		Kinematics</a:t>
            </a:r>
            <a:r>
              <a:rPr sz="2400" dirty="0">
                <a:latin typeface="Times New Roman"/>
                <a:cs typeface="Times New Roman"/>
              </a:rPr>
              <a:t>: concerned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geometric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aspects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motion,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e.g.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2400" i="1" spc="-5" dirty="0">
                <a:latin typeface="Times New Roman"/>
                <a:cs typeface="Times New Roman"/>
              </a:rPr>
              <a:t>, </a:t>
            </a:r>
            <a:r>
              <a:rPr sz="2400" i="1" spc="-90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sz="2400" i="1" spc="-90" dirty="0">
                <a:latin typeface="Times New Roman"/>
                <a:cs typeface="Times New Roman"/>
              </a:rPr>
              <a:t>,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1" name="object 17">
            <a:extLst>
              <a:ext uri="{FF2B5EF4-FFF2-40B4-BE49-F238E27FC236}">
                <a16:creationId xmlns:a16="http://schemas.microsoft.com/office/drawing/2014/main" id="{0AFEF07C-6F92-CC52-988F-E21671EE4D81}"/>
              </a:ext>
            </a:extLst>
          </p:cNvPr>
          <p:cNvSpPr txBox="1"/>
          <p:nvPr/>
        </p:nvSpPr>
        <p:spPr>
          <a:xfrm>
            <a:off x="8082914" y="4380187"/>
            <a:ext cx="3798570" cy="168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00"/>
              </a:spcBef>
              <a:tabLst>
                <a:tab pos="662305" algn="l"/>
              </a:tabLst>
            </a:pPr>
            <a:r>
              <a:rPr sz="24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2.	</a:t>
            </a:r>
            <a:r>
              <a:rPr sz="2400" b="1" dirty="0">
                <a:solidFill>
                  <a:srgbClr val="00AF50"/>
                </a:solidFill>
                <a:latin typeface="Times New Roman"/>
                <a:cs typeface="Times New Roman"/>
              </a:rPr>
              <a:t>Kinetics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concerned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</a:p>
          <a:p>
            <a:pPr marL="1549400" marR="179070" indent="-74104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Times New Roman"/>
                <a:cs typeface="Times New Roman"/>
              </a:rPr>
              <a:t>how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forces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causing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motion</a:t>
            </a:r>
            <a:endParaRPr sz="24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535"/>
              </a:spcBef>
            </a:pPr>
            <a:r>
              <a:rPr sz="24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Newton’s</a:t>
            </a:r>
            <a:r>
              <a:rPr sz="24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2</a:t>
            </a:r>
            <a:r>
              <a:rPr sz="2400" b="1" baseline="24305" dirty="0">
                <a:solidFill>
                  <a:srgbClr val="006FC0"/>
                </a:solidFill>
                <a:latin typeface="Times New Roman"/>
                <a:cs typeface="Times New Roman"/>
              </a:rPr>
              <a:t>nd</a:t>
            </a:r>
            <a:r>
              <a:rPr sz="2400" b="1" spc="284" baseline="2430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Law:</a:t>
            </a:r>
            <a:r>
              <a:rPr sz="24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Cambria Math"/>
                <a:cs typeface="Cambria Math"/>
              </a:rPr>
              <a:t>𝑭</a:t>
            </a:r>
            <a:r>
              <a:rPr sz="2625" spc="22" baseline="-15873" dirty="0">
                <a:latin typeface="Cambria Math"/>
                <a:cs typeface="Cambria Math"/>
              </a:rPr>
              <a:t>𝑅 </a:t>
            </a:r>
            <a:r>
              <a:rPr sz="2625" spc="44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𝑚𝒂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9020FE-0871-D3D7-15D3-5E733E2610FE}"/>
              </a:ext>
            </a:extLst>
          </p:cNvPr>
          <p:cNvSpPr txBox="1"/>
          <p:nvPr/>
        </p:nvSpPr>
        <p:spPr>
          <a:xfrm>
            <a:off x="2488264" y="3429000"/>
            <a:ext cx="28721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7015">
              <a:lnSpc>
                <a:spcPct val="100000"/>
              </a:lnSpc>
              <a:spcBef>
                <a:spcPts val="919"/>
              </a:spcBef>
            </a:pPr>
            <a:r>
              <a:rPr lang="en-US" sz="24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Newton’s</a:t>
            </a:r>
            <a:r>
              <a:rPr lang="en-US"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US"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1</a:t>
            </a:r>
            <a:r>
              <a:rPr lang="en-US" sz="2400" b="1" baseline="24305" dirty="0">
                <a:solidFill>
                  <a:srgbClr val="006FC0"/>
                </a:solidFill>
                <a:latin typeface="Times New Roman"/>
                <a:cs typeface="Times New Roman"/>
              </a:rPr>
              <a:t>st</a:t>
            </a:r>
            <a:r>
              <a:rPr lang="en-US" sz="2400" b="1" spc="277" baseline="2430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Law:</a:t>
            </a:r>
            <a:endParaRPr lang="en-US" sz="2400" dirty="0">
              <a:latin typeface="Times New Roman"/>
              <a:cs typeface="Times New Roman"/>
            </a:endParaRPr>
          </a:p>
          <a:p>
            <a:pPr marL="953769">
              <a:lnSpc>
                <a:spcPct val="100000"/>
              </a:lnSpc>
            </a:pPr>
            <a:r>
              <a:rPr lang="en-US" sz="2400" spc="15" dirty="0">
                <a:latin typeface="Cambria Math"/>
                <a:cs typeface="Cambria Math"/>
              </a:rPr>
              <a:t>𝑭</a:t>
            </a:r>
            <a:r>
              <a:rPr lang="en-US" sz="2400" spc="22" baseline="-15873" dirty="0">
                <a:latin typeface="Cambria Math"/>
                <a:cs typeface="Cambria Math"/>
              </a:rPr>
              <a:t>𝑅</a:t>
            </a:r>
            <a:r>
              <a:rPr lang="en-US" sz="2400" spc="592" baseline="-15873" dirty="0">
                <a:latin typeface="Cambria Math"/>
                <a:cs typeface="Cambria Math"/>
              </a:rPr>
              <a:t> </a:t>
            </a:r>
            <a:r>
              <a:rPr lang="en-US" sz="2400" dirty="0">
                <a:latin typeface="Cambria Math"/>
                <a:cs typeface="Cambria Math"/>
              </a:rPr>
              <a:t>=</a:t>
            </a:r>
            <a:r>
              <a:rPr lang="en-US" sz="2400" spc="110" dirty="0">
                <a:latin typeface="Cambria Math"/>
                <a:cs typeface="Cambria Math"/>
              </a:rPr>
              <a:t> </a:t>
            </a:r>
            <a:r>
              <a:rPr lang="en-US" sz="2400" dirty="0">
                <a:latin typeface="Cambria Math"/>
                <a:cs typeface="Cambria Math"/>
              </a:rPr>
              <a:t>0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3C4AFCDC-F40D-846F-78D0-02488C345B81}"/>
              </a:ext>
            </a:extLst>
          </p:cNvPr>
          <p:cNvCxnSpPr>
            <a:cxnSpLocks/>
          </p:cNvCxnSpPr>
          <p:nvPr/>
        </p:nvCxnSpPr>
        <p:spPr>
          <a:xfrm>
            <a:off x="6586153" y="1723880"/>
            <a:ext cx="2795648" cy="811021"/>
          </a:xfrm>
          <a:prstGeom prst="bentConnector2">
            <a:avLst/>
          </a:prstGeom>
          <a:ln w="381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78E7A292-0902-F73F-FA5D-A160472EA0D0}"/>
              </a:ext>
            </a:extLst>
          </p:cNvPr>
          <p:cNvCxnSpPr>
            <a:cxnSpLocks/>
          </p:cNvCxnSpPr>
          <p:nvPr/>
        </p:nvCxnSpPr>
        <p:spPr>
          <a:xfrm flipH="1">
            <a:off x="3790505" y="1723880"/>
            <a:ext cx="2795648" cy="811021"/>
          </a:xfrm>
          <a:prstGeom prst="bentConnector2">
            <a:avLst/>
          </a:prstGeom>
          <a:ln w="381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A74CFA-BEFB-1155-D5C0-1C34C2D2FECB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645348" y="1322032"/>
            <a:ext cx="0" cy="4018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66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/>
      <p:bldP spid="11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7/1/2025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AEC78AD9-0FF8-FE3D-F914-5D39F628D32F}"/>
              </a:ext>
            </a:extLst>
          </p:cNvPr>
          <p:cNvSpPr txBox="1"/>
          <p:nvPr/>
        </p:nvSpPr>
        <p:spPr>
          <a:xfrm>
            <a:off x="1804797" y="1169923"/>
            <a:ext cx="9095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Kinematics:</a:t>
            </a:r>
            <a:r>
              <a:rPr sz="24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concerned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geometric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aspects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motion,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 e.g.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2400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i="1" spc="-90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sz="2400" i="1" spc="-9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400" i="1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a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4">
            <a:extLst>
              <a:ext uri="{FF2B5EF4-FFF2-40B4-BE49-F238E27FC236}">
                <a16:creationId xmlns:a16="http://schemas.microsoft.com/office/drawing/2014/main" id="{02A0CEFE-30D2-48F9-8E8E-B1B54BAFAA8C}"/>
              </a:ext>
            </a:extLst>
          </p:cNvPr>
          <p:cNvGrpSpPr/>
          <p:nvPr/>
        </p:nvGrpSpPr>
        <p:grpSpPr>
          <a:xfrm>
            <a:off x="3392423" y="2244864"/>
            <a:ext cx="3884295" cy="490855"/>
            <a:chOff x="3392423" y="2244864"/>
            <a:chExt cx="3884295" cy="490855"/>
          </a:xfrm>
        </p:grpSpPr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A86F6DC3-EF82-501F-E6BB-D65CC382A0F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92423" y="2244864"/>
              <a:ext cx="463283" cy="490715"/>
            </a:xfrm>
            <a:prstGeom prst="rect">
              <a:avLst/>
            </a:prstGeom>
          </p:spPr>
        </p:pic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A49EA9DC-662D-4516-D6C7-4BED3BE4A09D}"/>
                </a:ext>
              </a:extLst>
            </p:cNvPr>
            <p:cNvSpPr/>
            <p:nvPr/>
          </p:nvSpPr>
          <p:spPr>
            <a:xfrm>
              <a:off x="3453383" y="2343912"/>
              <a:ext cx="346075" cy="373380"/>
            </a:xfrm>
            <a:custGeom>
              <a:avLst/>
              <a:gdLst/>
              <a:ahLst/>
              <a:cxnLst/>
              <a:rect l="l" t="t" r="r" b="b"/>
              <a:pathLst>
                <a:path w="346075" h="373380">
                  <a:moveTo>
                    <a:pt x="172974" y="0"/>
                  </a:moveTo>
                  <a:lnTo>
                    <a:pt x="127000" y="6667"/>
                  </a:lnTo>
                  <a:lnTo>
                    <a:pt x="85682" y="25484"/>
                  </a:lnTo>
                  <a:lnTo>
                    <a:pt x="50673" y="54673"/>
                  </a:lnTo>
                  <a:lnTo>
                    <a:pt x="23622" y="92455"/>
                  </a:lnTo>
                  <a:lnTo>
                    <a:pt x="6180" y="137054"/>
                  </a:lnTo>
                  <a:lnTo>
                    <a:pt x="0" y="186689"/>
                  </a:lnTo>
                  <a:lnTo>
                    <a:pt x="6180" y="236325"/>
                  </a:lnTo>
                  <a:lnTo>
                    <a:pt x="23622" y="280923"/>
                  </a:lnTo>
                  <a:lnTo>
                    <a:pt x="50673" y="318706"/>
                  </a:lnTo>
                  <a:lnTo>
                    <a:pt x="85682" y="347895"/>
                  </a:lnTo>
                  <a:lnTo>
                    <a:pt x="127000" y="366712"/>
                  </a:lnTo>
                  <a:lnTo>
                    <a:pt x="172974" y="373379"/>
                  </a:lnTo>
                  <a:lnTo>
                    <a:pt x="218948" y="366712"/>
                  </a:lnTo>
                  <a:lnTo>
                    <a:pt x="260265" y="347895"/>
                  </a:lnTo>
                  <a:lnTo>
                    <a:pt x="295275" y="318706"/>
                  </a:lnTo>
                  <a:lnTo>
                    <a:pt x="322325" y="280924"/>
                  </a:lnTo>
                  <a:lnTo>
                    <a:pt x="339767" y="236325"/>
                  </a:lnTo>
                  <a:lnTo>
                    <a:pt x="345948" y="186689"/>
                  </a:lnTo>
                  <a:lnTo>
                    <a:pt x="339767" y="137054"/>
                  </a:lnTo>
                  <a:lnTo>
                    <a:pt x="322325" y="92456"/>
                  </a:lnTo>
                  <a:lnTo>
                    <a:pt x="295275" y="54673"/>
                  </a:lnTo>
                  <a:lnTo>
                    <a:pt x="260265" y="25484"/>
                  </a:lnTo>
                  <a:lnTo>
                    <a:pt x="218948" y="6667"/>
                  </a:lnTo>
                  <a:lnTo>
                    <a:pt x="17297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FB1A0DBF-384E-E5D2-B938-3676AAC799F9}"/>
                </a:ext>
              </a:extLst>
            </p:cNvPr>
            <p:cNvSpPr/>
            <p:nvPr/>
          </p:nvSpPr>
          <p:spPr>
            <a:xfrm>
              <a:off x="3453383" y="2343912"/>
              <a:ext cx="346075" cy="373380"/>
            </a:xfrm>
            <a:custGeom>
              <a:avLst/>
              <a:gdLst/>
              <a:ahLst/>
              <a:cxnLst/>
              <a:rect l="l" t="t" r="r" b="b"/>
              <a:pathLst>
                <a:path w="346075" h="373380">
                  <a:moveTo>
                    <a:pt x="0" y="186689"/>
                  </a:moveTo>
                  <a:lnTo>
                    <a:pt x="6180" y="137054"/>
                  </a:lnTo>
                  <a:lnTo>
                    <a:pt x="23622" y="92455"/>
                  </a:lnTo>
                  <a:lnTo>
                    <a:pt x="50673" y="54673"/>
                  </a:lnTo>
                  <a:lnTo>
                    <a:pt x="85682" y="25484"/>
                  </a:lnTo>
                  <a:lnTo>
                    <a:pt x="127000" y="6667"/>
                  </a:lnTo>
                  <a:lnTo>
                    <a:pt x="172974" y="0"/>
                  </a:lnTo>
                  <a:lnTo>
                    <a:pt x="218948" y="6667"/>
                  </a:lnTo>
                  <a:lnTo>
                    <a:pt x="260265" y="25484"/>
                  </a:lnTo>
                  <a:lnTo>
                    <a:pt x="295275" y="54673"/>
                  </a:lnTo>
                  <a:lnTo>
                    <a:pt x="322325" y="92456"/>
                  </a:lnTo>
                  <a:lnTo>
                    <a:pt x="339767" y="137054"/>
                  </a:lnTo>
                  <a:lnTo>
                    <a:pt x="345948" y="186689"/>
                  </a:lnTo>
                  <a:lnTo>
                    <a:pt x="339767" y="236325"/>
                  </a:lnTo>
                  <a:lnTo>
                    <a:pt x="322325" y="280924"/>
                  </a:lnTo>
                  <a:lnTo>
                    <a:pt x="295275" y="318706"/>
                  </a:lnTo>
                  <a:lnTo>
                    <a:pt x="260265" y="347895"/>
                  </a:lnTo>
                  <a:lnTo>
                    <a:pt x="218948" y="366712"/>
                  </a:lnTo>
                  <a:lnTo>
                    <a:pt x="172974" y="373379"/>
                  </a:lnTo>
                  <a:lnTo>
                    <a:pt x="127000" y="366712"/>
                  </a:lnTo>
                  <a:lnTo>
                    <a:pt x="85682" y="347895"/>
                  </a:lnTo>
                  <a:lnTo>
                    <a:pt x="50673" y="318706"/>
                  </a:lnTo>
                  <a:lnTo>
                    <a:pt x="23622" y="280923"/>
                  </a:lnTo>
                  <a:lnTo>
                    <a:pt x="6180" y="236325"/>
                  </a:lnTo>
                  <a:lnTo>
                    <a:pt x="0" y="186689"/>
                  </a:lnTo>
                  <a:close/>
                </a:path>
              </a:pathLst>
            </a:custGeom>
            <a:ln w="15875">
              <a:solidFill>
                <a:srgbClr val="781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8">
              <a:extLst>
                <a:ext uri="{FF2B5EF4-FFF2-40B4-BE49-F238E27FC236}">
                  <a16:creationId xmlns:a16="http://schemas.microsoft.com/office/drawing/2014/main" id="{72BA90EE-2F17-7CE1-E7D4-9B2A5BC2378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54039" y="2244864"/>
              <a:ext cx="463283" cy="490715"/>
            </a:xfrm>
            <a:prstGeom prst="rect">
              <a:avLst/>
            </a:prstGeom>
          </p:spPr>
        </p:pic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30259397-B468-A35A-6A09-AE7BE7A5F18B}"/>
                </a:ext>
              </a:extLst>
            </p:cNvPr>
            <p:cNvSpPr/>
            <p:nvPr/>
          </p:nvSpPr>
          <p:spPr>
            <a:xfrm>
              <a:off x="5715000" y="2343912"/>
              <a:ext cx="346075" cy="373380"/>
            </a:xfrm>
            <a:custGeom>
              <a:avLst/>
              <a:gdLst/>
              <a:ahLst/>
              <a:cxnLst/>
              <a:rect l="l" t="t" r="r" b="b"/>
              <a:pathLst>
                <a:path w="346075" h="373380">
                  <a:moveTo>
                    <a:pt x="172974" y="0"/>
                  </a:moveTo>
                  <a:lnTo>
                    <a:pt x="127000" y="6667"/>
                  </a:lnTo>
                  <a:lnTo>
                    <a:pt x="85682" y="25484"/>
                  </a:lnTo>
                  <a:lnTo>
                    <a:pt x="50673" y="54673"/>
                  </a:lnTo>
                  <a:lnTo>
                    <a:pt x="23622" y="92455"/>
                  </a:lnTo>
                  <a:lnTo>
                    <a:pt x="6180" y="137054"/>
                  </a:lnTo>
                  <a:lnTo>
                    <a:pt x="0" y="186689"/>
                  </a:lnTo>
                  <a:lnTo>
                    <a:pt x="6180" y="236325"/>
                  </a:lnTo>
                  <a:lnTo>
                    <a:pt x="23622" y="280923"/>
                  </a:lnTo>
                  <a:lnTo>
                    <a:pt x="50673" y="318706"/>
                  </a:lnTo>
                  <a:lnTo>
                    <a:pt x="85682" y="347895"/>
                  </a:lnTo>
                  <a:lnTo>
                    <a:pt x="127000" y="366712"/>
                  </a:lnTo>
                  <a:lnTo>
                    <a:pt x="172974" y="373379"/>
                  </a:lnTo>
                  <a:lnTo>
                    <a:pt x="218948" y="366712"/>
                  </a:lnTo>
                  <a:lnTo>
                    <a:pt x="260265" y="347895"/>
                  </a:lnTo>
                  <a:lnTo>
                    <a:pt x="295275" y="318706"/>
                  </a:lnTo>
                  <a:lnTo>
                    <a:pt x="322325" y="280924"/>
                  </a:lnTo>
                  <a:lnTo>
                    <a:pt x="339767" y="236325"/>
                  </a:lnTo>
                  <a:lnTo>
                    <a:pt x="345948" y="186689"/>
                  </a:lnTo>
                  <a:lnTo>
                    <a:pt x="339767" y="137054"/>
                  </a:lnTo>
                  <a:lnTo>
                    <a:pt x="322325" y="92456"/>
                  </a:lnTo>
                  <a:lnTo>
                    <a:pt x="295275" y="54673"/>
                  </a:lnTo>
                  <a:lnTo>
                    <a:pt x="260265" y="25484"/>
                  </a:lnTo>
                  <a:lnTo>
                    <a:pt x="218948" y="6667"/>
                  </a:lnTo>
                  <a:lnTo>
                    <a:pt x="17297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EC402D8D-C16F-1DDF-7A46-9370A201B6CD}"/>
                </a:ext>
              </a:extLst>
            </p:cNvPr>
            <p:cNvSpPr/>
            <p:nvPr/>
          </p:nvSpPr>
          <p:spPr>
            <a:xfrm>
              <a:off x="5715000" y="2343912"/>
              <a:ext cx="346075" cy="373380"/>
            </a:xfrm>
            <a:custGeom>
              <a:avLst/>
              <a:gdLst/>
              <a:ahLst/>
              <a:cxnLst/>
              <a:rect l="l" t="t" r="r" b="b"/>
              <a:pathLst>
                <a:path w="346075" h="373380">
                  <a:moveTo>
                    <a:pt x="0" y="186689"/>
                  </a:moveTo>
                  <a:lnTo>
                    <a:pt x="6180" y="137054"/>
                  </a:lnTo>
                  <a:lnTo>
                    <a:pt x="23622" y="92455"/>
                  </a:lnTo>
                  <a:lnTo>
                    <a:pt x="50673" y="54673"/>
                  </a:lnTo>
                  <a:lnTo>
                    <a:pt x="85682" y="25484"/>
                  </a:lnTo>
                  <a:lnTo>
                    <a:pt x="127000" y="6667"/>
                  </a:lnTo>
                  <a:lnTo>
                    <a:pt x="172974" y="0"/>
                  </a:lnTo>
                  <a:lnTo>
                    <a:pt x="218948" y="6667"/>
                  </a:lnTo>
                  <a:lnTo>
                    <a:pt x="260265" y="25484"/>
                  </a:lnTo>
                  <a:lnTo>
                    <a:pt x="295275" y="54673"/>
                  </a:lnTo>
                  <a:lnTo>
                    <a:pt x="322325" y="92456"/>
                  </a:lnTo>
                  <a:lnTo>
                    <a:pt x="339767" y="137054"/>
                  </a:lnTo>
                  <a:lnTo>
                    <a:pt x="345948" y="186689"/>
                  </a:lnTo>
                  <a:lnTo>
                    <a:pt x="339767" y="236325"/>
                  </a:lnTo>
                  <a:lnTo>
                    <a:pt x="322325" y="280924"/>
                  </a:lnTo>
                  <a:lnTo>
                    <a:pt x="295275" y="318706"/>
                  </a:lnTo>
                  <a:lnTo>
                    <a:pt x="260265" y="347895"/>
                  </a:lnTo>
                  <a:lnTo>
                    <a:pt x="218948" y="366712"/>
                  </a:lnTo>
                  <a:lnTo>
                    <a:pt x="172974" y="373379"/>
                  </a:lnTo>
                  <a:lnTo>
                    <a:pt x="127000" y="366712"/>
                  </a:lnTo>
                  <a:lnTo>
                    <a:pt x="85682" y="347895"/>
                  </a:lnTo>
                  <a:lnTo>
                    <a:pt x="50673" y="318706"/>
                  </a:lnTo>
                  <a:lnTo>
                    <a:pt x="23622" y="280923"/>
                  </a:lnTo>
                  <a:lnTo>
                    <a:pt x="6180" y="236325"/>
                  </a:lnTo>
                  <a:lnTo>
                    <a:pt x="0" y="186689"/>
                  </a:lnTo>
                  <a:close/>
                </a:path>
              </a:pathLst>
            </a:custGeom>
            <a:ln w="15875">
              <a:solidFill>
                <a:srgbClr val="781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3B87E550-BFAB-0D6B-A4D5-DB4EED115B59}"/>
                </a:ext>
              </a:extLst>
            </p:cNvPr>
            <p:cNvSpPr/>
            <p:nvPr/>
          </p:nvSpPr>
          <p:spPr>
            <a:xfrm>
              <a:off x="3799331" y="2529840"/>
              <a:ext cx="1915160" cy="0"/>
            </a:xfrm>
            <a:custGeom>
              <a:avLst/>
              <a:gdLst/>
              <a:ahLst/>
              <a:cxnLst/>
              <a:rect l="l" t="t" r="r" b="b"/>
              <a:pathLst>
                <a:path w="1915160">
                  <a:moveTo>
                    <a:pt x="0" y="0"/>
                  </a:moveTo>
                  <a:lnTo>
                    <a:pt x="1914652" y="0"/>
                  </a:lnTo>
                </a:path>
              </a:pathLst>
            </a:custGeom>
            <a:ln w="158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2">
              <a:extLst>
                <a:ext uri="{FF2B5EF4-FFF2-40B4-BE49-F238E27FC236}">
                  <a16:creationId xmlns:a16="http://schemas.microsoft.com/office/drawing/2014/main" id="{D91126C7-3479-610E-3003-FD4C907903C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4975" y="2244864"/>
              <a:ext cx="463283" cy="490715"/>
            </a:xfrm>
            <a:prstGeom prst="rect">
              <a:avLst/>
            </a:prstGeom>
          </p:spPr>
        </p:pic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080A0A7B-9C5C-CEE5-1C9A-7824B5E4A8AF}"/>
                </a:ext>
              </a:extLst>
            </p:cNvPr>
            <p:cNvSpPr/>
            <p:nvPr/>
          </p:nvSpPr>
          <p:spPr>
            <a:xfrm>
              <a:off x="6345935" y="2343912"/>
              <a:ext cx="346075" cy="373380"/>
            </a:xfrm>
            <a:custGeom>
              <a:avLst/>
              <a:gdLst/>
              <a:ahLst/>
              <a:cxnLst/>
              <a:rect l="l" t="t" r="r" b="b"/>
              <a:pathLst>
                <a:path w="346075" h="373380">
                  <a:moveTo>
                    <a:pt x="172973" y="0"/>
                  </a:moveTo>
                  <a:lnTo>
                    <a:pt x="127000" y="6667"/>
                  </a:lnTo>
                  <a:lnTo>
                    <a:pt x="85682" y="25484"/>
                  </a:lnTo>
                  <a:lnTo>
                    <a:pt x="50673" y="54673"/>
                  </a:lnTo>
                  <a:lnTo>
                    <a:pt x="23622" y="92455"/>
                  </a:lnTo>
                  <a:lnTo>
                    <a:pt x="6180" y="137054"/>
                  </a:lnTo>
                  <a:lnTo>
                    <a:pt x="0" y="186689"/>
                  </a:lnTo>
                  <a:lnTo>
                    <a:pt x="6180" y="236325"/>
                  </a:lnTo>
                  <a:lnTo>
                    <a:pt x="23621" y="280923"/>
                  </a:lnTo>
                  <a:lnTo>
                    <a:pt x="50672" y="318706"/>
                  </a:lnTo>
                  <a:lnTo>
                    <a:pt x="85682" y="347895"/>
                  </a:lnTo>
                  <a:lnTo>
                    <a:pt x="126999" y="366712"/>
                  </a:lnTo>
                  <a:lnTo>
                    <a:pt x="172973" y="373379"/>
                  </a:lnTo>
                  <a:lnTo>
                    <a:pt x="218947" y="366712"/>
                  </a:lnTo>
                  <a:lnTo>
                    <a:pt x="260265" y="347895"/>
                  </a:lnTo>
                  <a:lnTo>
                    <a:pt x="295274" y="318706"/>
                  </a:lnTo>
                  <a:lnTo>
                    <a:pt x="322325" y="280924"/>
                  </a:lnTo>
                  <a:lnTo>
                    <a:pt x="339767" y="236325"/>
                  </a:lnTo>
                  <a:lnTo>
                    <a:pt x="345947" y="186689"/>
                  </a:lnTo>
                  <a:lnTo>
                    <a:pt x="339767" y="137054"/>
                  </a:lnTo>
                  <a:lnTo>
                    <a:pt x="322325" y="92456"/>
                  </a:lnTo>
                  <a:lnTo>
                    <a:pt x="295274" y="54673"/>
                  </a:lnTo>
                  <a:lnTo>
                    <a:pt x="260265" y="25484"/>
                  </a:lnTo>
                  <a:lnTo>
                    <a:pt x="218947" y="6667"/>
                  </a:lnTo>
                  <a:lnTo>
                    <a:pt x="1729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5D266887-C6AE-629E-96A2-CE167F878313}"/>
                </a:ext>
              </a:extLst>
            </p:cNvPr>
            <p:cNvSpPr/>
            <p:nvPr/>
          </p:nvSpPr>
          <p:spPr>
            <a:xfrm>
              <a:off x="6345935" y="2343912"/>
              <a:ext cx="346075" cy="373380"/>
            </a:xfrm>
            <a:custGeom>
              <a:avLst/>
              <a:gdLst/>
              <a:ahLst/>
              <a:cxnLst/>
              <a:rect l="l" t="t" r="r" b="b"/>
              <a:pathLst>
                <a:path w="346075" h="373380">
                  <a:moveTo>
                    <a:pt x="0" y="186689"/>
                  </a:moveTo>
                  <a:lnTo>
                    <a:pt x="6180" y="137054"/>
                  </a:lnTo>
                  <a:lnTo>
                    <a:pt x="23622" y="92455"/>
                  </a:lnTo>
                  <a:lnTo>
                    <a:pt x="50673" y="54673"/>
                  </a:lnTo>
                  <a:lnTo>
                    <a:pt x="85682" y="25484"/>
                  </a:lnTo>
                  <a:lnTo>
                    <a:pt x="127000" y="6667"/>
                  </a:lnTo>
                  <a:lnTo>
                    <a:pt x="172973" y="0"/>
                  </a:lnTo>
                  <a:lnTo>
                    <a:pt x="218947" y="6667"/>
                  </a:lnTo>
                  <a:lnTo>
                    <a:pt x="260265" y="25484"/>
                  </a:lnTo>
                  <a:lnTo>
                    <a:pt x="295274" y="54673"/>
                  </a:lnTo>
                  <a:lnTo>
                    <a:pt x="322325" y="92456"/>
                  </a:lnTo>
                  <a:lnTo>
                    <a:pt x="339767" y="137054"/>
                  </a:lnTo>
                  <a:lnTo>
                    <a:pt x="345947" y="186689"/>
                  </a:lnTo>
                  <a:lnTo>
                    <a:pt x="339767" y="236325"/>
                  </a:lnTo>
                  <a:lnTo>
                    <a:pt x="322325" y="280924"/>
                  </a:lnTo>
                  <a:lnTo>
                    <a:pt x="295274" y="318706"/>
                  </a:lnTo>
                  <a:lnTo>
                    <a:pt x="260265" y="347895"/>
                  </a:lnTo>
                  <a:lnTo>
                    <a:pt x="218947" y="366712"/>
                  </a:lnTo>
                  <a:lnTo>
                    <a:pt x="172973" y="373379"/>
                  </a:lnTo>
                  <a:lnTo>
                    <a:pt x="126999" y="366712"/>
                  </a:lnTo>
                  <a:lnTo>
                    <a:pt x="85682" y="347895"/>
                  </a:lnTo>
                  <a:lnTo>
                    <a:pt x="50672" y="318706"/>
                  </a:lnTo>
                  <a:lnTo>
                    <a:pt x="23621" y="280923"/>
                  </a:lnTo>
                  <a:lnTo>
                    <a:pt x="6180" y="236325"/>
                  </a:lnTo>
                  <a:lnTo>
                    <a:pt x="0" y="186689"/>
                  </a:lnTo>
                  <a:close/>
                </a:path>
              </a:pathLst>
            </a:custGeom>
            <a:ln w="15875">
              <a:solidFill>
                <a:srgbClr val="781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942AD451-1719-1AB8-8CCD-C3784535629F}"/>
                </a:ext>
              </a:extLst>
            </p:cNvPr>
            <p:cNvSpPr/>
            <p:nvPr/>
          </p:nvSpPr>
          <p:spPr>
            <a:xfrm>
              <a:off x="6060947" y="2529840"/>
              <a:ext cx="1216025" cy="0"/>
            </a:xfrm>
            <a:custGeom>
              <a:avLst/>
              <a:gdLst/>
              <a:ahLst/>
              <a:cxnLst/>
              <a:rect l="l" t="t" r="r" b="b"/>
              <a:pathLst>
                <a:path w="1216025">
                  <a:moveTo>
                    <a:pt x="0" y="0"/>
                  </a:moveTo>
                  <a:lnTo>
                    <a:pt x="285623" y="0"/>
                  </a:lnTo>
                </a:path>
                <a:path w="1216025">
                  <a:moveTo>
                    <a:pt x="630935" y="0"/>
                  </a:moveTo>
                  <a:lnTo>
                    <a:pt x="1215771" y="0"/>
                  </a:lnTo>
                </a:path>
              </a:pathLst>
            </a:custGeom>
            <a:ln w="158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16">
            <a:extLst>
              <a:ext uri="{FF2B5EF4-FFF2-40B4-BE49-F238E27FC236}">
                <a16:creationId xmlns:a16="http://schemas.microsoft.com/office/drawing/2014/main" id="{DD8CA58E-54AC-09D3-EEC4-3D7C55B94399}"/>
              </a:ext>
            </a:extLst>
          </p:cNvPr>
          <p:cNvSpPr txBox="1"/>
          <p:nvPr/>
        </p:nvSpPr>
        <p:spPr>
          <a:xfrm>
            <a:off x="3382771" y="1934082"/>
            <a:ext cx="4883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 Math"/>
                <a:cs typeface="Cambria Math"/>
              </a:rPr>
              <a:t>𝑡</a:t>
            </a:r>
            <a:r>
              <a:rPr sz="1600" spc="85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Cambria Math"/>
                <a:cs typeface="Cambria Math"/>
              </a:rPr>
              <a:t>=</a:t>
            </a:r>
            <a:r>
              <a:rPr sz="1600" spc="55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Cambria Math"/>
                <a:cs typeface="Cambria Math"/>
              </a:rPr>
              <a:t>0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2" name="object 17">
            <a:extLst>
              <a:ext uri="{FF2B5EF4-FFF2-40B4-BE49-F238E27FC236}">
                <a16:creationId xmlns:a16="http://schemas.microsoft.com/office/drawing/2014/main" id="{1033CA33-2BD8-28E4-FBEE-25AEE06045FD}"/>
              </a:ext>
            </a:extLst>
          </p:cNvPr>
          <p:cNvSpPr txBox="1"/>
          <p:nvPr/>
        </p:nvSpPr>
        <p:spPr>
          <a:xfrm>
            <a:off x="5805296" y="1934082"/>
            <a:ext cx="1054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3" name="object 18">
            <a:extLst>
              <a:ext uri="{FF2B5EF4-FFF2-40B4-BE49-F238E27FC236}">
                <a16:creationId xmlns:a16="http://schemas.microsoft.com/office/drawing/2014/main" id="{D13F4B4D-49EB-5A47-CC1E-741FB40AAF41}"/>
              </a:ext>
            </a:extLst>
          </p:cNvPr>
          <p:cNvSpPr txBox="1"/>
          <p:nvPr/>
        </p:nvSpPr>
        <p:spPr>
          <a:xfrm>
            <a:off x="6308852" y="1934082"/>
            <a:ext cx="5511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 Math"/>
                <a:cs typeface="Cambria Math"/>
              </a:rPr>
              <a:t>𝑡</a:t>
            </a:r>
            <a:r>
              <a:rPr sz="1600" spc="5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Cambria Math"/>
                <a:cs typeface="Cambria Math"/>
              </a:rPr>
              <a:t>+</a:t>
            </a:r>
            <a:r>
              <a:rPr sz="1600" spc="-35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Cambria Math"/>
                <a:cs typeface="Cambria Math"/>
              </a:rPr>
              <a:t>𝑑𝑡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4" name="object 19">
            <a:extLst>
              <a:ext uri="{FF2B5EF4-FFF2-40B4-BE49-F238E27FC236}">
                <a16:creationId xmlns:a16="http://schemas.microsoft.com/office/drawing/2014/main" id="{7CAB6993-E3A1-21AA-90A7-721831A84C46}"/>
              </a:ext>
            </a:extLst>
          </p:cNvPr>
          <p:cNvSpPr/>
          <p:nvPr/>
        </p:nvSpPr>
        <p:spPr>
          <a:xfrm>
            <a:off x="6524243" y="2828544"/>
            <a:ext cx="0" cy="723900"/>
          </a:xfrm>
          <a:custGeom>
            <a:avLst/>
            <a:gdLst/>
            <a:ahLst/>
            <a:cxnLst/>
            <a:rect l="l" t="t" r="r" b="b"/>
            <a:pathLst>
              <a:path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0">
            <a:extLst>
              <a:ext uri="{FF2B5EF4-FFF2-40B4-BE49-F238E27FC236}">
                <a16:creationId xmlns:a16="http://schemas.microsoft.com/office/drawing/2014/main" id="{057C6F7C-3016-93C0-FE5B-8070F73A36DC}"/>
              </a:ext>
            </a:extLst>
          </p:cNvPr>
          <p:cNvGrpSpPr/>
          <p:nvPr/>
        </p:nvGrpSpPr>
        <p:grpSpPr>
          <a:xfrm>
            <a:off x="4923790" y="2828544"/>
            <a:ext cx="960755" cy="314325"/>
            <a:chOff x="4923790" y="2828544"/>
            <a:chExt cx="960755" cy="314325"/>
          </a:xfrm>
        </p:grpSpPr>
        <p:sp>
          <p:nvSpPr>
            <p:cNvPr id="26" name="object 21">
              <a:extLst>
                <a:ext uri="{FF2B5EF4-FFF2-40B4-BE49-F238E27FC236}">
                  <a16:creationId xmlns:a16="http://schemas.microsoft.com/office/drawing/2014/main" id="{D6125C0B-1D54-AE60-4D98-33E59A4DC7EF}"/>
                </a:ext>
              </a:extLst>
            </p:cNvPr>
            <p:cNvSpPr/>
            <p:nvPr/>
          </p:nvSpPr>
          <p:spPr>
            <a:xfrm>
              <a:off x="5876544" y="2828544"/>
              <a:ext cx="0" cy="314325"/>
            </a:xfrm>
            <a:custGeom>
              <a:avLst/>
              <a:gdLst/>
              <a:ahLst/>
              <a:cxnLst/>
              <a:rect l="l" t="t" r="r" b="b"/>
              <a:pathLst>
                <a:path h="314325">
                  <a:moveTo>
                    <a:pt x="0" y="0"/>
                  </a:moveTo>
                  <a:lnTo>
                    <a:pt x="0" y="314325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2">
              <a:extLst>
                <a:ext uri="{FF2B5EF4-FFF2-40B4-BE49-F238E27FC236}">
                  <a16:creationId xmlns:a16="http://schemas.microsoft.com/office/drawing/2014/main" id="{BC0740B1-4465-DD3B-F4EE-1272AB011821}"/>
                </a:ext>
              </a:extLst>
            </p:cNvPr>
            <p:cNvSpPr/>
            <p:nvPr/>
          </p:nvSpPr>
          <p:spPr>
            <a:xfrm>
              <a:off x="4923790" y="2977896"/>
              <a:ext cx="937260" cy="76200"/>
            </a:xfrm>
            <a:custGeom>
              <a:avLst/>
              <a:gdLst/>
              <a:ahLst/>
              <a:cxnLst/>
              <a:rect l="l" t="t" r="r" b="b"/>
              <a:pathLst>
                <a:path w="937260" h="76200">
                  <a:moveTo>
                    <a:pt x="860806" y="0"/>
                  </a:moveTo>
                  <a:lnTo>
                    <a:pt x="860806" y="76200"/>
                  </a:lnTo>
                  <a:lnTo>
                    <a:pt x="924306" y="44450"/>
                  </a:lnTo>
                  <a:lnTo>
                    <a:pt x="877062" y="44450"/>
                  </a:lnTo>
                  <a:lnTo>
                    <a:pt x="879856" y="41655"/>
                  </a:lnTo>
                  <a:lnTo>
                    <a:pt x="879856" y="34543"/>
                  </a:lnTo>
                  <a:lnTo>
                    <a:pt x="877062" y="31750"/>
                  </a:lnTo>
                  <a:lnTo>
                    <a:pt x="924306" y="31750"/>
                  </a:lnTo>
                  <a:lnTo>
                    <a:pt x="860806" y="0"/>
                  </a:lnTo>
                  <a:close/>
                </a:path>
                <a:path w="937260" h="76200">
                  <a:moveTo>
                    <a:pt x="860806" y="31750"/>
                  </a:moveTo>
                  <a:lnTo>
                    <a:pt x="2794" y="31750"/>
                  </a:lnTo>
                  <a:lnTo>
                    <a:pt x="0" y="34543"/>
                  </a:lnTo>
                  <a:lnTo>
                    <a:pt x="0" y="41655"/>
                  </a:lnTo>
                  <a:lnTo>
                    <a:pt x="2794" y="44450"/>
                  </a:lnTo>
                  <a:lnTo>
                    <a:pt x="860806" y="44450"/>
                  </a:lnTo>
                  <a:lnTo>
                    <a:pt x="860806" y="31750"/>
                  </a:lnTo>
                  <a:close/>
                </a:path>
                <a:path w="937260" h="76200">
                  <a:moveTo>
                    <a:pt x="924306" y="31750"/>
                  </a:moveTo>
                  <a:lnTo>
                    <a:pt x="877062" y="31750"/>
                  </a:lnTo>
                  <a:lnTo>
                    <a:pt x="879856" y="34543"/>
                  </a:lnTo>
                  <a:lnTo>
                    <a:pt x="879856" y="41655"/>
                  </a:lnTo>
                  <a:lnTo>
                    <a:pt x="877062" y="44450"/>
                  </a:lnTo>
                  <a:lnTo>
                    <a:pt x="924306" y="44450"/>
                  </a:lnTo>
                  <a:lnTo>
                    <a:pt x="937006" y="38100"/>
                  </a:lnTo>
                  <a:lnTo>
                    <a:pt x="924306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3">
            <a:extLst>
              <a:ext uri="{FF2B5EF4-FFF2-40B4-BE49-F238E27FC236}">
                <a16:creationId xmlns:a16="http://schemas.microsoft.com/office/drawing/2014/main" id="{EAC586F8-A3ED-E408-F078-DB745620D3C6}"/>
              </a:ext>
            </a:extLst>
          </p:cNvPr>
          <p:cNvGrpSpPr/>
          <p:nvPr/>
        </p:nvGrpSpPr>
        <p:grpSpPr>
          <a:xfrm>
            <a:off x="3611562" y="2828544"/>
            <a:ext cx="1325880" cy="723900"/>
            <a:chOff x="3611562" y="2828544"/>
            <a:chExt cx="1325880" cy="723900"/>
          </a:xfrm>
        </p:grpSpPr>
        <p:sp>
          <p:nvSpPr>
            <p:cNvPr id="29" name="object 24">
              <a:extLst>
                <a:ext uri="{FF2B5EF4-FFF2-40B4-BE49-F238E27FC236}">
                  <a16:creationId xmlns:a16="http://schemas.microsoft.com/office/drawing/2014/main" id="{6FA99445-DFC6-BBF3-3684-33333DB9FDDC}"/>
                </a:ext>
              </a:extLst>
            </p:cNvPr>
            <p:cNvSpPr/>
            <p:nvPr/>
          </p:nvSpPr>
          <p:spPr>
            <a:xfrm>
              <a:off x="3619500" y="2828544"/>
              <a:ext cx="0" cy="723900"/>
            </a:xfrm>
            <a:custGeom>
              <a:avLst/>
              <a:gdLst/>
              <a:ahLst/>
              <a:cxnLst/>
              <a:rect l="l" t="t" r="r" b="b"/>
              <a:pathLst>
                <a:path h="723900">
                  <a:moveTo>
                    <a:pt x="0" y="0"/>
                  </a:moveTo>
                  <a:lnTo>
                    <a:pt x="0" y="723900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5">
              <a:extLst>
                <a:ext uri="{FF2B5EF4-FFF2-40B4-BE49-F238E27FC236}">
                  <a16:creationId xmlns:a16="http://schemas.microsoft.com/office/drawing/2014/main" id="{326D9439-116D-364E-D9F9-0DA153E93BE9}"/>
                </a:ext>
              </a:extLst>
            </p:cNvPr>
            <p:cNvSpPr/>
            <p:nvPr/>
          </p:nvSpPr>
          <p:spPr>
            <a:xfrm>
              <a:off x="3619500" y="2977895"/>
              <a:ext cx="1317625" cy="447040"/>
            </a:xfrm>
            <a:custGeom>
              <a:avLst/>
              <a:gdLst/>
              <a:ahLst/>
              <a:cxnLst/>
              <a:rect l="l" t="t" r="r" b="b"/>
              <a:pathLst>
                <a:path w="1317625" h="447039">
                  <a:moveTo>
                    <a:pt x="970661" y="34544"/>
                  </a:moveTo>
                  <a:lnTo>
                    <a:pt x="967867" y="31750"/>
                  </a:lnTo>
                  <a:lnTo>
                    <a:pt x="76200" y="31750"/>
                  </a:lnTo>
                  <a:lnTo>
                    <a:pt x="76200" y="0"/>
                  </a:ln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967867" y="44450"/>
                  </a:lnTo>
                  <a:lnTo>
                    <a:pt x="970661" y="41656"/>
                  </a:lnTo>
                  <a:lnTo>
                    <a:pt x="970661" y="34544"/>
                  </a:lnTo>
                  <a:close/>
                </a:path>
                <a:path w="1317625" h="447039">
                  <a:moveTo>
                    <a:pt x="1317498" y="404876"/>
                  </a:moveTo>
                  <a:lnTo>
                    <a:pt x="1314704" y="402082"/>
                  </a:lnTo>
                  <a:lnTo>
                    <a:pt x="83820" y="402082"/>
                  </a:lnTo>
                  <a:lnTo>
                    <a:pt x="83820" y="370332"/>
                  </a:lnTo>
                  <a:lnTo>
                    <a:pt x="7620" y="408432"/>
                  </a:lnTo>
                  <a:lnTo>
                    <a:pt x="83820" y="446532"/>
                  </a:lnTo>
                  <a:lnTo>
                    <a:pt x="83820" y="414782"/>
                  </a:lnTo>
                  <a:lnTo>
                    <a:pt x="1314704" y="414782"/>
                  </a:lnTo>
                  <a:lnTo>
                    <a:pt x="1317498" y="411988"/>
                  </a:lnTo>
                  <a:lnTo>
                    <a:pt x="1317498" y="4048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26">
            <a:extLst>
              <a:ext uri="{FF2B5EF4-FFF2-40B4-BE49-F238E27FC236}">
                <a16:creationId xmlns:a16="http://schemas.microsoft.com/office/drawing/2014/main" id="{20A3EBF0-C3C4-4163-A962-19B639BDC58B}"/>
              </a:ext>
            </a:extLst>
          </p:cNvPr>
          <p:cNvSpPr txBox="1"/>
          <p:nvPr/>
        </p:nvSpPr>
        <p:spPr>
          <a:xfrm>
            <a:off x="4695190" y="2876168"/>
            <a:ext cx="1193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 Math"/>
                <a:cs typeface="Cambria Math"/>
              </a:rPr>
              <a:t>𝑠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2" name="object 27">
            <a:extLst>
              <a:ext uri="{FF2B5EF4-FFF2-40B4-BE49-F238E27FC236}">
                <a16:creationId xmlns:a16="http://schemas.microsoft.com/office/drawing/2014/main" id="{03ABCA0E-E530-AB17-B94D-87D0331850BE}"/>
              </a:ext>
            </a:extLst>
          </p:cNvPr>
          <p:cNvSpPr txBox="1"/>
          <p:nvPr/>
        </p:nvSpPr>
        <p:spPr>
          <a:xfrm>
            <a:off x="4994528" y="3245611"/>
            <a:ext cx="5765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 Math"/>
                <a:cs typeface="Cambria Math"/>
              </a:rPr>
              <a:t>𝑠</a:t>
            </a:r>
            <a:r>
              <a:rPr sz="1600" spc="-15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Cambria Math"/>
                <a:cs typeface="Cambria Math"/>
              </a:rPr>
              <a:t>+</a:t>
            </a:r>
            <a:r>
              <a:rPr sz="1600" spc="-25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mbria Math"/>
                <a:cs typeface="Cambria Math"/>
              </a:rPr>
              <a:t>𝑑𝑠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3" name="object 28">
            <a:extLst>
              <a:ext uri="{FF2B5EF4-FFF2-40B4-BE49-F238E27FC236}">
                <a16:creationId xmlns:a16="http://schemas.microsoft.com/office/drawing/2014/main" id="{0CF6944F-9032-6CCA-8EDA-ADEF7DE17194}"/>
              </a:ext>
            </a:extLst>
          </p:cNvPr>
          <p:cNvSpPr/>
          <p:nvPr/>
        </p:nvSpPr>
        <p:spPr>
          <a:xfrm>
            <a:off x="5562346" y="3363467"/>
            <a:ext cx="956944" cy="76200"/>
          </a:xfrm>
          <a:custGeom>
            <a:avLst/>
            <a:gdLst/>
            <a:ahLst/>
            <a:cxnLst/>
            <a:rect l="l" t="t" r="r" b="b"/>
            <a:pathLst>
              <a:path w="956945" h="76200">
                <a:moveTo>
                  <a:pt x="880744" y="0"/>
                </a:moveTo>
                <a:lnTo>
                  <a:pt x="880744" y="76200"/>
                </a:lnTo>
                <a:lnTo>
                  <a:pt x="944245" y="44450"/>
                </a:lnTo>
                <a:lnTo>
                  <a:pt x="897001" y="44450"/>
                </a:lnTo>
                <a:lnTo>
                  <a:pt x="899794" y="41656"/>
                </a:lnTo>
                <a:lnTo>
                  <a:pt x="899794" y="34544"/>
                </a:lnTo>
                <a:lnTo>
                  <a:pt x="897001" y="31750"/>
                </a:lnTo>
                <a:lnTo>
                  <a:pt x="944245" y="31750"/>
                </a:lnTo>
                <a:lnTo>
                  <a:pt x="880744" y="0"/>
                </a:lnTo>
                <a:close/>
              </a:path>
              <a:path w="956945" h="76200">
                <a:moveTo>
                  <a:pt x="880744" y="31750"/>
                </a:moveTo>
                <a:lnTo>
                  <a:pt x="2793" y="31750"/>
                </a:lnTo>
                <a:lnTo>
                  <a:pt x="0" y="34544"/>
                </a:lnTo>
                <a:lnTo>
                  <a:pt x="0" y="41656"/>
                </a:lnTo>
                <a:lnTo>
                  <a:pt x="2793" y="44450"/>
                </a:lnTo>
                <a:lnTo>
                  <a:pt x="880744" y="44450"/>
                </a:lnTo>
                <a:lnTo>
                  <a:pt x="880744" y="31750"/>
                </a:lnTo>
                <a:close/>
              </a:path>
              <a:path w="956945" h="76200">
                <a:moveTo>
                  <a:pt x="944245" y="31750"/>
                </a:moveTo>
                <a:lnTo>
                  <a:pt x="897001" y="31750"/>
                </a:lnTo>
                <a:lnTo>
                  <a:pt x="899794" y="34544"/>
                </a:lnTo>
                <a:lnTo>
                  <a:pt x="899794" y="41656"/>
                </a:lnTo>
                <a:lnTo>
                  <a:pt x="897001" y="44450"/>
                </a:lnTo>
                <a:lnTo>
                  <a:pt x="944245" y="44450"/>
                </a:lnTo>
                <a:lnTo>
                  <a:pt x="956945" y="38100"/>
                </a:lnTo>
                <a:lnTo>
                  <a:pt x="94424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9">
            <a:extLst>
              <a:ext uri="{FF2B5EF4-FFF2-40B4-BE49-F238E27FC236}">
                <a16:creationId xmlns:a16="http://schemas.microsoft.com/office/drawing/2014/main" id="{32B2A531-2DEE-4382-64F8-EE07557DB07B}"/>
              </a:ext>
            </a:extLst>
          </p:cNvPr>
          <p:cNvSpPr txBox="1"/>
          <p:nvPr/>
        </p:nvSpPr>
        <p:spPr>
          <a:xfrm>
            <a:off x="8108060" y="2768346"/>
            <a:ext cx="520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𝒗</a:t>
            </a:r>
            <a:r>
              <a:rPr sz="2400" spc="4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30">
            <a:extLst>
              <a:ext uri="{FF2B5EF4-FFF2-40B4-BE49-F238E27FC236}">
                <a16:creationId xmlns:a16="http://schemas.microsoft.com/office/drawing/2014/main" id="{ED9A351E-5A4F-4111-69CF-E081D0BE7A52}"/>
              </a:ext>
            </a:extLst>
          </p:cNvPr>
          <p:cNvSpPr/>
          <p:nvPr/>
        </p:nvSpPr>
        <p:spPr>
          <a:xfrm>
            <a:off x="8698738" y="2989072"/>
            <a:ext cx="349250" cy="20320"/>
          </a:xfrm>
          <a:custGeom>
            <a:avLst/>
            <a:gdLst/>
            <a:ahLst/>
            <a:cxnLst/>
            <a:rect l="l" t="t" r="r" b="b"/>
            <a:pathLst>
              <a:path w="349250" h="20319">
                <a:moveTo>
                  <a:pt x="348995" y="0"/>
                </a:moveTo>
                <a:lnTo>
                  <a:pt x="0" y="0"/>
                </a:lnTo>
                <a:lnTo>
                  <a:pt x="0" y="19812"/>
                </a:lnTo>
                <a:lnTo>
                  <a:pt x="348995" y="19812"/>
                </a:lnTo>
                <a:lnTo>
                  <a:pt x="34899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1">
            <a:extLst>
              <a:ext uri="{FF2B5EF4-FFF2-40B4-BE49-F238E27FC236}">
                <a16:creationId xmlns:a16="http://schemas.microsoft.com/office/drawing/2014/main" id="{6C7C4FA0-C8FF-0B0B-18E4-312A54ACAF69}"/>
              </a:ext>
            </a:extLst>
          </p:cNvPr>
          <p:cNvSpPr txBox="1"/>
          <p:nvPr/>
        </p:nvSpPr>
        <p:spPr>
          <a:xfrm>
            <a:off x="8687181" y="2538221"/>
            <a:ext cx="375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𝒅𝒔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7" name="object 32">
            <a:extLst>
              <a:ext uri="{FF2B5EF4-FFF2-40B4-BE49-F238E27FC236}">
                <a16:creationId xmlns:a16="http://schemas.microsoft.com/office/drawing/2014/main" id="{4F6C7AAE-778C-81D2-E8A5-7CF3A5293A86}"/>
              </a:ext>
            </a:extLst>
          </p:cNvPr>
          <p:cNvSpPr txBox="1"/>
          <p:nvPr/>
        </p:nvSpPr>
        <p:spPr>
          <a:xfrm>
            <a:off x="8697848" y="2972561"/>
            <a:ext cx="350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𝒅𝒕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8" name="object 33">
            <a:extLst>
              <a:ext uri="{FF2B5EF4-FFF2-40B4-BE49-F238E27FC236}">
                <a16:creationId xmlns:a16="http://schemas.microsoft.com/office/drawing/2014/main" id="{0660240D-46B9-C9A3-37B7-FF723E2102CE}"/>
              </a:ext>
            </a:extLst>
          </p:cNvPr>
          <p:cNvSpPr/>
          <p:nvPr/>
        </p:nvSpPr>
        <p:spPr>
          <a:xfrm>
            <a:off x="8275828" y="3908933"/>
            <a:ext cx="379730" cy="20320"/>
          </a:xfrm>
          <a:custGeom>
            <a:avLst/>
            <a:gdLst/>
            <a:ahLst/>
            <a:cxnLst/>
            <a:rect l="l" t="t" r="r" b="b"/>
            <a:pathLst>
              <a:path w="379729" h="20320">
                <a:moveTo>
                  <a:pt x="379475" y="0"/>
                </a:moveTo>
                <a:lnTo>
                  <a:pt x="0" y="0"/>
                </a:lnTo>
                <a:lnTo>
                  <a:pt x="0" y="19812"/>
                </a:lnTo>
                <a:lnTo>
                  <a:pt x="379475" y="19812"/>
                </a:lnTo>
                <a:lnTo>
                  <a:pt x="37947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4">
            <a:extLst>
              <a:ext uri="{FF2B5EF4-FFF2-40B4-BE49-F238E27FC236}">
                <a16:creationId xmlns:a16="http://schemas.microsoft.com/office/drawing/2014/main" id="{72926373-8EF9-946F-F8F5-DFE1F19C28DD}"/>
              </a:ext>
            </a:extLst>
          </p:cNvPr>
          <p:cNvSpPr/>
          <p:nvPr/>
        </p:nvSpPr>
        <p:spPr>
          <a:xfrm>
            <a:off x="9051543" y="3908933"/>
            <a:ext cx="495300" cy="20320"/>
          </a:xfrm>
          <a:custGeom>
            <a:avLst/>
            <a:gdLst/>
            <a:ahLst/>
            <a:cxnLst/>
            <a:rect l="l" t="t" r="r" b="b"/>
            <a:pathLst>
              <a:path w="495300" h="20320">
                <a:moveTo>
                  <a:pt x="495300" y="0"/>
                </a:moveTo>
                <a:lnTo>
                  <a:pt x="0" y="0"/>
                </a:lnTo>
                <a:lnTo>
                  <a:pt x="0" y="19812"/>
                </a:lnTo>
                <a:lnTo>
                  <a:pt x="495300" y="19812"/>
                </a:lnTo>
                <a:lnTo>
                  <a:pt x="4953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5">
            <a:extLst>
              <a:ext uri="{FF2B5EF4-FFF2-40B4-BE49-F238E27FC236}">
                <a16:creationId xmlns:a16="http://schemas.microsoft.com/office/drawing/2014/main" id="{21DD70F7-9664-501D-B590-49394F46FCE3}"/>
              </a:ext>
            </a:extLst>
          </p:cNvPr>
          <p:cNvSpPr txBox="1"/>
          <p:nvPr/>
        </p:nvSpPr>
        <p:spPr>
          <a:xfrm>
            <a:off x="7640828" y="3458082"/>
            <a:ext cx="1971675" cy="826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635">
              <a:lnSpc>
                <a:spcPts val="2345"/>
              </a:lnSpc>
              <a:spcBef>
                <a:spcPts val="100"/>
              </a:spcBef>
              <a:tabLst>
                <a:tab pos="1411605" algn="l"/>
              </a:tabLst>
            </a:pP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𝒅𝒗	</a:t>
            </a:r>
            <a:r>
              <a:rPr sz="2400" spc="30" dirty="0">
                <a:solidFill>
                  <a:srgbClr val="C00000"/>
                </a:solidFill>
                <a:latin typeface="Cambria Math"/>
                <a:cs typeface="Cambria Math"/>
              </a:rPr>
              <a:t>𝒅</a:t>
            </a:r>
            <a:r>
              <a:rPr sz="2625" spc="44" baseline="28571" dirty="0">
                <a:solidFill>
                  <a:srgbClr val="C00000"/>
                </a:solidFill>
                <a:latin typeface="Cambria Math"/>
                <a:cs typeface="Cambria Math"/>
              </a:rPr>
              <a:t>𝟐</a:t>
            </a:r>
            <a:r>
              <a:rPr sz="2400" spc="30" dirty="0">
                <a:solidFill>
                  <a:srgbClr val="C00000"/>
                </a:solidFill>
                <a:latin typeface="Cambria Math"/>
                <a:cs typeface="Cambria Math"/>
              </a:rPr>
              <a:t>𝒔</a:t>
            </a:r>
            <a:endParaRPr sz="2400">
              <a:latin typeface="Cambria Math"/>
              <a:cs typeface="Cambria Math"/>
            </a:endParaRPr>
          </a:p>
          <a:p>
            <a:pPr marL="50800">
              <a:lnSpc>
                <a:spcPts val="1710"/>
              </a:lnSpc>
              <a:tabLst>
                <a:tab pos="1100455" algn="l"/>
              </a:tabLst>
            </a:pP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𝒂</a:t>
            </a:r>
            <a:r>
              <a:rPr sz="2400" spc="14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=	=</a:t>
            </a:r>
            <a:endParaRPr sz="2400">
              <a:latin typeface="Cambria Math"/>
              <a:cs typeface="Cambria Math"/>
            </a:endParaRPr>
          </a:p>
          <a:p>
            <a:pPr marL="661670">
              <a:lnSpc>
                <a:spcPts val="2245"/>
              </a:lnSpc>
              <a:tabLst>
                <a:tab pos="1423670" algn="l"/>
              </a:tabLst>
            </a:pP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𝒅𝒕	𝒅𝒕</a:t>
            </a:r>
            <a:r>
              <a:rPr sz="2625" baseline="22222" dirty="0">
                <a:solidFill>
                  <a:srgbClr val="C00000"/>
                </a:solidFill>
                <a:latin typeface="Cambria Math"/>
                <a:cs typeface="Cambria Math"/>
              </a:rPr>
              <a:t>𝟐</a:t>
            </a:r>
            <a:endParaRPr sz="2625" baseline="22222">
              <a:latin typeface="Cambria Math"/>
              <a:cs typeface="Cambria Math"/>
            </a:endParaRPr>
          </a:p>
        </p:txBody>
      </p:sp>
      <p:grpSp>
        <p:nvGrpSpPr>
          <p:cNvPr id="41" name="object 36">
            <a:extLst>
              <a:ext uri="{FF2B5EF4-FFF2-40B4-BE49-F238E27FC236}">
                <a16:creationId xmlns:a16="http://schemas.microsoft.com/office/drawing/2014/main" id="{B967C6F5-A8DC-1F55-E1AE-D0043A63E595}"/>
              </a:ext>
            </a:extLst>
          </p:cNvPr>
          <p:cNvGrpSpPr/>
          <p:nvPr/>
        </p:nvGrpSpPr>
        <p:grpSpPr>
          <a:xfrm>
            <a:off x="9450006" y="1231074"/>
            <a:ext cx="836294" cy="704850"/>
            <a:chOff x="9450006" y="1231074"/>
            <a:chExt cx="836294" cy="704850"/>
          </a:xfrm>
        </p:grpSpPr>
        <p:sp>
          <p:nvSpPr>
            <p:cNvPr id="42" name="object 37">
              <a:extLst>
                <a:ext uri="{FF2B5EF4-FFF2-40B4-BE49-F238E27FC236}">
                  <a16:creationId xmlns:a16="http://schemas.microsoft.com/office/drawing/2014/main" id="{20F226B6-A39C-7B45-08A8-45CE839A3107}"/>
                </a:ext>
              </a:extLst>
            </p:cNvPr>
            <p:cNvSpPr/>
            <p:nvPr/>
          </p:nvSpPr>
          <p:spPr>
            <a:xfrm>
              <a:off x="9457943" y="1239011"/>
              <a:ext cx="820419" cy="381000"/>
            </a:xfrm>
            <a:custGeom>
              <a:avLst/>
              <a:gdLst/>
              <a:ahLst/>
              <a:cxnLst/>
              <a:rect l="l" t="t" r="r" b="b"/>
              <a:pathLst>
                <a:path w="820420" h="381000">
                  <a:moveTo>
                    <a:pt x="0" y="190500"/>
                  </a:moveTo>
                  <a:lnTo>
                    <a:pt x="17354" y="135500"/>
                  </a:lnTo>
                  <a:lnTo>
                    <a:pt x="66039" y="86794"/>
                  </a:lnTo>
                  <a:lnTo>
                    <a:pt x="100545" y="65540"/>
                  </a:lnTo>
                  <a:lnTo>
                    <a:pt x="140983" y="46744"/>
                  </a:lnTo>
                  <a:lnTo>
                    <a:pt x="186718" y="30704"/>
                  </a:lnTo>
                  <a:lnTo>
                    <a:pt x="237116" y="17714"/>
                  </a:lnTo>
                  <a:lnTo>
                    <a:pt x="291544" y="8069"/>
                  </a:lnTo>
                  <a:lnTo>
                    <a:pt x="349369" y="2066"/>
                  </a:lnTo>
                  <a:lnTo>
                    <a:pt x="409955" y="0"/>
                  </a:lnTo>
                  <a:lnTo>
                    <a:pt x="470542" y="2066"/>
                  </a:lnTo>
                  <a:lnTo>
                    <a:pt x="528367" y="8069"/>
                  </a:lnTo>
                  <a:lnTo>
                    <a:pt x="582795" y="17714"/>
                  </a:lnTo>
                  <a:lnTo>
                    <a:pt x="633193" y="30704"/>
                  </a:lnTo>
                  <a:lnTo>
                    <a:pt x="678928" y="46744"/>
                  </a:lnTo>
                  <a:lnTo>
                    <a:pt x="719366" y="65540"/>
                  </a:lnTo>
                  <a:lnTo>
                    <a:pt x="753872" y="86794"/>
                  </a:lnTo>
                  <a:lnTo>
                    <a:pt x="802557" y="135500"/>
                  </a:lnTo>
                  <a:lnTo>
                    <a:pt x="819911" y="190500"/>
                  </a:lnTo>
                  <a:lnTo>
                    <a:pt x="815467" y="218638"/>
                  </a:lnTo>
                  <a:lnTo>
                    <a:pt x="781814" y="270786"/>
                  </a:lnTo>
                  <a:lnTo>
                    <a:pt x="719366" y="315459"/>
                  </a:lnTo>
                  <a:lnTo>
                    <a:pt x="678928" y="334255"/>
                  </a:lnTo>
                  <a:lnTo>
                    <a:pt x="633193" y="350295"/>
                  </a:lnTo>
                  <a:lnTo>
                    <a:pt x="582795" y="363285"/>
                  </a:lnTo>
                  <a:lnTo>
                    <a:pt x="528367" y="372930"/>
                  </a:lnTo>
                  <a:lnTo>
                    <a:pt x="470542" y="378933"/>
                  </a:lnTo>
                  <a:lnTo>
                    <a:pt x="409955" y="381000"/>
                  </a:lnTo>
                  <a:lnTo>
                    <a:pt x="349369" y="378933"/>
                  </a:lnTo>
                  <a:lnTo>
                    <a:pt x="291544" y="372930"/>
                  </a:lnTo>
                  <a:lnTo>
                    <a:pt x="237116" y="363285"/>
                  </a:lnTo>
                  <a:lnTo>
                    <a:pt x="186718" y="350295"/>
                  </a:lnTo>
                  <a:lnTo>
                    <a:pt x="140983" y="334255"/>
                  </a:lnTo>
                  <a:lnTo>
                    <a:pt x="100545" y="315459"/>
                  </a:lnTo>
                  <a:lnTo>
                    <a:pt x="66039" y="294205"/>
                  </a:lnTo>
                  <a:lnTo>
                    <a:pt x="17354" y="245499"/>
                  </a:lnTo>
                  <a:lnTo>
                    <a:pt x="0" y="190500"/>
                  </a:lnTo>
                  <a:close/>
                </a:path>
              </a:pathLst>
            </a:custGeom>
            <a:ln w="15875">
              <a:solidFill>
                <a:srgbClr val="781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38">
              <a:extLst>
                <a:ext uri="{FF2B5EF4-FFF2-40B4-BE49-F238E27FC236}">
                  <a16:creationId xmlns:a16="http://schemas.microsoft.com/office/drawing/2014/main" id="{24A1DEB9-99A7-403D-2AA2-4AB70B155C30}"/>
                </a:ext>
              </a:extLst>
            </p:cNvPr>
            <p:cNvSpPr/>
            <p:nvPr/>
          </p:nvSpPr>
          <p:spPr>
            <a:xfrm>
              <a:off x="9571862" y="1557146"/>
              <a:ext cx="410845" cy="378460"/>
            </a:xfrm>
            <a:custGeom>
              <a:avLst/>
              <a:gdLst/>
              <a:ahLst/>
              <a:cxnLst/>
              <a:rect l="l" t="t" r="r" b="b"/>
              <a:pathLst>
                <a:path w="410845" h="378460">
                  <a:moveTo>
                    <a:pt x="334079" y="345869"/>
                  </a:moveTo>
                  <a:lnTo>
                    <a:pt x="330707" y="378332"/>
                  </a:lnTo>
                  <a:lnTo>
                    <a:pt x="409454" y="348614"/>
                  </a:lnTo>
                  <a:lnTo>
                    <a:pt x="349630" y="348614"/>
                  </a:lnTo>
                  <a:lnTo>
                    <a:pt x="346201" y="347979"/>
                  </a:lnTo>
                  <a:lnTo>
                    <a:pt x="334079" y="345869"/>
                  </a:lnTo>
                  <a:close/>
                </a:path>
                <a:path w="410845" h="378460">
                  <a:moveTo>
                    <a:pt x="335397" y="333173"/>
                  </a:moveTo>
                  <a:lnTo>
                    <a:pt x="334079" y="345869"/>
                  </a:lnTo>
                  <a:lnTo>
                    <a:pt x="346201" y="347979"/>
                  </a:lnTo>
                  <a:lnTo>
                    <a:pt x="349630" y="348614"/>
                  </a:lnTo>
                  <a:lnTo>
                    <a:pt x="352932" y="346328"/>
                  </a:lnTo>
                  <a:lnTo>
                    <a:pt x="353605" y="342518"/>
                  </a:lnTo>
                  <a:lnTo>
                    <a:pt x="354075" y="339343"/>
                  </a:lnTo>
                  <a:lnTo>
                    <a:pt x="351789" y="336041"/>
                  </a:lnTo>
                  <a:lnTo>
                    <a:pt x="348360" y="335406"/>
                  </a:lnTo>
                  <a:lnTo>
                    <a:pt x="335397" y="333173"/>
                  </a:lnTo>
                  <a:close/>
                </a:path>
                <a:path w="410845" h="378460">
                  <a:moveTo>
                    <a:pt x="338581" y="302513"/>
                  </a:moveTo>
                  <a:lnTo>
                    <a:pt x="335397" y="333173"/>
                  </a:lnTo>
                  <a:lnTo>
                    <a:pt x="348360" y="335406"/>
                  </a:lnTo>
                  <a:lnTo>
                    <a:pt x="351789" y="336041"/>
                  </a:lnTo>
                  <a:lnTo>
                    <a:pt x="354075" y="339343"/>
                  </a:lnTo>
                  <a:lnTo>
                    <a:pt x="353567" y="342773"/>
                  </a:lnTo>
                  <a:lnTo>
                    <a:pt x="352932" y="346328"/>
                  </a:lnTo>
                  <a:lnTo>
                    <a:pt x="349630" y="348614"/>
                  </a:lnTo>
                  <a:lnTo>
                    <a:pt x="409454" y="348614"/>
                  </a:lnTo>
                  <a:lnTo>
                    <a:pt x="410463" y="348233"/>
                  </a:lnTo>
                  <a:lnTo>
                    <a:pt x="338581" y="302513"/>
                  </a:lnTo>
                  <a:close/>
                </a:path>
                <a:path w="410845" h="378460">
                  <a:moveTo>
                    <a:pt x="9778" y="0"/>
                  </a:moveTo>
                  <a:lnTo>
                    <a:pt x="2793" y="253"/>
                  </a:lnTo>
                  <a:lnTo>
                    <a:pt x="0" y="3175"/>
                  </a:lnTo>
                  <a:lnTo>
                    <a:pt x="761" y="22732"/>
                  </a:lnTo>
                  <a:lnTo>
                    <a:pt x="9397" y="71754"/>
                  </a:lnTo>
                  <a:lnTo>
                    <a:pt x="27558" y="119506"/>
                  </a:lnTo>
                  <a:lnTo>
                    <a:pt x="54228" y="164973"/>
                  </a:lnTo>
                  <a:lnTo>
                    <a:pt x="88137" y="207517"/>
                  </a:lnTo>
                  <a:lnTo>
                    <a:pt x="128523" y="246252"/>
                  </a:lnTo>
                  <a:lnTo>
                    <a:pt x="174243" y="280288"/>
                  </a:lnTo>
                  <a:lnTo>
                    <a:pt x="207263" y="300100"/>
                  </a:lnTo>
                  <a:lnTo>
                    <a:pt x="241807" y="317245"/>
                  </a:lnTo>
                  <a:lnTo>
                    <a:pt x="277875" y="331469"/>
                  </a:lnTo>
                  <a:lnTo>
                    <a:pt x="314832" y="342518"/>
                  </a:lnTo>
                  <a:lnTo>
                    <a:pt x="334079" y="345869"/>
                  </a:lnTo>
                  <a:lnTo>
                    <a:pt x="335397" y="333173"/>
                  </a:lnTo>
                  <a:lnTo>
                    <a:pt x="318134" y="330200"/>
                  </a:lnTo>
                  <a:lnTo>
                    <a:pt x="300100" y="325374"/>
                  </a:lnTo>
                  <a:lnTo>
                    <a:pt x="247268" y="305688"/>
                  </a:lnTo>
                  <a:lnTo>
                    <a:pt x="197230" y="279780"/>
                  </a:lnTo>
                  <a:lnTo>
                    <a:pt x="151256" y="248285"/>
                  </a:lnTo>
                  <a:lnTo>
                    <a:pt x="110108" y="211962"/>
                  </a:lnTo>
                  <a:lnTo>
                    <a:pt x="75056" y="171957"/>
                  </a:lnTo>
                  <a:lnTo>
                    <a:pt x="46862" y="128904"/>
                  </a:lnTo>
                  <a:lnTo>
                    <a:pt x="26542" y="83947"/>
                  </a:lnTo>
                  <a:lnTo>
                    <a:pt x="15112" y="37845"/>
                  </a:lnTo>
                  <a:lnTo>
                    <a:pt x="12826" y="6223"/>
                  </a:lnTo>
                  <a:lnTo>
                    <a:pt x="12700" y="2793"/>
                  </a:lnTo>
                  <a:lnTo>
                    <a:pt x="9778" y="0"/>
                  </a:lnTo>
                  <a:close/>
                </a:path>
              </a:pathLst>
            </a:custGeom>
            <a:solidFill>
              <a:srgbClr val="9D2C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39">
            <a:extLst>
              <a:ext uri="{FF2B5EF4-FFF2-40B4-BE49-F238E27FC236}">
                <a16:creationId xmlns:a16="http://schemas.microsoft.com/office/drawing/2014/main" id="{F35610F9-E206-58DD-9327-44D0D121734E}"/>
              </a:ext>
            </a:extLst>
          </p:cNvPr>
          <p:cNvSpPr txBox="1"/>
          <p:nvPr/>
        </p:nvSpPr>
        <p:spPr>
          <a:xfrm>
            <a:off x="10062464" y="1774317"/>
            <a:ext cx="1718310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AFEF"/>
                </a:solidFill>
                <a:latin typeface="Times New Roman"/>
                <a:cs typeface="Times New Roman"/>
              </a:rPr>
              <a:t>shown</a:t>
            </a:r>
            <a:r>
              <a:rPr sz="2000" spc="-7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AFEF"/>
                </a:solidFill>
                <a:latin typeface="Times New Roman"/>
                <a:cs typeface="Times New Roman"/>
              </a:rPr>
              <a:t>as</a:t>
            </a:r>
            <a:r>
              <a:rPr sz="2000" spc="-4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scalars </a:t>
            </a:r>
            <a:r>
              <a:rPr sz="2000" spc="-48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AFEF"/>
                </a:solidFill>
                <a:latin typeface="Times New Roman"/>
                <a:cs typeface="Times New Roman"/>
              </a:rPr>
              <a:t>for a </a:t>
            </a:r>
            <a:r>
              <a:rPr sz="2000" spc="-5" dirty="0">
                <a:solidFill>
                  <a:srgbClr val="00AFEF"/>
                </a:solidFill>
                <a:latin typeface="Times New Roman"/>
                <a:cs typeface="Times New Roman"/>
              </a:rPr>
              <a:t>simpler </a:t>
            </a:r>
            <a:r>
              <a:rPr sz="2000" dirty="0">
                <a:solidFill>
                  <a:srgbClr val="00AFEF"/>
                </a:solidFill>
                <a:latin typeface="Times New Roman"/>
                <a:cs typeface="Times New Roman"/>
              </a:rPr>
              <a:t> demonstration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5" name="object 40">
            <a:extLst>
              <a:ext uri="{FF2B5EF4-FFF2-40B4-BE49-F238E27FC236}">
                <a16:creationId xmlns:a16="http://schemas.microsoft.com/office/drawing/2014/main" id="{EC2CF8E1-966F-2972-0ACD-CF5CB5C66CB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57015" y="4396740"/>
            <a:ext cx="5291328" cy="2308860"/>
          </a:xfrm>
          <a:prstGeom prst="rect">
            <a:avLst/>
          </a:prstGeom>
        </p:spPr>
      </p:pic>
      <p:sp>
        <p:nvSpPr>
          <p:cNvPr id="46" name="object 3">
            <a:extLst>
              <a:ext uri="{FF2B5EF4-FFF2-40B4-BE49-F238E27FC236}">
                <a16:creationId xmlns:a16="http://schemas.microsoft.com/office/drawing/2014/main" id="{7AD22EFF-651D-6134-22BD-B0D13F5874E1}"/>
              </a:ext>
            </a:extLst>
          </p:cNvPr>
          <p:cNvSpPr txBox="1">
            <a:spLocks/>
          </p:cNvSpPr>
          <p:nvPr/>
        </p:nvSpPr>
        <p:spPr>
          <a:xfrm>
            <a:off x="1024888" y="288034"/>
            <a:ext cx="650684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lang="en-US" sz="3200" spc="-5" dirty="0">
                <a:solidFill>
                  <a:srgbClr val="C0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Introduction of Dynamics</a:t>
            </a:r>
          </a:p>
        </p:txBody>
      </p:sp>
    </p:spTree>
    <p:extLst>
      <p:ext uri="{BB962C8B-B14F-4D97-AF65-F5344CB8AC3E}">
        <p14:creationId xmlns:p14="http://schemas.microsoft.com/office/powerpoint/2010/main" val="254118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7/1/2025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9C0B7E9D-0C6A-5F31-BE2D-B812F3A9E98A}"/>
              </a:ext>
            </a:extLst>
          </p:cNvPr>
          <p:cNvSpPr/>
          <p:nvPr/>
        </p:nvSpPr>
        <p:spPr>
          <a:xfrm>
            <a:off x="3478276" y="1499742"/>
            <a:ext cx="378460" cy="21590"/>
          </a:xfrm>
          <a:custGeom>
            <a:avLst/>
            <a:gdLst/>
            <a:ahLst/>
            <a:cxnLst/>
            <a:rect l="l" t="t" r="r" b="b"/>
            <a:pathLst>
              <a:path w="378460" h="21590">
                <a:moveTo>
                  <a:pt x="377951" y="0"/>
                </a:moveTo>
                <a:lnTo>
                  <a:pt x="0" y="0"/>
                </a:lnTo>
                <a:lnTo>
                  <a:pt x="0" y="21336"/>
                </a:lnTo>
                <a:lnTo>
                  <a:pt x="377951" y="21336"/>
                </a:lnTo>
                <a:lnTo>
                  <a:pt x="37795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9B915721-BDEB-FF2C-FEE6-1B6E03A02141}"/>
              </a:ext>
            </a:extLst>
          </p:cNvPr>
          <p:cNvSpPr txBox="1"/>
          <p:nvPr/>
        </p:nvSpPr>
        <p:spPr>
          <a:xfrm>
            <a:off x="2153539" y="1261313"/>
            <a:ext cx="1704339" cy="643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430"/>
              </a:lnSpc>
              <a:spcBef>
                <a:spcPts val="105"/>
              </a:spcBef>
              <a:tabLst>
                <a:tab pos="698500" algn="l"/>
              </a:tabLst>
            </a:pPr>
            <a:r>
              <a:rPr sz="2600" dirty="0">
                <a:solidFill>
                  <a:srgbClr val="C00000"/>
                </a:solidFill>
                <a:latin typeface="Cambria Math"/>
                <a:cs typeface="Cambria Math"/>
              </a:rPr>
              <a:t>𝟏.	𝒗</a:t>
            </a:r>
            <a:r>
              <a:rPr sz="2600" spc="9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60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endParaRPr sz="2600" dirty="0">
              <a:latin typeface="Cambria Math"/>
              <a:cs typeface="Cambria Math"/>
            </a:endParaRPr>
          </a:p>
          <a:p>
            <a:pPr marL="1338580">
              <a:lnSpc>
                <a:spcPts val="2430"/>
              </a:lnSpc>
            </a:pPr>
            <a:r>
              <a:rPr sz="2600" spc="5" dirty="0">
                <a:solidFill>
                  <a:srgbClr val="C00000"/>
                </a:solidFill>
                <a:latin typeface="Cambria Math"/>
                <a:cs typeface="Cambria Math"/>
              </a:rPr>
              <a:t>𝒅𝒕</a:t>
            </a:r>
            <a:endParaRPr sz="2600" dirty="0">
              <a:latin typeface="Cambria Math"/>
              <a:cs typeface="Cambria Math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E8CA08B5-4EDC-2947-AD27-A3A6FA191B64}"/>
              </a:ext>
            </a:extLst>
          </p:cNvPr>
          <p:cNvSpPr/>
          <p:nvPr/>
        </p:nvSpPr>
        <p:spPr>
          <a:xfrm>
            <a:off x="3464559" y="2776854"/>
            <a:ext cx="411480" cy="21590"/>
          </a:xfrm>
          <a:custGeom>
            <a:avLst/>
            <a:gdLst/>
            <a:ahLst/>
            <a:cxnLst/>
            <a:rect l="l" t="t" r="r" b="b"/>
            <a:pathLst>
              <a:path w="411479" h="21589">
                <a:moveTo>
                  <a:pt x="411479" y="0"/>
                </a:moveTo>
                <a:lnTo>
                  <a:pt x="0" y="0"/>
                </a:lnTo>
                <a:lnTo>
                  <a:pt x="0" y="21336"/>
                </a:lnTo>
                <a:lnTo>
                  <a:pt x="411479" y="21336"/>
                </a:lnTo>
                <a:lnTo>
                  <a:pt x="41147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CFD12A08-128B-E703-B3F6-67E1C4A67C6A}"/>
              </a:ext>
            </a:extLst>
          </p:cNvPr>
          <p:cNvSpPr txBox="1"/>
          <p:nvPr/>
        </p:nvSpPr>
        <p:spPr>
          <a:xfrm>
            <a:off x="2133726" y="2289175"/>
            <a:ext cx="1755775" cy="8934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0960">
              <a:lnSpc>
                <a:spcPts val="2545"/>
              </a:lnSpc>
              <a:spcBef>
                <a:spcPts val="105"/>
              </a:spcBef>
            </a:pPr>
            <a:r>
              <a:rPr sz="2600" dirty="0">
                <a:solidFill>
                  <a:srgbClr val="C00000"/>
                </a:solidFill>
                <a:latin typeface="Cambria Math"/>
                <a:cs typeface="Cambria Math"/>
              </a:rPr>
              <a:t>𝒅𝒗</a:t>
            </a:r>
            <a:endParaRPr sz="2600">
              <a:latin typeface="Cambria Math"/>
              <a:cs typeface="Cambria Math"/>
            </a:endParaRPr>
          </a:p>
          <a:p>
            <a:pPr marL="12700">
              <a:lnSpc>
                <a:spcPts val="1855"/>
              </a:lnSpc>
              <a:tabLst>
                <a:tab pos="698500" algn="l"/>
              </a:tabLst>
            </a:pPr>
            <a:r>
              <a:rPr sz="2600" dirty="0">
                <a:solidFill>
                  <a:srgbClr val="C00000"/>
                </a:solidFill>
                <a:latin typeface="Cambria Math"/>
                <a:cs typeface="Cambria Math"/>
              </a:rPr>
              <a:t>𝟐.	𝒂</a:t>
            </a:r>
            <a:r>
              <a:rPr sz="2600" spc="9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60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endParaRPr sz="2600">
              <a:latin typeface="Cambria Math"/>
              <a:cs typeface="Cambria Math"/>
            </a:endParaRPr>
          </a:p>
          <a:p>
            <a:pPr marL="1361440">
              <a:lnSpc>
                <a:spcPts val="2430"/>
              </a:lnSpc>
            </a:pPr>
            <a:r>
              <a:rPr sz="2600" dirty="0">
                <a:solidFill>
                  <a:srgbClr val="C00000"/>
                </a:solidFill>
                <a:latin typeface="Cambria Math"/>
                <a:cs typeface="Cambria Math"/>
              </a:rPr>
              <a:t>𝒅𝒕</a:t>
            </a:r>
            <a:endParaRPr sz="2600">
              <a:latin typeface="Cambria Math"/>
              <a:cs typeface="Cambria Math"/>
            </a:endParaRPr>
          </a:p>
        </p:txBody>
      </p:sp>
      <p:grpSp>
        <p:nvGrpSpPr>
          <p:cNvPr id="10" name="object 8">
            <a:extLst>
              <a:ext uri="{FF2B5EF4-FFF2-40B4-BE49-F238E27FC236}">
                <a16:creationId xmlns:a16="http://schemas.microsoft.com/office/drawing/2014/main" id="{E1CB05BA-73F9-CAEA-1B71-B30505910055}"/>
              </a:ext>
            </a:extLst>
          </p:cNvPr>
          <p:cNvGrpSpPr/>
          <p:nvPr/>
        </p:nvGrpSpPr>
        <p:grpSpPr>
          <a:xfrm>
            <a:off x="6704076" y="1772424"/>
            <a:ext cx="3884295" cy="490855"/>
            <a:chOff x="6704076" y="1772424"/>
            <a:chExt cx="3884295" cy="490855"/>
          </a:xfrm>
        </p:grpSpPr>
        <p:pic>
          <p:nvPicPr>
            <p:cNvPr id="11" name="object 9">
              <a:extLst>
                <a:ext uri="{FF2B5EF4-FFF2-40B4-BE49-F238E27FC236}">
                  <a16:creationId xmlns:a16="http://schemas.microsoft.com/office/drawing/2014/main" id="{D67653F1-1AB0-8CD7-0472-A3FB1AAF7E3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4076" y="1772424"/>
              <a:ext cx="463283" cy="490715"/>
            </a:xfrm>
            <a:prstGeom prst="rect">
              <a:avLst/>
            </a:prstGeom>
          </p:spPr>
        </p:pic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2C6C7AD6-39AB-BCD9-018F-3CF716B177D9}"/>
                </a:ext>
              </a:extLst>
            </p:cNvPr>
            <p:cNvSpPr/>
            <p:nvPr/>
          </p:nvSpPr>
          <p:spPr>
            <a:xfrm>
              <a:off x="6765036" y="1871472"/>
              <a:ext cx="346075" cy="373380"/>
            </a:xfrm>
            <a:custGeom>
              <a:avLst/>
              <a:gdLst/>
              <a:ahLst/>
              <a:cxnLst/>
              <a:rect l="l" t="t" r="r" b="b"/>
              <a:pathLst>
                <a:path w="346075" h="373380">
                  <a:moveTo>
                    <a:pt x="172974" y="0"/>
                  </a:moveTo>
                  <a:lnTo>
                    <a:pt x="127000" y="6667"/>
                  </a:lnTo>
                  <a:lnTo>
                    <a:pt x="85682" y="25484"/>
                  </a:lnTo>
                  <a:lnTo>
                    <a:pt x="50673" y="54673"/>
                  </a:lnTo>
                  <a:lnTo>
                    <a:pt x="23622" y="92455"/>
                  </a:lnTo>
                  <a:lnTo>
                    <a:pt x="6180" y="137054"/>
                  </a:lnTo>
                  <a:lnTo>
                    <a:pt x="0" y="186689"/>
                  </a:lnTo>
                  <a:lnTo>
                    <a:pt x="6180" y="236325"/>
                  </a:lnTo>
                  <a:lnTo>
                    <a:pt x="23622" y="280923"/>
                  </a:lnTo>
                  <a:lnTo>
                    <a:pt x="50673" y="318706"/>
                  </a:lnTo>
                  <a:lnTo>
                    <a:pt x="85682" y="347895"/>
                  </a:lnTo>
                  <a:lnTo>
                    <a:pt x="127000" y="366712"/>
                  </a:lnTo>
                  <a:lnTo>
                    <a:pt x="172974" y="373379"/>
                  </a:lnTo>
                  <a:lnTo>
                    <a:pt x="218948" y="366712"/>
                  </a:lnTo>
                  <a:lnTo>
                    <a:pt x="260265" y="347895"/>
                  </a:lnTo>
                  <a:lnTo>
                    <a:pt x="295275" y="318706"/>
                  </a:lnTo>
                  <a:lnTo>
                    <a:pt x="322325" y="280924"/>
                  </a:lnTo>
                  <a:lnTo>
                    <a:pt x="339767" y="236325"/>
                  </a:lnTo>
                  <a:lnTo>
                    <a:pt x="345948" y="186689"/>
                  </a:lnTo>
                  <a:lnTo>
                    <a:pt x="339767" y="137054"/>
                  </a:lnTo>
                  <a:lnTo>
                    <a:pt x="322325" y="92456"/>
                  </a:lnTo>
                  <a:lnTo>
                    <a:pt x="295275" y="54673"/>
                  </a:lnTo>
                  <a:lnTo>
                    <a:pt x="260265" y="25484"/>
                  </a:lnTo>
                  <a:lnTo>
                    <a:pt x="218948" y="6667"/>
                  </a:lnTo>
                  <a:lnTo>
                    <a:pt x="17297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9BF04C56-76D2-605D-15E3-0CD57F792666}"/>
                </a:ext>
              </a:extLst>
            </p:cNvPr>
            <p:cNvSpPr/>
            <p:nvPr/>
          </p:nvSpPr>
          <p:spPr>
            <a:xfrm>
              <a:off x="6765036" y="1871472"/>
              <a:ext cx="346075" cy="373380"/>
            </a:xfrm>
            <a:custGeom>
              <a:avLst/>
              <a:gdLst/>
              <a:ahLst/>
              <a:cxnLst/>
              <a:rect l="l" t="t" r="r" b="b"/>
              <a:pathLst>
                <a:path w="346075" h="373380">
                  <a:moveTo>
                    <a:pt x="0" y="186689"/>
                  </a:moveTo>
                  <a:lnTo>
                    <a:pt x="6180" y="137054"/>
                  </a:lnTo>
                  <a:lnTo>
                    <a:pt x="23622" y="92455"/>
                  </a:lnTo>
                  <a:lnTo>
                    <a:pt x="50673" y="54673"/>
                  </a:lnTo>
                  <a:lnTo>
                    <a:pt x="85682" y="25484"/>
                  </a:lnTo>
                  <a:lnTo>
                    <a:pt x="127000" y="6667"/>
                  </a:lnTo>
                  <a:lnTo>
                    <a:pt x="172974" y="0"/>
                  </a:lnTo>
                  <a:lnTo>
                    <a:pt x="218948" y="6667"/>
                  </a:lnTo>
                  <a:lnTo>
                    <a:pt x="260265" y="25484"/>
                  </a:lnTo>
                  <a:lnTo>
                    <a:pt x="295275" y="54673"/>
                  </a:lnTo>
                  <a:lnTo>
                    <a:pt x="322325" y="92456"/>
                  </a:lnTo>
                  <a:lnTo>
                    <a:pt x="339767" y="137054"/>
                  </a:lnTo>
                  <a:lnTo>
                    <a:pt x="345948" y="186689"/>
                  </a:lnTo>
                  <a:lnTo>
                    <a:pt x="339767" y="236325"/>
                  </a:lnTo>
                  <a:lnTo>
                    <a:pt x="322325" y="280924"/>
                  </a:lnTo>
                  <a:lnTo>
                    <a:pt x="295275" y="318706"/>
                  </a:lnTo>
                  <a:lnTo>
                    <a:pt x="260265" y="347895"/>
                  </a:lnTo>
                  <a:lnTo>
                    <a:pt x="218948" y="366712"/>
                  </a:lnTo>
                  <a:lnTo>
                    <a:pt x="172974" y="373379"/>
                  </a:lnTo>
                  <a:lnTo>
                    <a:pt x="127000" y="366712"/>
                  </a:lnTo>
                  <a:lnTo>
                    <a:pt x="85682" y="347895"/>
                  </a:lnTo>
                  <a:lnTo>
                    <a:pt x="50673" y="318706"/>
                  </a:lnTo>
                  <a:lnTo>
                    <a:pt x="23622" y="280923"/>
                  </a:lnTo>
                  <a:lnTo>
                    <a:pt x="6180" y="236325"/>
                  </a:lnTo>
                  <a:lnTo>
                    <a:pt x="0" y="186689"/>
                  </a:lnTo>
                  <a:close/>
                </a:path>
              </a:pathLst>
            </a:custGeom>
            <a:ln w="15875">
              <a:solidFill>
                <a:srgbClr val="781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2">
              <a:extLst>
                <a:ext uri="{FF2B5EF4-FFF2-40B4-BE49-F238E27FC236}">
                  <a16:creationId xmlns:a16="http://schemas.microsoft.com/office/drawing/2014/main" id="{0E497FF0-2988-BA2D-8E33-B031C792AFF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64168" y="1772424"/>
              <a:ext cx="464794" cy="490715"/>
            </a:xfrm>
            <a:prstGeom prst="rect">
              <a:avLst/>
            </a:prstGeom>
          </p:spPr>
        </p:pic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4440F4C7-F959-2CFB-CE20-E5AF0EB78578}"/>
                </a:ext>
              </a:extLst>
            </p:cNvPr>
            <p:cNvSpPr/>
            <p:nvPr/>
          </p:nvSpPr>
          <p:spPr>
            <a:xfrm>
              <a:off x="9025127" y="1871472"/>
              <a:ext cx="347980" cy="373380"/>
            </a:xfrm>
            <a:custGeom>
              <a:avLst/>
              <a:gdLst/>
              <a:ahLst/>
              <a:cxnLst/>
              <a:rect l="l" t="t" r="r" b="b"/>
              <a:pathLst>
                <a:path w="347979" h="373380">
                  <a:moveTo>
                    <a:pt x="173736" y="0"/>
                  </a:moveTo>
                  <a:lnTo>
                    <a:pt x="127529" y="6667"/>
                  </a:lnTo>
                  <a:lnTo>
                    <a:pt x="86021" y="25484"/>
                  </a:lnTo>
                  <a:lnTo>
                    <a:pt x="50863" y="54673"/>
                  </a:lnTo>
                  <a:lnTo>
                    <a:pt x="23706" y="92455"/>
                  </a:lnTo>
                  <a:lnTo>
                    <a:pt x="6201" y="137054"/>
                  </a:lnTo>
                  <a:lnTo>
                    <a:pt x="0" y="186689"/>
                  </a:lnTo>
                  <a:lnTo>
                    <a:pt x="6201" y="236325"/>
                  </a:lnTo>
                  <a:lnTo>
                    <a:pt x="23706" y="280923"/>
                  </a:lnTo>
                  <a:lnTo>
                    <a:pt x="50863" y="318706"/>
                  </a:lnTo>
                  <a:lnTo>
                    <a:pt x="86021" y="347895"/>
                  </a:lnTo>
                  <a:lnTo>
                    <a:pt x="127529" y="366712"/>
                  </a:lnTo>
                  <a:lnTo>
                    <a:pt x="173736" y="373379"/>
                  </a:lnTo>
                  <a:lnTo>
                    <a:pt x="219942" y="366712"/>
                  </a:lnTo>
                  <a:lnTo>
                    <a:pt x="261450" y="347895"/>
                  </a:lnTo>
                  <a:lnTo>
                    <a:pt x="296608" y="318706"/>
                  </a:lnTo>
                  <a:lnTo>
                    <a:pt x="323765" y="280924"/>
                  </a:lnTo>
                  <a:lnTo>
                    <a:pt x="341270" y="236325"/>
                  </a:lnTo>
                  <a:lnTo>
                    <a:pt x="347472" y="186689"/>
                  </a:lnTo>
                  <a:lnTo>
                    <a:pt x="341270" y="137054"/>
                  </a:lnTo>
                  <a:lnTo>
                    <a:pt x="323765" y="92456"/>
                  </a:lnTo>
                  <a:lnTo>
                    <a:pt x="296608" y="54673"/>
                  </a:lnTo>
                  <a:lnTo>
                    <a:pt x="261450" y="25484"/>
                  </a:lnTo>
                  <a:lnTo>
                    <a:pt x="219942" y="6667"/>
                  </a:lnTo>
                  <a:lnTo>
                    <a:pt x="173736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A0F90BCD-5FC0-F17C-1D0E-F9EA4DFD270A}"/>
                </a:ext>
              </a:extLst>
            </p:cNvPr>
            <p:cNvSpPr/>
            <p:nvPr/>
          </p:nvSpPr>
          <p:spPr>
            <a:xfrm>
              <a:off x="9025127" y="1871472"/>
              <a:ext cx="347980" cy="373380"/>
            </a:xfrm>
            <a:custGeom>
              <a:avLst/>
              <a:gdLst/>
              <a:ahLst/>
              <a:cxnLst/>
              <a:rect l="l" t="t" r="r" b="b"/>
              <a:pathLst>
                <a:path w="347979" h="373380">
                  <a:moveTo>
                    <a:pt x="0" y="186689"/>
                  </a:moveTo>
                  <a:lnTo>
                    <a:pt x="6201" y="137054"/>
                  </a:lnTo>
                  <a:lnTo>
                    <a:pt x="23706" y="92455"/>
                  </a:lnTo>
                  <a:lnTo>
                    <a:pt x="50863" y="54673"/>
                  </a:lnTo>
                  <a:lnTo>
                    <a:pt x="86021" y="25484"/>
                  </a:lnTo>
                  <a:lnTo>
                    <a:pt x="127529" y="6667"/>
                  </a:lnTo>
                  <a:lnTo>
                    <a:pt x="173736" y="0"/>
                  </a:lnTo>
                  <a:lnTo>
                    <a:pt x="219942" y="6667"/>
                  </a:lnTo>
                  <a:lnTo>
                    <a:pt x="261450" y="25484"/>
                  </a:lnTo>
                  <a:lnTo>
                    <a:pt x="296608" y="54673"/>
                  </a:lnTo>
                  <a:lnTo>
                    <a:pt x="323765" y="92456"/>
                  </a:lnTo>
                  <a:lnTo>
                    <a:pt x="341270" y="137054"/>
                  </a:lnTo>
                  <a:lnTo>
                    <a:pt x="347472" y="186689"/>
                  </a:lnTo>
                  <a:lnTo>
                    <a:pt x="341270" y="236325"/>
                  </a:lnTo>
                  <a:lnTo>
                    <a:pt x="323765" y="280924"/>
                  </a:lnTo>
                  <a:lnTo>
                    <a:pt x="296608" y="318706"/>
                  </a:lnTo>
                  <a:lnTo>
                    <a:pt x="261450" y="347895"/>
                  </a:lnTo>
                  <a:lnTo>
                    <a:pt x="219942" y="366712"/>
                  </a:lnTo>
                  <a:lnTo>
                    <a:pt x="173736" y="373379"/>
                  </a:lnTo>
                  <a:lnTo>
                    <a:pt x="127529" y="366712"/>
                  </a:lnTo>
                  <a:lnTo>
                    <a:pt x="86021" y="347895"/>
                  </a:lnTo>
                  <a:lnTo>
                    <a:pt x="50863" y="318706"/>
                  </a:lnTo>
                  <a:lnTo>
                    <a:pt x="23706" y="280923"/>
                  </a:lnTo>
                  <a:lnTo>
                    <a:pt x="6201" y="236325"/>
                  </a:lnTo>
                  <a:lnTo>
                    <a:pt x="0" y="186689"/>
                  </a:lnTo>
                  <a:close/>
                </a:path>
              </a:pathLst>
            </a:custGeom>
            <a:ln w="15875">
              <a:solidFill>
                <a:srgbClr val="781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5">
              <a:extLst>
                <a:ext uri="{FF2B5EF4-FFF2-40B4-BE49-F238E27FC236}">
                  <a16:creationId xmlns:a16="http://schemas.microsoft.com/office/drawing/2014/main" id="{E721A841-AD20-A605-F765-1846BF3B6123}"/>
                </a:ext>
              </a:extLst>
            </p:cNvPr>
            <p:cNvSpPr/>
            <p:nvPr/>
          </p:nvSpPr>
          <p:spPr>
            <a:xfrm>
              <a:off x="7110984" y="2058924"/>
              <a:ext cx="1915160" cy="0"/>
            </a:xfrm>
            <a:custGeom>
              <a:avLst/>
              <a:gdLst/>
              <a:ahLst/>
              <a:cxnLst/>
              <a:rect l="l" t="t" r="r" b="b"/>
              <a:pathLst>
                <a:path w="1915159">
                  <a:moveTo>
                    <a:pt x="0" y="0"/>
                  </a:moveTo>
                  <a:lnTo>
                    <a:pt x="1914652" y="0"/>
                  </a:lnTo>
                </a:path>
              </a:pathLst>
            </a:custGeom>
            <a:ln w="158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16">
              <a:extLst>
                <a:ext uri="{FF2B5EF4-FFF2-40B4-BE49-F238E27FC236}">
                  <a16:creationId xmlns:a16="http://schemas.microsoft.com/office/drawing/2014/main" id="{8241D13C-4D69-00BE-9C55-916AA017BDE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96627" y="1772424"/>
              <a:ext cx="463283" cy="490715"/>
            </a:xfrm>
            <a:prstGeom prst="rect">
              <a:avLst/>
            </a:prstGeom>
          </p:spPr>
        </p:pic>
        <p:sp>
          <p:nvSpPr>
            <p:cNvPr id="21" name="object 17">
              <a:extLst>
                <a:ext uri="{FF2B5EF4-FFF2-40B4-BE49-F238E27FC236}">
                  <a16:creationId xmlns:a16="http://schemas.microsoft.com/office/drawing/2014/main" id="{4749C0AE-5DED-C76D-A0EB-9D6A1C982A8F}"/>
                </a:ext>
              </a:extLst>
            </p:cNvPr>
            <p:cNvSpPr/>
            <p:nvPr/>
          </p:nvSpPr>
          <p:spPr>
            <a:xfrm>
              <a:off x="9657588" y="1871472"/>
              <a:ext cx="346075" cy="373380"/>
            </a:xfrm>
            <a:custGeom>
              <a:avLst/>
              <a:gdLst/>
              <a:ahLst/>
              <a:cxnLst/>
              <a:rect l="l" t="t" r="r" b="b"/>
              <a:pathLst>
                <a:path w="346075" h="373380">
                  <a:moveTo>
                    <a:pt x="172973" y="0"/>
                  </a:moveTo>
                  <a:lnTo>
                    <a:pt x="127000" y="6667"/>
                  </a:lnTo>
                  <a:lnTo>
                    <a:pt x="85682" y="25484"/>
                  </a:lnTo>
                  <a:lnTo>
                    <a:pt x="50673" y="54673"/>
                  </a:lnTo>
                  <a:lnTo>
                    <a:pt x="23622" y="92455"/>
                  </a:lnTo>
                  <a:lnTo>
                    <a:pt x="6180" y="137054"/>
                  </a:lnTo>
                  <a:lnTo>
                    <a:pt x="0" y="186689"/>
                  </a:lnTo>
                  <a:lnTo>
                    <a:pt x="6180" y="236325"/>
                  </a:lnTo>
                  <a:lnTo>
                    <a:pt x="23621" y="280923"/>
                  </a:lnTo>
                  <a:lnTo>
                    <a:pt x="50672" y="318706"/>
                  </a:lnTo>
                  <a:lnTo>
                    <a:pt x="85682" y="347895"/>
                  </a:lnTo>
                  <a:lnTo>
                    <a:pt x="126999" y="366712"/>
                  </a:lnTo>
                  <a:lnTo>
                    <a:pt x="172973" y="373379"/>
                  </a:lnTo>
                  <a:lnTo>
                    <a:pt x="218947" y="366712"/>
                  </a:lnTo>
                  <a:lnTo>
                    <a:pt x="260265" y="347895"/>
                  </a:lnTo>
                  <a:lnTo>
                    <a:pt x="295274" y="318706"/>
                  </a:lnTo>
                  <a:lnTo>
                    <a:pt x="322325" y="280924"/>
                  </a:lnTo>
                  <a:lnTo>
                    <a:pt x="339767" y="236325"/>
                  </a:lnTo>
                  <a:lnTo>
                    <a:pt x="345947" y="186689"/>
                  </a:lnTo>
                  <a:lnTo>
                    <a:pt x="339767" y="137054"/>
                  </a:lnTo>
                  <a:lnTo>
                    <a:pt x="322325" y="92456"/>
                  </a:lnTo>
                  <a:lnTo>
                    <a:pt x="295274" y="54673"/>
                  </a:lnTo>
                  <a:lnTo>
                    <a:pt x="260265" y="25484"/>
                  </a:lnTo>
                  <a:lnTo>
                    <a:pt x="218947" y="6667"/>
                  </a:lnTo>
                  <a:lnTo>
                    <a:pt x="172973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8">
              <a:extLst>
                <a:ext uri="{FF2B5EF4-FFF2-40B4-BE49-F238E27FC236}">
                  <a16:creationId xmlns:a16="http://schemas.microsoft.com/office/drawing/2014/main" id="{BDD4F091-CD3E-2A91-6724-709893D3D183}"/>
                </a:ext>
              </a:extLst>
            </p:cNvPr>
            <p:cNvSpPr/>
            <p:nvPr/>
          </p:nvSpPr>
          <p:spPr>
            <a:xfrm>
              <a:off x="9657588" y="1871472"/>
              <a:ext cx="346075" cy="373380"/>
            </a:xfrm>
            <a:custGeom>
              <a:avLst/>
              <a:gdLst/>
              <a:ahLst/>
              <a:cxnLst/>
              <a:rect l="l" t="t" r="r" b="b"/>
              <a:pathLst>
                <a:path w="346075" h="373380">
                  <a:moveTo>
                    <a:pt x="0" y="186689"/>
                  </a:moveTo>
                  <a:lnTo>
                    <a:pt x="6180" y="137054"/>
                  </a:lnTo>
                  <a:lnTo>
                    <a:pt x="23622" y="92455"/>
                  </a:lnTo>
                  <a:lnTo>
                    <a:pt x="50673" y="54673"/>
                  </a:lnTo>
                  <a:lnTo>
                    <a:pt x="85682" y="25484"/>
                  </a:lnTo>
                  <a:lnTo>
                    <a:pt x="127000" y="6667"/>
                  </a:lnTo>
                  <a:lnTo>
                    <a:pt x="172973" y="0"/>
                  </a:lnTo>
                  <a:lnTo>
                    <a:pt x="218947" y="6667"/>
                  </a:lnTo>
                  <a:lnTo>
                    <a:pt x="260265" y="25484"/>
                  </a:lnTo>
                  <a:lnTo>
                    <a:pt x="295274" y="54673"/>
                  </a:lnTo>
                  <a:lnTo>
                    <a:pt x="322325" y="92456"/>
                  </a:lnTo>
                  <a:lnTo>
                    <a:pt x="339767" y="137054"/>
                  </a:lnTo>
                  <a:lnTo>
                    <a:pt x="345947" y="186689"/>
                  </a:lnTo>
                  <a:lnTo>
                    <a:pt x="339767" y="236325"/>
                  </a:lnTo>
                  <a:lnTo>
                    <a:pt x="322325" y="280924"/>
                  </a:lnTo>
                  <a:lnTo>
                    <a:pt x="295274" y="318706"/>
                  </a:lnTo>
                  <a:lnTo>
                    <a:pt x="260265" y="347895"/>
                  </a:lnTo>
                  <a:lnTo>
                    <a:pt x="218947" y="366712"/>
                  </a:lnTo>
                  <a:lnTo>
                    <a:pt x="172973" y="373379"/>
                  </a:lnTo>
                  <a:lnTo>
                    <a:pt x="126999" y="366712"/>
                  </a:lnTo>
                  <a:lnTo>
                    <a:pt x="85682" y="347895"/>
                  </a:lnTo>
                  <a:lnTo>
                    <a:pt x="50672" y="318706"/>
                  </a:lnTo>
                  <a:lnTo>
                    <a:pt x="23621" y="280923"/>
                  </a:lnTo>
                  <a:lnTo>
                    <a:pt x="6180" y="236325"/>
                  </a:lnTo>
                  <a:lnTo>
                    <a:pt x="0" y="186689"/>
                  </a:lnTo>
                  <a:close/>
                </a:path>
              </a:pathLst>
            </a:custGeom>
            <a:ln w="15875">
              <a:solidFill>
                <a:srgbClr val="781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9">
              <a:extLst>
                <a:ext uri="{FF2B5EF4-FFF2-40B4-BE49-F238E27FC236}">
                  <a16:creationId xmlns:a16="http://schemas.microsoft.com/office/drawing/2014/main" id="{3C16168E-495C-6636-C670-4F818AD06D43}"/>
                </a:ext>
              </a:extLst>
            </p:cNvPr>
            <p:cNvSpPr/>
            <p:nvPr/>
          </p:nvSpPr>
          <p:spPr>
            <a:xfrm>
              <a:off x="9372600" y="2058924"/>
              <a:ext cx="1216025" cy="0"/>
            </a:xfrm>
            <a:custGeom>
              <a:avLst/>
              <a:gdLst/>
              <a:ahLst/>
              <a:cxnLst/>
              <a:rect l="l" t="t" r="r" b="b"/>
              <a:pathLst>
                <a:path w="1216025">
                  <a:moveTo>
                    <a:pt x="0" y="0"/>
                  </a:moveTo>
                  <a:lnTo>
                    <a:pt x="285623" y="0"/>
                  </a:lnTo>
                </a:path>
                <a:path w="1216025">
                  <a:moveTo>
                    <a:pt x="630935" y="0"/>
                  </a:moveTo>
                  <a:lnTo>
                    <a:pt x="1215771" y="0"/>
                  </a:lnTo>
                </a:path>
              </a:pathLst>
            </a:custGeom>
            <a:ln w="158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0">
            <a:extLst>
              <a:ext uri="{FF2B5EF4-FFF2-40B4-BE49-F238E27FC236}">
                <a16:creationId xmlns:a16="http://schemas.microsoft.com/office/drawing/2014/main" id="{B043DC2C-FA42-70D1-40C9-D085EEF427DD}"/>
              </a:ext>
            </a:extLst>
          </p:cNvPr>
          <p:cNvSpPr txBox="1"/>
          <p:nvPr/>
        </p:nvSpPr>
        <p:spPr>
          <a:xfrm>
            <a:off x="6694423" y="1462278"/>
            <a:ext cx="4883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 Math"/>
                <a:cs typeface="Cambria Math"/>
              </a:rPr>
              <a:t>𝑡</a:t>
            </a:r>
            <a:r>
              <a:rPr sz="1600" spc="85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Cambria Math"/>
                <a:cs typeface="Cambria Math"/>
              </a:rPr>
              <a:t>=</a:t>
            </a:r>
            <a:r>
              <a:rPr sz="1600" spc="55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Cambria Math"/>
                <a:cs typeface="Cambria Math"/>
              </a:rPr>
              <a:t>0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43F7D5C6-EF7D-ABB3-F402-884FB376A6BB}"/>
              </a:ext>
            </a:extLst>
          </p:cNvPr>
          <p:cNvSpPr txBox="1"/>
          <p:nvPr/>
        </p:nvSpPr>
        <p:spPr>
          <a:xfrm>
            <a:off x="9116948" y="1462278"/>
            <a:ext cx="1054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 Math"/>
                <a:cs typeface="Cambria Math"/>
              </a:rPr>
              <a:t>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6" name="object 22">
            <a:extLst>
              <a:ext uri="{FF2B5EF4-FFF2-40B4-BE49-F238E27FC236}">
                <a16:creationId xmlns:a16="http://schemas.microsoft.com/office/drawing/2014/main" id="{B6F68F6D-0B6F-B67A-EFD6-3CF287CDEF6F}"/>
              </a:ext>
            </a:extLst>
          </p:cNvPr>
          <p:cNvSpPr txBox="1"/>
          <p:nvPr/>
        </p:nvSpPr>
        <p:spPr>
          <a:xfrm>
            <a:off x="9620757" y="1462278"/>
            <a:ext cx="5505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 Math"/>
                <a:cs typeface="Cambria Math"/>
              </a:rPr>
              <a:t>𝑡</a:t>
            </a:r>
            <a:r>
              <a:rPr sz="1600" spc="5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Cambria Math"/>
                <a:cs typeface="Cambria Math"/>
              </a:rPr>
              <a:t>+</a:t>
            </a:r>
            <a:r>
              <a:rPr sz="1600" spc="-35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mbria Math"/>
                <a:cs typeface="Cambria Math"/>
              </a:rPr>
              <a:t>𝑑𝑡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7" name="object 23">
            <a:extLst>
              <a:ext uri="{FF2B5EF4-FFF2-40B4-BE49-F238E27FC236}">
                <a16:creationId xmlns:a16="http://schemas.microsoft.com/office/drawing/2014/main" id="{ECC22A3B-86A1-5D11-4811-0C1A2943C617}"/>
              </a:ext>
            </a:extLst>
          </p:cNvPr>
          <p:cNvSpPr/>
          <p:nvPr/>
        </p:nvSpPr>
        <p:spPr>
          <a:xfrm>
            <a:off x="9835895" y="2357627"/>
            <a:ext cx="0" cy="723900"/>
          </a:xfrm>
          <a:custGeom>
            <a:avLst/>
            <a:gdLst/>
            <a:ahLst/>
            <a:cxnLst/>
            <a:rect l="l" t="t" r="r" b="b"/>
            <a:pathLst>
              <a:path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ln w="15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4">
            <a:extLst>
              <a:ext uri="{FF2B5EF4-FFF2-40B4-BE49-F238E27FC236}">
                <a16:creationId xmlns:a16="http://schemas.microsoft.com/office/drawing/2014/main" id="{BE226C42-CDAF-DC94-40C9-5004BFD17BAD}"/>
              </a:ext>
            </a:extLst>
          </p:cNvPr>
          <p:cNvGrpSpPr/>
          <p:nvPr/>
        </p:nvGrpSpPr>
        <p:grpSpPr>
          <a:xfrm>
            <a:off x="8235442" y="2357627"/>
            <a:ext cx="960755" cy="314325"/>
            <a:chOff x="8235442" y="2357627"/>
            <a:chExt cx="960755" cy="314325"/>
          </a:xfrm>
        </p:grpSpPr>
        <p:sp>
          <p:nvSpPr>
            <p:cNvPr id="29" name="object 25">
              <a:extLst>
                <a:ext uri="{FF2B5EF4-FFF2-40B4-BE49-F238E27FC236}">
                  <a16:creationId xmlns:a16="http://schemas.microsoft.com/office/drawing/2014/main" id="{91BD7650-3BED-7F8D-D678-41A38C640389}"/>
                </a:ext>
              </a:extLst>
            </p:cNvPr>
            <p:cNvSpPr/>
            <p:nvPr/>
          </p:nvSpPr>
          <p:spPr>
            <a:xfrm>
              <a:off x="9188196" y="2357627"/>
              <a:ext cx="0" cy="314325"/>
            </a:xfrm>
            <a:custGeom>
              <a:avLst/>
              <a:gdLst/>
              <a:ahLst/>
              <a:cxnLst/>
              <a:rect l="l" t="t" r="r" b="b"/>
              <a:pathLst>
                <a:path h="314325">
                  <a:moveTo>
                    <a:pt x="0" y="0"/>
                  </a:moveTo>
                  <a:lnTo>
                    <a:pt x="0" y="314325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6">
              <a:extLst>
                <a:ext uri="{FF2B5EF4-FFF2-40B4-BE49-F238E27FC236}">
                  <a16:creationId xmlns:a16="http://schemas.microsoft.com/office/drawing/2014/main" id="{F9254113-63F1-8FD4-C881-21627AF1B933}"/>
                </a:ext>
              </a:extLst>
            </p:cNvPr>
            <p:cNvSpPr/>
            <p:nvPr/>
          </p:nvSpPr>
          <p:spPr>
            <a:xfrm>
              <a:off x="8235442" y="2506979"/>
              <a:ext cx="937260" cy="76200"/>
            </a:xfrm>
            <a:custGeom>
              <a:avLst/>
              <a:gdLst/>
              <a:ahLst/>
              <a:cxnLst/>
              <a:rect l="l" t="t" r="r" b="b"/>
              <a:pathLst>
                <a:path w="937259" h="76200">
                  <a:moveTo>
                    <a:pt x="860805" y="0"/>
                  </a:moveTo>
                  <a:lnTo>
                    <a:pt x="860805" y="76200"/>
                  </a:lnTo>
                  <a:lnTo>
                    <a:pt x="924305" y="44450"/>
                  </a:lnTo>
                  <a:lnTo>
                    <a:pt x="877061" y="44450"/>
                  </a:lnTo>
                  <a:lnTo>
                    <a:pt x="879855" y="41656"/>
                  </a:lnTo>
                  <a:lnTo>
                    <a:pt x="879855" y="34544"/>
                  </a:lnTo>
                  <a:lnTo>
                    <a:pt x="877061" y="31750"/>
                  </a:lnTo>
                  <a:lnTo>
                    <a:pt x="924305" y="31750"/>
                  </a:lnTo>
                  <a:lnTo>
                    <a:pt x="860805" y="0"/>
                  </a:lnTo>
                  <a:close/>
                </a:path>
                <a:path w="937259" h="76200">
                  <a:moveTo>
                    <a:pt x="860805" y="31750"/>
                  </a:moveTo>
                  <a:lnTo>
                    <a:pt x="2793" y="31750"/>
                  </a:lnTo>
                  <a:lnTo>
                    <a:pt x="0" y="34544"/>
                  </a:lnTo>
                  <a:lnTo>
                    <a:pt x="0" y="41656"/>
                  </a:lnTo>
                  <a:lnTo>
                    <a:pt x="2793" y="44450"/>
                  </a:lnTo>
                  <a:lnTo>
                    <a:pt x="860805" y="44450"/>
                  </a:lnTo>
                  <a:lnTo>
                    <a:pt x="860805" y="31750"/>
                  </a:lnTo>
                  <a:close/>
                </a:path>
                <a:path w="937259" h="76200">
                  <a:moveTo>
                    <a:pt x="924305" y="31750"/>
                  </a:moveTo>
                  <a:lnTo>
                    <a:pt x="877061" y="31750"/>
                  </a:lnTo>
                  <a:lnTo>
                    <a:pt x="879855" y="34544"/>
                  </a:lnTo>
                  <a:lnTo>
                    <a:pt x="879855" y="41656"/>
                  </a:lnTo>
                  <a:lnTo>
                    <a:pt x="877061" y="44450"/>
                  </a:lnTo>
                  <a:lnTo>
                    <a:pt x="924305" y="44450"/>
                  </a:lnTo>
                  <a:lnTo>
                    <a:pt x="937005" y="38100"/>
                  </a:lnTo>
                  <a:lnTo>
                    <a:pt x="924305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27">
            <a:extLst>
              <a:ext uri="{FF2B5EF4-FFF2-40B4-BE49-F238E27FC236}">
                <a16:creationId xmlns:a16="http://schemas.microsoft.com/office/drawing/2014/main" id="{5FD8FAB4-F31B-987F-1B8F-2D5F8E75DBE6}"/>
              </a:ext>
            </a:extLst>
          </p:cNvPr>
          <p:cNvGrpSpPr/>
          <p:nvPr/>
        </p:nvGrpSpPr>
        <p:grpSpPr>
          <a:xfrm>
            <a:off x="6923214" y="2357627"/>
            <a:ext cx="1323975" cy="723900"/>
            <a:chOff x="6923214" y="2357627"/>
            <a:chExt cx="1323975" cy="723900"/>
          </a:xfrm>
        </p:grpSpPr>
        <p:sp>
          <p:nvSpPr>
            <p:cNvPr id="32" name="object 28">
              <a:extLst>
                <a:ext uri="{FF2B5EF4-FFF2-40B4-BE49-F238E27FC236}">
                  <a16:creationId xmlns:a16="http://schemas.microsoft.com/office/drawing/2014/main" id="{0F4D814D-8024-06C4-024D-25F8EDB785AC}"/>
                </a:ext>
              </a:extLst>
            </p:cNvPr>
            <p:cNvSpPr/>
            <p:nvPr/>
          </p:nvSpPr>
          <p:spPr>
            <a:xfrm>
              <a:off x="6931152" y="2357627"/>
              <a:ext cx="0" cy="723900"/>
            </a:xfrm>
            <a:custGeom>
              <a:avLst/>
              <a:gdLst/>
              <a:ahLst/>
              <a:cxnLst/>
              <a:rect l="l" t="t" r="r" b="b"/>
              <a:pathLst>
                <a:path h="723900">
                  <a:moveTo>
                    <a:pt x="0" y="0"/>
                  </a:moveTo>
                  <a:lnTo>
                    <a:pt x="0" y="723900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29">
              <a:extLst>
                <a:ext uri="{FF2B5EF4-FFF2-40B4-BE49-F238E27FC236}">
                  <a16:creationId xmlns:a16="http://schemas.microsoft.com/office/drawing/2014/main" id="{0537DBF5-2544-F41D-901C-39D9660EFD91}"/>
                </a:ext>
              </a:extLst>
            </p:cNvPr>
            <p:cNvSpPr/>
            <p:nvPr/>
          </p:nvSpPr>
          <p:spPr>
            <a:xfrm>
              <a:off x="6931152" y="2506979"/>
              <a:ext cx="1316355" cy="445134"/>
            </a:xfrm>
            <a:custGeom>
              <a:avLst/>
              <a:gdLst/>
              <a:ahLst/>
              <a:cxnLst/>
              <a:rect l="l" t="t" r="r" b="b"/>
              <a:pathLst>
                <a:path w="1316354" h="445135">
                  <a:moveTo>
                    <a:pt x="970661" y="34544"/>
                  </a:moveTo>
                  <a:lnTo>
                    <a:pt x="967867" y="31750"/>
                  </a:lnTo>
                  <a:lnTo>
                    <a:pt x="76200" y="31750"/>
                  </a:lnTo>
                  <a:lnTo>
                    <a:pt x="76200" y="0"/>
                  </a:ln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967867" y="44450"/>
                  </a:lnTo>
                  <a:lnTo>
                    <a:pt x="970661" y="41656"/>
                  </a:lnTo>
                  <a:lnTo>
                    <a:pt x="970661" y="34544"/>
                  </a:lnTo>
                  <a:close/>
                </a:path>
                <a:path w="1316354" h="445135">
                  <a:moveTo>
                    <a:pt x="1315974" y="403352"/>
                  </a:moveTo>
                  <a:lnTo>
                    <a:pt x="1313180" y="400558"/>
                  </a:lnTo>
                  <a:lnTo>
                    <a:pt x="82296" y="400558"/>
                  </a:lnTo>
                  <a:lnTo>
                    <a:pt x="82296" y="368808"/>
                  </a:lnTo>
                  <a:lnTo>
                    <a:pt x="6096" y="406908"/>
                  </a:lnTo>
                  <a:lnTo>
                    <a:pt x="82296" y="445008"/>
                  </a:lnTo>
                  <a:lnTo>
                    <a:pt x="82296" y="413258"/>
                  </a:lnTo>
                  <a:lnTo>
                    <a:pt x="1313180" y="413258"/>
                  </a:lnTo>
                  <a:lnTo>
                    <a:pt x="1315974" y="410464"/>
                  </a:lnTo>
                  <a:lnTo>
                    <a:pt x="1315974" y="4033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0">
            <a:extLst>
              <a:ext uri="{FF2B5EF4-FFF2-40B4-BE49-F238E27FC236}">
                <a16:creationId xmlns:a16="http://schemas.microsoft.com/office/drawing/2014/main" id="{C138C814-AFA4-29E6-6F6D-D72828B759D1}"/>
              </a:ext>
            </a:extLst>
          </p:cNvPr>
          <p:cNvSpPr txBox="1"/>
          <p:nvPr/>
        </p:nvSpPr>
        <p:spPr>
          <a:xfrm>
            <a:off x="8007222" y="2404363"/>
            <a:ext cx="1193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 Math"/>
                <a:cs typeface="Cambria Math"/>
              </a:rPr>
              <a:t>𝑠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5" name="object 31">
            <a:extLst>
              <a:ext uri="{FF2B5EF4-FFF2-40B4-BE49-F238E27FC236}">
                <a16:creationId xmlns:a16="http://schemas.microsoft.com/office/drawing/2014/main" id="{6DECCBF1-9BE9-DBE4-A73B-5FEB6DC5813F}"/>
              </a:ext>
            </a:extLst>
          </p:cNvPr>
          <p:cNvSpPr txBox="1"/>
          <p:nvPr/>
        </p:nvSpPr>
        <p:spPr>
          <a:xfrm>
            <a:off x="8306181" y="2773806"/>
            <a:ext cx="5765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mbria Math"/>
                <a:cs typeface="Cambria Math"/>
              </a:rPr>
              <a:t>𝑠</a:t>
            </a:r>
            <a:r>
              <a:rPr sz="1600" spc="-15" dirty="0">
                <a:latin typeface="Cambria Math"/>
                <a:cs typeface="Cambria Math"/>
              </a:rPr>
              <a:t> </a:t>
            </a:r>
            <a:r>
              <a:rPr sz="1600" spc="-5" dirty="0">
                <a:latin typeface="Cambria Math"/>
                <a:cs typeface="Cambria Math"/>
              </a:rPr>
              <a:t>+</a:t>
            </a:r>
            <a:r>
              <a:rPr sz="1600" spc="-25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mbria Math"/>
                <a:cs typeface="Cambria Math"/>
              </a:rPr>
              <a:t>𝑑𝑠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6" name="object 32">
            <a:extLst>
              <a:ext uri="{FF2B5EF4-FFF2-40B4-BE49-F238E27FC236}">
                <a16:creationId xmlns:a16="http://schemas.microsoft.com/office/drawing/2014/main" id="{D3CA5D15-A4C8-ED0E-B702-D7339AFDE98B}"/>
              </a:ext>
            </a:extLst>
          </p:cNvPr>
          <p:cNvSpPr/>
          <p:nvPr/>
        </p:nvSpPr>
        <p:spPr>
          <a:xfrm>
            <a:off x="8873997" y="2892551"/>
            <a:ext cx="956944" cy="76200"/>
          </a:xfrm>
          <a:custGeom>
            <a:avLst/>
            <a:gdLst/>
            <a:ahLst/>
            <a:cxnLst/>
            <a:rect l="l" t="t" r="r" b="b"/>
            <a:pathLst>
              <a:path w="956945" h="76200">
                <a:moveTo>
                  <a:pt x="880745" y="0"/>
                </a:moveTo>
                <a:lnTo>
                  <a:pt x="880745" y="76200"/>
                </a:lnTo>
                <a:lnTo>
                  <a:pt x="944245" y="44450"/>
                </a:lnTo>
                <a:lnTo>
                  <a:pt x="897001" y="44450"/>
                </a:lnTo>
                <a:lnTo>
                  <a:pt x="899795" y="41656"/>
                </a:lnTo>
                <a:lnTo>
                  <a:pt x="899795" y="34544"/>
                </a:lnTo>
                <a:lnTo>
                  <a:pt x="897001" y="31750"/>
                </a:lnTo>
                <a:lnTo>
                  <a:pt x="944245" y="31750"/>
                </a:lnTo>
                <a:lnTo>
                  <a:pt x="880745" y="0"/>
                </a:lnTo>
                <a:close/>
              </a:path>
              <a:path w="956945" h="76200">
                <a:moveTo>
                  <a:pt x="880745" y="31750"/>
                </a:moveTo>
                <a:lnTo>
                  <a:pt x="2794" y="31750"/>
                </a:lnTo>
                <a:lnTo>
                  <a:pt x="0" y="34544"/>
                </a:lnTo>
                <a:lnTo>
                  <a:pt x="0" y="41656"/>
                </a:lnTo>
                <a:lnTo>
                  <a:pt x="2794" y="44450"/>
                </a:lnTo>
                <a:lnTo>
                  <a:pt x="880745" y="44450"/>
                </a:lnTo>
                <a:lnTo>
                  <a:pt x="880745" y="31750"/>
                </a:lnTo>
                <a:close/>
              </a:path>
              <a:path w="956945" h="76200">
                <a:moveTo>
                  <a:pt x="944245" y="31750"/>
                </a:moveTo>
                <a:lnTo>
                  <a:pt x="897001" y="31750"/>
                </a:lnTo>
                <a:lnTo>
                  <a:pt x="899795" y="34544"/>
                </a:lnTo>
                <a:lnTo>
                  <a:pt x="899795" y="41656"/>
                </a:lnTo>
                <a:lnTo>
                  <a:pt x="897001" y="44450"/>
                </a:lnTo>
                <a:lnTo>
                  <a:pt x="944245" y="44450"/>
                </a:lnTo>
                <a:lnTo>
                  <a:pt x="956945" y="38100"/>
                </a:lnTo>
                <a:lnTo>
                  <a:pt x="94424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object 33">
            <a:extLst>
              <a:ext uri="{FF2B5EF4-FFF2-40B4-BE49-F238E27FC236}">
                <a16:creationId xmlns:a16="http://schemas.microsoft.com/office/drawing/2014/main" id="{6D84A875-4106-A656-CDCD-168A6608E5C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44968" y="3450335"/>
            <a:ext cx="2084831" cy="1882139"/>
          </a:xfrm>
          <a:prstGeom prst="rect">
            <a:avLst/>
          </a:prstGeom>
        </p:spPr>
      </p:pic>
      <p:sp>
        <p:nvSpPr>
          <p:cNvPr id="38" name="object 34">
            <a:extLst>
              <a:ext uri="{FF2B5EF4-FFF2-40B4-BE49-F238E27FC236}">
                <a16:creationId xmlns:a16="http://schemas.microsoft.com/office/drawing/2014/main" id="{A474556F-71D5-454C-3AC4-C49C823E0054}"/>
              </a:ext>
            </a:extLst>
          </p:cNvPr>
          <p:cNvSpPr txBox="1"/>
          <p:nvPr/>
        </p:nvSpPr>
        <p:spPr>
          <a:xfrm>
            <a:off x="2111755" y="3609213"/>
            <a:ext cx="5337175" cy="287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  <a:tabLst>
                <a:tab pos="703580" algn="l"/>
              </a:tabLst>
            </a:pPr>
            <a:r>
              <a:rPr sz="2600" dirty="0">
                <a:solidFill>
                  <a:srgbClr val="C00000"/>
                </a:solidFill>
                <a:latin typeface="Cambria Math"/>
                <a:cs typeface="Cambria Math"/>
              </a:rPr>
              <a:t>𝟑.	𝑭</a:t>
            </a:r>
            <a:r>
              <a:rPr sz="2600" spc="11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60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sz="2600" spc="12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600" spc="-5" dirty="0">
                <a:solidFill>
                  <a:srgbClr val="C00000"/>
                </a:solidFill>
                <a:latin typeface="Cambria Math"/>
                <a:cs typeface="Cambria Math"/>
              </a:rPr>
              <a:t>𝒎𝒂</a:t>
            </a:r>
            <a:endParaRPr sz="26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00">
              <a:latin typeface="Cambria Math"/>
              <a:cs typeface="Cambria Math"/>
            </a:endParaRPr>
          </a:p>
          <a:p>
            <a:pPr marL="66675">
              <a:lnSpc>
                <a:spcPct val="100000"/>
              </a:lnSpc>
              <a:spcBef>
                <a:spcPts val="5"/>
              </a:spcBef>
              <a:tabLst>
                <a:tab pos="752475" algn="l"/>
              </a:tabLst>
            </a:pPr>
            <a:r>
              <a:rPr sz="2600" dirty="0">
                <a:solidFill>
                  <a:srgbClr val="C00000"/>
                </a:solidFill>
                <a:latin typeface="Cambria Math"/>
                <a:cs typeface="Cambria Math"/>
              </a:rPr>
              <a:t>𝟒.	𝒔</a:t>
            </a:r>
            <a:r>
              <a:rPr sz="2600" spc="114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60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sz="2600" spc="10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600" spc="-5" dirty="0">
                <a:solidFill>
                  <a:srgbClr val="C00000"/>
                </a:solidFill>
                <a:latin typeface="Cambria Math"/>
                <a:cs typeface="Cambria Math"/>
              </a:rPr>
              <a:t>𝒓𝜽</a:t>
            </a:r>
            <a:endParaRPr sz="26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6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Cambria Math"/>
              <a:cs typeface="Cambria Math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Note: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only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scalar</a:t>
            </a:r>
            <a:r>
              <a:rPr sz="2400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equations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are shown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from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here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simplification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purpose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">
            <a:extLst>
              <a:ext uri="{FF2B5EF4-FFF2-40B4-BE49-F238E27FC236}">
                <a16:creationId xmlns:a16="http://schemas.microsoft.com/office/drawing/2014/main" id="{89874FDA-8C57-55BE-9DBF-6407A9A73669}"/>
              </a:ext>
            </a:extLst>
          </p:cNvPr>
          <p:cNvSpPr txBox="1">
            <a:spLocks/>
          </p:cNvSpPr>
          <p:nvPr/>
        </p:nvSpPr>
        <p:spPr>
          <a:xfrm>
            <a:off x="-420881" y="203437"/>
            <a:ext cx="7603619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8260" algn="ctr">
              <a:lnSpc>
                <a:spcPct val="100000"/>
              </a:lnSpc>
              <a:spcBef>
                <a:spcPts val="95"/>
              </a:spcBef>
            </a:pPr>
            <a:r>
              <a:rPr lang="en-US" sz="3200" spc="-5" dirty="0">
                <a:solidFill>
                  <a:srgbClr val="C0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Introduction of Dynamics</a:t>
            </a:r>
          </a:p>
        </p:txBody>
      </p:sp>
      <p:sp>
        <p:nvSpPr>
          <p:cNvPr id="40" name="object 3">
            <a:extLst>
              <a:ext uri="{FF2B5EF4-FFF2-40B4-BE49-F238E27FC236}">
                <a16:creationId xmlns:a16="http://schemas.microsoft.com/office/drawing/2014/main" id="{C3AA2E5F-1387-666B-E85B-86E75EB702F3}"/>
              </a:ext>
            </a:extLst>
          </p:cNvPr>
          <p:cNvSpPr/>
          <p:nvPr/>
        </p:nvSpPr>
        <p:spPr>
          <a:xfrm>
            <a:off x="3478276" y="1499742"/>
            <a:ext cx="378460" cy="21590"/>
          </a:xfrm>
          <a:custGeom>
            <a:avLst/>
            <a:gdLst/>
            <a:ahLst/>
            <a:cxnLst/>
            <a:rect l="l" t="t" r="r" b="b"/>
            <a:pathLst>
              <a:path w="378460" h="21590">
                <a:moveTo>
                  <a:pt x="377951" y="0"/>
                </a:moveTo>
                <a:lnTo>
                  <a:pt x="0" y="0"/>
                </a:lnTo>
                <a:lnTo>
                  <a:pt x="0" y="21336"/>
                </a:lnTo>
                <a:lnTo>
                  <a:pt x="377951" y="21336"/>
                </a:lnTo>
                <a:lnTo>
                  <a:pt x="37795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">
            <a:extLst>
              <a:ext uri="{FF2B5EF4-FFF2-40B4-BE49-F238E27FC236}">
                <a16:creationId xmlns:a16="http://schemas.microsoft.com/office/drawing/2014/main" id="{D8B62C58-9C8C-47BD-8220-4323BB6AEFDF}"/>
              </a:ext>
            </a:extLst>
          </p:cNvPr>
          <p:cNvSpPr txBox="1"/>
          <p:nvPr/>
        </p:nvSpPr>
        <p:spPr>
          <a:xfrm>
            <a:off x="3465957" y="1011682"/>
            <a:ext cx="40576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C00000"/>
                </a:solidFill>
                <a:latin typeface="Cambria Math"/>
                <a:cs typeface="Cambria Math"/>
              </a:rPr>
              <a:t>𝒅𝒔</a:t>
            </a:r>
            <a:endParaRPr sz="2600" dirty="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690373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7/1/2025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2FD683D6-F034-EFF2-2C7E-149C78971098}"/>
              </a:ext>
            </a:extLst>
          </p:cNvPr>
          <p:cNvSpPr txBox="1">
            <a:spLocks/>
          </p:cNvSpPr>
          <p:nvPr/>
        </p:nvSpPr>
        <p:spPr>
          <a:xfrm>
            <a:off x="1768981" y="334772"/>
            <a:ext cx="487636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lang="en-US" sz="3200" spc="-5" dirty="0">
                <a:solidFill>
                  <a:srgbClr val="C0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Rectilinear Motion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109ABC57-F9E5-6114-6FF2-AA5EA9309B0B}"/>
              </a:ext>
            </a:extLst>
          </p:cNvPr>
          <p:cNvSpPr txBox="1"/>
          <p:nvPr/>
        </p:nvSpPr>
        <p:spPr>
          <a:xfrm>
            <a:off x="5448289" y="2399882"/>
            <a:ext cx="2724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𝒙(𝒕)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r>
              <a:rPr sz="24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function</a:t>
            </a:r>
            <a:r>
              <a:rPr sz="2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time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7" name="object 22">
            <a:extLst>
              <a:ext uri="{FF2B5EF4-FFF2-40B4-BE49-F238E27FC236}">
                <a16:creationId xmlns:a16="http://schemas.microsoft.com/office/drawing/2014/main" id="{6E290C7D-BF9E-AF20-52D1-AD7745D9536B}"/>
              </a:ext>
            </a:extLst>
          </p:cNvPr>
          <p:cNvGrpSpPr/>
          <p:nvPr/>
        </p:nvGrpSpPr>
        <p:grpSpPr>
          <a:xfrm>
            <a:off x="7559219" y="1448842"/>
            <a:ext cx="1474470" cy="311785"/>
            <a:chOff x="7708074" y="1753806"/>
            <a:chExt cx="1474470" cy="311785"/>
          </a:xfrm>
        </p:grpSpPr>
        <p:sp>
          <p:nvSpPr>
            <p:cNvPr id="8" name="object 23">
              <a:extLst>
                <a:ext uri="{FF2B5EF4-FFF2-40B4-BE49-F238E27FC236}">
                  <a16:creationId xmlns:a16="http://schemas.microsoft.com/office/drawing/2014/main" id="{5D43D8C5-4630-3A4D-B9A0-6B75197DB8AA}"/>
                </a:ext>
              </a:extLst>
            </p:cNvPr>
            <p:cNvSpPr/>
            <p:nvPr/>
          </p:nvSpPr>
          <p:spPr>
            <a:xfrm>
              <a:off x="7716011" y="1772412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5" h="285114">
                  <a:moveTo>
                    <a:pt x="142494" y="0"/>
                  </a:moveTo>
                  <a:lnTo>
                    <a:pt x="97438" y="7260"/>
                  </a:lnTo>
                  <a:lnTo>
                    <a:pt x="58320" y="27480"/>
                  </a:lnTo>
                  <a:lnTo>
                    <a:pt x="27480" y="58320"/>
                  </a:lnTo>
                  <a:lnTo>
                    <a:pt x="7260" y="97438"/>
                  </a:lnTo>
                  <a:lnTo>
                    <a:pt x="0" y="142493"/>
                  </a:lnTo>
                  <a:lnTo>
                    <a:pt x="7260" y="187549"/>
                  </a:lnTo>
                  <a:lnTo>
                    <a:pt x="27480" y="226667"/>
                  </a:lnTo>
                  <a:lnTo>
                    <a:pt x="58320" y="257507"/>
                  </a:lnTo>
                  <a:lnTo>
                    <a:pt x="97438" y="277727"/>
                  </a:lnTo>
                  <a:lnTo>
                    <a:pt x="142494" y="284988"/>
                  </a:lnTo>
                  <a:lnTo>
                    <a:pt x="187549" y="277727"/>
                  </a:lnTo>
                  <a:lnTo>
                    <a:pt x="226667" y="257507"/>
                  </a:lnTo>
                  <a:lnTo>
                    <a:pt x="257507" y="226667"/>
                  </a:lnTo>
                  <a:lnTo>
                    <a:pt x="277727" y="187549"/>
                  </a:lnTo>
                  <a:lnTo>
                    <a:pt x="284988" y="142493"/>
                  </a:lnTo>
                  <a:lnTo>
                    <a:pt x="277727" y="97438"/>
                  </a:lnTo>
                  <a:lnTo>
                    <a:pt x="257507" y="58320"/>
                  </a:lnTo>
                  <a:lnTo>
                    <a:pt x="226667" y="27480"/>
                  </a:lnTo>
                  <a:lnTo>
                    <a:pt x="187549" y="7260"/>
                  </a:lnTo>
                  <a:lnTo>
                    <a:pt x="142494" y="0"/>
                  </a:lnTo>
                  <a:close/>
                </a:path>
              </a:pathLst>
            </a:custGeom>
            <a:solidFill>
              <a:srgbClr val="A42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24">
              <a:extLst>
                <a:ext uri="{FF2B5EF4-FFF2-40B4-BE49-F238E27FC236}">
                  <a16:creationId xmlns:a16="http://schemas.microsoft.com/office/drawing/2014/main" id="{DECA39FD-BD29-F713-07EA-BAE81F0B568D}"/>
                </a:ext>
              </a:extLst>
            </p:cNvPr>
            <p:cNvSpPr/>
            <p:nvPr/>
          </p:nvSpPr>
          <p:spPr>
            <a:xfrm>
              <a:off x="7716011" y="1772412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5" h="285114">
                  <a:moveTo>
                    <a:pt x="0" y="142493"/>
                  </a:moveTo>
                  <a:lnTo>
                    <a:pt x="7260" y="97438"/>
                  </a:lnTo>
                  <a:lnTo>
                    <a:pt x="27480" y="58320"/>
                  </a:lnTo>
                  <a:lnTo>
                    <a:pt x="58320" y="27480"/>
                  </a:lnTo>
                  <a:lnTo>
                    <a:pt x="97438" y="7260"/>
                  </a:lnTo>
                  <a:lnTo>
                    <a:pt x="142494" y="0"/>
                  </a:lnTo>
                  <a:lnTo>
                    <a:pt x="187549" y="7260"/>
                  </a:lnTo>
                  <a:lnTo>
                    <a:pt x="226667" y="27480"/>
                  </a:lnTo>
                  <a:lnTo>
                    <a:pt x="257507" y="58320"/>
                  </a:lnTo>
                  <a:lnTo>
                    <a:pt x="277727" y="97438"/>
                  </a:lnTo>
                  <a:lnTo>
                    <a:pt x="284988" y="142493"/>
                  </a:lnTo>
                  <a:lnTo>
                    <a:pt x="277727" y="187549"/>
                  </a:lnTo>
                  <a:lnTo>
                    <a:pt x="257507" y="226667"/>
                  </a:lnTo>
                  <a:lnTo>
                    <a:pt x="226667" y="257507"/>
                  </a:lnTo>
                  <a:lnTo>
                    <a:pt x="187549" y="277727"/>
                  </a:lnTo>
                  <a:lnTo>
                    <a:pt x="142494" y="284988"/>
                  </a:lnTo>
                  <a:lnTo>
                    <a:pt x="97438" y="277727"/>
                  </a:lnTo>
                  <a:lnTo>
                    <a:pt x="58320" y="257507"/>
                  </a:lnTo>
                  <a:lnTo>
                    <a:pt x="27480" y="226667"/>
                  </a:lnTo>
                  <a:lnTo>
                    <a:pt x="7260" y="187549"/>
                  </a:lnTo>
                  <a:lnTo>
                    <a:pt x="0" y="142493"/>
                  </a:lnTo>
                  <a:close/>
                </a:path>
              </a:pathLst>
            </a:custGeom>
            <a:ln w="15875">
              <a:solidFill>
                <a:srgbClr val="781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25">
              <a:extLst>
                <a:ext uri="{FF2B5EF4-FFF2-40B4-BE49-F238E27FC236}">
                  <a16:creationId xmlns:a16="http://schemas.microsoft.com/office/drawing/2014/main" id="{5E94760B-6966-486C-F351-3B74B9938143}"/>
                </a:ext>
              </a:extLst>
            </p:cNvPr>
            <p:cNvSpPr/>
            <p:nvPr/>
          </p:nvSpPr>
          <p:spPr>
            <a:xfrm>
              <a:off x="8889491" y="1761744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5" h="287019">
                  <a:moveTo>
                    <a:pt x="142493" y="0"/>
                  </a:moveTo>
                  <a:lnTo>
                    <a:pt x="97438" y="7303"/>
                  </a:lnTo>
                  <a:lnTo>
                    <a:pt x="58320" y="27639"/>
                  </a:lnTo>
                  <a:lnTo>
                    <a:pt x="27480" y="58649"/>
                  </a:lnTo>
                  <a:lnTo>
                    <a:pt x="7260" y="97974"/>
                  </a:lnTo>
                  <a:lnTo>
                    <a:pt x="0" y="143255"/>
                  </a:lnTo>
                  <a:lnTo>
                    <a:pt x="7260" y="188537"/>
                  </a:lnTo>
                  <a:lnTo>
                    <a:pt x="27480" y="227862"/>
                  </a:lnTo>
                  <a:lnTo>
                    <a:pt x="58320" y="258872"/>
                  </a:lnTo>
                  <a:lnTo>
                    <a:pt x="97438" y="279208"/>
                  </a:lnTo>
                  <a:lnTo>
                    <a:pt x="142493" y="286511"/>
                  </a:lnTo>
                  <a:lnTo>
                    <a:pt x="187549" y="279208"/>
                  </a:lnTo>
                  <a:lnTo>
                    <a:pt x="226667" y="258872"/>
                  </a:lnTo>
                  <a:lnTo>
                    <a:pt x="257507" y="227862"/>
                  </a:lnTo>
                  <a:lnTo>
                    <a:pt x="277727" y="188537"/>
                  </a:lnTo>
                  <a:lnTo>
                    <a:pt x="284987" y="143255"/>
                  </a:lnTo>
                  <a:lnTo>
                    <a:pt x="277727" y="97974"/>
                  </a:lnTo>
                  <a:lnTo>
                    <a:pt x="257507" y="58649"/>
                  </a:lnTo>
                  <a:lnTo>
                    <a:pt x="226667" y="27639"/>
                  </a:lnTo>
                  <a:lnTo>
                    <a:pt x="187549" y="7303"/>
                  </a:lnTo>
                  <a:lnTo>
                    <a:pt x="142493" y="0"/>
                  </a:lnTo>
                  <a:close/>
                </a:path>
              </a:pathLst>
            </a:custGeom>
            <a:solidFill>
              <a:srgbClr val="A42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26">
              <a:extLst>
                <a:ext uri="{FF2B5EF4-FFF2-40B4-BE49-F238E27FC236}">
                  <a16:creationId xmlns:a16="http://schemas.microsoft.com/office/drawing/2014/main" id="{84BD631A-2AC1-E553-B075-21DB56A63BD0}"/>
                </a:ext>
              </a:extLst>
            </p:cNvPr>
            <p:cNvSpPr/>
            <p:nvPr/>
          </p:nvSpPr>
          <p:spPr>
            <a:xfrm>
              <a:off x="8889491" y="1761744"/>
              <a:ext cx="285115" cy="287020"/>
            </a:xfrm>
            <a:custGeom>
              <a:avLst/>
              <a:gdLst/>
              <a:ahLst/>
              <a:cxnLst/>
              <a:rect l="l" t="t" r="r" b="b"/>
              <a:pathLst>
                <a:path w="285115" h="287019">
                  <a:moveTo>
                    <a:pt x="0" y="143255"/>
                  </a:moveTo>
                  <a:lnTo>
                    <a:pt x="7260" y="97974"/>
                  </a:lnTo>
                  <a:lnTo>
                    <a:pt x="27480" y="58649"/>
                  </a:lnTo>
                  <a:lnTo>
                    <a:pt x="58320" y="27639"/>
                  </a:lnTo>
                  <a:lnTo>
                    <a:pt x="97438" y="7303"/>
                  </a:lnTo>
                  <a:lnTo>
                    <a:pt x="142493" y="0"/>
                  </a:lnTo>
                  <a:lnTo>
                    <a:pt x="187549" y="7303"/>
                  </a:lnTo>
                  <a:lnTo>
                    <a:pt x="226667" y="27639"/>
                  </a:lnTo>
                  <a:lnTo>
                    <a:pt x="257507" y="58649"/>
                  </a:lnTo>
                  <a:lnTo>
                    <a:pt x="277727" y="97974"/>
                  </a:lnTo>
                  <a:lnTo>
                    <a:pt x="284987" y="143255"/>
                  </a:lnTo>
                  <a:lnTo>
                    <a:pt x="277727" y="188537"/>
                  </a:lnTo>
                  <a:lnTo>
                    <a:pt x="257507" y="227862"/>
                  </a:lnTo>
                  <a:lnTo>
                    <a:pt x="226667" y="258872"/>
                  </a:lnTo>
                  <a:lnTo>
                    <a:pt x="187549" y="279208"/>
                  </a:lnTo>
                  <a:lnTo>
                    <a:pt x="142493" y="286511"/>
                  </a:lnTo>
                  <a:lnTo>
                    <a:pt x="97438" y="279208"/>
                  </a:lnTo>
                  <a:lnTo>
                    <a:pt x="58320" y="258872"/>
                  </a:lnTo>
                  <a:lnTo>
                    <a:pt x="27480" y="227862"/>
                  </a:lnTo>
                  <a:lnTo>
                    <a:pt x="7260" y="188537"/>
                  </a:lnTo>
                  <a:lnTo>
                    <a:pt x="0" y="143255"/>
                  </a:lnTo>
                  <a:close/>
                </a:path>
              </a:pathLst>
            </a:custGeom>
            <a:ln w="15875">
              <a:solidFill>
                <a:srgbClr val="781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27">
            <a:extLst>
              <a:ext uri="{FF2B5EF4-FFF2-40B4-BE49-F238E27FC236}">
                <a16:creationId xmlns:a16="http://schemas.microsoft.com/office/drawing/2014/main" id="{EFD91C71-E275-0584-789E-64060ACC36D6}"/>
              </a:ext>
            </a:extLst>
          </p:cNvPr>
          <p:cNvSpPr txBox="1"/>
          <p:nvPr/>
        </p:nvSpPr>
        <p:spPr>
          <a:xfrm>
            <a:off x="7561696" y="1700365"/>
            <a:ext cx="2559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mbria Math"/>
                <a:cs typeface="Cambria Math"/>
              </a:rPr>
              <a:t>𝑡</a:t>
            </a:r>
            <a:r>
              <a:rPr sz="1950" spc="-22" baseline="-14957" dirty="0"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4" name="object 28">
            <a:extLst>
              <a:ext uri="{FF2B5EF4-FFF2-40B4-BE49-F238E27FC236}">
                <a16:creationId xmlns:a16="http://schemas.microsoft.com/office/drawing/2014/main" id="{12832E57-C36C-5F10-F5AF-7399361F323E}"/>
              </a:ext>
            </a:extLst>
          </p:cNvPr>
          <p:cNvSpPr txBox="1"/>
          <p:nvPr/>
        </p:nvSpPr>
        <p:spPr>
          <a:xfrm>
            <a:off x="8790675" y="1690968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latin typeface="Cambria Math"/>
                <a:cs typeface="Cambria Math"/>
              </a:rPr>
              <a:t>𝑡</a:t>
            </a:r>
            <a:r>
              <a:rPr sz="1950" spc="7" baseline="-14957" dirty="0"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15" name="object 29">
            <a:extLst>
              <a:ext uri="{FF2B5EF4-FFF2-40B4-BE49-F238E27FC236}">
                <a16:creationId xmlns:a16="http://schemas.microsoft.com/office/drawing/2014/main" id="{E07D3263-1498-F1DC-1998-36BE1B42DD47}"/>
              </a:ext>
            </a:extLst>
          </p:cNvPr>
          <p:cNvGrpSpPr/>
          <p:nvPr/>
        </p:nvGrpSpPr>
        <p:grpSpPr>
          <a:xfrm>
            <a:off x="5739563" y="1448016"/>
            <a:ext cx="3940175" cy="714375"/>
            <a:chOff x="5888418" y="1752980"/>
            <a:chExt cx="3940175" cy="714375"/>
          </a:xfrm>
        </p:grpSpPr>
        <p:sp>
          <p:nvSpPr>
            <p:cNvPr id="16" name="object 30">
              <a:extLst>
                <a:ext uri="{FF2B5EF4-FFF2-40B4-BE49-F238E27FC236}">
                  <a16:creationId xmlns:a16="http://schemas.microsoft.com/office/drawing/2014/main" id="{4B00813B-93C5-3A87-8923-7A7131A22FC7}"/>
                </a:ext>
              </a:extLst>
            </p:cNvPr>
            <p:cNvSpPr/>
            <p:nvPr/>
          </p:nvSpPr>
          <p:spPr>
            <a:xfrm>
              <a:off x="5896355" y="1909571"/>
              <a:ext cx="3924300" cy="0"/>
            </a:xfrm>
            <a:custGeom>
              <a:avLst/>
              <a:gdLst/>
              <a:ahLst/>
              <a:cxnLst/>
              <a:rect l="l" t="t" r="r" b="b"/>
              <a:pathLst>
                <a:path w="3924300">
                  <a:moveTo>
                    <a:pt x="0" y="0"/>
                  </a:moveTo>
                  <a:lnTo>
                    <a:pt x="3924300" y="0"/>
                  </a:lnTo>
                </a:path>
              </a:pathLst>
            </a:custGeom>
            <a:ln w="15875">
              <a:solidFill>
                <a:srgbClr val="9D2C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31">
              <a:extLst>
                <a:ext uri="{FF2B5EF4-FFF2-40B4-BE49-F238E27FC236}">
                  <a16:creationId xmlns:a16="http://schemas.microsoft.com/office/drawing/2014/main" id="{84482EBF-0301-43E7-D6C7-7D466E1A877A}"/>
                </a:ext>
              </a:extLst>
            </p:cNvPr>
            <p:cNvSpPr/>
            <p:nvPr/>
          </p:nvSpPr>
          <p:spPr>
            <a:xfrm>
              <a:off x="6087617" y="1762505"/>
              <a:ext cx="9525" cy="695325"/>
            </a:xfrm>
            <a:custGeom>
              <a:avLst/>
              <a:gdLst/>
              <a:ahLst/>
              <a:cxnLst/>
              <a:rect l="l" t="t" r="r" b="b"/>
              <a:pathLst>
                <a:path w="9525" h="695325">
                  <a:moveTo>
                    <a:pt x="9525" y="0"/>
                  </a:moveTo>
                  <a:lnTo>
                    <a:pt x="0" y="69532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32">
            <a:extLst>
              <a:ext uri="{FF2B5EF4-FFF2-40B4-BE49-F238E27FC236}">
                <a16:creationId xmlns:a16="http://schemas.microsoft.com/office/drawing/2014/main" id="{C9EF0803-E5FA-D4E0-336B-06596A1820BA}"/>
              </a:ext>
            </a:extLst>
          </p:cNvPr>
          <p:cNvSpPr txBox="1"/>
          <p:nvPr/>
        </p:nvSpPr>
        <p:spPr>
          <a:xfrm>
            <a:off x="5731498" y="1258151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O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33">
            <a:extLst>
              <a:ext uri="{FF2B5EF4-FFF2-40B4-BE49-F238E27FC236}">
                <a16:creationId xmlns:a16="http://schemas.microsoft.com/office/drawing/2014/main" id="{C7AD6F8C-EA12-A3E5-A740-2FA36B8187B2}"/>
              </a:ext>
            </a:extLst>
          </p:cNvPr>
          <p:cNvSpPr/>
          <p:nvPr/>
        </p:nvSpPr>
        <p:spPr>
          <a:xfrm>
            <a:off x="5939143" y="1545171"/>
            <a:ext cx="1627505" cy="127000"/>
          </a:xfrm>
          <a:custGeom>
            <a:avLst/>
            <a:gdLst/>
            <a:ahLst/>
            <a:cxnLst/>
            <a:rect l="l" t="t" r="r" b="b"/>
            <a:pathLst>
              <a:path w="1627504" h="127000">
                <a:moveTo>
                  <a:pt x="1500631" y="0"/>
                </a:moveTo>
                <a:lnTo>
                  <a:pt x="1500298" y="55665"/>
                </a:lnTo>
                <a:lnTo>
                  <a:pt x="1512951" y="55752"/>
                </a:lnTo>
                <a:lnTo>
                  <a:pt x="1517396" y="55752"/>
                </a:lnTo>
                <a:lnTo>
                  <a:pt x="1520952" y="59309"/>
                </a:lnTo>
                <a:lnTo>
                  <a:pt x="1520825" y="68072"/>
                </a:lnTo>
                <a:lnTo>
                  <a:pt x="1517269" y="71627"/>
                </a:lnTo>
                <a:lnTo>
                  <a:pt x="1500202" y="71627"/>
                </a:lnTo>
                <a:lnTo>
                  <a:pt x="1499870" y="127000"/>
                </a:lnTo>
                <a:lnTo>
                  <a:pt x="1612523" y="71627"/>
                </a:lnTo>
                <a:lnTo>
                  <a:pt x="1512951" y="71627"/>
                </a:lnTo>
                <a:lnTo>
                  <a:pt x="1612702" y="71539"/>
                </a:lnTo>
                <a:lnTo>
                  <a:pt x="1627251" y="64388"/>
                </a:lnTo>
                <a:lnTo>
                  <a:pt x="1500631" y="0"/>
                </a:lnTo>
                <a:close/>
              </a:path>
              <a:path w="1627504" h="127000">
                <a:moveTo>
                  <a:pt x="1500298" y="55665"/>
                </a:moveTo>
                <a:lnTo>
                  <a:pt x="1500202" y="71539"/>
                </a:lnTo>
                <a:lnTo>
                  <a:pt x="1512951" y="71627"/>
                </a:lnTo>
                <a:lnTo>
                  <a:pt x="1517269" y="71627"/>
                </a:lnTo>
                <a:lnTo>
                  <a:pt x="1520825" y="68072"/>
                </a:lnTo>
                <a:lnTo>
                  <a:pt x="1520952" y="59309"/>
                </a:lnTo>
                <a:lnTo>
                  <a:pt x="1517396" y="55752"/>
                </a:lnTo>
                <a:lnTo>
                  <a:pt x="1512951" y="55752"/>
                </a:lnTo>
                <a:lnTo>
                  <a:pt x="1500298" y="55665"/>
                </a:lnTo>
                <a:close/>
              </a:path>
              <a:path w="1627504" h="127000">
                <a:moveTo>
                  <a:pt x="8000" y="45338"/>
                </a:moveTo>
                <a:lnTo>
                  <a:pt x="3683" y="45338"/>
                </a:lnTo>
                <a:lnTo>
                  <a:pt x="126" y="48894"/>
                </a:lnTo>
                <a:lnTo>
                  <a:pt x="0" y="57658"/>
                </a:lnTo>
                <a:lnTo>
                  <a:pt x="3555" y="61213"/>
                </a:lnTo>
                <a:lnTo>
                  <a:pt x="1500202" y="71539"/>
                </a:lnTo>
                <a:lnTo>
                  <a:pt x="1500298" y="55665"/>
                </a:lnTo>
                <a:lnTo>
                  <a:pt x="8000" y="45338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34">
            <a:extLst>
              <a:ext uri="{FF2B5EF4-FFF2-40B4-BE49-F238E27FC236}">
                <a16:creationId xmlns:a16="http://schemas.microsoft.com/office/drawing/2014/main" id="{FF05A48C-EB38-B492-8D9B-9BF1291C02EA}"/>
              </a:ext>
            </a:extLst>
          </p:cNvPr>
          <p:cNvSpPr txBox="1"/>
          <p:nvPr/>
        </p:nvSpPr>
        <p:spPr>
          <a:xfrm>
            <a:off x="6661901" y="1624877"/>
            <a:ext cx="2895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6FC0"/>
                </a:solidFill>
                <a:latin typeface="Cambria Math"/>
                <a:cs typeface="Cambria Math"/>
              </a:rPr>
              <a:t>𝑥</a:t>
            </a:r>
            <a:r>
              <a:rPr sz="1950" spc="-7" baseline="-14957" dirty="0">
                <a:solidFill>
                  <a:srgbClr val="006FC0"/>
                </a:solidFill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3" name="object 35">
            <a:extLst>
              <a:ext uri="{FF2B5EF4-FFF2-40B4-BE49-F238E27FC236}">
                <a16:creationId xmlns:a16="http://schemas.microsoft.com/office/drawing/2014/main" id="{A1DAF4CE-5224-BD49-1FAF-D0DCFA52C315}"/>
              </a:ext>
            </a:extLst>
          </p:cNvPr>
          <p:cNvSpPr/>
          <p:nvPr/>
        </p:nvSpPr>
        <p:spPr>
          <a:xfrm>
            <a:off x="5939143" y="1636993"/>
            <a:ext cx="2842895" cy="127000"/>
          </a:xfrm>
          <a:custGeom>
            <a:avLst/>
            <a:gdLst/>
            <a:ahLst/>
            <a:cxnLst/>
            <a:rect l="l" t="t" r="r" b="b"/>
            <a:pathLst>
              <a:path w="2842895" h="127000">
                <a:moveTo>
                  <a:pt x="2715895" y="0"/>
                </a:moveTo>
                <a:lnTo>
                  <a:pt x="2715728" y="55583"/>
                </a:lnTo>
                <a:lnTo>
                  <a:pt x="2728468" y="55625"/>
                </a:lnTo>
                <a:lnTo>
                  <a:pt x="2732785" y="55625"/>
                </a:lnTo>
                <a:lnTo>
                  <a:pt x="2736342" y="59181"/>
                </a:lnTo>
                <a:lnTo>
                  <a:pt x="2736342" y="67944"/>
                </a:lnTo>
                <a:lnTo>
                  <a:pt x="2732785" y="71500"/>
                </a:lnTo>
                <a:lnTo>
                  <a:pt x="2715680" y="71500"/>
                </a:lnTo>
                <a:lnTo>
                  <a:pt x="2715514" y="127000"/>
                </a:lnTo>
                <a:lnTo>
                  <a:pt x="2827630" y="71500"/>
                </a:lnTo>
                <a:lnTo>
                  <a:pt x="2728468" y="71500"/>
                </a:lnTo>
                <a:lnTo>
                  <a:pt x="2827717" y="71458"/>
                </a:lnTo>
                <a:lnTo>
                  <a:pt x="2842768" y="64007"/>
                </a:lnTo>
                <a:lnTo>
                  <a:pt x="2715895" y="0"/>
                </a:lnTo>
                <a:close/>
              </a:path>
              <a:path w="2842895" h="127000">
                <a:moveTo>
                  <a:pt x="2715728" y="55583"/>
                </a:moveTo>
                <a:lnTo>
                  <a:pt x="2715680" y="71458"/>
                </a:lnTo>
                <a:lnTo>
                  <a:pt x="2728468" y="71500"/>
                </a:lnTo>
                <a:lnTo>
                  <a:pt x="2732785" y="71500"/>
                </a:lnTo>
                <a:lnTo>
                  <a:pt x="2736342" y="67944"/>
                </a:lnTo>
                <a:lnTo>
                  <a:pt x="2736342" y="59181"/>
                </a:lnTo>
                <a:lnTo>
                  <a:pt x="2732785" y="55625"/>
                </a:lnTo>
                <a:lnTo>
                  <a:pt x="2715728" y="55583"/>
                </a:lnTo>
                <a:close/>
              </a:path>
              <a:path w="2842895" h="127000">
                <a:moveTo>
                  <a:pt x="8000" y="46481"/>
                </a:moveTo>
                <a:lnTo>
                  <a:pt x="3683" y="46481"/>
                </a:lnTo>
                <a:lnTo>
                  <a:pt x="126" y="50037"/>
                </a:lnTo>
                <a:lnTo>
                  <a:pt x="0" y="58800"/>
                </a:lnTo>
                <a:lnTo>
                  <a:pt x="3555" y="62356"/>
                </a:lnTo>
                <a:lnTo>
                  <a:pt x="2715680" y="71458"/>
                </a:lnTo>
                <a:lnTo>
                  <a:pt x="2715728" y="55583"/>
                </a:lnTo>
                <a:lnTo>
                  <a:pt x="8000" y="46481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36">
            <a:extLst>
              <a:ext uri="{FF2B5EF4-FFF2-40B4-BE49-F238E27FC236}">
                <a16:creationId xmlns:a16="http://schemas.microsoft.com/office/drawing/2014/main" id="{68C50AEB-2498-1EC3-E84E-F6E8B62E2BC1}"/>
              </a:ext>
            </a:extLst>
          </p:cNvPr>
          <p:cNvSpPr txBox="1"/>
          <p:nvPr/>
        </p:nvSpPr>
        <p:spPr>
          <a:xfrm>
            <a:off x="8009751" y="1640676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solidFill>
                  <a:srgbClr val="00AF50"/>
                </a:solidFill>
                <a:latin typeface="Cambria Math"/>
                <a:cs typeface="Cambria Math"/>
              </a:rPr>
              <a:t>𝑥</a:t>
            </a:r>
            <a:r>
              <a:rPr sz="1950" spc="22" baseline="-14957" dirty="0">
                <a:solidFill>
                  <a:srgbClr val="00AF50"/>
                </a:solidFill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25" name="object 37">
            <a:extLst>
              <a:ext uri="{FF2B5EF4-FFF2-40B4-BE49-F238E27FC236}">
                <a16:creationId xmlns:a16="http://schemas.microsoft.com/office/drawing/2014/main" id="{3DDCAFA3-6AF5-339E-6B72-98C39301D674}"/>
              </a:ext>
            </a:extLst>
          </p:cNvPr>
          <p:cNvGrpSpPr/>
          <p:nvPr/>
        </p:nvGrpSpPr>
        <p:grpSpPr>
          <a:xfrm>
            <a:off x="3890951" y="1459510"/>
            <a:ext cx="2032635" cy="300990"/>
            <a:chOff x="4039806" y="1764474"/>
            <a:chExt cx="2032635" cy="300990"/>
          </a:xfrm>
        </p:grpSpPr>
        <p:sp>
          <p:nvSpPr>
            <p:cNvPr id="26" name="object 38">
              <a:extLst>
                <a:ext uri="{FF2B5EF4-FFF2-40B4-BE49-F238E27FC236}">
                  <a16:creationId xmlns:a16="http://schemas.microsoft.com/office/drawing/2014/main" id="{C88E78CE-31D5-AA20-BFAB-6A6AD69C26EC}"/>
                </a:ext>
              </a:extLst>
            </p:cNvPr>
            <p:cNvSpPr/>
            <p:nvPr/>
          </p:nvSpPr>
          <p:spPr>
            <a:xfrm>
              <a:off x="4047744" y="1772411"/>
              <a:ext cx="287020" cy="285115"/>
            </a:xfrm>
            <a:custGeom>
              <a:avLst/>
              <a:gdLst/>
              <a:ahLst/>
              <a:cxnLst/>
              <a:rect l="l" t="t" r="r" b="b"/>
              <a:pathLst>
                <a:path w="287020" h="285114">
                  <a:moveTo>
                    <a:pt x="143255" y="0"/>
                  </a:moveTo>
                  <a:lnTo>
                    <a:pt x="97974" y="7260"/>
                  </a:lnTo>
                  <a:lnTo>
                    <a:pt x="58649" y="27480"/>
                  </a:lnTo>
                  <a:lnTo>
                    <a:pt x="27639" y="58320"/>
                  </a:lnTo>
                  <a:lnTo>
                    <a:pt x="7303" y="97438"/>
                  </a:lnTo>
                  <a:lnTo>
                    <a:pt x="0" y="142493"/>
                  </a:lnTo>
                  <a:lnTo>
                    <a:pt x="7303" y="187549"/>
                  </a:lnTo>
                  <a:lnTo>
                    <a:pt x="27639" y="226667"/>
                  </a:lnTo>
                  <a:lnTo>
                    <a:pt x="58649" y="257507"/>
                  </a:lnTo>
                  <a:lnTo>
                    <a:pt x="97974" y="277727"/>
                  </a:lnTo>
                  <a:lnTo>
                    <a:pt x="143255" y="284988"/>
                  </a:lnTo>
                  <a:lnTo>
                    <a:pt x="188537" y="277727"/>
                  </a:lnTo>
                  <a:lnTo>
                    <a:pt x="227862" y="257507"/>
                  </a:lnTo>
                  <a:lnTo>
                    <a:pt x="258872" y="226667"/>
                  </a:lnTo>
                  <a:lnTo>
                    <a:pt x="279208" y="187549"/>
                  </a:lnTo>
                  <a:lnTo>
                    <a:pt x="286511" y="142493"/>
                  </a:lnTo>
                  <a:lnTo>
                    <a:pt x="279208" y="97438"/>
                  </a:lnTo>
                  <a:lnTo>
                    <a:pt x="258872" y="58320"/>
                  </a:lnTo>
                  <a:lnTo>
                    <a:pt x="227862" y="27480"/>
                  </a:lnTo>
                  <a:lnTo>
                    <a:pt x="188537" y="7260"/>
                  </a:lnTo>
                  <a:lnTo>
                    <a:pt x="143255" y="0"/>
                  </a:lnTo>
                  <a:close/>
                </a:path>
              </a:pathLst>
            </a:custGeom>
            <a:solidFill>
              <a:srgbClr val="A42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39">
              <a:extLst>
                <a:ext uri="{FF2B5EF4-FFF2-40B4-BE49-F238E27FC236}">
                  <a16:creationId xmlns:a16="http://schemas.microsoft.com/office/drawing/2014/main" id="{0E110D01-08FA-2AC2-FF8C-7689F7E9454B}"/>
                </a:ext>
              </a:extLst>
            </p:cNvPr>
            <p:cNvSpPr/>
            <p:nvPr/>
          </p:nvSpPr>
          <p:spPr>
            <a:xfrm>
              <a:off x="4047744" y="1772411"/>
              <a:ext cx="287020" cy="285115"/>
            </a:xfrm>
            <a:custGeom>
              <a:avLst/>
              <a:gdLst/>
              <a:ahLst/>
              <a:cxnLst/>
              <a:rect l="l" t="t" r="r" b="b"/>
              <a:pathLst>
                <a:path w="287020" h="285114">
                  <a:moveTo>
                    <a:pt x="0" y="142493"/>
                  </a:moveTo>
                  <a:lnTo>
                    <a:pt x="7303" y="97438"/>
                  </a:lnTo>
                  <a:lnTo>
                    <a:pt x="27639" y="58320"/>
                  </a:lnTo>
                  <a:lnTo>
                    <a:pt x="58649" y="27480"/>
                  </a:lnTo>
                  <a:lnTo>
                    <a:pt x="97974" y="7260"/>
                  </a:lnTo>
                  <a:lnTo>
                    <a:pt x="143255" y="0"/>
                  </a:lnTo>
                  <a:lnTo>
                    <a:pt x="188537" y="7260"/>
                  </a:lnTo>
                  <a:lnTo>
                    <a:pt x="227862" y="27480"/>
                  </a:lnTo>
                  <a:lnTo>
                    <a:pt x="258872" y="58320"/>
                  </a:lnTo>
                  <a:lnTo>
                    <a:pt x="279208" y="97438"/>
                  </a:lnTo>
                  <a:lnTo>
                    <a:pt x="286511" y="142493"/>
                  </a:lnTo>
                  <a:lnTo>
                    <a:pt x="279208" y="187549"/>
                  </a:lnTo>
                  <a:lnTo>
                    <a:pt x="258872" y="226667"/>
                  </a:lnTo>
                  <a:lnTo>
                    <a:pt x="227862" y="257507"/>
                  </a:lnTo>
                  <a:lnTo>
                    <a:pt x="188537" y="277727"/>
                  </a:lnTo>
                  <a:lnTo>
                    <a:pt x="143255" y="284988"/>
                  </a:lnTo>
                  <a:lnTo>
                    <a:pt x="97974" y="277727"/>
                  </a:lnTo>
                  <a:lnTo>
                    <a:pt x="58649" y="257507"/>
                  </a:lnTo>
                  <a:lnTo>
                    <a:pt x="27639" y="226667"/>
                  </a:lnTo>
                  <a:lnTo>
                    <a:pt x="7303" y="187549"/>
                  </a:lnTo>
                  <a:lnTo>
                    <a:pt x="0" y="142493"/>
                  </a:lnTo>
                  <a:close/>
                </a:path>
              </a:pathLst>
            </a:custGeom>
            <a:ln w="15875">
              <a:solidFill>
                <a:srgbClr val="781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40">
              <a:extLst>
                <a:ext uri="{FF2B5EF4-FFF2-40B4-BE49-F238E27FC236}">
                  <a16:creationId xmlns:a16="http://schemas.microsoft.com/office/drawing/2014/main" id="{066DBEB3-3ADD-AB3A-7DF3-0A2DDF814867}"/>
                </a:ext>
              </a:extLst>
            </p:cNvPr>
            <p:cNvSpPr/>
            <p:nvPr/>
          </p:nvSpPr>
          <p:spPr>
            <a:xfrm>
              <a:off x="4317492" y="1850389"/>
              <a:ext cx="1755139" cy="127000"/>
            </a:xfrm>
            <a:custGeom>
              <a:avLst/>
              <a:gdLst/>
              <a:ahLst/>
              <a:cxnLst/>
              <a:rect l="l" t="t" r="r" b="b"/>
              <a:pathLst>
                <a:path w="1755139" h="127000">
                  <a:moveTo>
                    <a:pt x="126619" y="0"/>
                  </a:moveTo>
                  <a:lnTo>
                    <a:pt x="0" y="64262"/>
                  </a:lnTo>
                  <a:lnTo>
                    <a:pt x="127381" y="127000"/>
                  </a:lnTo>
                  <a:lnTo>
                    <a:pt x="127048" y="71500"/>
                  </a:lnTo>
                  <a:lnTo>
                    <a:pt x="109982" y="71500"/>
                  </a:lnTo>
                  <a:lnTo>
                    <a:pt x="106425" y="67945"/>
                  </a:lnTo>
                  <a:lnTo>
                    <a:pt x="106299" y="59182"/>
                  </a:lnTo>
                  <a:lnTo>
                    <a:pt x="109855" y="55625"/>
                  </a:lnTo>
                  <a:lnTo>
                    <a:pt x="114300" y="55625"/>
                  </a:lnTo>
                  <a:lnTo>
                    <a:pt x="126952" y="55544"/>
                  </a:lnTo>
                  <a:lnTo>
                    <a:pt x="126619" y="0"/>
                  </a:lnTo>
                  <a:close/>
                </a:path>
                <a:path w="1755139" h="127000">
                  <a:moveTo>
                    <a:pt x="126952" y="55544"/>
                  </a:moveTo>
                  <a:lnTo>
                    <a:pt x="114300" y="55625"/>
                  </a:lnTo>
                  <a:lnTo>
                    <a:pt x="109855" y="55625"/>
                  </a:lnTo>
                  <a:lnTo>
                    <a:pt x="106299" y="59182"/>
                  </a:lnTo>
                  <a:lnTo>
                    <a:pt x="106425" y="67945"/>
                  </a:lnTo>
                  <a:lnTo>
                    <a:pt x="109982" y="71500"/>
                  </a:lnTo>
                  <a:lnTo>
                    <a:pt x="114300" y="71500"/>
                  </a:lnTo>
                  <a:lnTo>
                    <a:pt x="127047" y="71418"/>
                  </a:lnTo>
                  <a:lnTo>
                    <a:pt x="126952" y="55544"/>
                  </a:lnTo>
                  <a:close/>
                </a:path>
                <a:path w="1755139" h="127000">
                  <a:moveTo>
                    <a:pt x="127047" y="71418"/>
                  </a:moveTo>
                  <a:lnTo>
                    <a:pt x="114300" y="71500"/>
                  </a:lnTo>
                  <a:lnTo>
                    <a:pt x="127048" y="71500"/>
                  </a:lnTo>
                  <a:close/>
                </a:path>
                <a:path w="1755139" h="127000">
                  <a:moveTo>
                    <a:pt x="1750949" y="45085"/>
                  </a:moveTo>
                  <a:lnTo>
                    <a:pt x="1746631" y="45085"/>
                  </a:lnTo>
                  <a:lnTo>
                    <a:pt x="126952" y="55544"/>
                  </a:lnTo>
                  <a:lnTo>
                    <a:pt x="127047" y="71418"/>
                  </a:lnTo>
                  <a:lnTo>
                    <a:pt x="1751076" y="60960"/>
                  </a:lnTo>
                  <a:lnTo>
                    <a:pt x="1754632" y="57404"/>
                  </a:lnTo>
                  <a:lnTo>
                    <a:pt x="1754505" y="48640"/>
                  </a:lnTo>
                  <a:lnTo>
                    <a:pt x="1750949" y="45085"/>
                  </a:lnTo>
                  <a:close/>
                </a:path>
              </a:pathLst>
            </a:custGeom>
            <a:solidFill>
              <a:srgbClr val="EFB1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41">
            <a:extLst>
              <a:ext uri="{FF2B5EF4-FFF2-40B4-BE49-F238E27FC236}">
                <a16:creationId xmlns:a16="http://schemas.microsoft.com/office/drawing/2014/main" id="{8B599105-A9EB-3C3F-9B4C-40CF302E4A89}"/>
              </a:ext>
            </a:extLst>
          </p:cNvPr>
          <p:cNvSpPr txBox="1"/>
          <p:nvPr/>
        </p:nvSpPr>
        <p:spPr>
          <a:xfrm>
            <a:off x="4754106" y="1680934"/>
            <a:ext cx="461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A65F12"/>
                </a:solidFill>
                <a:latin typeface="Cambria Math"/>
                <a:cs typeface="Cambria Math"/>
              </a:rPr>
              <a:t>−𝑥</a:t>
            </a:r>
            <a:r>
              <a:rPr sz="1950" baseline="-14957" dirty="0">
                <a:solidFill>
                  <a:srgbClr val="A65F12"/>
                </a:solidFill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0" name="object 42">
            <a:extLst>
              <a:ext uri="{FF2B5EF4-FFF2-40B4-BE49-F238E27FC236}">
                <a16:creationId xmlns:a16="http://schemas.microsoft.com/office/drawing/2014/main" id="{4106B60E-413A-5093-6916-0887F9137690}"/>
              </a:ext>
            </a:extLst>
          </p:cNvPr>
          <p:cNvSpPr/>
          <p:nvPr/>
        </p:nvSpPr>
        <p:spPr>
          <a:xfrm>
            <a:off x="7502767" y="1340956"/>
            <a:ext cx="445770" cy="76200"/>
          </a:xfrm>
          <a:custGeom>
            <a:avLst/>
            <a:gdLst/>
            <a:ahLst/>
            <a:cxnLst/>
            <a:rect l="l" t="t" r="r" b="b"/>
            <a:pathLst>
              <a:path w="445770" h="76200">
                <a:moveTo>
                  <a:pt x="369061" y="46095"/>
                </a:moveTo>
                <a:lnTo>
                  <a:pt x="369061" y="76200"/>
                </a:lnTo>
                <a:lnTo>
                  <a:pt x="429259" y="46100"/>
                </a:lnTo>
                <a:lnTo>
                  <a:pt x="369061" y="46095"/>
                </a:lnTo>
                <a:close/>
              </a:path>
              <a:path w="445770" h="76200">
                <a:moveTo>
                  <a:pt x="369061" y="30221"/>
                </a:moveTo>
                <a:lnTo>
                  <a:pt x="369061" y="46095"/>
                </a:lnTo>
                <a:lnTo>
                  <a:pt x="386206" y="46100"/>
                </a:lnTo>
                <a:lnTo>
                  <a:pt x="389762" y="42544"/>
                </a:lnTo>
                <a:lnTo>
                  <a:pt x="389762" y="33654"/>
                </a:lnTo>
                <a:lnTo>
                  <a:pt x="386206" y="30225"/>
                </a:lnTo>
                <a:lnTo>
                  <a:pt x="369061" y="30221"/>
                </a:lnTo>
                <a:close/>
              </a:path>
              <a:path w="445770" h="76200">
                <a:moveTo>
                  <a:pt x="369061" y="0"/>
                </a:moveTo>
                <a:lnTo>
                  <a:pt x="369061" y="30221"/>
                </a:lnTo>
                <a:lnTo>
                  <a:pt x="381761" y="30225"/>
                </a:lnTo>
                <a:lnTo>
                  <a:pt x="386206" y="30225"/>
                </a:lnTo>
                <a:lnTo>
                  <a:pt x="389762" y="33654"/>
                </a:lnTo>
                <a:lnTo>
                  <a:pt x="389762" y="42544"/>
                </a:lnTo>
                <a:lnTo>
                  <a:pt x="386206" y="46100"/>
                </a:lnTo>
                <a:lnTo>
                  <a:pt x="429271" y="46095"/>
                </a:lnTo>
                <a:lnTo>
                  <a:pt x="445261" y="38100"/>
                </a:lnTo>
                <a:lnTo>
                  <a:pt x="369061" y="0"/>
                </a:lnTo>
                <a:close/>
              </a:path>
              <a:path w="445770" h="76200">
                <a:moveTo>
                  <a:pt x="8000" y="30099"/>
                </a:moveTo>
                <a:lnTo>
                  <a:pt x="3555" y="30099"/>
                </a:lnTo>
                <a:lnTo>
                  <a:pt x="0" y="33654"/>
                </a:lnTo>
                <a:lnTo>
                  <a:pt x="0" y="42544"/>
                </a:lnTo>
                <a:lnTo>
                  <a:pt x="3555" y="45974"/>
                </a:lnTo>
                <a:lnTo>
                  <a:pt x="369061" y="46095"/>
                </a:lnTo>
                <a:lnTo>
                  <a:pt x="369061" y="30221"/>
                </a:lnTo>
                <a:lnTo>
                  <a:pt x="8000" y="30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43">
            <a:extLst>
              <a:ext uri="{FF2B5EF4-FFF2-40B4-BE49-F238E27FC236}">
                <a16:creationId xmlns:a16="http://schemas.microsoft.com/office/drawing/2014/main" id="{469BF3DD-EFEB-B193-CF4D-289148427E53}"/>
              </a:ext>
            </a:extLst>
          </p:cNvPr>
          <p:cNvSpPr txBox="1"/>
          <p:nvPr/>
        </p:nvSpPr>
        <p:spPr>
          <a:xfrm>
            <a:off x="7937488" y="1177380"/>
            <a:ext cx="292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6FC0"/>
                </a:solidFill>
                <a:latin typeface="Cambria Math"/>
                <a:cs typeface="Cambria Math"/>
              </a:rPr>
              <a:t>𝑣</a:t>
            </a:r>
            <a:r>
              <a:rPr sz="1950" spc="-7" baseline="-14957" dirty="0">
                <a:solidFill>
                  <a:srgbClr val="006FC0"/>
                </a:solidFill>
                <a:latin typeface="Cambria Math"/>
                <a:cs typeface="Cambria Math"/>
              </a:rPr>
              <a:t>1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2" name="object 44">
            <a:extLst>
              <a:ext uri="{FF2B5EF4-FFF2-40B4-BE49-F238E27FC236}">
                <a16:creationId xmlns:a16="http://schemas.microsoft.com/office/drawing/2014/main" id="{747E641C-FDCA-7B64-DC49-D2777A3BED33}"/>
              </a:ext>
            </a:extLst>
          </p:cNvPr>
          <p:cNvSpPr/>
          <p:nvPr/>
        </p:nvSpPr>
        <p:spPr>
          <a:xfrm>
            <a:off x="8622908" y="1340956"/>
            <a:ext cx="445770" cy="76200"/>
          </a:xfrm>
          <a:custGeom>
            <a:avLst/>
            <a:gdLst/>
            <a:ahLst/>
            <a:cxnLst/>
            <a:rect l="l" t="t" r="r" b="b"/>
            <a:pathLst>
              <a:path w="445770" h="76200">
                <a:moveTo>
                  <a:pt x="369061" y="46095"/>
                </a:moveTo>
                <a:lnTo>
                  <a:pt x="369061" y="76200"/>
                </a:lnTo>
                <a:lnTo>
                  <a:pt x="429259" y="46100"/>
                </a:lnTo>
                <a:lnTo>
                  <a:pt x="369061" y="46095"/>
                </a:lnTo>
                <a:close/>
              </a:path>
              <a:path w="445770" h="76200">
                <a:moveTo>
                  <a:pt x="369061" y="30221"/>
                </a:moveTo>
                <a:lnTo>
                  <a:pt x="369061" y="46095"/>
                </a:lnTo>
                <a:lnTo>
                  <a:pt x="386206" y="46100"/>
                </a:lnTo>
                <a:lnTo>
                  <a:pt x="389762" y="42544"/>
                </a:lnTo>
                <a:lnTo>
                  <a:pt x="389762" y="33654"/>
                </a:lnTo>
                <a:lnTo>
                  <a:pt x="386206" y="30225"/>
                </a:lnTo>
                <a:lnTo>
                  <a:pt x="369061" y="30221"/>
                </a:lnTo>
                <a:close/>
              </a:path>
              <a:path w="445770" h="76200">
                <a:moveTo>
                  <a:pt x="369061" y="0"/>
                </a:moveTo>
                <a:lnTo>
                  <a:pt x="369061" y="30221"/>
                </a:lnTo>
                <a:lnTo>
                  <a:pt x="381761" y="30225"/>
                </a:lnTo>
                <a:lnTo>
                  <a:pt x="386206" y="30225"/>
                </a:lnTo>
                <a:lnTo>
                  <a:pt x="389762" y="33654"/>
                </a:lnTo>
                <a:lnTo>
                  <a:pt x="389762" y="42544"/>
                </a:lnTo>
                <a:lnTo>
                  <a:pt x="386206" y="46100"/>
                </a:lnTo>
                <a:lnTo>
                  <a:pt x="429271" y="46095"/>
                </a:lnTo>
                <a:lnTo>
                  <a:pt x="445261" y="38100"/>
                </a:lnTo>
                <a:lnTo>
                  <a:pt x="369061" y="0"/>
                </a:lnTo>
                <a:close/>
              </a:path>
              <a:path w="445770" h="76200">
                <a:moveTo>
                  <a:pt x="8000" y="30099"/>
                </a:moveTo>
                <a:lnTo>
                  <a:pt x="3555" y="30099"/>
                </a:lnTo>
                <a:lnTo>
                  <a:pt x="0" y="33654"/>
                </a:lnTo>
                <a:lnTo>
                  <a:pt x="0" y="42544"/>
                </a:lnTo>
                <a:lnTo>
                  <a:pt x="3555" y="45974"/>
                </a:lnTo>
                <a:lnTo>
                  <a:pt x="369061" y="46095"/>
                </a:lnTo>
                <a:lnTo>
                  <a:pt x="369061" y="30221"/>
                </a:lnTo>
                <a:lnTo>
                  <a:pt x="8000" y="30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45">
            <a:extLst>
              <a:ext uri="{FF2B5EF4-FFF2-40B4-BE49-F238E27FC236}">
                <a16:creationId xmlns:a16="http://schemas.microsoft.com/office/drawing/2014/main" id="{62658262-2DEC-1DBA-99DE-D90ED575836A}"/>
              </a:ext>
            </a:extLst>
          </p:cNvPr>
          <p:cNvSpPr txBox="1"/>
          <p:nvPr/>
        </p:nvSpPr>
        <p:spPr>
          <a:xfrm>
            <a:off x="9059788" y="1188047"/>
            <a:ext cx="295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solidFill>
                  <a:srgbClr val="006FC0"/>
                </a:solidFill>
                <a:latin typeface="Cambria Math"/>
                <a:cs typeface="Cambria Math"/>
              </a:rPr>
              <a:t>𝑣</a:t>
            </a:r>
            <a:r>
              <a:rPr sz="1950" spc="15" baseline="-14957" dirty="0">
                <a:solidFill>
                  <a:srgbClr val="006FC0"/>
                </a:solidFill>
                <a:latin typeface="Cambria Math"/>
                <a:cs typeface="Cambria Math"/>
              </a:rPr>
              <a:t>2</a:t>
            </a:r>
            <a:endParaRPr sz="1950" baseline="-14957">
              <a:latin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521224A-395A-32D8-F6E7-8308C34F22ED}"/>
                  </a:ext>
                </a:extLst>
              </p:cNvPr>
              <p:cNvSpPr txBox="1"/>
              <p:nvPr/>
            </p:nvSpPr>
            <p:spPr>
              <a:xfrm>
                <a:off x="4671192" y="3019582"/>
                <a:ext cx="4420634" cy="1513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40404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Instantaneous</a:t>
                </a:r>
                <a:r>
                  <a:rPr lang="en-US" sz="2400" spc="-40" dirty="0">
                    <a:solidFill>
                      <a:srgbClr val="40404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spc="-20" dirty="0">
                    <a:solidFill>
                      <a:srgbClr val="40404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velocity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sz="2400" b="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spcBef>
                    <a:spcPts val="1000"/>
                  </a:spcBef>
                </a:pPr>
                <a:r>
                  <a:rPr lang="en-US" sz="2400" dirty="0">
                    <a:solidFill>
                      <a:srgbClr val="40404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Instantaneous</a:t>
                </a:r>
                <a:r>
                  <a:rPr lang="en-US" sz="2400" spc="-40" dirty="0">
                    <a:solidFill>
                      <a:srgbClr val="40404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spc="-20" dirty="0">
                    <a:solidFill>
                      <a:srgbClr val="40404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acceleration ,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521224A-395A-32D8-F6E7-8308C34F2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192" y="3019582"/>
                <a:ext cx="4420634" cy="1513235"/>
              </a:xfrm>
              <a:prstGeom prst="rect">
                <a:avLst/>
              </a:prstGeom>
              <a:blipFill>
                <a:blip r:embed="rId4"/>
                <a:stretch>
                  <a:fillRect l="-3724" t="-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B3DEC487-2257-0835-5C3A-FCB594546F88}"/>
              </a:ext>
            </a:extLst>
          </p:cNvPr>
          <p:cNvSpPr txBox="1"/>
          <p:nvPr/>
        </p:nvSpPr>
        <p:spPr>
          <a:xfrm>
            <a:off x="1927752" y="5116810"/>
            <a:ext cx="18823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spc="-5" dirty="0">
                <a:solidFill>
                  <a:srgbClr val="C00000"/>
                </a:solidFill>
                <a:latin typeface="Cambria Math"/>
                <a:cs typeface="Cambria Math"/>
              </a:rPr>
              <a:t>𝒙</a:t>
            </a:r>
            <a:r>
              <a:rPr lang="en-US" sz="2400" spc="14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lang="en-US" sz="2400" spc="-5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lang="en-US" sz="2400" spc="14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lang="en-US" sz="2400" spc="-10" dirty="0">
                <a:solidFill>
                  <a:srgbClr val="C00000"/>
                </a:solidFill>
                <a:latin typeface="Cambria Math"/>
                <a:cs typeface="Cambria Math"/>
              </a:rPr>
              <a:t>𝒙</a:t>
            </a:r>
            <a:r>
              <a:rPr lang="en-US" sz="2400" spc="-15" baseline="-16260" dirty="0">
                <a:solidFill>
                  <a:srgbClr val="C00000"/>
                </a:solidFill>
                <a:latin typeface="Cambria Math"/>
                <a:cs typeface="Cambria Math"/>
              </a:rPr>
              <a:t>𝟎</a:t>
            </a:r>
            <a:r>
              <a:rPr lang="en-US" sz="2400" spc="412" baseline="-1626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lang="en-US" sz="2400" spc="-5" dirty="0">
                <a:solidFill>
                  <a:srgbClr val="C00000"/>
                </a:solidFill>
                <a:latin typeface="Cambria Math"/>
                <a:cs typeface="Cambria Math"/>
              </a:rPr>
              <a:t>+</a:t>
            </a:r>
            <a:r>
              <a:rPr lang="en-US" sz="2400" spc="-1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lang="en-US" sz="2400" spc="35" dirty="0">
                <a:solidFill>
                  <a:srgbClr val="C00000"/>
                </a:solidFill>
                <a:latin typeface="Cambria Math"/>
                <a:cs typeface="Cambria Math"/>
              </a:rPr>
              <a:t>𝒗</a:t>
            </a:r>
            <a:r>
              <a:rPr lang="en-US" sz="2400" spc="52" baseline="-16260" dirty="0">
                <a:solidFill>
                  <a:srgbClr val="C00000"/>
                </a:solidFill>
                <a:latin typeface="Cambria Math"/>
                <a:cs typeface="Cambria Math"/>
              </a:rPr>
              <a:t>𝒄</a:t>
            </a:r>
            <a:r>
              <a:rPr lang="en-US" sz="2400" spc="35" dirty="0">
                <a:solidFill>
                  <a:srgbClr val="C00000"/>
                </a:solidFill>
                <a:latin typeface="Cambria Math"/>
                <a:cs typeface="Cambria Math"/>
              </a:rPr>
              <a:t>𝒕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FB485E0-878A-EDE9-69DA-24B6B67590F6}"/>
                  </a:ext>
                </a:extLst>
              </p:cNvPr>
              <p:cNvSpPr txBox="1"/>
              <p:nvPr/>
            </p:nvSpPr>
            <p:spPr>
              <a:xfrm>
                <a:off x="9175358" y="4409573"/>
                <a:ext cx="200064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2400" spc="-5">
                    <a:solidFill>
                      <a:srgbClr val="C00000"/>
                    </a:solidFill>
                    <a:latin typeface="Cambria Math"/>
                    <a:cs typeface="Cambria Math"/>
                  </a:defRPr>
                </a:lvl1pPr>
              </a:lstStyle>
              <a:p>
                <a:r>
                  <a:rPr lang="en-US" b="1" dirty="0"/>
                  <a:t>𝒗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𝒐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b="1" dirty="0"/>
                  <a:t> 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FB485E0-878A-EDE9-69DA-24B6B6759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5358" y="4409573"/>
                <a:ext cx="2000643" cy="461665"/>
              </a:xfrm>
              <a:prstGeom prst="rect">
                <a:avLst/>
              </a:prstGeom>
              <a:blipFill>
                <a:blip r:embed="rId5"/>
                <a:stretch>
                  <a:fillRect l="-457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C272D45-B4C4-25AF-835E-C0F195F07C41}"/>
                  </a:ext>
                </a:extLst>
              </p:cNvPr>
              <p:cNvSpPr txBox="1"/>
              <p:nvPr/>
            </p:nvSpPr>
            <p:spPr>
              <a:xfrm>
                <a:off x="8730326" y="4955632"/>
                <a:ext cx="3168535" cy="624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spc="-5" dirty="0">
                    <a:solidFill>
                      <a:srgbClr val="C00000"/>
                    </a:solidFill>
                    <a:latin typeface="Cambria Math"/>
                    <a:cs typeface="Cambria Math"/>
                  </a:rPr>
                  <a:t>𝒙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sub>
                    </m:sSub>
                    <m:r>
                      <a:rPr lang="en-US" sz="2400" b="1" i="1" spc="-5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sub>
                    </m:sSub>
                    <m:r>
                      <a:rPr lang="en-US" sz="2400" b="1" i="1" spc="-5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b="1" i="1" spc="-5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400" b="1" i="1" spc="-5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p>
                        <m: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C272D45-B4C4-25AF-835E-C0F195F07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0326" y="4955632"/>
                <a:ext cx="3168535" cy="624082"/>
              </a:xfrm>
              <a:prstGeom prst="rect">
                <a:avLst/>
              </a:prstGeom>
              <a:blipFill>
                <a:blip r:embed="rId6"/>
                <a:stretch>
                  <a:fillRect l="-2885"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ACE73FC-5F13-37E3-4548-9F16F552470D}"/>
                  </a:ext>
                </a:extLst>
              </p:cNvPr>
              <p:cNvSpPr txBox="1"/>
              <p:nvPr/>
            </p:nvSpPr>
            <p:spPr>
              <a:xfrm>
                <a:off x="8622908" y="5701267"/>
                <a:ext cx="3168536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p>
                        <m: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b="1" spc="-5" dirty="0">
                    <a:solidFill>
                      <a:srgbClr val="C00000"/>
                    </a:solidFill>
                    <a:latin typeface="Cambria Math"/>
                    <a:cs typeface="Cambria Math"/>
                  </a:rPr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sub>
                      <m:sup>
                        <m: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en-US" sz="2400" b="1" i="1" spc="-5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sz="2400" b="1" i="1" spc="-5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pc="-5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pc="-5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spc="-5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𝒐</m:t>
                        </m:r>
                      </m:sub>
                    </m:sSub>
                    <m:r>
                      <a:rPr lang="en-US" sz="2400" b="1" i="1" spc="-5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ACE73FC-5F13-37E3-4548-9F16F5524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2908" y="5701267"/>
                <a:ext cx="3168536" cy="470000"/>
              </a:xfrm>
              <a:prstGeom prst="rect">
                <a:avLst/>
              </a:prstGeom>
              <a:blipFill>
                <a:blip r:embed="rId7"/>
                <a:stretch>
                  <a:fillRect t="-10390" r="-1349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17B0998-2010-DC2D-928E-2AFEDD3609B5}"/>
              </a:ext>
            </a:extLst>
          </p:cNvPr>
          <p:cNvCxnSpPr>
            <a:cxnSpLocks/>
          </p:cNvCxnSpPr>
          <p:nvPr/>
        </p:nvCxnSpPr>
        <p:spPr>
          <a:xfrm>
            <a:off x="3837260" y="5381368"/>
            <a:ext cx="764661" cy="0"/>
          </a:xfrm>
          <a:prstGeom prst="straightConnector1">
            <a:avLst/>
          </a:prstGeom>
          <a:ln w="381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BFD6CFC-39D1-D0A5-CAF3-89ED9277F289}"/>
              </a:ext>
            </a:extLst>
          </p:cNvPr>
          <p:cNvSpPr txBox="1"/>
          <p:nvPr/>
        </p:nvSpPr>
        <p:spPr>
          <a:xfrm>
            <a:off x="4514776" y="4861857"/>
            <a:ext cx="15812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Rectilinear Motion</a:t>
            </a:r>
          </a:p>
        </p:txBody>
      </p:sp>
      <p:sp>
        <p:nvSpPr>
          <p:cNvPr id="48" name="Left Brace 47">
            <a:extLst>
              <a:ext uri="{FF2B5EF4-FFF2-40B4-BE49-F238E27FC236}">
                <a16:creationId xmlns:a16="http://schemas.microsoft.com/office/drawing/2014/main" id="{0235C658-4557-1DF7-1F3C-173E870EBCAC}"/>
              </a:ext>
            </a:extLst>
          </p:cNvPr>
          <p:cNvSpPr/>
          <p:nvPr/>
        </p:nvSpPr>
        <p:spPr>
          <a:xfrm>
            <a:off x="8122209" y="4528417"/>
            <a:ext cx="739707" cy="1638450"/>
          </a:xfrm>
          <a:prstGeom prst="leftBrace">
            <a:avLst/>
          </a:prstGeom>
          <a:ln w="38100"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A3D798-9E85-4248-45B0-E94154411E4B}"/>
              </a:ext>
            </a:extLst>
          </p:cNvPr>
          <p:cNvSpPr txBox="1"/>
          <p:nvPr/>
        </p:nvSpPr>
        <p:spPr>
          <a:xfrm>
            <a:off x="6569978" y="4688122"/>
            <a:ext cx="15812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Uniformly Accelerated Rectilinear Motion</a:t>
            </a:r>
          </a:p>
        </p:txBody>
      </p:sp>
    </p:spTree>
    <p:extLst>
      <p:ext uri="{BB962C8B-B14F-4D97-AF65-F5344CB8AC3E}">
        <p14:creationId xmlns:p14="http://schemas.microsoft.com/office/powerpoint/2010/main" val="1064297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4" grpId="0"/>
      <p:bldP spid="36" grpId="0"/>
      <p:bldP spid="38" grpId="0"/>
      <p:bldP spid="40" grpId="0"/>
      <p:bldP spid="41" grpId="0"/>
      <p:bldP spid="45" grpId="0"/>
      <p:bldP spid="48" grpId="0" animBg="1"/>
      <p:bldP spid="4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7/1/2025</a:t>
            </a:fld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9A7F5F29-413F-9640-E8D2-4704255D1DBF}"/>
              </a:ext>
            </a:extLst>
          </p:cNvPr>
          <p:cNvSpPr txBox="1">
            <a:spLocks/>
          </p:cNvSpPr>
          <p:nvPr/>
        </p:nvSpPr>
        <p:spPr>
          <a:xfrm>
            <a:off x="467297" y="307030"/>
            <a:ext cx="487636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lang="en-US" sz="3200" spc="-5" dirty="0">
                <a:solidFill>
                  <a:srgbClr val="C0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Curvilinear Motion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6E94BC2-7194-2106-B0A8-4D66372A8B08}"/>
              </a:ext>
            </a:extLst>
          </p:cNvPr>
          <p:cNvSpPr txBox="1"/>
          <p:nvPr/>
        </p:nvSpPr>
        <p:spPr>
          <a:xfrm>
            <a:off x="1804797" y="1003807"/>
            <a:ext cx="6162040" cy="10102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95"/>
              </a:spcBef>
              <a:buClr>
                <a:srgbClr val="A42F0F"/>
              </a:buClr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motion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 a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particle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follows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 a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curved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path.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994"/>
              </a:spcBef>
            </a:pP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𝒓</a:t>
            </a:r>
            <a:r>
              <a:rPr sz="2400" spc="114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2400" spc="11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mbria Math"/>
                <a:cs typeface="Cambria Math"/>
              </a:rPr>
              <a:t>𝑥𝒊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+</a:t>
            </a:r>
            <a:r>
              <a:rPr sz="2400" spc="-2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𝑦𝒋</a:t>
            </a:r>
            <a:r>
              <a:rPr sz="2400" spc="-1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+</a:t>
            </a:r>
            <a:r>
              <a:rPr sz="2400" spc="-1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𝑧𝒌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8F0DC530-FB84-A168-50D3-87CB538ED29A}"/>
              </a:ext>
            </a:extLst>
          </p:cNvPr>
          <p:cNvSpPr/>
          <p:nvPr/>
        </p:nvSpPr>
        <p:spPr>
          <a:xfrm>
            <a:off x="2464307" y="2206244"/>
            <a:ext cx="327660" cy="282575"/>
          </a:xfrm>
          <a:custGeom>
            <a:avLst/>
            <a:gdLst/>
            <a:ahLst/>
            <a:cxnLst/>
            <a:rect l="l" t="t" r="r" b="b"/>
            <a:pathLst>
              <a:path w="327660" h="282575">
                <a:moveTo>
                  <a:pt x="237362" y="0"/>
                </a:moveTo>
                <a:lnTo>
                  <a:pt x="233299" y="11429"/>
                </a:lnTo>
                <a:lnTo>
                  <a:pt x="249662" y="18522"/>
                </a:lnTo>
                <a:lnTo>
                  <a:pt x="263715" y="28352"/>
                </a:lnTo>
                <a:lnTo>
                  <a:pt x="292248" y="73852"/>
                </a:lnTo>
                <a:lnTo>
                  <a:pt x="300579" y="115623"/>
                </a:lnTo>
                <a:lnTo>
                  <a:pt x="301625" y="139700"/>
                </a:lnTo>
                <a:lnTo>
                  <a:pt x="300577" y="164633"/>
                </a:lnTo>
                <a:lnTo>
                  <a:pt x="292195" y="207547"/>
                </a:lnTo>
                <a:lnTo>
                  <a:pt x="263715" y="253793"/>
                </a:lnTo>
                <a:lnTo>
                  <a:pt x="233806" y="270890"/>
                </a:lnTo>
                <a:lnTo>
                  <a:pt x="237362" y="282320"/>
                </a:lnTo>
                <a:lnTo>
                  <a:pt x="275859" y="264239"/>
                </a:lnTo>
                <a:lnTo>
                  <a:pt x="304165" y="232917"/>
                </a:lnTo>
                <a:lnTo>
                  <a:pt x="321595" y="191119"/>
                </a:lnTo>
                <a:lnTo>
                  <a:pt x="327406" y="141223"/>
                </a:lnTo>
                <a:lnTo>
                  <a:pt x="325951" y="115339"/>
                </a:lnTo>
                <a:lnTo>
                  <a:pt x="314279" y="69429"/>
                </a:lnTo>
                <a:lnTo>
                  <a:pt x="291155" y="32093"/>
                </a:lnTo>
                <a:lnTo>
                  <a:pt x="257817" y="7379"/>
                </a:lnTo>
                <a:lnTo>
                  <a:pt x="237362" y="0"/>
                </a:lnTo>
                <a:close/>
              </a:path>
              <a:path w="327660" h="282575">
                <a:moveTo>
                  <a:pt x="90043" y="0"/>
                </a:moveTo>
                <a:lnTo>
                  <a:pt x="51593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0" y="141223"/>
                </a:lnTo>
                <a:lnTo>
                  <a:pt x="1450" y="167177"/>
                </a:lnTo>
                <a:lnTo>
                  <a:pt x="13019" y="213036"/>
                </a:lnTo>
                <a:lnTo>
                  <a:pt x="36018" y="250227"/>
                </a:lnTo>
                <a:lnTo>
                  <a:pt x="69494" y="274941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475" y="263717"/>
                </a:lnTo>
                <a:lnTo>
                  <a:pt x="63579" y="253793"/>
                </a:lnTo>
                <a:lnTo>
                  <a:pt x="35083" y="207547"/>
                </a:lnTo>
                <a:lnTo>
                  <a:pt x="26701" y="164633"/>
                </a:lnTo>
                <a:lnTo>
                  <a:pt x="25654" y="139700"/>
                </a:lnTo>
                <a:lnTo>
                  <a:pt x="26701" y="115623"/>
                </a:lnTo>
                <a:lnTo>
                  <a:pt x="35083" y="73852"/>
                </a:lnTo>
                <a:lnTo>
                  <a:pt x="63674" y="28352"/>
                </a:lnTo>
                <a:lnTo>
                  <a:pt x="93980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F0D5B5B5-C666-94E4-D53E-17A981A0AE01}"/>
              </a:ext>
            </a:extLst>
          </p:cNvPr>
          <p:cNvSpPr/>
          <p:nvPr/>
        </p:nvSpPr>
        <p:spPr>
          <a:xfrm>
            <a:off x="3454019" y="3894963"/>
            <a:ext cx="268605" cy="20320"/>
          </a:xfrm>
          <a:custGeom>
            <a:avLst/>
            <a:gdLst/>
            <a:ahLst/>
            <a:cxnLst/>
            <a:rect l="l" t="t" r="r" b="b"/>
            <a:pathLst>
              <a:path w="268604" h="20320">
                <a:moveTo>
                  <a:pt x="268224" y="0"/>
                </a:moveTo>
                <a:lnTo>
                  <a:pt x="0" y="0"/>
                </a:lnTo>
                <a:lnTo>
                  <a:pt x="0" y="19812"/>
                </a:lnTo>
                <a:lnTo>
                  <a:pt x="268224" y="19812"/>
                </a:lnTo>
                <a:lnTo>
                  <a:pt x="268224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28AECE7D-741E-080F-DF47-565EDB39CA2B}"/>
              </a:ext>
            </a:extLst>
          </p:cNvPr>
          <p:cNvSpPr txBox="1"/>
          <p:nvPr/>
        </p:nvSpPr>
        <p:spPr>
          <a:xfrm>
            <a:off x="2815717" y="3941191"/>
            <a:ext cx="93218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750" spc="40" dirty="0">
                <a:solidFill>
                  <a:srgbClr val="404040"/>
                </a:solidFill>
                <a:latin typeface="Cambria Math"/>
                <a:cs typeface="Cambria Math"/>
              </a:rPr>
              <a:t>∆𝑡→0</a:t>
            </a:r>
            <a:r>
              <a:rPr sz="1750" spc="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625" spc="157" baseline="7936" dirty="0">
                <a:solidFill>
                  <a:srgbClr val="404040"/>
                </a:solidFill>
                <a:latin typeface="Cambria Math"/>
                <a:cs typeface="Cambria Math"/>
              </a:rPr>
              <a:t>Δ𝑡</a:t>
            </a:r>
            <a:endParaRPr sz="2625" baseline="7936">
              <a:latin typeface="Cambria Math"/>
              <a:cs typeface="Cambria Math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6D6DBE2B-0C77-B0F1-7FB9-AEC2B1DF5723}"/>
              </a:ext>
            </a:extLst>
          </p:cNvPr>
          <p:cNvSpPr/>
          <p:nvPr/>
        </p:nvSpPr>
        <p:spPr>
          <a:xfrm>
            <a:off x="4118483" y="3894963"/>
            <a:ext cx="262255" cy="20320"/>
          </a:xfrm>
          <a:custGeom>
            <a:avLst/>
            <a:gdLst/>
            <a:ahLst/>
            <a:cxnLst/>
            <a:rect l="l" t="t" r="r" b="b"/>
            <a:pathLst>
              <a:path w="262254" h="20320">
                <a:moveTo>
                  <a:pt x="262127" y="0"/>
                </a:moveTo>
                <a:lnTo>
                  <a:pt x="0" y="0"/>
                </a:lnTo>
                <a:lnTo>
                  <a:pt x="0" y="19812"/>
                </a:lnTo>
                <a:lnTo>
                  <a:pt x="262127" y="19812"/>
                </a:lnTo>
                <a:lnTo>
                  <a:pt x="262127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9CEDC6C4-50CB-E813-5B55-B85BA9496E22}"/>
              </a:ext>
            </a:extLst>
          </p:cNvPr>
          <p:cNvSpPr txBox="1"/>
          <p:nvPr/>
        </p:nvSpPr>
        <p:spPr>
          <a:xfrm>
            <a:off x="2236597" y="3674491"/>
            <a:ext cx="2182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80720" algn="l"/>
              </a:tabLst>
            </a:pP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𝒗</a:t>
            </a:r>
            <a:r>
              <a:rPr sz="2400" spc="13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=	</a:t>
            </a:r>
            <a:r>
              <a:rPr sz="2400" spc="-5" dirty="0">
                <a:solidFill>
                  <a:srgbClr val="404040"/>
                </a:solidFill>
                <a:latin typeface="Cambria Math"/>
                <a:cs typeface="Cambria Math"/>
              </a:rPr>
              <a:t>lim</a:t>
            </a:r>
            <a:r>
              <a:rPr sz="2400" spc="35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625" spc="97" baseline="44444" dirty="0">
                <a:solidFill>
                  <a:srgbClr val="404040"/>
                </a:solidFill>
                <a:latin typeface="Cambria Math"/>
                <a:cs typeface="Cambria Math"/>
              </a:rPr>
              <a:t>Δ𝒓</a:t>
            </a:r>
            <a:r>
              <a:rPr sz="2625" spc="390" baseline="44444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2400" spc="10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625" spc="67" baseline="44444" dirty="0">
                <a:solidFill>
                  <a:srgbClr val="404040"/>
                </a:solidFill>
                <a:latin typeface="Cambria Math"/>
                <a:cs typeface="Cambria Math"/>
              </a:rPr>
              <a:t>𝑑𝒓</a:t>
            </a:r>
            <a:endParaRPr sz="2625" baseline="44444">
              <a:latin typeface="Cambria Math"/>
              <a:cs typeface="Cambria Math"/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EFE31C3F-E44F-FFD2-7B76-1E1D772B0F87}"/>
              </a:ext>
            </a:extLst>
          </p:cNvPr>
          <p:cNvSpPr txBox="1"/>
          <p:nvPr/>
        </p:nvSpPr>
        <p:spPr>
          <a:xfrm>
            <a:off x="4114038" y="3910710"/>
            <a:ext cx="26479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175" dirty="0">
                <a:solidFill>
                  <a:srgbClr val="404040"/>
                </a:solidFill>
                <a:latin typeface="Cambria Math"/>
                <a:cs typeface="Cambria Math"/>
              </a:rPr>
              <a:t>𝑑</a:t>
            </a:r>
            <a:r>
              <a:rPr sz="1750" spc="200" dirty="0">
                <a:solidFill>
                  <a:srgbClr val="404040"/>
                </a:solidFill>
                <a:latin typeface="Cambria Math"/>
                <a:cs typeface="Cambria Math"/>
              </a:rPr>
              <a:t>𝑡</a:t>
            </a:r>
            <a:endParaRPr sz="1750">
              <a:latin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0">
                <a:extLst>
                  <a:ext uri="{FF2B5EF4-FFF2-40B4-BE49-F238E27FC236}">
                    <a16:creationId xmlns:a16="http://schemas.microsoft.com/office/drawing/2014/main" id="{A30878A8-1DD3-5F52-4FED-E0B6E413298F}"/>
                  </a:ext>
                </a:extLst>
              </p:cNvPr>
              <p:cNvSpPr txBox="1"/>
              <p:nvPr/>
            </p:nvSpPr>
            <p:spPr>
              <a:xfrm>
                <a:off x="1928785" y="4279519"/>
                <a:ext cx="5268432" cy="38215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400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∴</a:t>
                </a:r>
                <a:r>
                  <a:rPr lang="en-US" sz="2400" spc="135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𝒗</a:t>
                </a:r>
                <a:r>
                  <a:rPr lang="en-US" sz="2400" spc="13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=</a:t>
                </a:r>
                <a:r>
                  <a:rPr lang="en-US" sz="2400" spc="13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b="0" i="1" spc="135" smtClean="0">
                            <a:solidFill>
                              <a:srgbClr val="00AF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pc="135" smtClean="0">
                            <a:solidFill>
                              <a:srgbClr val="00AF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400" spc="-30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𝒊</a:t>
                </a:r>
                <a:r>
                  <a:rPr lang="en-US" sz="2400" spc="1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+</a:t>
                </a:r>
                <a:r>
                  <a:rPr lang="en-US" sz="2400" spc="-1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 spc="135" smtClean="0">
                            <a:solidFill>
                              <a:srgbClr val="00AF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pc="135" smtClean="0">
                            <a:solidFill>
                              <a:srgbClr val="00AF5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400" spc="-30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𝐣</a:t>
                </a:r>
                <a:r>
                  <a:rPr lang="en-US" sz="2400" spc="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+</a:t>
                </a:r>
                <a:r>
                  <a:rPr lang="en-US" sz="2400" spc="135" dirty="0">
                    <a:solidFill>
                      <a:srgbClr val="00AF5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 spc="135">
                            <a:solidFill>
                              <a:srgbClr val="00AF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pc="135" smtClean="0">
                            <a:solidFill>
                              <a:srgbClr val="00AF5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400" spc="-1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𝒌</a:t>
                </a:r>
                <a:r>
                  <a:rPr lang="en-US" sz="2400" spc="12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=</a:t>
                </a:r>
                <a:r>
                  <a:rPr lang="en-US" sz="2400" spc="13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spc="-14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𝑣</a:t>
                </a:r>
                <a:r>
                  <a:rPr lang="en-US" sz="2625" spc="494" baseline="-15873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𝑥</a:t>
                </a:r>
                <a:r>
                  <a:rPr lang="en-US" sz="240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𝒊</a:t>
                </a:r>
                <a:r>
                  <a:rPr lang="en-US" sz="2400" spc="-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+ </a:t>
                </a:r>
                <a:r>
                  <a:rPr lang="en-US" sz="2400" spc="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spc="-2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𝑣</a:t>
                </a:r>
                <a:r>
                  <a:rPr lang="en-US" sz="2625" spc="-37" baseline="-15873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𝑦</a:t>
                </a:r>
                <a:r>
                  <a:rPr lang="en-US" sz="2400" spc="-2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𝒋</a:t>
                </a:r>
                <a:r>
                  <a:rPr lang="en-US" sz="2400" spc="-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+</a:t>
                </a:r>
                <a:r>
                  <a:rPr lang="en-US" sz="2400" spc="5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spc="2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𝑣</a:t>
                </a:r>
                <a:r>
                  <a:rPr lang="en-US" sz="2625" spc="30" baseline="-15873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𝑧</a:t>
                </a:r>
                <a:r>
                  <a:rPr lang="en-US" sz="2400" spc="20" dirty="0">
                    <a:solidFill>
                      <a:srgbClr val="00AF50"/>
                    </a:solidFill>
                    <a:latin typeface="Cambria Math"/>
                    <a:cs typeface="Cambria Math"/>
                  </a:rPr>
                  <a:t>𝒌</a:t>
                </a:r>
                <a:endParaRPr sz="2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4" name="object 10">
                <a:extLst>
                  <a:ext uri="{FF2B5EF4-FFF2-40B4-BE49-F238E27FC236}">
                    <a16:creationId xmlns:a16="http://schemas.microsoft.com/office/drawing/2014/main" id="{A30878A8-1DD3-5F52-4FED-E0B6E4132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785" y="4279519"/>
                <a:ext cx="5268432" cy="382156"/>
              </a:xfrm>
              <a:prstGeom prst="rect">
                <a:avLst/>
              </a:prstGeom>
              <a:blipFill>
                <a:blip r:embed="rId4"/>
                <a:stretch>
                  <a:fillRect l="-2775" t="-23810" r="-1040" b="-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object 14">
            <a:extLst>
              <a:ext uri="{FF2B5EF4-FFF2-40B4-BE49-F238E27FC236}">
                <a16:creationId xmlns:a16="http://schemas.microsoft.com/office/drawing/2014/main" id="{53FB9EE6-E8C4-63DE-7BB0-238CB85081A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20032" y="3391915"/>
            <a:ext cx="233044" cy="241808"/>
          </a:xfrm>
          <a:prstGeom prst="rect">
            <a:avLst/>
          </a:prstGeom>
        </p:spPr>
      </p:pic>
      <p:sp>
        <p:nvSpPr>
          <p:cNvPr id="21" name="object 15">
            <a:extLst>
              <a:ext uri="{FF2B5EF4-FFF2-40B4-BE49-F238E27FC236}">
                <a16:creationId xmlns:a16="http://schemas.microsoft.com/office/drawing/2014/main" id="{FA13487D-0382-9F19-C3B7-F58D7305D418}"/>
              </a:ext>
            </a:extLst>
          </p:cNvPr>
          <p:cNvSpPr txBox="1"/>
          <p:nvPr/>
        </p:nvSpPr>
        <p:spPr>
          <a:xfrm>
            <a:off x="2236597" y="1990089"/>
            <a:ext cx="3066415" cy="142430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95"/>
              </a:spcBef>
              <a:tabLst>
                <a:tab pos="581660" algn="l"/>
              </a:tabLst>
            </a:pP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𝒓 </a:t>
            </a:r>
            <a:r>
              <a:rPr sz="2400" spc="-6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𝑡	:</a:t>
            </a:r>
            <a:r>
              <a:rPr sz="2400" spc="-12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𝑓𝑢𝑛𝑐𝑡𝑖𝑜𝑛</a:t>
            </a:r>
            <a:r>
              <a:rPr sz="2400" spc="3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𝑜𝑓</a:t>
            </a:r>
            <a:r>
              <a:rPr sz="2400" spc="5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𝑡𝑖𝑚𝑒</a:t>
            </a:r>
            <a:endParaRPr sz="2400" dirty="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994"/>
              </a:spcBef>
            </a:pPr>
            <a:r>
              <a:rPr sz="2400" spc="-5" dirty="0">
                <a:solidFill>
                  <a:srgbClr val="404040"/>
                </a:solidFill>
                <a:latin typeface="Cambria Math"/>
                <a:cs typeface="Cambria Math"/>
              </a:rPr>
              <a:t>∆𝒓</a:t>
            </a:r>
            <a:r>
              <a:rPr sz="2400" spc="114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2400" spc="10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80" dirty="0">
                <a:solidFill>
                  <a:srgbClr val="404040"/>
                </a:solidFill>
                <a:latin typeface="Cambria Math"/>
                <a:cs typeface="Cambria Math"/>
              </a:rPr>
              <a:t>𝒓</a:t>
            </a:r>
            <a:r>
              <a:rPr sz="2625" spc="120" baseline="28571" dirty="0">
                <a:solidFill>
                  <a:srgbClr val="404040"/>
                </a:solidFill>
                <a:latin typeface="Cambria Math"/>
                <a:cs typeface="Cambria Math"/>
              </a:rPr>
              <a:t>′</a:t>
            </a:r>
            <a:r>
              <a:rPr sz="2625" spc="352" baseline="28571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−</a:t>
            </a:r>
            <a:r>
              <a:rPr sz="2400" spc="-1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𝒓</a:t>
            </a:r>
            <a:endParaRPr sz="2400" dirty="0">
              <a:latin typeface="Cambria Math"/>
              <a:cs typeface="Cambria Math"/>
            </a:endParaRPr>
          </a:p>
          <a:p>
            <a:pPr marL="1723389">
              <a:lnSpc>
                <a:spcPct val="100000"/>
              </a:lnSpc>
              <a:spcBef>
                <a:spcPts val="1340"/>
              </a:spcBef>
            </a:pPr>
            <a:r>
              <a:rPr sz="1600" spc="-5" dirty="0">
                <a:solidFill>
                  <a:srgbClr val="00AFEF"/>
                </a:solidFill>
                <a:latin typeface="Times New Roman"/>
                <a:cs typeface="Times New Roman"/>
              </a:rPr>
              <a:t>tangent </a:t>
            </a:r>
            <a:r>
              <a:rPr sz="1600" spc="-5" dirty="0">
                <a:latin typeface="Times New Roman"/>
                <a:cs typeface="Times New Roman"/>
              </a:rPr>
              <a:t>to path</a:t>
            </a:r>
            <a:endParaRPr sz="1600" dirty="0">
              <a:latin typeface="Times New Roman"/>
              <a:cs typeface="Times New Roman"/>
            </a:endParaRPr>
          </a:p>
        </p:txBody>
      </p:sp>
      <p:grpSp>
        <p:nvGrpSpPr>
          <p:cNvPr id="22" name="object 16">
            <a:extLst>
              <a:ext uri="{FF2B5EF4-FFF2-40B4-BE49-F238E27FC236}">
                <a16:creationId xmlns:a16="http://schemas.microsoft.com/office/drawing/2014/main" id="{0B62840D-FDA8-8CEF-9BF2-23133A58EB58}"/>
              </a:ext>
            </a:extLst>
          </p:cNvPr>
          <p:cNvGrpSpPr/>
          <p:nvPr/>
        </p:nvGrpSpPr>
        <p:grpSpPr>
          <a:xfrm>
            <a:off x="7458456" y="1682495"/>
            <a:ext cx="4619625" cy="3731260"/>
            <a:chOff x="7458456" y="1682495"/>
            <a:chExt cx="4619625" cy="3731260"/>
          </a:xfrm>
        </p:grpSpPr>
        <p:pic>
          <p:nvPicPr>
            <p:cNvPr id="23" name="object 17">
              <a:extLst>
                <a:ext uri="{FF2B5EF4-FFF2-40B4-BE49-F238E27FC236}">
                  <a16:creationId xmlns:a16="http://schemas.microsoft.com/office/drawing/2014/main" id="{25FA9DBC-6F34-C37F-B944-A7213224AEB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58456" y="1682495"/>
              <a:ext cx="4619244" cy="3730752"/>
            </a:xfrm>
            <a:prstGeom prst="rect">
              <a:avLst/>
            </a:prstGeom>
          </p:spPr>
        </p:pic>
        <p:sp>
          <p:nvSpPr>
            <p:cNvPr id="24" name="object 18">
              <a:extLst>
                <a:ext uri="{FF2B5EF4-FFF2-40B4-BE49-F238E27FC236}">
                  <a16:creationId xmlns:a16="http://schemas.microsoft.com/office/drawing/2014/main" id="{B4895E6E-BD7B-83C3-8199-B6101272EA30}"/>
                </a:ext>
              </a:extLst>
            </p:cNvPr>
            <p:cNvSpPr/>
            <p:nvPr/>
          </p:nvSpPr>
          <p:spPr>
            <a:xfrm>
              <a:off x="8045958" y="2548889"/>
              <a:ext cx="3688079" cy="2334260"/>
            </a:xfrm>
            <a:custGeom>
              <a:avLst/>
              <a:gdLst/>
              <a:ahLst/>
              <a:cxnLst/>
              <a:rect l="l" t="t" r="r" b="b"/>
              <a:pathLst>
                <a:path w="3688079" h="2334260">
                  <a:moveTo>
                    <a:pt x="3687953" y="1696212"/>
                  </a:moveTo>
                  <a:lnTo>
                    <a:pt x="3672700" y="1683512"/>
                  </a:lnTo>
                  <a:lnTo>
                    <a:pt x="3611753" y="1632712"/>
                  </a:lnTo>
                  <a:lnTo>
                    <a:pt x="3611753" y="1683512"/>
                  </a:lnTo>
                  <a:lnTo>
                    <a:pt x="1326388" y="1683512"/>
                  </a:lnTo>
                  <a:lnTo>
                    <a:pt x="1326388" y="76200"/>
                  </a:lnTo>
                  <a:lnTo>
                    <a:pt x="1377188" y="76200"/>
                  </a:lnTo>
                  <a:lnTo>
                    <a:pt x="1356017" y="50800"/>
                  </a:lnTo>
                  <a:lnTo>
                    <a:pt x="1313688" y="0"/>
                  </a:lnTo>
                  <a:lnTo>
                    <a:pt x="1250188" y="76200"/>
                  </a:lnTo>
                  <a:lnTo>
                    <a:pt x="1300988" y="76200"/>
                  </a:lnTo>
                  <a:lnTo>
                    <a:pt x="1300988" y="1688198"/>
                  </a:lnTo>
                  <a:lnTo>
                    <a:pt x="63690" y="2265019"/>
                  </a:lnTo>
                  <a:lnTo>
                    <a:pt x="42291" y="2219071"/>
                  </a:lnTo>
                  <a:lnTo>
                    <a:pt x="0" y="2308733"/>
                  </a:lnTo>
                  <a:lnTo>
                    <a:pt x="95885" y="2334133"/>
                  </a:lnTo>
                  <a:lnTo>
                    <a:pt x="78308" y="2296414"/>
                  </a:lnTo>
                  <a:lnTo>
                    <a:pt x="74434" y="2288108"/>
                  </a:lnTo>
                  <a:lnTo>
                    <a:pt x="1316812" y="1708912"/>
                  </a:lnTo>
                  <a:lnTo>
                    <a:pt x="3611753" y="1708912"/>
                  </a:lnTo>
                  <a:lnTo>
                    <a:pt x="3611753" y="1759712"/>
                  </a:lnTo>
                  <a:lnTo>
                    <a:pt x="3672700" y="1708912"/>
                  </a:lnTo>
                  <a:lnTo>
                    <a:pt x="3687953" y="16962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19">
            <a:extLst>
              <a:ext uri="{FF2B5EF4-FFF2-40B4-BE49-F238E27FC236}">
                <a16:creationId xmlns:a16="http://schemas.microsoft.com/office/drawing/2014/main" id="{9D9160C5-CF1B-63BE-DEA3-113D59BA25C3}"/>
              </a:ext>
            </a:extLst>
          </p:cNvPr>
          <p:cNvSpPr txBox="1"/>
          <p:nvPr/>
        </p:nvSpPr>
        <p:spPr>
          <a:xfrm>
            <a:off x="8034273" y="4395342"/>
            <a:ext cx="232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𝑥𝒊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0">
            <a:extLst>
              <a:ext uri="{FF2B5EF4-FFF2-40B4-BE49-F238E27FC236}">
                <a16:creationId xmlns:a16="http://schemas.microsoft.com/office/drawing/2014/main" id="{2DE63A2E-25E4-00CE-DF2D-A4E5E40E3555}"/>
              </a:ext>
            </a:extLst>
          </p:cNvPr>
          <p:cNvSpPr txBox="1"/>
          <p:nvPr/>
        </p:nvSpPr>
        <p:spPr>
          <a:xfrm>
            <a:off x="8980169" y="2352294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latin typeface="Cambria Math"/>
                <a:cs typeface="Cambria Math"/>
              </a:rPr>
              <a:t>𝑧</a:t>
            </a:r>
            <a:r>
              <a:rPr sz="1800" dirty="0">
                <a:latin typeface="Cambria Math"/>
                <a:cs typeface="Cambria Math"/>
              </a:rPr>
              <a:t>𝒌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27" name="object 21">
            <a:extLst>
              <a:ext uri="{FF2B5EF4-FFF2-40B4-BE49-F238E27FC236}">
                <a16:creationId xmlns:a16="http://schemas.microsoft.com/office/drawing/2014/main" id="{3DC6C162-C44C-93E2-2FEC-2BC8B9303B71}"/>
              </a:ext>
            </a:extLst>
          </p:cNvPr>
          <p:cNvGrpSpPr/>
          <p:nvPr/>
        </p:nvGrpSpPr>
        <p:grpSpPr>
          <a:xfrm>
            <a:off x="9377553" y="2924365"/>
            <a:ext cx="1790700" cy="1320165"/>
            <a:chOff x="9377553" y="2924365"/>
            <a:chExt cx="1790700" cy="1320165"/>
          </a:xfrm>
        </p:grpSpPr>
        <p:pic>
          <p:nvPicPr>
            <p:cNvPr id="28" name="object 22">
              <a:extLst>
                <a:ext uri="{FF2B5EF4-FFF2-40B4-BE49-F238E27FC236}">
                  <a16:creationId xmlns:a16="http://schemas.microsoft.com/office/drawing/2014/main" id="{FC195788-E130-B4C8-0BAE-F6E06D8F4639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568749" y="2924365"/>
              <a:ext cx="160401" cy="178688"/>
            </a:xfrm>
            <a:prstGeom prst="rect">
              <a:avLst/>
            </a:prstGeom>
          </p:spPr>
        </p:pic>
        <p:sp>
          <p:nvSpPr>
            <p:cNvPr id="29" name="object 23">
              <a:extLst>
                <a:ext uri="{FF2B5EF4-FFF2-40B4-BE49-F238E27FC236}">
                  <a16:creationId xmlns:a16="http://schemas.microsoft.com/office/drawing/2014/main" id="{0FE4512B-D7EF-A3E7-B388-300D236DD982}"/>
                </a:ext>
              </a:extLst>
            </p:cNvPr>
            <p:cNvSpPr/>
            <p:nvPr/>
          </p:nvSpPr>
          <p:spPr>
            <a:xfrm>
              <a:off x="9377553" y="3073907"/>
              <a:ext cx="1219200" cy="1163955"/>
            </a:xfrm>
            <a:custGeom>
              <a:avLst/>
              <a:gdLst/>
              <a:ahLst/>
              <a:cxnLst/>
              <a:rect l="l" t="t" r="r" b="b"/>
              <a:pathLst>
                <a:path w="1219200" h="1163954">
                  <a:moveTo>
                    <a:pt x="1158480" y="46839"/>
                  </a:moveTo>
                  <a:lnTo>
                    <a:pt x="126" y="1152270"/>
                  </a:lnTo>
                  <a:lnTo>
                    <a:pt x="0" y="1157223"/>
                  </a:lnTo>
                  <a:lnTo>
                    <a:pt x="6096" y="1163573"/>
                  </a:lnTo>
                  <a:lnTo>
                    <a:pt x="11049" y="1163700"/>
                  </a:lnTo>
                  <a:lnTo>
                    <a:pt x="1169392" y="58278"/>
                  </a:lnTo>
                  <a:lnTo>
                    <a:pt x="1158480" y="46839"/>
                  </a:lnTo>
                  <a:close/>
                </a:path>
                <a:path w="1219200" h="1163954">
                  <a:moveTo>
                    <a:pt x="1206463" y="35051"/>
                  </a:moveTo>
                  <a:lnTo>
                    <a:pt x="1170813" y="35051"/>
                  </a:lnTo>
                  <a:lnTo>
                    <a:pt x="1175766" y="35178"/>
                  </a:lnTo>
                  <a:lnTo>
                    <a:pt x="1181862" y="41528"/>
                  </a:lnTo>
                  <a:lnTo>
                    <a:pt x="1181735" y="46608"/>
                  </a:lnTo>
                  <a:lnTo>
                    <a:pt x="1178560" y="49529"/>
                  </a:lnTo>
                  <a:lnTo>
                    <a:pt x="1169392" y="58278"/>
                  </a:lnTo>
                  <a:lnTo>
                    <a:pt x="1190244" y="80137"/>
                  </a:lnTo>
                  <a:lnTo>
                    <a:pt x="1206463" y="35051"/>
                  </a:lnTo>
                  <a:close/>
                </a:path>
                <a:path w="1219200" h="1163954">
                  <a:moveTo>
                    <a:pt x="1170813" y="35051"/>
                  </a:moveTo>
                  <a:lnTo>
                    <a:pt x="1158480" y="46839"/>
                  </a:lnTo>
                  <a:lnTo>
                    <a:pt x="1169392" y="58278"/>
                  </a:lnTo>
                  <a:lnTo>
                    <a:pt x="1178560" y="49529"/>
                  </a:lnTo>
                  <a:lnTo>
                    <a:pt x="1181735" y="46608"/>
                  </a:lnTo>
                  <a:lnTo>
                    <a:pt x="1181862" y="41528"/>
                  </a:lnTo>
                  <a:lnTo>
                    <a:pt x="1175766" y="35178"/>
                  </a:lnTo>
                  <a:lnTo>
                    <a:pt x="1170813" y="35051"/>
                  </a:lnTo>
                  <a:close/>
                </a:path>
                <a:path w="1219200" h="1163954">
                  <a:moveTo>
                    <a:pt x="1219073" y="0"/>
                  </a:moveTo>
                  <a:lnTo>
                    <a:pt x="1137666" y="25018"/>
                  </a:lnTo>
                  <a:lnTo>
                    <a:pt x="1158480" y="46839"/>
                  </a:lnTo>
                  <a:lnTo>
                    <a:pt x="1170813" y="35051"/>
                  </a:lnTo>
                  <a:lnTo>
                    <a:pt x="1206463" y="35051"/>
                  </a:lnTo>
                  <a:lnTo>
                    <a:pt x="1219073" y="0"/>
                  </a:lnTo>
                  <a:close/>
                </a:path>
              </a:pathLst>
            </a:custGeom>
            <a:solidFill>
              <a:srgbClr val="9D2C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24">
              <a:extLst>
                <a:ext uri="{FF2B5EF4-FFF2-40B4-BE49-F238E27FC236}">
                  <a16:creationId xmlns:a16="http://schemas.microsoft.com/office/drawing/2014/main" id="{F726E43E-343A-BB7F-0C51-70EEAB63C3C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006137" y="3177349"/>
              <a:ext cx="161925" cy="178688"/>
            </a:xfrm>
            <a:prstGeom prst="rect">
              <a:avLst/>
            </a:prstGeom>
          </p:spPr>
        </p:pic>
        <p:sp>
          <p:nvSpPr>
            <p:cNvPr id="31" name="object 25">
              <a:extLst>
                <a:ext uri="{FF2B5EF4-FFF2-40B4-BE49-F238E27FC236}">
                  <a16:creationId xmlns:a16="http://schemas.microsoft.com/office/drawing/2014/main" id="{D88C72E2-03E3-258C-6F7E-6C55775DA233}"/>
                </a:ext>
              </a:extLst>
            </p:cNvPr>
            <p:cNvSpPr/>
            <p:nvPr/>
          </p:nvSpPr>
          <p:spPr>
            <a:xfrm>
              <a:off x="10671048" y="3073907"/>
              <a:ext cx="385445" cy="252729"/>
            </a:xfrm>
            <a:custGeom>
              <a:avLst/>
              <a:gdLst/>
              <a:ahLst/>
              <a:cxnLst/>
              <a:rect l="l" t="t" r="r" b="b"/>
              <a:pathLst>
                <a:path w="385445" h="252729">
                  <a:moveTo>
                    <a:pt x="314426" y="221993"/>
                  </a:moveTo>
                  <a:lnTo>
                    <a:pt x="300735" y="243331"/>
                  </a:lnTo>
                  <a:lnTo>
                    <a:pt x="385445" y="252475"/>
                  </a:lnTo>
                  <a:lnTo>
                    <a:pt x="373667" y="232663"/>
                  </a:lnTo>
                  <a:lnTo>
                    <a:pt x="331088" y="232663"/>
                  </a:lnTo>
                  <a:lnTo>
                    <a:pt x="314426" y="221993"/>
                  </a:lnTo>
                  <a:close/>
                </a:path>
                <a:path w="385445" h="252729">
                  <a:moveTo>
                    <a:pt x="328179" y="200557"/>
                  </a:moveTo>
                  <a:lnTo>
                    <a:pt x="314426" y="221993"/>
                  </a:lnTo>
                  <a:lnTo>
                    <a:pt x="331088" y="232663"/>
                  </a:lnTo>
                  <a:lnTo>
                    <a:pt x="338962" y="230886"/>
                  </a:lnTo>
                  <a:lnTo>
                    <a:pt x="342773" y="225043"/>
                  </a:lnTo>
                  <a:lnTo>
                    <a:pt x="346455" y="219075"/>
                  </a:lnTo>
                  <a:lnTo>
                    <a:pt x="344804" y="211200"/>
                  </a:lnTo>
                  <a:lnTo>
                    <a:pt x="328179" y="200557"/>
                  </a:lnTo>
                  <a:close/>
                </a:path>
                <a:path w="385445" h="252729">
                  <a:moveTo>
                    <a:pt x="341883" y="179196"/>
                  </a:moveTo>
                  <a:lnTo>
                    <a:pt x="328179" y="200557"/>
                  </a:lnTo>
                  <a:lnTo>
                    <a:pt x="344804" y="211200"/>
                  </a:lnTo>
                  <a:lnTo>
                    <a:pt x="346455" y="219075"/>
                  </a:lnTo>
                  <a:lnTo>
                    <a:pt x="342773" y="225043"/>
                  </a:lnTo>
                  <a:lnTo>
                    <a:pt x="338962" y="230886"/>
                  </a:lnTo>
                  <a:lnTo>
                    <a:pt x="331088" y="232663"/>
                  </a:lnTo>
                  <a:lnTo>
                    <a:pt x="373667" y="232663"/>
                  </a:lnTo>
                  <a:lnTo>
                    <a:pt x="341883" y="179196"/>
                  </a:lnTo>
                  <a:close/>
                </a:path>
                <a:path w="385445" h="252729">
                  <a:moveTo>
                    <a:pt x="15367" y="0"/>
                  </a:moveTo>
                  <a:lnTo>
                    <a:pt x="7620" y="1777"/>
                  </a:lnTo>
                  <a:lnTo>
                    <a:pt x="0" y="13462"/>
                  </a:lnTo>
                  <a:lnTo>
                    <a:pt x="1777" y="21336"/>
                  </a:lnTo>
                  <a:lnTo>
                    <a:pt x="7620" y="25145"/>
                  </a:lnTo>
                  <a:lnTo>
                    <a:pt x="314426" y="221993"/>
                  </a:lnTo>
                  <a:lnTo>
                    <a:pt x="328179" y="200557"/>
                  </a:lnTo>
                  <a:lnTo>
                    <a:pt x="15367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6">
              <a:extLst>
                <a:ext uri="{FF2B5EF4-FFF2-40B4-BE49-F238E27FC236}">
                  <a16:creationId xmlns:a16="http://schemas.microsoft.com/office/drawing/2014/main" id="{386C5E00-154C-59C4-9C05-D67539B6406F}"/>
                </a:ext>
              </a:extLst>
            </p:cNvPr>
            <p:cNvSpPr/>
            <p:nvPr/>
          </p:nvSpPr>
          <p:spPr>
            <a:xfrm>
              <a:off x="9385173" y="3326891"/>
              <a:ext cx="1649095" cy="917575"/>
            </a:xfrm>
            <a:custGeom>
              <a:avLst/>
              <a:gdLst/>
              <a:ahLst/>
              <a:cxnLst/>
              <a:rect l="l" t="t" r="r" b="b"/>
              <a:pathLst>
                <a:path w="1649095" h="917575">
                  <a:moveTo>
                    <a:pt x="1579390" y="31387"/>
                  </a:moveTo>
                  <a:lnTo>
                    <a:pt x="4191" y="904621"/>
                  </a:lnTo>
                  <a:lnTo>
                    <a:pt x="1143" y="906272"/>
                  </a:lnTo>
                  <a:lnTo>
                    <a:pt x="0" y="910209"/>
                  </a:lnTo>
                  <a:lnTo>
                    <a:pt x="1650" y="913257"/>
                  </a:lnTo>
                  <a:lnTo>
                    <a:pt x="3428" y="916305"/>
                  </a:lnTo>
                  <a:lnTo>
                    <a:pt x="7238" y="917448"/>
                  </a:lnTo>
                  <a:lnTo>
                    <a:pt x="10286" y="915670"/>
                  </a:lnTo>
                  <a:lnTo>
                    <a:pt x="1585546" y="42473"/>
                  </a:lnTo>
                  <a:lnTo>
                    <a:pt x="1579390" y="31387"/>
                  </a:lnTo>
                  <a:close/>
                </a:path>
                <a:path w="1649095" h="917575">
                  <a:moveTo>
                    <a:pt x="1632992" y="23495"/>
                  </a:moveTo>
                  <a:lnTo>
                    <a:pt x="1593469" y="23495"/>
                  </a:lnTo>
                  <a:lnTo>
                    <a:pt x="1597405" y="24637"/>
                  </a:lnTo>
                  <a:lnTo>
                    <a:pt x="1599056" y="27686"/>
                  </a:lnTo>
                  <a:lnTo>
                    <a:pt x="1600834" y="30734"/>
                  </a:lnTo>
                  <a:lnTo>
                    <a:pt x="1599692" y="34671"/>
                  </a:lnTo>
                  <a:lnTo>
                    <a:pt x="1596644" y="36322"/>
                  </a:lnTo>
                  <a:lnTo>
                    <a:pt x="1585546" y="42473"/>
                  </a:lnTo>
                  <a:lnTo>
                    <a:pt x="1600961" y="70231"/>
                  </a:lnTo>
                  <a:lnTo>
                    <a:pt x="1632992" y="23495"/>
                  </a:lnTo>
                  <a:close/>
                </a:path>
                <a:path w="1649095" h="917575">
                  <a:moveTo>
                    <a:pt x="1593469" y="23495"/>
                  </a:moveTo>
                  <a:lnTo>
                    <a:pt x="1590421" y="25273"/>
                  </a:lnTo>
                  <a:lnTo>
                    <a:pt x="1579390" y="31387"/>
                  </a:lnTo>
                  <a:lnTo>
                    <a:pt x="1585546" y="42473"/>
                  </a:lnTo>
                  <a:lnTo>
                    <a:pt x="1596644" y="36322"/>
                  </a:lnTo>
                  <a:lnTo>
                    <a:pt x="1599692" y="34671"/>
                  </a:lnTo>
                  <a:lnTo>
                    <a:pt x="1600834" y="30734"/>
                  </a:lnTo>
                  <a:lnTo>
                    <a:pt x="1599056" y="27686"/>
                  </a:lnTo>
                  <a:lnTo>
                    <a:pt x="1597405" y="24637"/>
                  </a:lnTo>
                  <a:lnTo>
                    <a:pt x="1593469" y="23495"/>
                  </a:lnTo>
                  <a:close/>
                </a:path>
                <a:path w="1649095" h="917575">
                  <a:moveTo>
                    <a:pt x="1649095" y="0"/>
                  </a:moveTo>
                  <a:lnTo>
                    <a:pt x="1564004" y="3683"/>
                  </a:lnTo>
                  <a:lnTo>
                    <a:pt x="1579390" y="31387"/>
                  </a:lnTo>
                  <a:lnTo>
                    <a:pt x="1590421" y="25273"/>
                  </a:lnTo>
                  <a:lnTo>
                    <a:pt x="1593469" y="23495"/>
                  </a:lnTo>
                  <a:lnTo>
                    <a:pt x="1632992" y="23495"/>
                  </a:lnTo>
                  <a:lnTo>
                    <a:pt x="1649095" y="0"/>
                  </a:lnTo>
                  <a:close/>
                </a:path>
              </a:pathLst>
            </a:custGeom>
            <a:solidFill>
              <a:srgbClr val="D37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27">
            <a:extLst>
              <a:ext uri="{FF2B5EF4-FFF2-40B4-BE49-F238E27FC236}">
                <a16:creationId xmlns:a16="http://schemas.microsoft.com/office/drawing/2014/main" id="{B2E2F371-31F4-06CC-3EC6-68AC75D72D11}"/>
              </a:ext>
            </a:extLst>
          </p:cNvPr>
          <p:cNvSpPr txBox="1"/>
          <p:nvPr/>
        </p:nvSpPr>
        <p:spPr>
          <a:xfrm>
            <a:off x="9922256" y="3315970"/>
            <a:ext cx="148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4" name="object 28">
            <a:extLst>
              <a:ext uri="{FF2B5EF4-FFF2-40B4-BE49-F238E27FC236}">
                <a16:creationId xmlns:a16="http://schemas.microsoft.com/office/drawing/2014/main" id="{97523DB5-E0D2-D9A5-D71A-EC4A6C61BBAE}"/>
              </a:ext>
            </a:extLst>
          </p:cNvPr>
          <p:cNvSpPr txBox="1"/>
          <p:nvPr/>
        </p:nvSpPr>
        <p:spPr>
          <a:xfrm>
            <a:off x="10385552" y="2574290"/>
            <a:ext cx="1802764" cy="156908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800" spc="35" dirty="0">
                <a:latin typeface="Cambria Math"/>
                <a:cs typeface="Cambria Math"/>
              </a:rPr>
              <a:t>𝑃</a:t>
            </a:r>
            <a:r>
              <a:rPr sz="1800" spc="5" dirty="0">
                <a:latin typeface="Cambria Math"/>
                <a:cs typeface="Cambria Math"/>
              </a:rPr>
              <a:t>(</a:t>
            </a:r>
            <a:r>
              <a:rPr sz="1800" spc="60" dirty="0">
                <a:latin typeface="Cambria Math"/>
                <a:cs typeface="Cambria Math"/>
              </a:rPr>
              <a:t>𝑥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35" dirty="0">
                <a:latin typeface="Cambria Math"/>
                <a:cs typeface="Cambria Math"/>
              </a:rPr>
              <a:t>𝑦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40" dirty="0">
                <a:latin typeface="Cambria Math"/>
                <a:cs typeface="Cambria Math"/>
              </a:rPr>
              <a:t>𝑧</a:t>
            </a:r>
            <a:r>
              <a:rPr sz="1800" dirty="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  <a:p>
            <a:pPr marL="688340">
              <a:lnSpc>
                <a:spcPts val="1960"/>
              </a:lnSpc>
              <a:spcBef>
                <a:spcPts val="280"/>
              </a:spcBef>
            </a:pPr>
            <a:r>
              <a:rPr sz="1800" spc="-5" dirty="0">
                <a:latin typeface="Cambria Math"/>
                <a:cs typeface="Cambria Math"/>
              </a:rPr>
              <a:t>𝑃</a:t>
            </a:r>
            <a:r>
              <a:rPr sz="1800" dirty="0">
                <a:latin typeface="Cambria Math"/>
                <a:cs typeface="Cambria Math"/>
              </a:rPr>
              <a:t>′</a:t>
            </a:r>
            <a:r>
              <a:rPr sz="1800" spc="-5" dirty="0">
                <a:latin typeface="Cambria Math"/>
                <a:cs typeface="Cambria Math"/>
              </a:rPr>
              <a:t>(</a:t>
            </a:r>
            <a:r>
              <a:rPr sz="1800" dirty="0">
                <a:latin typeface="Cambria Math"/>
                <a:cs typeface="Cambria Math"/>
              </a:rPr>
              <a:t>𝑥′,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𝑦′,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𝑧′)</a:t>
            </a:r>
            <a:endParaRPr sz="1800">
              <a:latin typeface="Cambria Math"/>
              <a:cs typeface="Cambria Math"/>
            </a:endParaRPr>
          </a:p>
          <a:p>
            <a:pPr marL="213995">
              <a:lnSpc>
                <a:spcPts val="1960"/>
              </a:lnSpc>
            </a:pPr>
            <a:r>
              <a:rPr sz="1800" dirty="0">
                <a:latin typeface="Cambria Math"/>
                <a:cs typeface="Cambria Math"/>
              </a:rPr>
              <a:t>∆𝒓</a:t>
            </a:r>
            <a:endParaRPr sz="1800">
              <a:latin typeface="Cambria Math"/>
              <a:cs typeface="Cambria Math"/>
            </a:endParaRPr>
          </a:p>
          <a:p>
            <a:pPr marL="280670">
              <a:lnSpc>
                <a:spcPct val="100000"/>
              </a:lnSpc>
              <a:spcBef>
                <a:spcPts val="675"/>
              </a:spcBef>
            </a:pPr>
            <a:r>
              <a:rPr sz="1800" dirty="0">
                <a:latin typeface="Cambria Math"/>
                <a:cs typeface="Cambria Math"/>
              </a:rPr>
              <a:t>𝒓′</a:t>
            </a:r>
            <a:endParaRPr sz="1800">
              <a:latin typeface="Cambria Math"/>
              <a:cs typeface="Cambria Math"/>
            </a:endParaRPr>
          </a:p>
          <a:p>
            <a:pPr marL="1082675">
              <a:lnSpc>
                <a:spcPct val="100000"/>
              </a:lnSpc>
              <a:spcBef>
                <a:spcPts val="525"/>
              </a:spcBef>
            </a:pPr>
            <a:r>
              <a:rPr sz="1800" dirty="0">
                <a:latin typeface="Cambria Math"/>
                <a:cs typeface="Cambria Math"/>
              </a:rPr>
              <a:t>𝑦𝒋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29">
            <a:extLst>
              <a:ext uri="{FF2B5EF4-FFF2-40B4-BE49-F238E27FC236}">
                <a16:creationId xmlns:a16="http://schemas.microsoft.com/office/drawing/2014/main" id="{EF6940D9-0943-6B6E-5DB7-5448C619287E}"/>
              </a:ext>
            </a:extLst>
          </p:cNvPr>
          <p:cNvSpPr/>
          <p:nvPr/>
        </p:nvSpPr>
        <p:spPr>
          <a:xfrm>
            <a:off x="8066531" y="2580132"/>
            <a:ext cx="3667760" cy="2277110"/>
          </a:xfrm>
          <a:custGeom>
            <a:avLst/>
            <a:gdLst/>
            <a:ahLst/>
            <a:cxnLst/>
            <a:rect l="l" t="t" r="r" b="b"/>
            <a:pathLst>
              <a:path w="3667759" h="2277110">
                <a:moveTo>
                  <a:pt x="2507869" y="433069"/>
                </a:moveTo>
                <a:lnTo>
                  <a:pt x="1319784" y="0"/>
                </a:lnTo>
              </a:path>
              <a:path w="3667759" h="2277110">
                <a:moveTo>
                  <a:pt x="2529586" y="493775"/>
                </a:moveTo>
                <a:lnTo>
                  <a:pt x="2487168" y="2277110"/>
                </a:lnTo>
              </a:path>
              <a:path w="3667759" h="2277110">
                <a:moveTo>
                  <a:pt x="0" y="2276855"/>
                </a:moveTo>
                <a:lnTo>
                  <a:pt x="2480310" y="2276855"/>
                </a:lnTo>
              </a:path>
              <a:path w="3667759" h="2277110">
                <a:moveTo>
                  <a:pt x="2481072" y="2276729"/>
                </a:moveTo>
                <a:lnTo>
                  <a:pt x="3667252" y="1664207"/>
                </a:lnTo>
              </a:path>
              <a:path w="3667759" h="2277110">
                <a:moveTo>
                  <a:pt x="1319784" y="1656587"/>
                </a:moveTo>
                <a:lnTo>
                  <a:pt x="2507869" y="2276601"/>
                </a:lnTo>
              </a:path>
            </a:pathLst>
          </a:custGeom>
          <a:ln w="9525">
            <a:solidFill>
              <a:srgbClr val="8AA1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8C2EC33-1D77-4D2C-0133-2A31EA806169}"/>
                  </a:ext>
                </a:extLst>
              </p:cNvPr>
              <p:cNvSpPr txBox="1"/>
              <p:nvPr/>
            </p:nvSpPr>
            <p:spPr>
              <a:xfrm>
                <a:off x="1804797" y="5768979"/>
                <a:ext cx="549977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550"/>
                  </a:spcBef>
                </a:pPr>
                <a:r>
                  <a:rPr lang="en-US" sz="2400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∴</a:t>
                </a:r>
                <a:r>
                  <a:rPr lang="en-US" sz="2400" spc="135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𝒂</a:t>
                </a:r>
                <a:r>
                  <a:rPr lang="en-US" sz="2400" spc="14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=</a:t>
                </a:r>
                <a:r>
                  <a:rPr lang="en-US" sz="2400" spc="125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spc="-305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sz="2400" i="1" spc="-305" smtClean="0">
                            <a:solidFill>
                              <a:srgbClr val="006F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pc="-305" smtClean="0">
                            <a:solidFill>
                              <a:srgbClr val="006F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𝒊</a:t>
                </a:r>
                <a:r>
                  <a:rPr lang="en-US" sz="2400" spc="1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+</a:t>
                </a:r>
                <a:r>
                  <a:rPr lang="en-US" sz="2400" spc="-1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sz="2400" i="1" spc="-305">
                            <a:solidFill>
                              <a:srgbClr val="006F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pc="-305" smtClean="0">
                            <a:solidFill>
                              <a:srgbClr val="006FC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i="1" spc="-305">
                        <a:solidFill>
                          <a:srgbClr val="006F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𝒋</a:t>
                </a:r>
                <a:r>
                  <a:rPr lang="en-US" sz="2400" spc="1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+</a:t>
                </a:r>
                <a:r>
                  <a:rPr lang="en-US" sz="2400" spc="-1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sz="2400" i="1" spc="-305">
                            <a:solidFill>
                              <a:srgbClr val="006F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pc="-305" smtClean="0">
                            <a:solidFill>
                              <a:srgbClr val="006FC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𝒌</a:t>
                </a:r>
                <a:r>
                  <a:rPr lang="en-US" sz="2400" spc="135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=</a:t>
                </a:r>
                <a:r>
                  <a:rPr lang="en-US" sz="2400" spc="125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spc="-1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𝑎</a:t>
                </a:r>
                <a:r>
                  <a:rPr lang="en-US" sz="2400" spc="509" baseline="-15873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𝑥</a:t>
                </a:r>
                <a:r>
                  <a:rPr lang="en-US" sz="240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𝒊</a:t>
                </a:r>
                <a:r>
                  <a:rPr lang="en-US" sz="2400" spc="1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+ </a:t>
                </a:r>
                <a:r>
                  <a:rPr lang="en-US" sz="2400" spc="-1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spc="55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𝑎</a:t>
                </a:r>
                <a:r>
                  <a:rPr lang="en-US" sz="2400" spc="82" baseline="-15873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𝑦</a:t>
                </a:r>
                <a:r>
                  <a:rPr lang="en-US" sz="2400" spc="55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𝒋</a:t>
                </a:r>
                <a:r>
                  <a:rPr lang="en-US" sz="2400" spc="5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+</a:t>
                </a:r>
                <a:r>
                  <a:rPr lang="en-US" sz="2400" spc="-1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spc="7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𝑎</a:t>
                </a:r>
                <a:r>
                  <a:rPr lang="en-US" sz="2400" spc="104" baseline="-15873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𝑧</a:t>
                </a:r>
                <a:r>
                  <a:rPr lang="en-US" sz="2400" spc="70" dirty="0">
                    <a:solidFill>
                      <a:srgbClr val="006FC0"/>
                    </a:solidFill>
                    <a:latin typeface="Cambria Math"/>
                    <a:cs typeface="Cambria Math"/>
                  </a:rPr>
                  <a:t>𝒌</a:t>
                </a:r>
                <a:endParaRPr lang="en-US" sz="2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8C2EC33-1D77-4D2C-0133-2A31EA806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797" y="5768979"/>
                <a:ext cx="5499770" cy="461665"/>
              </a:xfrm>
              <a:prstGeom prst="rect">
                <a:avLst/>
              </a:prstGeom>
              <a:blipFill>
                <a:blip r:embed="rId9"/>
                <a:stretch>
                  <a:fillRect l="-77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043F27B-13A7-87D0-3FE0-B9240BED5E47}"/>
                  </a:ext>
                </a:extLst>
              </p:cNvPr>
              <p:cNvSpPr txBox="1"/>
              <p:nvPr/>
            </p:nvSpPr>
            <p:spPr>
              <a:xfrm>
                <a:off x="2385406" y="4802405"/>
                <a:ext cx="1884875" cy="7411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043F27B-13A7-87D0-3FE0-B9240BED5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406" y="4802405"/>
                <a:ext cx="1884875" cy="7411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6329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7/1/2025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4585CAF9-B24D-9837-BBFC-F1B87A5EA7CA}"/>
              </a:ext>
            </a:extLst>
          </p:cNvPr>
          <p:cNvGrpSpPr/>
          <p:nvPr/>
        </p:nvGrpSpPr>
        <p:grpSpPr>
          <a:xfrm>
            <a:off x="2214372" y="1408175"/>
            <a:ext cx="5710555" cy="2348865"/>
            <a:chOff x="2214372" y="1408175"/>
            <a:chExt cx="5710555" cy="2348865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E4A6C406-4B13-3844-3780-833D9D24AE0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4372" y="1408175"/>
              <a:ext cx="5710428" cy="2348484"/>
            </a:xfrm>
            <a:prstGeom prst="rect">
              <a:avLst/>
            </a:prstGeom>
          </p:spPr>
        </p:pic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FC1D8785-809D-8C62-7BC2-CD6053D26418}"/>
                </a:ext>
              </a:extLst>
            </p:cNvPr>
            <p:cNvSpPr/>
            <p:nvPr/>
          </p:nvSpPr>
          <p:spPr>
            <a:xfrm>
              <a:off x="4738116" y="1500885"/>
              <a:ext cx="76200" cy="654685"/>
            </a:xfrm>
            <a:custGeom>
              <a:avLst/>
              <a:gdLst/>
              <a:ahLst/>
              <a:cxnLst/>
              <a:rect l="l" t="t" r="r" b="b"/>
              <a:pathLst>
                <a:path w="76200" h="654685">
                  <a:moveTo>
                    <a:pt x="31750" y="578230"/>
                  </a:moveTo>
                  <a:lnTo>
                    <a:pt x="0" y="578230"/>
                  </a:lnTo>
                  <a:lnTo>
                    <a:pt x="38100" y="654430"/>
                  </a:lnTo>
                  <a:lnTo>
                    <a:pt x="66675" y="597280"/>
                  </a:lnTo>
                  <a:lnTo>
                    <a:pt x="34544" y="597280"/>
                  </a:lnTo>
                  <a:lnTo>
                    <a:pt x="31750" y="594487"/>
                  </a:lnTo>
                  <a:lnTo>
                    <a:pt x="31750" y="578230"/>
                  </a:lnTo>
                  <a:close/>
                </a:path>
                <a:path w="76200" h="654685">
                  <a:moveTo>
                    <a:pt x="41656" y="0"/>
                  </a:moveTo>
                  <a:lnTo>
                    <a:pt x="34544" y="0"/>
                  </a:lnTo>
                  <a:lnTo>
                    <a:pt x="31750" y="2793"/>
                  </a:lnTo>
                  <a:lnTo>
                    <a:pt x="31750" y="594487"/>
                  </a:lnTo>
                  <a:lnTo>
                    <a:pt x="34544" y="597280"/>
                  </a:lnTo>
                  <a:lnTo>
                    <a:pt x="41656" y="597280"/>
                  </a:lnTo>
                  <a:lnTo>
                    <a:pt x="44450" y="594487"/>
                  </a:lnTo>
                  <a:lnTo>
                    <a:pt x="44450" y="2793"/>
                  </a:lnTo>
                  <a:lnTo>
                    <a:pt x="41656" y="0"/>
                  </a:lnTo>
                  <a:close/>
                </a:path>
                <a:path w="76200" h="654685">
                  <a:moveTo>
                    <a:pt x="76200" y="578230"/>
                  </a:moveTo>
                  <a:lnTo>
                    <a:pt x="44450" y="578230"/>
                  </a:lnTo>
                  <a:lnTo>
                    <a:pt x="44450" y="594487"/>
                  </a:lnTo>
                  <a:lnTo>
                    <a:pt x="41656" y="597280"/>
                  </a:lnTo>
                  <a:lnTo>
                    <a:pt x="66675" y="597280"/>
                  </a:lnTo>
                  <a:lnTo>
                    <a:pt x="76200" y="5782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6">
            <a:extLst>
              <a:ext uri="{FF2B5EF4-FFF2-40B4-BE49-F238E27FC236}">
                <a16:creationId xmlns:a16="http://schemas.microsoft.com/office/drawing/2014/main" id="{C158967E-F6F4-598D-4288-2B713893371F}"/>
              </a:ext>
            </a:extLst>
          </p:cNvPr>
          <p:cNvSpPr txBox="1"/>
          <p:nvPr/>
        </p:nvSpPr>
        <p:spPr>
          <a:xfrm>
            <a:off x="4928108" y="148844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8AEF33A0-90E6-8B46-FEF5-0FF000765656}"/>
              </a:ext>
            </a:extLst>
          </p:cNvPr>
          <p:cNvSpPr txBox="1"/>
          <p:nvPr/>
        </p:nvSpPr>
        <p:spPr>
          <a:xfrm>
            <a:off x="1804797" y="4155770"/>
            <a:ext cx="42640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Motion</a:t>
            </a:r>
            <a:r>
              <a:rPr sz="24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with</a:t>
            </a:r>
            <a:r>
              <a:rPr sz="24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constant</a:t>
            </a:r>
            <a:r>
              <a:rPr sz="2400" spc="-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C00000"/>
                </a:solidFill>
                <a:latin typeface="Times New Roman"/>
                <a:cs typeface="Times New Roman"/>
              </a:rPr>
              <a:t>acceleration: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6EA6EBB2-714F-FF57-7674-D71A8803472F}"/>
              </a:ext>
            </a:extLst>
          </p:cNvPr>
          <p:cNvSpPr/>
          <p:nvPr/>
        </p:nvSpPr>
        <p:spPr>
          <a:xfrm>
            <a:off x="4380610" y="4948173"/>
            <a:ext cx="134620" cy="20320"/>
          </a:xfrm>
          <a:custGeom>
            <a:avLst/>
            <a:gdLst/>
            <a:ahLst/>
            <a:cxnLst/>
            <a:rect l="l" t="t" r="r" b="b"/>
            <a:pathLst>
              <a:path w="134620" h="20320">
                <a:moveTo>
                  <a:pt x="134112" y="0"/>
                </a:moveTo>
                <a:lnTo>
                  <a:pt x="0" y="0"/>
                </a:lnTo>
                <a:lnTo>
                  <a:pt x="0" y="19812"/>
                </a:lnTo>
                <a:lnTo>
                  <a:pt x="134112" y="19812"/>
                </a:lnTo>
                <a:lnTo>
                  <a:pt x="134112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B8BA3A25-3B21-03D8-0778-7C0F95B60AD6}"/>
              </a:ext>
            </a:extLst>
          </p:cNvPr>
          <p:cNvSpPr txBox="1"/>
          <p:nvPr/>
        </p:nvSpPr>
        <p:spPr>
          <a:xfrm>
            <a:off x="4368546" y="4631816"/>
            <a:ext cx="1587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solidFill>
                  <a:srgbClr val="00AF50"/>
                </a:solidFill>
                <a:latin typeface="Cambria Math"/>
                <a:cs typeface="Cambria Math"/>
              </a:rPr>
              <a:t>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E78D865C-3F12-10BC-0440-83AC130342C1}"/>
              </a:ext>
            </a:extLst>
          </p:cNvPr>
          <p:cNvSpPr txBox="1"/>
          <p:nvPr/>
        </p:nvSpPr>
        <p:spPr>
          <a:xfrm>
            <a:off x="4994909" y="4698872"/>
            <a:ext cx="1587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solidFill>
                  <a:srgbClr val="00AF50"/>
                </a:solidFill>
                <a:latin typeface="Cambria Math"/>
                <a:cs typeface="Cambria Math"/>
              </a:rPr>
              <a:t>𝟐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B618DA4A-1DE6-CFAB-B7C5-C3EBCCB55CA7}"/>
              </a:ext>
            </a:extLst>
          </p:cNvPr>
          <p:cNvSpPr txBox="1"/>
          <p:nvPr/>
        </p:nvSpPr>
        <p:spPr>
          <a:xfrm>
            <a:off x="2292985" y="4517491"/>
            <a:ext cx="2752725" cy="1177925"/>
          </a:xfrm>
          <a:prstGeom prst="rect">
            <a:avLst/>
          </a:prstGeom>
        </p:spPr>
        <p:txBody>
          <a:bodyPr vert="horz" wrap="square" lIns="0" tIns="22288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755"/>
              </a:spcBef>
            </a:pP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𝒔</a:t>
            </a:r>
            <a:r>
              <a:rPr sz="2400" spc="12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=</a:t>
            </a:r>
            <a:r>
              <a:rPr sz="2400" spc="114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spc="-5" dirty="0">
                <a:solidFill>
                  <a:srgbClr val="00AF50"/>
                </a:solidFill>
                <a:latin typeface="Cambria Math"/>
                <a:cs typeface="Cambria Math"/>
              </a:rPr>
              <a:t>𝒔</a:t>
            </a:r>
            <a:r>
              <a:rPr sz="2625" spc="-7" baseline="-15873" dirty="0">
                <a:solidFill>
                  <a:srgbClr val="00AF50"/>
                </a:solidFill>
                <a:latin typeface="Cambria Math"/>
                <a:cs typeface="Cambria Math"/>
              </a:rPr>
              <a:t>𝟎</a:t>
            </a:r>
            <a:r>
              <a:rPr sz="2625" spc="345" baseline="-15873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+</a:t>
            </a:r>
            <a:r>
              <a:rPr sz="2400" spc="-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spc="25" dirty="0">
                <a:solidFill>
                  <a:srgbClr val="00AF50"/>
                </a:solidFill>
                <a:latin typeface="Cambria Math"/>
                <a:cs typeface="Cambria Math"/>
              </a:rPr>
              <a:t>𝒗</a:t>
            </a:r>
            <a:r>
              <a:rPr sz="2625" spc="37" baseline="-15873" dirty="0">
                <a:solidFill>
                  <a:srgbClr val="00AF50"/>
                </a:solidFill>
                <a:latin typeface="Cambria Math"/>
                <a:cs typeface="Cambria Math"/>
              </a:rPr>
              <a:t>𝟎</a:t>
            </a:r>
            <a:r>
              <a:rPr sz="2400" spc="25" dirty="0">
                <a:solidFill>
                  <a:srgbClr val="00AF50"/>
                </a:solidFill>
                <a:latin typeface="Cambria Math"/>
                <a:cs typeface="Cambria Math"/>
              </a:rPr>
              <a:t>𝒕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 +</a:t>
            </a:r>
            <a:r>
              <a:rPr sz="2400" spc="-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625" baseline="-38095" dirty="0">
                <a:solidFill>
                  <a:srgbClr val="00AF50"/>
                </a:solidFill>
                <a:latin typeface="Cambria Math"/>
                <a:cs typeface="Cambria Math"/>
              </a:rPr>
              <a:t>𝟐 </a:t>
            </a:r>
            <a:r>
              <a:rPr sz="2400" spc="35" dirty="0">
                <a:solidFill>
                  <a:srgbClr val="00AF50"/>
                </a:solidFill>
                <a:latin typeface="Cambria Math"/>
                <a:cs typeface="Cambria Math"/>
              </a:rPr>
              <a:t>𝒂</a:t>
            </a:r>
            <a:r>
              <a:rPr sz="2625" spc="52" baseline="-15873" dirty="0">
                <a:solidFill>
                  <a:srgbClr val="00AF50"/>
                </a:solidFill>
                <a:latin typeface="Cambria Math"/>
                <a:cs typeface="Cambria Math"/>
              </a:rPr>
              <a:t>𝒄</a:t>
            </a:r>
            <a:r>
              <a:rPr sz="2400" spc="35" dirty="0">
                <a:solidFill>
                  <a:srgbClr val="00AF50"/>
                </a:solidFill>
                <a:latin typeface="Cambria Math"/>
                <a:cs typeface="Cambria Math"/>
              </a:rPr>
              <a:t>𝒕</a:t>
            </a:r>
            <a:endParaRPr sz="2400" dirty="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655"/>
              </a:spcBef>
            </a:pP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𝒗</a:t>
            </a:r>
            <a:r>
              <a:rPr sz="2400" spc="11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=</a:t>
            </a:r>
            <a:r>
              <a:rPr sz="2400" spc="10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spc="-5" dirty="0">
                <a:solidFill>
                  <a:srgbClr val="00AF50"/>
                </a:solidFill>
                <a:latin typeface="Cambria Math"/>
                <a:cs typeface="Cambria Math"/>
              </a:rPr>
              <a:t>𝒗</a:t>
            </a:r>
            <a:r>
              <a:rPr sz="2625" spc="-7" baseline="-15873" dirty="0">
                <a:solidFill>
                  <a:srgbClr val="00AF50"/>
                </a:solidFill>
                <a:latin typeface="Cambria Math"/>
                <a:cs typeface="Cambria Math"/>
              </a:rPr>
              <a:t>𝟎</a:t>
            </a:r>
            <a:r>
              <a:rPr sz="2625" spc="345" baseline="-15873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+</a:t>
            </a:r>
            <a:r>
              <a:rPr sz="2400" spc="-1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spc="30" dirty="0">
                <a:solidFill>
                  <a:srgbClr val="00AF50"/>
                </a:solidFill>
                <a:latin typeface="Cambria Math"/>
                <a:cs typeface="Cambria Math"/>
              </a:rPr>
              <a:t>𝒂</a:t>
            </a:r>
            <a:r>
              <a:rPr sz="2625" spc="44" baseline="-15873" dirty="0">
                <a:solidFill>
                  <a:srgbClr val="00AF50"/>
                </a:solidFill>
                <a:latin typeface="Cambria Math"/>
                <a:cs typeface="Cambria Math"/>
              </a:rPr>
              <a:t>𝒄</a:t>
            </a:r>
            <a:r>
              <a:rPr sz="2400" spc="30" dirty="0">
                <a:solidFill>
                  <a:srgbClr val="00AF50"/>
                </a:solidFill>
                <a:latin typeface="Cambria Math"/>
                <a:cs typeface="Cambria Math"/>
              </a:rPr>
              <a:t>𝒕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0F805B81-9968-316A-9D49-BD7651435385}"/>
              </a:ext>
            </a:extLst>
          </p:cNvPr>
          <p:cNvSpPr txBox="1"/>
          <p:nvPr/>
        </p:nvSpPr>
        <p:spPr>
          <a:xfrm>
            <a:off x="3246501" y="5973267"/>
            <a:ext cx="1587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solidFill>
                  <a:srgbClr val="00AF50"/>
                </a:solidFill>
                <a:latin typeface="Cambria Math"/>
                <a:cs typeface="Cambria Math"/>
              </a:rPr>
              <a:t>𝟎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E8AD7AB2-47EB-0136-7890-80C238B1E168}"/>
              </a:ext>
            </a:extLst>
          </p:cNvPr>
          <p:cNvSpPr txBox="1"/>
          <p:nvPr/>
        </p:nvSpPr>
        <p:spPr>
          <a:xfrm>
            <a:off x="2521076" y="5788253"/>
            <a:ext cx="884555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37870" algn="l"/>
              </a:tabLst>
            </a:pPr>
            <a:r>
              <a:rPr sz="1750" dirty="0">
                <a:solidFill>
                  <a:srgbClr val="00AF50"/>
                </a:solidFill>
                <a:latin typeface="Cambria Math"/>
                <a:cs typeface="Cambria Math"/>
              </a:rPr>
              <a:t>𝟐	</a:t>
            </a:r>
            <a:r>
              <a:rPr sz="2625" baseline="1587" dirty="0">
                <a:solidFill>
                  <a:srgbClr val="00AF50"/>
                </a:solidFill>
                <a:latin typeface="Cambria Math"/>
                <a:cs typeface="Cambria Math"/>
              </a:rPr>
              <a:t>𝟐</a:t>
            </a:r>
            <a:endParaRPr sz="2625" baseline="1587">
              <a:latin typeface="Cambria Math"/>
              <a:cs typeface="Cambria Math"/>
            </a:endParaRPr>
          </a:p>
        </p:txBody>
      </p:sp>
      <p:sp>
        <p:nvSpPr>
          <p:cNvPr id="19" name="object 14">
            <a:extLst>
              <a:ext uri="{FF2B5EF4-FFF2-40B4-BE49-F238E27FC236}">
                <a16:creationId xmlns:a16="http://schemas.microsoft.com/office/drawing/2014/main" id="{F93D1FCE-7B1B-7BE4-2CCB-C478E9357F30}"/>
              </a:ext>
            </a:extLst>
          </p:cNvPr>
          <p:cNvSpPr txBox="1"/>
          <p:nvPr/>
        </p:nvSpPr>
        <p:spPr>
          <a:xfrm>
            <a:off x="2338197" y="5817209"/>
            <a:ext cx="17830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5450" algn="l"/>
                <a:tab pos="1134110" algn="l"/>
              </a:tabLst>
            </a:pP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𝒗	=</a:t>
            </a:r>
            <a:r>
              <a:rPr sz="2400" spc="13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𝒗	+</a:t>
            </a:r>
            <a:r>
              <a:rPr sz="2400" spc="-9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AF50"/>
                </a:solidFill>
                <a:latin typeface="Cambria Math"/>
                <a:cs typeface="Cambria Math"/>
              </a:rPr>
              <a:t>𝟐</a:t>
            </a:r>
            <a:r>
              <a:rPr sz="2000" dirty="0">
                <a:solidFill>
                  <a:srgbClr val="00AF50"/>
                </a:solidFill>
                <a:latin typeface="Cambria Math"/>
                <a:cs typeface="Cambria Math"/>
              </a:rPr>
              <a:t>𝒂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15">
            <a:extLst>
              <a:ext uri="{FF2B5EF4-FFF2-40B4-BE49-F238E27FC236}">
                <a16:creationId xmlns:a16="http://schemas.microsoft.com/office/drawing/2014/main" id="{724E98D1-7829-1095-49B2-7A5659959250}"/>
              </a:ext>
            </a:extLst>
          </p:cNvPr>
          <p:cNvSpPr txBox="1"/>
          <p:nvPr/>
        </p:nvSpPr>
        <p:spPr>
          <a:xfrm>
            <a:off x="4095750" y="5999175"/>
            <a:ext cx="119380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10" dirty="0">
                <a:solidFill>
                  <a:srgbClr val="00AF50"/>
                </a:solidFill>
                <a:latin typeface="Cambria Math"/>
                <a:cs typeface="Cambria Math"/>
              </a:rPr>
              <a:t>𝒄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21" name="object 16">
            <a:extLst>
              <a:ext uri="{FF2B5EF4-FFF2-40B4-BE49-F238E27FC236}">
                <a16:creationId xmlns:a16="http://schemas.microsoft.com/office/drawing/2014/main" id="{470448BF-5B19-F8D6-E75B-3459A3BEA019}"/>
              </a:ext>
            </a:extLst>
          </p:cNvPr>
          <p:cNvSpPr/>
          <p:nvPr/>
        </p:nvSpPr>
        <p:spPr>
          <a:xfrm>
            <a:off x="4235322" y="5929909"/>
            <a:ext cx="847725" cy="236220"/>
          </a:xfrm>
          <a:custGeom>
            <a:avLst/>
            <a:gdLst/>
            <a:ahLst/>
            <a:cxnLst/>
            <a:rect l="l" t="t" r="r" b="b"/>
            <a:pathLst>
              <a:path w="847725" h="236220">
                <a:moveTo>
                  <a:pt x="772032" y="0"/>
                </a:moveTo>
                <a:lnTo>
                  <a:pt x="768730" y="9563"/>
                </a:lnTo>
                <a:lnTo>
                  <a:pt x="782351" y="15490"/>
                </a:lnTo>
                <a:lnTo>
                  <a:pt x="794067" y="23690"/>
                </a:lnTo>
                <a:lnTo>
                  <a:pt x="817931" y="61689"/>
                </a:lnTo>
                <a:lnTo>
                  <a:pt x="825753" y="116687"/>
                </a:lnTo>
                <a:lnTo>
                  <a:pt x="824874" y="137478"/>
                </a:lnTo>
                <a:lnTo>
                  <a:pt x="811784" y="188391"/>
                </a:lnTo>
                <a:lnTo>
                  <a:pt x="782566" y="220220"/>
                </a:lnTo>
                <a:lnTo>
                  <a:pt x="769112" y="226174"/>
                </a:lnTo>
                <a:lnTo>
                  <a:pt x="772032" y="235737"/>
                </a:lnTo>
                <a:lnTo>
                  <a:pt x="817127" y="208978"/>
                </a:lnTo>
                <a:lnTo>
                  <a:pt x="842375" y="159573"/>
                </a:lnTo>
                <a:lnTo>
                  <a:pt x="847216" y="117932"/>
                </a:lnTo>
                <a:lnTo>
                  <a:pt x="846002" y="96319"/>
                </a:lnTo>
                <a:lnTo>
                  <a:pt x="836287" y="58010"/>
                </a:lnTo>
                <a:lnTo>
                  <a:pt x="804148" y="15112"/>
                </a:lnTo>
                <a:lnTo>
                  <a:pt x="789156" y="6169"/>
                </a:lnTo>
                <a:lnTo>
                  <a:pt x="772032" y="0"/>
                </a:lnTo>
                <a:close/>
              </a:path>
              <a:path w="847725" h="236220">
                <a:moveTo>
                  <a:pt x="75184" y="0"/>
                </a:moveTo>
                <a:lnTo>
                  <a:pt x="30196" y="26828"/>
                </a:lnTo>
                <a:lnTo>
                  <a:pt x="4857" y="76346"/>
                </a:lnTo>
                <a:lnTo>
                  <a:pt x="0" y="117932"/>
                </a:lnTo>
                <a:lnTo>
                  <a:pt x="1214" y="139587"/>
                </a:lnTo>
                <a:lnTo>
                  <a:pt x="10929" y="177891"/>
                </a:lnTo>
                <a:lnTo>
                  <a:pt x="43021" y="220657"/>
                </a:lnTo>
                <a:lnTo>
                  <a:pt x="75184" y="235737"/>
                </a:lnTo>
                <a:lnTo>
                  <a:pt x="78104" y="226174"/>
                </a:lnTo>
                <a:lnTo>
                  <a:pt x="64722" y="220220"/>
                </a:lnTo>
                <a:lnTo>
                  <a:pt x="53149" y="211940"/>
                </a:lnTo>
                <a:lnTo>
                  <a:pt x="29338" y="173330"/>
                </a:lnTo>
                <a:lnTo>
                  <a:pt x="21462" y="116687"/>
                </a:lnTo>
                <a:lnTo>
                  <a:pt x="22342" y="96575"/>
                </a:lnTo>
                <a:lnTo>
                  <a:pt x="35432" y="46913"/>
                </a:lnTo>
                <a:lnTo>
                  <a:pt x="64936" y="15490"/>
                </a:lnTo>
                <a:lnTo>
                  <a:pt x="78486" y="9563"/>
                </a:lnTo>
                <a:lnTo>
                  <a:pt x="75184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7">
            <a:extLst>
              <a:ext uri="{FF2B5EF4-FFF2-40B4-BE49-F238E27FC236}">
                <a16:creationId xmlns:a16="http://schemas.microsoft.com/office/drawing/2014/main" id="{620F9900-0BFC-F26D-F795-29B5CAD0A699}"/>
              </a:ext>
            </a:extLst>
          </p:cNvPr>
          <p:cNvSpPr txBox="1"/>
          <p:nvPr/>
        </p:nvSpPr>
        <p:spPr>
          <a:xfrm>
            <a:off x="4280661" y="5867501"/>
            <a:ext cx="7454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AF50"/>
                </a:solidFill>
                <a:latin typeface="Cambria Math"/>
                <a:cs typeface="Cambria Math"/>
              </a:rPr>
              <a:t>𝒔</a:t>
            </a:r>
            <a:r>
              <a:rPr sz="2000" spc="-4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AF50"/>
                </a:solidFill>
                <a:latin typeface="Cambria Math"/>
                <a:cs typeface="Cambria Math"/>
              </a:rPr>
              <a:t>−</a:t>
            </a:r>
            <a:r>
              <a:rPr sz="2000" spc="-3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000" spc="5" dirty="0">
                <a:solidFill>
                  <a:srgbClr val="00AF50"/>
                </a:solidFill>
                <a:latin typeface="Cambria Math"/>
                <a:cs typeface="Cambria Math"/>
              </a:rPr>
              <a:t>𝒔</a:t>
            </a:r>
            <a:r>
              <a:rPr sz="2175" spc="7" baseline="-19157" dirty="0">
                <a:solidFill>
                  <a:srgbClr val="00AF50"/>
                </a:solidFill>
                <a:latin typeface="Cambria Math"/>
                <a:cs typeface="Cambria Math"/>
              </a:rPr>
              <a:t>𝟎</a:t>
            </a:r>
            <a:endParaRPr sz="2175" baseline="-19157">
              <a:latin typeface="Cambria Math"/>
              <a:cs typeface="Cambria Math"/>
            </a:endParaRPr>
          </a:p>
        </p:txBody>
      </p:sp>
      <p:grpSp>
        <p:nvGrpSpPr>
          <p:cNvPr id="23" name="object 18">
            <a:extLst>
              <a:ext uri="{FF2B5EF4-FFF2-40B4-BE49-F238E27FC236}">
                <a16:creationId xmlns:a16="http://schemas.microsoft.com/office/drawing/2014/main" id="{108CDF2C-2FF0-9C35-810C-039EC550B543}"/>
              </a:ext>
            </a:extLst>
          </p:cNvPr>
          <p:cNvGrpSpPr/>
          <p:nvPr/>
        </p:nvGrpSpPr>
        <p:grpSpPr>
          <a:xfrm>
            <a:off x="8090916" y="2677667"/>
            <a:ext cx="3982720" cy="3792220"/>
            <a:chOff x="8090916" y="2677667"/>
            <a:chExt cx="3982720" cy="3792220"/>
          </a:xfrm>
        </p:grpSpPr>
        <p:pic>
          <p:nvPicPr>
            <p:cNvPr id="24" name="object 19">
              <a:extLst>
                <a:ext uri="{FF2B5EF4-FFF2-40B4-BE49-F238E27FC236}">
                  <a16:creationId xmlns:a16="http://schemas.microsoft.com/office/drawing/2014/main" id="{DA71B6E9-08DC-5430-4F89-BC1C18BA831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90916" y="2677667"/>
              <a:ext cx="3982211" cy="3791712"/>
            </a:xfrm>
            <a:prstGeom prst="rect">
              <a:avLst/>
            </a:prstGeom>
          </p:spPr>
        </p:pic>
        <p:sp>
          <p:nvSpPr>
            <p:cNvPr id="25" name="object 20">
              <a:extLst>
                <a:ext uri="{FF2B5EF4-FFF2-40B4-BE49-F238E27FC236}">
                  <a16:creationId xmlns:a16="http://schemas.microsoft.com/office/drawing/2014/main" id="{153818E9-9E69-A475-1317-3355B3744B64}"/>
                </a:ext>
              </a:extLst>
            </p:cNvPr>
            <p:cNvSpPr/>
            <p:nvPr/>
          </p:nvSpPr>
          <p:spPr>
            <a:xfrm>
              <a:off x="8324088" y="2805683"/>
              <a:ext cx="3749675" cy="3243580"/>
            </a:xfrm>
            <a:custGeom>
              <a:avLst/>
              <a:gdLst/>
              <a:ahLst/>
              <a:cxnLst/>
              <a:rect l="l" t="t" r="r" b="b"/>
              <a:pathLst>
                <a:path w="3749675" h="3243579">
                  <a:moveTo>
                    <a:pt x="3749421" y="3204972"/>
                  </a:moveTo>
                  <a:lnTo>
                    <a:pt x="3736721" y="3198622"/>
                  </a:lnTo>
                  <a:lnTo>
                    <a:pt x="3673221" y="3166872"/>
                  </a:lnTo>
                  <a:lnTo>
                    <a:pt x="3673221" y="3198622"/>
                  </a:lnTo>
                  <a:lnTo>
                    <a:pt x="44450" y="3198622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6675" y="5715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3198622"/>
                  </a:lnTo>
                  <a:lnTo>
                    <a:pt x="26924" y="3198622"/>
                  </a:lnTo>
                  <a:lnTo>
                    <a:pt x="24130" y="3201466"/>
                  </a:lnTo>
                  <a:lnTo>
                    <a:pt x="24130" y="3208477"/>
                  </a:lnTo>
                  <a:lnTo>
                    <a:pt x="26924" y="3211322"/>
                  </a:lnTo>
                  <a:lnTo>
                    <a:pt x="3673221" y="3211322"/>
                  </a:lnTo>
                  <a:lnTo>
                    <a:pt x="3673221" y="3243072"/>
                  </a:lnTo>
                  <a:lnTo>
                    <a:pt x="3736721" y="3211322"/>
                  </a:lnTo>
                  <a:lnTo>
                    <a:pt x="3749421" y="32049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1">
            <a:extLst>
              <a:ext uri="{FF2B5EF4-FFF2-40B4-BE49-F238E27FC236}">
                <a16:creationId xmlns:a16="http://schemas.microsoft.com/office/drawing/2014/main" id="{8CF75B34-D1FE-DE99-7B6C-C73909A6A36C}"/>
              </a:ext>
            </a:extLst>
          </p:cNvPr>
          <p:cNvSpPr txBox="1"/>
          <p:nvPr/>
        </p:nvSpPr>
        <p:spPr>
          <a:xfrm>
            <a:off x="8451595" y="264667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2">
            <a:extLst>
              <a:ext uri="{FF2B5EF4-FFF2-40B4-BE49-F238E27FC236}">
                <a16:creationId xmlns:a16="http://schemas.microsoft.com/office/drawing/2014/main" id="{74320455-D4AD-0830-11BE-0D4F061AD43E}"/>
              </a:ext>
            </a:extLst>
          </p:cNvPr>
          <p:cNvSpPr txBox="1"/>
          <p:nvPr/>
        </p:nvSpPr>
        <p:spPr>
          <a:xfrm>
            <a:off x="12063730" y="594248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8" name="object 23">
            <a:extLst>
              <a:ext uri="{FF2B5EF4-FFF2-40B4-BE49-F238E27FC236}">
                <a16:creationId xmlns:a16="http://schemas.microsoft.com/office/drawing/2014/main" id="{117D6BB6-1D39-294B-8FA0-790438873170}"/>
              </a:ext>
            </a:extLst>
          </p:cNvPr>
          <p:cNvSpPr txBox="1"/>
          <p:nvPr/>
        </p:nvSpPr>
        <p:spPr>
          <a:xfrm>
            <a:off x="8159242" y="5957722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O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9" name="object 24">
            <a:extLst>
              <a:ext uri="{FF2B5EF4-FFF2-40B4-BE49-F238E27FC236}">
                <a16:creationId xmlns:a16="http://schemas.microsoft.com/office/drawing/2014/main" id="{C5E0357A-22CB-E3D4-D0B9-2B87026911B3}"/>
              </a:ext>
            </a:extLst>
          </p:cNvPr>
          <p:cNvSpPr txBox="1"/>
          <p:nvPr/>
        </p:nvSpPr>
        <p:spPr>
          <a:xfrm>
            <a:off x="8604504" y="5096002"/>
            <a:ext cx="9537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45" dirty="0">
                <a:latin typeface="Cambria Math"/>
                <a:cs typeface="Cambria Math"/>
              </a:rPr>
              <a:t>𝑃</a:t>
            </a:r>
            <a:r>
              <a:rPr sz="1800" spc="-5" dirty="0">
                <a:latin typeface="Cambria Math"/>
                <a:cs typeface="Cambria Math"/>
              </a:rPr>
              <a:t>(</a:t>
            </a:r>
            <a:r>
              <a:rPr sz="1800" spc="-10" dirty="0">
                <a:latin typeface="Cambria Math"/>
                <a:cs typeface="Cambria Math"/>
              </a:rPr>
              <a:t>𝑥</a:t>
            </a:r>
            <a:r>
              <a:rPr sz="1950" spc="172" baseline="-14957" dirty="0">
                <a:latin typeface="Cambria Math"/>
                <a:cs typeface="Cambria Math"/>
              </a:rPr>
              <a:t>0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60" dirty="0">
                <a:latin typeface="Cambria Math"/>
                <a:cs typeface="Cambria Math"/>
              </a:rPr>
              <a:t>𝑦</a:t>
            </a:r>
            <a:r>
              <a:rPr sz="1950" spc="172" baseline="-14957" dirty="0">
                <a:latin typeface="Cambria Math"/>
                <a:cs typeface="Cambria Math"/>
              </a:rPr>
              <a:t>0</a:t>
            </a:r>
            <a:r>
              <a:rPr sz="1800" dirty="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30" name="object 25">
            <a:extLst>
              <a:ext uri="{FF2B5EF4-FFF2-40B4-BE49-F238E27FC236}">
                <a16:creationId xmlns:a16="http://schemas.microsoft.com/office/drawing/2014/main" id="{E54E430A-D968-EB52-57F7-746C50690E00}"/>
              </a:ext>
            </a:extLst>
          </p:cNvPr>
          <p:cNvGrpSpPr/>
          <p:nvPr/>
        </p:nvGrpSpPr>
        <p:grpSpPr>
          <a:xfrm>
            <a:off x="8813800" y="3750373"/>
            <a:ext cx="539750" cy="1143000"/>
            <a:chOff x="8813800" y="3750373"/>
            <a:chExt cx="539750" cy="1143000"/>
          </a:xfrm>
        </p:grpSpPr>
        <p:sp>
          <p:nvSpPr>
            <p:cNvPr id="31" name="object 26">
              <a:extLst>
                <a:ext uri="{FF2B5EF4-FFF2-40B4-BE49-F238E27FC236}">
                  <a16:creationId xmlns:a16="http://schemas.microsoft.com/office/drawing/2014/main" id="{800F6469-616E-876A-3FA7-22550D3A7EF9}"/>
                </a:ext>
              </a:extLst>
            </p:cNvPr>
            <p:cNvSpPr/>
            <p:nvPr/>
          </p:nvSpPr>
          <p:spPr>
            <a:xfrm>
              <a:off x="8877300" y="3755135"/>
              <a:ext cx="471170" cy="1074420"/>
            </a:xfrm>
            <a:custGeom>
              <a:avLst/>
              <a:gdLst/>
              <a:ahLst/>
              <a:cxnLst/>
              <a:rect l="l" t="t" r="r" b="b"/>
              <a:pathLst>
                <a:path w="471170" h="1074420">
                  <a:moveTo>
                    <a:pt x="470916" y="0"/>
                  </a:moveTo>
                  <a:lnTo>
                    <a:pt x="470916" y="1074165"/>
                  </a:lnTo>
                </a:path>
                <a:path w="471170" h="1074420">
                  <a:moveTo>
                    <a:pt x="461645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A42F0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7">
              <a:extLst>
                <a:ext uri="{FF2B5EF4-FFF2-40B4-BE49-F238E27FC236}">
                  <a16:creationId xmlns:a16="http://schemas.microsoft.com/office/drawing/2014/main" id="{A19291A5-D32B-46AB-D3BB-BA99CC2B10E6}"/>
                </a:ext>
              </a:extLst>
            </p:cNvPr>
            <p:cNvSpPr/>
            <p:nvPr/>
          </p:nvSpPr>
          <p:spPr>
            <a:xfrm>
              <a:off x="8813800" y="3755135"/>
              <a:ext cx="534035" cy="1137920"/>
            </a:xfrm>
            <a:custGeom>
              <a:avLst/>
              <a:gdLst/>
              <a:ahLst/>
              <a:cxnLst/>
              <a:rect l="l" t="t" r="r" b="b"/>
              <a:pathLst>
                <a:path w="534034" h="1137920">
                  <a:moveTo>
                    <a:pt x="127000" y="76200"/>
                  </a:moveTo>
                  <a:lnTo>
                    <a:pt x="109740" y="55499"/>
                  </a:lnTo>
                  <a:lnTo>
                    <a:pt x="63500" y="0"/>
                  </a:lnTo>
                  <a:lnTo>
                    <a:pt x="0" y="76200"/>
                  </a:lnTo>
                  <a:lnTo>
                    <a:pt x="55499" y="76200"/>
                  </a:lnTo>
                  <a:lnTo>
                    <a:pt x="55499" y="954278"/>
                  </a:lnTo>
                  <a:lnTo>
                    <a:pt x="59055" y="957834"/>
                  </a:lnTo>
                  <a:lnTo>
                    <a:pt x="67818" y="957834"/>
                  </a:lnTo>
                  <a:lnTo>
                    <a:pt x="71374" y="954278"/>
                  </a:lnTo>
                  <a:lnTo>
                    <a:pt x="71374" y="76200"/>
                  </a:lnTo>
                  <a:lnTo>
                    <a:pt x="127000" y="76200"/>
                  </a:lnTo>
                  <a:close/>
                </a:path>
                <a:path w="534034" h="1137920">
                  <a:moveTo>
                    <a:pt x="533654" y="1074420"/>
                  </a:moveTo>
                  <a:lnTo>
                    <a:pt x="524052" y="1066419"/>
                  </a:lnTo>
                  <a:lnTo>
                    <a:pt x="457454" y="1010920"/>
                  </a:lnTo>
                  <a:lnTo>
                    <a:pt x="457454" y="1066419"/>
                  </a:lnTo>
                  <a:lnTo>
                    <a:pt x="200787" y="1066419"/>
                  </a:lnTo>
                  <a:lnTo>
                    <a:pt x="197231" y="1069975"/>
                  </a:lnTo>
                  <a:lnTo>
                    <a:pt x="197231" y="1078865"/>
                  </a:lnTo>
                  <a:lnTo>
                    <a:pt x="200787" y="1082294"/>
                  </a:lnTo>
                  <a:lnTo>
                    <a:pt x="457454" y="1082294"/>
                  </a:lnTo>
                  <a:lnTo>
                    <a:pt x="457454" y="1137920"/>
                  </a:lnTo>
                  <a:lnTo>
                    <a:pt x="524205" y="1082294"/>
                  </a:lnTo>
                  <a:lnTo>
                    <a:pt x="533654" y="1074420"/>
                  </a:lnTo>
                  <a:close/>
                </a:path>
              </a:pathLst>
            </a:custGeom>
            <a:solidFill>
              <a:srgbClr val="9D2C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28">
            <a:extLst>
              <a:ext uri="{FF2B5EF4-FFF2-40B4-BE49-F238E27FC236}">
                <a16:creationId xmlns:a16="http://schemas.microsoft.com/office/drawing/2014/main" id="{0532CA01-4E0F-5ABE-B5CD-849ABF988151}"/>
              </a:ext>
            </a:extLst>
          </p:cNvPr>
          <p:cNvSpPr txBox="1"/>
          <p:nvPr/>
        </p:nvSpPr>
        <p:spPr>
          <a:xfrm>
            <a:off x="9358883" y="4707382"/>
            <a:ext cx="610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40" dirty="0">
                <a:latin typeface="Cambria Math"/>
                <a:cs typeface="Cambria Math"/>
              </a:rPr>
              <a:t>(𝒗</a:t>
            </a:r>
            <a:r>
              <a:rPr sz="1950" spc="60" baseline="-14957" dirty="0">
                <a:latin typeface="Cambria Math"/>
                <a:cs typeface="Cambria Math"/>
              </a:rPr>
              <a:t>0</a:t>
            </a:r>
            <a:r>
              <a:rPr sz="1800" spc="40" dirty="0">
                <a:latin typeface="Cambria Math"/>
                <a:cs typeface="Cambria Math"/>
              </a:rPr>
              <a:t>)</a:t>
            </a:r>
            <a:r>
              <a:rPr sz="1950" spc="60" baseline="-14957" dirty="0">
                <a:latin typeface="Cambria Math"/>
                <a:cs typeface="Cambria Math"/>
              </a:rPr>
              <a:t>𝑥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4" name="object 29">
            <a:extLst>
              <a:ext uri="{FF2B5EF4-FFF2-40B4-BE49-F238E27FC236}">
                <a16:creationId xmlns:a16="http://schemas.microsoft.com/office/drawing/2014/main" id="{4EDE4DA2-8C00-33C9-1F57-A0D1FA33D588}"/>
              </a:ext>
            </a:extLst>
          </p:cNvPr>
          <p:cNvSpPr txBox="1"/>
          <p:nvPr/>
        </p:nvSpPr>
        <p:spPr>
          <a:xfrm>
            <a:off x="8514842" y="3370529"/>
            <a:ext cx="6172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40" dirty="0">
                <a:latin typeface="Cambria Math"/>
                <a:cs typeface="Cambria Math"/>
              </a:rPr>
              <a:t>(𝒗</a:t>
            </a:r>
            <a:r>
              <a:rPr sz="1950" spc="60" baseline="-14957" dirty="0">
                <a:latin typeface="Cambria Math"/>
                <a:cs typeface="Cambria Math"/>
              </a:rPr>
              <a:t>0</a:t>
            </a:r>
            <a:r>
              <a:rPr sz="1800" spc="40" dirty="0">
                <a:latin typeface="Cambria Math"/>
                <a:cs typeface="Cambria Math"/>
              </a:rPr>
              <a:t>)</a:t>
            </a:r>
            <a:r>
              <a:rPr sz="1950" spc="60" baseline="-14957" dirty="0">
                <a:latin typeface="Cambria Math"/>
                <a:cs typeface="Cambria Math"/>
              </a:rPr>
              <a:t>𝑦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35" name="object 30">
            <a:extLst>
              <a:ext uri="{FF2B5EF4-FFF2-40B4-BE49-F238E27FC236}">
                <a16:creationId xmlns:a16="http://schemas.microsoft.com/office/drawing/2014/main" id="{FEB4D3E0-D186-E695-B9C7-E34B48AD6153}"/>
              </a:ext>
            </a:extLst>
          </p:cNvPr>
          <p:cNvGrpSpPr/>
          <p:nvPr/>
        </p:nvGrpSpPr>
        <p:grpSpPr>
          <a:xfrm>
            <a:off x="11177016" y="4137621"/>
            <a:ext cx="558800" cy="1002030"/>
            <a:chOff x="11177016" y="4137621"/>
            <a:chExt cx="558800" cy="1002030"/>
          </a:xfrm>
        </p:grpSpPr>
        <p:pic>
          <p:nvPicPr>
            <p:cNvPr id="36" name="object 31">
              <a:extLst>
                <a:ext uri="{FF2B5EF4-FFF2-40B4-BE49-F238E27FC236}">
                  <a16:creationId xmlns:a16="http://schemas.microsoft.com/office/drawing/2014/main" id="{CA0C8ADA-8F48-D4D3-B391-98FC99523BF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77016" y="4137621"/>
              <a:ext cx="339890" cy="339890"/>
            </a:xfrm>
            <a:prstGeom prst="rect">
              <a:avLst/>
            </a:prstGeom>
          </p:spPr>
        </p:pic>
        <p:pic>
          <p:nvPicPr>
            <p:cNvPr id="37" name="object 32">
              <a:extLst>
                <a:ext uri="{FF2B5EF4-FFF2-40B4-BE49-F238E27FC236}">
                  <a16:creationId xmlns:a16="http://schemas.microsoft.com/office/drawing/2014/main" id="{66A7118C-1B17-E0BF-A909-E02F8DEE6EA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30356" y="4152899"/>
              <a:ext cx="237744" cy="237744"/>
            </a:xfrm>
            <a:prstGeom prst="rect">
              <a:avLst/>
            </a:prstGeom>
          </p:spPr>
        </p:pic>
        <p:sp>
          <p:nvSpPr>
            <p:cNvPr id="38" name="object 33">
              <a:extLst>
                <a:ext uri="{FF2B5EF4-FFF2-40B4-BE49-F238E27FC236}">
                  <a16:creationId xmlns:a16="http://schemas.microsoft.com/office/drawing/2014/main" id="{6B74C648-FD3F-4476-5EBE-E322734BDD77}"/>
                </a:ext>
              </a:extLst>
            </p:cNvPr>
            <p:cNvSpPr/>
            <p:nvPr/>
          </p:nvSpPr>
          <p:spPr>
            <a:xfrm>
              <a:off x="11380089" y="4378832"/>
              <a:ext cx="356235" cy="755650"/>
            </a:xfrm>
            <a:custGeom>
              <a:avLst/>
              <a:gdLst/>
              <a:ahLst/>
              <a:cxnLst/>
              <a:rect l="l" t="t" r="r" b="b"/>
              <a:pathLst>
                <a:path w="356234" h="755650">
                  <a:moveTo>
                    <a:pt x="287004" y="689680"/>
                  </a:moveTo>
                  <a:lnTo>
                    <a:pt x="238759" y="710057"/>
                  </a:lnTo>
                  <a:lnTo>
                    <a:pt x="326897" y="755523"/>
                  </a:lnTo>
                  <a:lnTo>
                    <a:pt x="340830" y="709676"/>
                  </a:lnTo>
                  <a:lnTo>
                    <a:pt x="300862" y="709676"/>
                  </a:lnTo>
                  <a:lnTo>
                    <a:pt x="294258" y="707009"/>
                  </a:lnTo>
                  <a:lnTo>
                    <a:pt x="291972" y="701421"/>
                  </a:lnTo>
                  <a:lnTo>
                    <a:pt x="287004" y="689680"/>
                  </a:lnTo>
                  <a:close/>
                </a:path>
                <a:path w="356234" h="755650">
                  <a:moveTo>
                    <a:pt x="307493" y="681026"/>
                  </a:moveTo>
                  <a:lnTo>
                    <a:pt x="287004" y="689680"/>
                  </a:lnTo>
                  <a:lnTo>
                    <a:pt x="291972" y="701421"/>
                  </a:lnTo>
                  <a:lnTo>
                    <a:pt x="294258" y="707009"/>
                  </a:lnTo>
                  <a:lnTo>
                    <a:pt x="300862" y="709676"/>
                  </a:lnTo>
                  <a:lnTo>
                    <a:pt x="312165" y="704850"/>
                  </a:lnTo>
                  <a:lnTo>
                    <a:pt x="314832" y="698373"/>
                  </a:lnTo>
                  <a:lnTo>
                    <a:pt x="307493" y="681026"/>
                  </a:lnTo>
                  <a:close/>
                </a:path>
                <a:path w="356234" h="755650">
                  <a:moveTo>
                    <a:pt x="355726" y="660654"/>
                  </a:moveTo>
                  <a:lnTo>
                    <a:pt x="307493" y="681026"/>
                  </a:lnTo>
                  <a:lnTo>
                    <a:pt x="314832" y="698373"/>
                  </a:lnTo>
                  <a:lnTo>
                    <a:pt x="312165" y="704850"/>
                  </a:lnTo>
                  <a:lnTo>
                    <a:pt x="300862" y="709676"/>
                  </a:lnTo>
                  <a:lnTo>
                    <a:pt x="340830" y="709676"/>
                  </a:lnTo>
                  <a:lnTo>
                    <a:pt x="355726" y="660654"/>
                  </a:lnTo>
                  <a:close/>
                </a:path>
                <a:path w="356234" h="755650">
                  <a:moveTo>
                    <a:pt x="13842" y="0"/>
                  </a:moveTo>
                  <a:lnTo>
                    <a:pt x="8254" y="2286"/>
                  </a:lnTo>
                  <a:lnTo>
                    <a:pt x="2539" y="4699"/>
                  </a:lnTo>
                  <a:lnTo>
                    <a:pt x="0" y="11303"/>
                  </a:lnTo>
                  <a:lnTo>
                    <a:pt x="2285" y="16891"/>
                  </a:lnTo>
                  <a:lnTo>
                    <a:pt x="287004" y="689680"/>
                  </a:lnTo>
                  <a:lnTo>
                    <a:pt x="307493" y="681026"/>
                  </a:lnTo>
                  <a:lnTo>
                    <a:pt x="20446" y="2540"/>
                  </a:lnTo>
                  <a:lnTo>
                    <a:pt x="13842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4">
              <a:extLst>
                <a:ext uri="{FF2B5EF4-FFF2-40B4-BE49-F238E27FC236}">
                  <a16:creationId xmlns:a16="http://schemas.microsoft.com/office/drawing/2014/main" id="{14C2E94A-CAE6-B8B8-6A0F-887E2DFFB2DA}"/>
                </a:ext>
              </a:extLst>
            </p:cNvPr>
            <p:cNvSpPr/>
            <p:nvPr/>
          </p:nvSpPr>
          <p:spPr>
            <a:xfrm>
              <a:off x="11356848" y="4355591"/>
              <a:ext cx="349250" cy="779145"/>
            </a:xfrm>
            <a:custGeom>
              <a:avLst/>
              <a:gdLst/>
              <a:ahLst/>
              <a:cxnLst/>
              <a:rect l="l" t="t" r="r" b="b"/>
              <a:pathLst>
                <a:path w="349250" h="779145">
                  <a:moveTo>
                    <a:pt x="348996" y="777874"/>
                  </a:moveTo>
                  <a:lnTo>
                    <a:pt x="348996" y="0"/>
                  </a:lnTo>
                </a:path>
                <a:path w="349250" h="779145">
                  <a:moveTo>
                    <a:pt x="348996" y="778763"/>
                  </a:moveTo>
                  <a:lnTo>
                    <a:pt x="0" y="778763"/>
                  </a:lnTo>
                </a:path>
              </a:pathLst>
            </a:custGeom>
            <a:ln w="9525">
              <a:solidFill>
                <a:srgbClr val="9D2C0E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5">
              <a:extLst>
                <a:ext uri="{FF2B5EF4-FFF2-40B4-BE49-F238E27FC236}">
                  <a16:creationId xmlns:a16="http://schemas.microsoft.com/office/drawing/2014/main" id="{D3F976B5-3F3B-8FD5-6B3C-83EE9D2DB9D7}"/>
                </a:ext>
              </a:extLst>
            </p:cNvPr>
            <p:cNvSpPr/>
            <p:nvPr/>
          </p:nvSpPr>
          <p:spPr>
            <a:xfrm>
              <a:off x="11318494" y="4318507"/>
              <a:ext cx="387985" cy="815340"/>
            </a:xfrm>
            <a:custGeom>
              <a:avLst/>
              <a:gdLst/>
              <a:ahLst/>
              <a:cxnLst/>
              <a:rect l="l" t="t" r="r" b="b"/>
              <a:pathLst>
                <a:path w="387984" h="815339">
                  <a:moveTo>
                    <a:pt x="76200" y="738505"/>
                  </a:moveTo>
                  <a:lnTo>
                    <a:pt x="45961" y="738809"/>
                  </a:lnTo>
                  <a:lnTo>
                    <a:pt x="38608" y="72263"/>
                  </a:lnTo>
                  <a:lnTo>
                    <a:pt x="38608" y="67691"/>
                  </a:lnTo>
                  <a:lnTo>
                    <a:pt x="35052" y="64135"/>
                  </a:lnTo>
                  <a:lnTo>
                    <a:pt x="30607" y="64135"/>
                  </a:lnTo>
                  <a:lnTo>
                    <a:pt x="30353" y="64147"/>
                  </a:lnTo>
                  <a:lnTo>
                    <a:pt x="30353" y="756031"/>
                  </a:lnTo>
                  <a:lnTo>
                    <a:pt x="30213" y="751459"/>
                  </a:lnTo>
                  <a:lnTo>
                    <a:pt x="30226" y="751713"/>
                  </a:lnTo>
                  <a:lnTo>
                    <a:pt x="30353" y="756031"/>
                  </a:lnTo>
                  <a:lnTo>
                    <a:pt x="30353" y="64147"/>
                  </a:lnTo>
                  <a:lnTo>
                    <a:pt x="26289" y="64262"/>
                  </a:lnTo>
                  <a:lnTo>
                    <a:pt x="22860" y="67691"/>
                  </a:lnTo>
                  <a:lnTo>
                    <a:pt x="22733" y="72263"/>
                  </a:lnTo>
                  <a:lnTo>
                    <a:pt x="30073" y="738974"/>
                  </a:lnTo>
                  <a:lnTo>
                    <a:pt x="0" y="739267"/>
                  </a:lnTo>
                  <a:lnTo>
                    <a:pt x="38862" y="815086"/>
                  </a:lnTo>
                  <a:lnTo>
                    <a:pt x="65913" y="759587"/>
                  </a:lnTo>
                  <a:lnTo>
                    <a:pt x="76200" y="738505"/>
                  </a:lnTo>
                  <a:close/>
                </a:path>
                <a:path w="387984" h="815339">
                  <a:moveTo>
                    <a:pt x="387604" y="38481"/>
                  </a:moveTo>
                  <a:lnTo>
                    <a:pt x="311531" y="0"/>
                  </a:lnTo>
                  <a:lnTo>
                    <a:pt x="311378" y="30162"/>
                  </a:lnTo>
                  <a:lnTo>
                    <a:pt x="114554" y="29083"/>
                  </a:lnTo>
                  <a:lnTo>
                    <a:pt x="110236" y="29083"/>
                  </a:lnTo>
                  <a:lnTo>
                    <a:pt x="106680" y="32639"/>
                  </a:lnTo>
                  <a:lnTo>
                    <a:pt x="106553" y="41402"/>
                  </a:lnTo>
                  <a:lnTo>
                    <a:pt x="110109" y="44958"/>
                  </a:lnTo>
                  <a:lnTo>
                    <a:pt x="311289" y="46037"/>
                  </a:lnTo>
                  <a:lnTo>
                    <a:pt x="323977" y="46101"/>
                  </a:lnTo>
                  <a:lnTo>
                    <a:pt x="311289" y="46101"/>
                  </a:lnTo>
                  <a:lnTo>
                    <a:pt x="311150" y="76200"/>
                  </a:lnTo>
                  <a:lnTo>
                    <a:pt x="372148" y="46101"/>
                  </a:lnTo>
                  <a:lnTo>
                    <a:pt x="328422" y="46101"/>
                  </a:lnTo>
                  <a:lnTo>
                    <a:pt x="372287" y="46037"/>
                  </a:lnTo>
                  <a:lnTo>
                    <a:pt x="387604" y="38481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36">
            <a:extLst>
              <a:ext uri="{FF2B5EF4-FFF2-40B4-BE49-F238E27FC236}">
                <a16:creationId xmlns:a16="http://schemas.microsoft.com/office/drawing/2014/main" id="{22179452-9D1A-C809-B0E2-D126C78D43C3}"/>
              </a:ext>
            </a:extLst>
          </p:cNvPr>
          <p:cNvSpPr txBox="1"/>
          <p:nvPr/>
        </p:nvSpPr>
        <p:spPr>
          <a:xfrm>
            <a:off x="11090275" y="3407267"/>
            <a:ext cx="954405" cy="66611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R="65405" algn="r">
              <a:lnSpc>
                <a:spcPct val="100000"/>
              </a:lnSpc>
              <a:spcBef>
                <a:spcPts val="459"/>
              </a:spcBef>
            </a:pPr>
            <a:r>
              <a:rPr sz="1800" dirty="0">
                <a:latin typeface="Cambria Math"/>
                <a:cs typeface="Cambria Math"/>
              </a:rPr>
              <a:t>@</a:t>
            </a:r>
            <a:r>
              <a:rPr sz="1800" spc="-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𝑡𝑖𝑚𝑒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𝑡</a:t>
            </a:r>
            <a:endParaRPr sz="1800">
              <a:latin typeface="Cambria Math"/>
              <a:cs typeface="Cambria Math"/>
            </a:endParaRPr>
          </a:p>
          <a:p>
            <a:pPr marR="5080" algn="r">
              <a:lnSpc>
                <a:spcPct val="100000"/>
              </a:lnSpc>
              <a:spcBef>
                <a:spcPts val="360"/>
              </a:spcBef>
            </a:pPr>
            <a:r>
              <a:rPr sz="1800" spc="30" dirty="0">
                <a:latin typeface="Cambria Math"/>
                <a:cs typeface="Cambria Math"/>
              </a:rPr>
              <a:t>𝑃</a:t>
            </a:r>
            <a:r>
              <a:rPr sz="1800" spc="5" dirty="0">
                <a:latin typeface="Cambria Math"/>
                <a:cs typeface="Cambria Math"/>
              </a:rPr>
              <a:t>(</a:t>
            </a:r>
            <a:r>
              <a:rPr sz="1800" spc="60" dirty="0">
                <a:latin typeface="Cambria Math"/>
                <a:cs typeface="Cambria Math"/>
              </a:rPr>
              <a:t>𝑥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35" dirty="0">
                <a:latin typeface="Cambria Math"/>
                <a:cs typeface="Cambria Math"/>
              </a:rPr>
              <a:t>𝑦</a:t>
            </a:r>
            <a:r>
              <a:rPr sz="1800" dirty="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2" name="object 37">
            <a:extLst>
              <a:ext uri="{FF2B5EF4-FFF2-40B4-BE49-F238E27FC236}">
                <a16:creationId xmlns:a16="http://schemas.microsoft.com/office/drawing/2014/main" id="{D9119A3D-4697-1000-3B02-96C9EAC54081}"/>
              </a:ext>
            </a:extLst>
          </p:cNvPr>
          <p:cNvSpPr txBox="1"/>
          <p:nvPr/>
        </p:nvSpPr>
        <p:spPr>
          <a:xfrm>
            <a:off x="11778233" y="5004308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𝒗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3" name="object 38">
            <a:extLst>
              <a:ext uri="{FF2B5EF4-FFF2-40B4-BE49-F238E27FC236}">
                <a16:creationId xmlns:a16="http://schemas.microsoft.com/office/drawing/2014/main" id="{C2316E6A-5370-B346-53B1-D056DE86C312}"/>
              </a:ext>
            </a:extLst>
          </p:cNvPr>
          <p:cNvSpPr txBox="1"/>
          <p:nvPr/>
        </p:nvSpPr>
        <p:spPr>
          <a:xfrm>
            <a:off x="11718670" y="4170933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40" dirty="0">
                <a:latin typeface="Cambria Math"/>
                <a:cs typeface="Cambria Math"/>
              </a:rPr>
              <a:t>𝒗</a:t>
            </a:r>
            <a:r>
              <a:rPr sz="1950" spc="60" baseline="-14957" dirty="0">
                <a:latin typeface="Cambria Math"/>
                <a:cs typeface="Cambria Math"/>
              </a:rPr>
              <a:t>𝑥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44" name="object 39">
            <a:extLst>
              <a:ext uri="{FF2B5EF4-FFF2-40B4-BE49-F238E27FC236}">
                <a16:creationId xmlns:a16="http://schemas.microsoft.com/office/drawing/2014/main" id="{71C04EB4-AD96-81B9-B604-BBCE4CD17B06}"/>
              </a:ext>
            </a:extLst>
          </p:cNvPr>
          <p:cNvSpPr txBox="1"/>
          <p:nvPr/>
        </p:nvSpPr>
        <p:spPr>
          <a:xfrm>
            <a:off x="11179809" y="5053329"/>
            <a:ext cx="320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latin typeface="Cambria Math"/>
                <a:cs typeface="Cambria Math"/>
              </a:rPr>
              <a:t>𝒗</a:t>
            </a:r>
            <a:r>
              <a:rPr sz="1950" spc="75" baseline="-14957" dirty="0">
                <a:latin typeface="Cambria Math"/>
                <a:cs typeface="Cambria Math"/>
              </a:rPr>
              <a:t>𝑦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45" name="object 3">
            <a:extLst>
              <a:ext uri="{FF2B5EF4-FFF2-40B4-BE49-F238E27FC236}">
                <a16:creationId xmlns:a16="http://schemas.microsoft.com/office/drawing/2014/main" id="{BBE05A7B-D2AF-C2DB-43BB-F955C13B5ED2}"/>
              </a:ext>
            </a:extLst>
          </p:cNvPr>
          <p:cNvSpPr txBox="1">
            <a:spLocks/>
          </p:cNvSpPr>
          <p:nvPr/>
        </p:nvSpPr>
        <p:spPr>
          <a:xfrm>
            <a:off x="660618" y="297825"/>
            <a:ext cx="487636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lang="en-US" sz="3200" spc="-5" dirty="0">
                <a:solidFill>
                  <a:srgbClr val="C0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Motion of a Projectile</a:t>
            </a:r>
          </a:p>
        </p:txBody>
      </p:sp>
    </p:spTree>
    <p:extLst>
      <p:ext uri="{BB962C8B-B14F-4D97-AF65-F5344CB8AC3E}">
        <p14:creationId xmlns:p14="http://schemas.microsoft.com/office/powerpoint/2010/main" val="3560462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7/1/2025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E55F31B1-13BA-C4D7-91A8-8534F023CC53}"/>
              </a:ext>
            </a:extLst>
          </p:cNvPr>
          <p:cNvSpPr txBox="1"/>
          <p:nvPr/>
        </p:nvSpPr>
        <p:spPr>
          <a:xfrm>
            <a:off x="1804797" y="1130300"/>
            <a:ext cx="2521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Horizontal</a:t>
            </a:r>
            <a:r>
              <a:rPr sz="2400" b="1" spc="-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motion: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6EA2DF92-6A90-E542-15A3-38541BACE276}"/>
              </a:ext>
            </a:extLst>
          </p:cNvPr>
          <p:cNvSpPr txBox="1"/>
          <p:nvPr/>
        </p:nvSpPr>
        <p:spPr>
          <a:xfrm>
            <a:off x="2236597" y="1503425"/>
            <a:ext cx="2155190" cy="150114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75"/>
              </a:spcBef>
            </a:pPr>
            <a:r>
              <a:rPr sz="2400" spc="45" dirty="0">
                <a:latin typeface="Cambria Math"/>
                <a:cs typeface="Cambria Math"/>
              </a:rPr>
              <a:t>𝑎</a:t>
            </a:r>
            <a:r>
              <a:rPr sz="2625" spc="67" baseline="-15873" dirty="0">
                <a:latin typeface="Cambria Math"/>
                <a:cs typeface="Cambria Math"/>
              </a:rPr>
              <a:t>𝑥</a:t>
            </a:r>
            <a:r>
              <a:rPr sz="2625" spc="62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spc="30" dirty="0">
                <a:latin typeface="Cambria Math"/>
                <a:cs typeface="Cambria Math"/>
              </a:rPr>
              <a:t>𝑎</a:t>
            </a:r>
            <a:r>
              <a:rPr sz="2625" spc="44" baseline="-15873" dirty="0">
                <a:latin typeface="Cambria Math"/>
                <a:cs typeface="Cambria Math"/>
              </a:rPr>
              <a:t>𝑐</a:t>
            </a:r>
            <a:r>
              <a:rPr sz="2625" spc="63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0</a:t>
            </a:r>
          </a:p>
          <a:p>
            <a:pPr marL="38100">
              <a:lnSpc>
                <a:spcPct val="100000"/>
              </a:lnSpc>
              <a:spcBef>
                <a:spcPts val="969"/>
              </a:spcBef>
            </a:pPr>
            <a:r>
              <a:rPr sz="2400" dirty="0">
                <a:latin typeface="Cambria Math"/>
                <a:cs typeface="Cambria Math"/>
              </a:rPr>
              <a:t>𝑥</a:t>
            </a:r>
            <a:r>
              <a:rPr sz="2400" spc="1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spc="5" dirty="0">
                <a:latin typeface="Cambria Math"/>
                <a:cs typeface="Cambria Math"/>
              </a:rPr>
              <a:t>𝑥</a:t>
            </a:r>
            <a:r>
              <a:rPr sz="2625" spc="7" baseline="-15873" dirty="0">
                <a:latin typeface="Cambria Math"/>
                <a:cs typeface="Cambria Math"/>
              </a:rPr>
              <a:t>0</a:t>
            </a:r>
            <a:r>
              <a:rPr sz="2625" spc="359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60" dirty="0">
                <a:latin typeface="Cambria Math"/>
                <a:cs typeface="Cambria Math"/>
              </a:rPr>
              <a:t>(𝒗</a:t>
            </a:r>
            <a:r>
              <a:rPr sz="2625" spc="89" baseline="-15873" dirty="0">
                <a:latin typeface="Cambria Math"/>
                <a:cs typeface="Cambria Math"/>
              </a:rPr>
              <a:t>0</a:t>
            </a:r>
            <a:r>
              <a:rPr sz="2400" spc="60" dirty="0">
                <a:latin typeface="Cambria Math"/>
                <a:cs typeface="Cambria Math"/>
              </a:rPr>
              <a:t>)</a:t>
            </a:r>
            <a:r>
              <a:rPr sz="2625" spc="89" baseline="-15873" dirty="0">
                <a:latin typeface="Cambria Math"/>
                <a:cs typeface="Cambria Math"/>
              </a:rPr>
              <a:t>𝑥</a:t>
            </a:r>
            <a:r>
              <a:rPr sz="2400" spc="60" dirty="0">
                <a:latin typeface="Cambria Math"/>
                <a:cs typeface="Cambria Math"/>
              </a:rPr>
              <a:t>𝑡</a:t>
            </a:r>
            <a:endParaRPr sz="2400" dirty="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035"/>
              </a:spcBef>
            </a:pPr>
            <a:r>
              <a:rPr sz="2400" spc="45" dirty="0">
                <a:solidFill>
                  <a:srgbClr val="404040"/>
                </a:solidFill>
                <a:latin typeface="Cambria Math"/>
                <a:cs typeface="Cambria Math"/>
              </a:rPr>
              <a:t>𝒗</a:t>
            </a:r>
            <a:r>
              <a:rPr sz="2625" spc="67" baseline="-15873" dirty="0">
                <a:solidFill>
                  <a:srgbClr val="404040"/>
                </a:solidFill>
                <a:latin typeface="Cambria Math"/>
                <a:cs typeface="Cambria Math"/>
              </a:rPr>
              <a:t>𝑥</a:t>
            </a:r>
            <a:r>
              <a:rPr sz="2625" spc="592" baseline="-15873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2400" spc="11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(𝒗</a:t>
            </a:r>
            <a:r>
              <a:rPr sz="2625" spc="67" baseline="-15873" dirty="0">
                <a:latin typeface="Cambria Math"/>
                <a:cs typeface="Cambria Math"/>
              </a:rPr>
              <a:t>0</a:t>
            </a:r>
            <a:r>
              <a:rPr sz="2400" spc="45" dirty="0">
                <a:latin typeface="Cambria Math"/>
                <a:cs typeface="Cambria Math"/>
              </a:rPr>
              <a:t>)</a:t>
            </a:r>
            <a:r>
              <a:rPr sz="2625" spc="67" baseline="-15873" dirty="0">
                <a:latin typeface="Cambria Math"/>
                <a:cs typeface="Cambria Math"/>
              </a:rPr>
              <a:t>𝑥</a:t>
            </a:r>
            <a:endParaRPr sz="2625" baseline="-15873" dirty="0">
              <a:latin typeface="Cambria Math"/>
              <a:cs typeface="Cambria Math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187138D-124C-C1CC-3F75-E93D128B0460}"/>
              </a:ext>
            </a:extLst>
          </p:cNvPr>
          <p:cNvSpPr txBox="1"/>
          <p:nvPr/>
        </p:nvSpPr>
        <p:spPr>
          <a:xfrm>
            <a:off x="1779397" y="3377703"/>
            <a:ext cx="2371090" cy="100838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90"/>
              </a:spcBef>
            </a:pPr>
            <a:r>
              <a:rPr sz="2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Vertical</a:t>
            </a:r>
            <a:r>
              <a:rPr sz="2400" b="1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motion:</a:t>
            </a:r>
            <a:endParaRPr sz="2400">
              <a:latin typeface="Times New Roman"/>
              <a:cs typeface="Times New Roman"/>
            </a:endParaRPr>
          </a:p>
          <a:p>
            <a:pPr marL="495300">
              <a:lnSpc>
                <a:spcPct val="100000"/>
              </a:lnSpc>
              <a:spcBef>
                <a:spcPts val="985"/>
              </a:spcBef>
            </a:pPr>
            <a:r>
              <a:rPr sz="2400" spc="60" dirty="0">
                <a:latin typeface="Cambria Math"/>
                <a:cs typeface="Cambria Math"/>
              </a:rPr>
              <a:t>𝑎</a:t>
            </a:r>
            <a:r>
              <a:rPr sz="2625" spc="89" baseline="-15873" dirty="0">
                <a:latin typeface="Cambria Math"/>
                <a:cs typeface="Cambria Math"/>
              </a:rPr>
              <a:t>𝑦</a:t>
            </a:r>
            <a:r>
              <a:rPr sz="2625" spc="61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spc="30" dirty="0">
                <a:latin typeface="Cambria Math"/>
                <a:cs typeface="Cambria Math"/>
              </a:rPr>
              <a:t>𝑎</a:t>
            </a:r>
            <a:r>
              <a:rPr sz="2625" spc="44" baseline="-15873" dirty="0">
                <a:latin typeface="Cambria Math"/>
                <a:cs typeface="Cambria Math"/>
              </a:rPr>
              <a:t>𝑐</a:t>
            </a:r>
            <a:r>
              <a:rPr sz="2625" spc="63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−𝑔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5471BF4B-EBBB-17CF-9F95-0E270EF29203}"/>
              </a:ext>
            </a:extLst>
          </p:cNvPr>
          <p:cNvSpPr/>
          <p:nvPr/>
        </p:nvSpPr>
        <p:spPr>
          <a:xfrm>
            <a:off x="4717415" y="4807839"/>
            <a:ext cx="128270" cy="20320"/>
          </a:xfrm>
          <a:custGeom>
            <a:avLst/>
            <a:gdLst/>
            <a:ahLst/>
            <a:cxnLst/>
            <a:rect l="l" t="t" r="r" b="b"/>
            <a:pathLst>
              <a:path w="128270" h="20320">
                <a:moveTo>
                  <a:pt x="128015" y="0"/>
                </a:moveTo>
                <a:lnTo>
                  <a:pt x="0" y="0"/>
                </a:lnTo>
                <a:lnTo>
                  <a:pt x="0" y="19812"/>
                </a:lnTo>
                <a:lnTo>
                  <a:pt x="128015" y="19812"/>
                </a:lnTo>
                <a:lnTo>
                  <a:pt x="1280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816CB605-50C1-35B9-9D30-40C57617FA67}"/>
              </a:ext>
            </a:extLst>
          </p:cNvPr>
          <p:cNvSpPr txBox="1"/>
          <p:nvPr/>
        </p:nvSpPr>
        <p:spPr>
          <a:xfrm>
            <a:off x="4705350" y="4491354"/>
            <a:ext cx="15430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40" dirty="0">
                <a:latin typeface="Cambria Math"/>
                <a:cs typeface="Cambria Math"/>
              </a:rPr>
              <a:t>1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91AC80B6-FDAF-DFC2-1D04-D41AE4F14C9E}"/>
              </a:ext>
            </a:extLst>
          </p:cNvPr>
          <p:cNvSpPr txBox="1"/>
          <p:nvPr/>
        </p:nvSpPr>
        <p:spPr>
          <a:xfrm>
            <a:off x="2236597" y="4587367"/>
            <a:ext cx="30105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y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𝑦</a:t>
            </a:r>
            <a:r>
              <a:rPr sz="2625" spc="-30" baseline="-15873" dirty="0">
                <a:latin typeface="Cambria Math"/>
                <a:cs typeface="Cambria Math"/>
              </a:rPr>
              <a:t>0</a:t>
            </a:r>
            <a:r>
              <a:rPr sz="2625" spc="35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65" dirty="0">
                <a:latin typeface="Cambria Math"/>
                <a:cs typeface="Cambria Math"/>
              </a:rPr>
              <a:t>(𝒗</a:t>
            </a:r>
            <a:r>
              <a:rPr sz="2625" spc="97" baseline="-15873" dirty="0">
                <a:latin typeface="Cambria Math"/>
                <a:cs typeface="Cambria Math"/>
              </a:rPr>
              <a:t>0</a:t>
            </a:r>
            <a:r>
              <a:rPr sz="2400" spc="65" dirty="0">
                <a:latin typeface="Cambria Math"/>
                <a:cs typeface="Cambria Math"/>
              </a:rPr>
              <a:t>)</a:t>
            </a:r>
            <a:r>
              <a:rPr sz="2625" spc="97" baseline="-15873" dirty="0">
                <a:latin typeface="Cambria Math"/>
                <a:cs typeface="Cambria Math"/>
              </a:rPr>
              <a:t>𝑦</a:t>
            </a:r>
            <a:r>
              <a:rPr sz="2400" spc="65" dirty="0">
                <a:latin typeface="Cambria Math"/>
                <a:cs typeface="Cambria Math"/>
              </a:rPr>
              <a:t>𝑡</a:t>
            </a:r>
            <a:r>
              <a:rPr sz="2400" spc="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 </a:t>
            </a:r>
            <a:r>
              <a:rPr sz="2625" spc="60" baseline="-38095" dirty="0">
                <a:latin typeface="Cambria Math"/>
                <a:cs typeface="Cambria Math"/>
              </a:rPr>
              <a:t>2</a:t>
            </a:r>
            <a:r>
              <a:rPr sz="2625" spc="-7" baseline="-38095" dirty="0">
                <a:latin typeface="Cambria Math"/>
                <a:cs typeface="Cambria Math"/>
              </a:rPr>
              <a:t> </a:t>
            </a:r>
            <a:r>
              <a:rPr sz="2400" spc="20" dirty="0">
                <a:latin typeface="Cambria Math"/>
                <a:cs typeface="Cambria Math"/>
              </a:rPr>
              <a:t>𝑔𝑡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B94BDEB5-8D7D-C5E2-CDA3-59F60647E72E}"/>
              </a:ext>
            </a:extLst>
          </p:cNvPr>
          <p:cNvSpPr txBox="1"/>
          <p:nvPr/>
        </p:nvSpPr>
        <p:spPr>
          <a:xfrm>
            <a:off x="5212841" y="4558410"/>
            <a:ext cx="15430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40" dirty="0">
                <a:latin typeface="Cambria Math"/>
                <a:cs typeface="Cambria Math"/>
              </a:rPr>
              <a:t>2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A95868BF-0D4F-073B-80C6-4AE492059A98}"/>
              </a:ext>
            </a:extLst>
          </p:cNvPr>
          <p:cNvSpPr txBox="1"/>
          <p:nvPr/>
        </p:nvSpPr>
        <p:spPr>
          <a:xfrm>
            <a:off x="2236597" y="5159121"/>
            <a:ext cx="20853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60" dirty="0">
                <a:latin typeface="Cambria Math"/>
                <a:cs typeface="Cambria Math"/>
              </a:rPr>
              <a:t>𝒗</a:t>
            </a:r>
            <a:r>
              <a:rPr sz="2625" spc="89" baseline="-15873" dirty="0">
                <a:latin typeface="Cambria Math"/>
                <a:cs typeface="Cambria Math"/>
              </a:rPr>
              <a:t>𝑦</a:t>
            </a:r>
            <a:r>
              <a:rPr sz="2625" spc="569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90" dirty="0">
                <a:latin typeface="Cambria Math"/>
                <a:cs typeface="Cambria Math"/>
              </a:rPr>
              <a:t> </a:t>
            </a:r>
            <a:r>
              <a:rPr sz="2400" spc="50" dirty="0">
                <a:latin typeface="Cambria Math"/>
                <a:cs typeface="Cambria Math"/>
              </a:rPr>
              <a:t>(𝒗</a:t>
            </a:r>
            <a:r>
              <a:rPr sz="2625" spc="75" baseline="-15873" dirty="0">
                <a:latin typeface="Cambria Math"/>
                <a:cs typeface="Cambria Math"/>
              </a:rPr>
              <a:t>0</a:t>
            </a:r>
            <a:r>
              <a:rPr sz="2400" spc="50" dirty="0">
                <a:latin typeface="Cambria Math"/>
                <a:cs typeface="Cambria Math"/>
              </a:rPr>
              <a:t>)</a:t>
            </a:r>
            <a:r>
              <a:rPr sz="2625" spc="75" baseline="-15873" dirty="0">
                <a:latin typeface="Cambria Math"/>
                <a:cs typeface="Cambria Math"/>
              </a:rPr>
              <a:t>𝑦</a:t>
            </a:r>
            <a:r>
              <a:rPr sz="2400" spc="50" dirty="0">
                <a:latin typeface="Cambria Math"/>
                <a:cs typeface="Cambria Math"/>
              </a:rPr>
              <a:t>−𝑔𝑡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DC906F7E-7F9C-8568-1D56-5E792EAD092E}"/>
              </a:ext>
            </a:extLst>
          </p:cNvPr>
          <p:cNvSpPr txBox="1"/>
          <p:nvPr/>
        </p:nvSpPr>
        <p:spPr>
          <a:xfrm>
            <a:off x="3457194" y="5840374"/>
            <a:ext cx="4254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8765" algn="l"/>
              </a:tabLst>
            </a:pPr>
            <a:r>
              <a:rPr sz="1750" spc="40" dirty="0">
                <a:latin typeface="Cambria Math"/>
                <a:cs typeface="Cambria Math"/>
              </a:rPr>
              <a:t>0	</a:t>
            </a:r>
            <a:r>
              <a:rPr sz="1750" dirty="0">
                <a:latin typeface="Cambria Math"/>
                <a:cs typeface="Cambria Math"/>
              </a:rPr>
              <a:t>𝒚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A509F94B-4D21-1FE6-2721-63B3AD4E71AE}"/>
              </a:ext>
            </a:extLst>
          </p:cNvPr>
          <p:cNvSpPr/>
          <p:nvPr/>
        </p:nvSpPr>
        <p:spPr>
          <a:xfrm>
            <a:off x="4491354" y="5807862"/>
            <a:ext cx="897890" cy="236220"/>
          </a:xfrm>
          <a:custGeom>
            <a:avLst/>
            <a:gdLst/>
            <a:ahLst/>
            <a:cxnLst/>
            <a:rect l="l" t="t" r="r" b="b"/>
            <a:pathLst>
              <a:path w="897889" h="236220">
                <a:moveTo>
                  <a:pt x="822325" y="0"/>
                </a:moveTo>
                <a:lnTo>
                  <a:pt x="819023" y="9563"/>
                </a:lnTo>
                <a:lnTo>
                  <a:pt x="832643" y="15484"/>
                </a:lnTo>
                <a:lnTo>
                  <a:pt x="844359" y="23685"/>
                </a:lnTo>
                <a:lnTo>
                  <a:pt x="868223" y="61689"/>
                </a:lnTo>
                <a:lnTo>
                  <a:pt x="876046" y="116687"/>
                </a:lnTo>
                <a:lnTo>
                  <a:pt x="875166" y="137478"/>
                </a:lnTo>
                <a:lnTo>
                  <a:pt x="862076" y="188391"/>
                </a:lnTo>
                <a:lnTo>
                  <a:pt x="832858" y="220220"/>
                </a:lnTo>
                <a:lnTo>
                  <a:pt x="819404" y="226174"/>
                </a:lnTo>
                <a:lnTo>
                  <a:pt x="822325" y="235737"/>
                </a:lnTo>
                <a:lnTo>
                  <a:pt x="867419" y="208978"/>
                </a:lnTo>
                <a:lnTo>
                  <a:pt x="892667" y="159573"/>
                </a:lnTo>
                <a:lnTo>
                  <a:pt x="897509" y="117932"/>
                </a:lnTo>
                <a:lnTo>
                  <a:pt x="896294" y="96319"/>
                </a:lnTo>
                <a:lnTo>
                  <a:pt x="886579" y="58010"/>
                </a:lnTo>
                <a:lnTo>
                  <a:pt x="854440" y="15108"/>
                </a:lnTo>
                <a:lnTo>
                  <a:pt x="839448" y="6167"/>
                </a:lnTo>
                <a:lnTo>
                  <a:pt x="822325" y="0"/>
                </a:lnTo>
                <a:close/>
              </a:path>
              <a:path w="897889" h="236220">
                <a:moveTo>
                  <a:pt x="75184" y="0"/>
                </a:moveTo>
                <a:lnTo>
                  <a:pt x="30196" y="26822"/>
                </a:lnTo>
                <a:lnTo>
                  <a:pt x="4857" y="76346"/>
                </a:lnTo>
                <a:lnTo>
                  <a:pt x="0" y="117932"/>
                </a:lnTo>
                <a:lnTo>
                  <a:pt x="1214" y="139587"/>
                </a:lnTo>
                <a:lnTo>
                  <a:pt x="10929" y="177891"/>
                </a:lnTo>
                <a:lnTo>
                  <a:pt x="43021" y="220657"/>
                </a:lnTo>
                <a:lnTo>
                  <a:pt x="75184" y="235737"/>
                </a:lnTo>
                <a:lnTo>
                  <a:pt x="78105" y="226174"/>
                </a:lnTo>
                <a:lnTo>
                  <a:pt x="64722" y="220220"/>
                </a:lnTo>
                <a:lnTo>
                  <a:pt x="53149" y="211940"/>
                </a:lnTo>
                <a:lnTo>
                  <a:pt x="29338" y="173330"/>
                </a:lnTo>
                <a:lnTo>
                  <a:pt x="21462" y="116687"/>
                </a:lnTo>
                <a:lnTo>
                  <a:pt x="22342" y="96575"/>
                </a:lnTo>
                <a:lnTo>
                  <a:pt x="35433" y="46913"/>
                </a:lnTo>
                <a:lnTo>
                  <a:pt x="64936" y="15484"/>
                </a:lnTo>
                <a:lnTo>
                  <a:pt x="78486" y="9563"/>
                </a:lnTo>
                <a:lnTo>
                  <a:pt x="75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8CF2C526-CAF6-744D-A2E1-6B8660A4AEA6}"/>
              </a:ext>
            </a:extLst>
          </p:cNvPr>
          <p:cNvSpPr txBox="1"/>
          <p:nvPr/>
        </p:nvSpPr>
        <p:spPr>
          <a:xfrm>
            <a:off x="2236597" y="5695594"/>
            <a:ext cx="2984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372870" algn="l"/>
              </a:tabLst>
            </a:pPr>
            <a:r>
              <a:rPr sz="2400" spc="85" dirty="0">
                <a:latin typeface="Cambria Math"/>
                <a:cs typeface="Cambria Math"/>
              </a:rPr>
              <a:t>𝒗</a:t>
            </a:r>
            <a:r>
              <a:rPr sz="2625" spc="127" baseline="-15873" dirty="0">
                <a:latin typeface="Cambria Math"/>
                <a:cs typeface="Cambria Math"/>
              </a:rPr>
              <a:t>𝑦</a:t>
            </a:r>
            <a:r>
              <a:rPr sz="2625" spc="127" baseline="28571" dirty="0">
                <a:latin typeface="Cambria Math"/>
                <a:cs typeface="Cambria Math"/>
              </a:rPr>
              <a:t>𝟐</a:t>
            </a:r>
            <a:r>
              <a:rPr sz="2625" spc="585" baseline="28571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5" dirty="0">
                <a:latin typeface="Cambria Math"/>
                <a:cs typeface="Cambria Math"/>
              </a:rPr>
              <a:t>(𝒗	</a:t>
            </a:r>
            <a:r>
              <a:rPr sz="2400" spc="15" dirty="0">
                <a:latin typeface="Cambria Math"/>
                <a:cs typeface="Cambria Math"/>
              </a:rPr>
              <a:t>)</a:t>
            </a:r>
            <a:r>
              <a:rPr sz="2625" spc="22" baseline="28571" dirty="0">
                <a:latin typeface="Cambria Math"/>
                <a:cs typeface="Cambria Math"/>
              </a:rPr>
              <a:t>𝟐</a:t>
            </a:r>
            <a:r>
              <a:rPr sz="2400" spc="15" dirty="0">
                <a:latin typeface="Cambria Math"/>
                <a:cs typeface="Cambria Math"/>
              </a:rPr>
              <a:t>−2𝑔</a:t>
            </a:r>
            <a:r>
              <a:rPr sz="2400" spc="30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𝒚</a:t>
            </a:r>
            <a:r>
              <a:rPr sz="2000" spc="-1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−</a:t>
            </a:r>
            <a:r>
              <a:rPr sz="2000" spc="-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𝒚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9" name="object 14">
            <a:extLst>
              <a:ext uri="{FF2B5EF4-FFF2-40B4-BE49-F238E27FC236}">
                <a16:creationId xmlns:a16="http://schemas.microsoft.com/office/drawing/2014/main" id="{858B138D-E498-B210-4CD1-35B0757BA935}"/>
              </a:ext>
            </a:extLst>
          </p:cNvPr>
          <p:cNvSpPr txBox="1"/>
          <p:nvPr/>
        </p:nvSpPr>
        <p:spPr>
          <a:xfrm>
            <a:off x="5170170" y="5876950"/>
            <a:ext cx="137160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10" dirty="0">
                <a:latin typeface="Cambria Math"/>
                <a:cs typeface="Cambria Math"/>
              </a:rPr>
              <a:t>𝟎</a:t>
            </a:r>
            <a:endParaRPr sz="1450">
              <a:latin typeface="Cambria Math"/>
              <a:cs typeface="Cambria Math"/>
            </a:endParaRPr>
          </a:p>
        </p:txBody>
      </p:sp>
      <p:grpSp>
        <p:nvGrpSpPr>
          <p:cNvPr id="20" name="object 15">
            <a:extLst>
              <a:ext uri="{FF2B5EF4-FFF2-40B4-BE49-F238E27FC236}">
                <a16:creationId xmlns:a16="http://schemas.microsoft.com/office/drawing/2014/main" id="{8C04EC76-D9D8-07CF-A6B3-451DB6D232E9}"/>
              </a:ext>
            </a:extLst>
          </p:cNvPr>
          <p:cNvGrpSpPr/>
          <p:nvPr/>
        </p:nvGrpSpPr>
        <p:grpSpPr>
          <a:xfrm>
            <a:off x="8090916" y="2677667"/>
            <a:ext cx="3982720" cy="3792220"/>
            <a:chOff x="8090916" y="2677667"/>
            <a:chExt cx="3982720" cy="3792220"/>
          </a:xfrm>
        </p:grpSpPr>
        <p:pic>
          <p:nvPicPr>
            <p:cNvPr id="21" name="object 16">
              <a:extLst>
                <a:ext uri="{FF2B5EF4-FFF2-40B4-BE49-F238E27FC236}">
                  <a16:creationId xmlns:a16="http://schemas.microsoft.com/office/drawing/2014/main" id="{C0BCE999-6EFC-58CB-7C1C-D6908900D80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0916" y="2677667"/>
              <a:ext cx="3982211" cy="3791712"/>
            </a:xfrm>
            <a:prstGeom prst="rect">
              <a:avLst/>
            </a:prstGeom>
          </p:spPr>
        </p:pic>
        <p:sp>
          <p:nvSpPr>
            <p:cNvPr id="22" name="object 17">
              <a:extLst>
                <a:ext uri="{FF2B5EF4-FFF2-40B4-BE49-F238E27FC236}">
                  <a16:creationId xmlns:a16="http://schemas.microsoft.com/office/drawing/2014/main" id="{EC50E34C-0EA1-F804-F065-7B31C218C00B}"/>
                </a:ext>
              </a:extLst>
            </p:cNvPr>
            <p:cNvSpPr/>
            <p:nvPr/>
          </p:nvSpPr>
          <p:spPr>
            <a:xfrm>
              <a:off x="8324088" y="2805683"/>
              <a:ext cx="3749675" cy="3243580"/>
            </a:xfrm>
            <a:custGeom>
              <a:avLst/>
              <a:gdLst/>
              <a:ahLst/>
              <a:cxnLst/>
              <a:rect l="l" t="t" r="r" b="b"/>
              <a:pathLst>
                <a:path w="3749675" h="3243579">
                  <a:moveTo>
                    <a:pt x="3749421" y="3204972"/>
                  </a:moveTo>
                  <a:lnTo>
                    <a:pt x="3736721" y="3198622"/>
                  </a:lnTo>
                  <a:lnTo>
                    <a:pt x="3673221" y="3166872"/>
                  </a:lnTo>
                  <a:lnTo>
                    <a:pt x="3673221" y="3198622"/>
                  </a:lnTo>
                  <a:lnTo>
                    <a:pt x="44450" y="3198622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6675" y="5715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3198622"/>
                  </a:lnTo>
                  <a:lnTo>
                    <a:pt x="26924" y="3198622"/>
                  </a:lnTo>
                  <a:lnTo>
                    <a:pt x="24130" y="3201466"/>
                  </a:lnTo>
                  <a:lnTo>
                    <a:pt x="24130" y="3208477"/>
                  </a:lnTo>
                  <a:lnTo>
                    <a:pt x="26924" y="3211322"/>
                  </a:lnTo>
                  <a:lnTo>
                    <a:pt x="3673221" y="3211322"/>
                  </a:lnTo>
                  <a:lnTo>
                    <a:pt x="3673221" y="3243072"/>
                  </a:lnTo>
                  <a:lnTo>
                    <a:pt x="3736721" y="3211322"/>
                  </a:lnTo>
                  <a:lnTo>
                    <a:pt x="3749421" y="32049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18">
            <a:extLst>
              <a:ext uri="{FF2B5EF4-FFF2-40B4-BE49-F238E27FC236}">
                <a16:creationId xmlns:a16="http://schemas.microsoft.com/office/drawing/2014/main" id="{4E994339-E524-40E1-8E19-97F26343505D}"/>
              </a:ext>
            </a:extLst>
          </p:cNvPr>
          <p:cNvSpPr txBox="1"/>
          <p:nvPr/>
        </p:nvSpPr>
        <p:spPr>
          <a:xfrm>
            <a:off x="12063730" y="594248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19">
            <a:extLst>
              <a:ext uri="{FF2B5EF4-FFF2-40B4-BE49-F238E27FC236}">
                <a16:creationId xmlns:a16="http://schemas.microsoft.com/office/drawing/2014/main" id="{8850C4F0-EFBA-5696-0BC0-01638F4E4ADB}"/>
              </a:ext>
            </a:extLst>
          </p:cNvPr>
          <p:cNvSpPr txBox="1"/>
          <p:nvPr/>
        </p:nvSpPr>
        <p:spPr>
          <a:xfrm>
            <a:off x="8159242" y="5957722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O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0">
            <a:extLst>
              <a:ext uri="{FF2B5EF4-FFF2-40B4-BE49-F238E27FC236}">
                <a16:creationId xmlns:a16="http://schemas.microsoft.com/office/drawing/2014/main" id="{4D052398-825C-526F-CFD2-C4B520FF4A71}"/>
              </a:ext>
            </a:extLst>
          </p:cNvPr>
          <p:cNvSpPr txBox="1"/>
          <p:nvPr/>
        </p:nvSpPr>
        <p:spPr>
          <a:xfrm>
            <a:off x="8604504" y="5096002"/>
            <a:ext cx="9537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45" dirty="0">
                <a:latin typeface="Cambria Math"/>
                <a:cs typeface="Cambria Math"/>
              </a:rPr>
              <a:t>𝑃</a:t>
            </a:r>
            <a:r>
              <a:rPr sz="1800" spc="-5" dirty="0">
                <a:latin typeface="Cambria Math"/>
                <a:cs typeface="Cambria Math"/>
              </a:rPr>
              <a:t>(</a:t>
            </a:r>
            <a:r>
              <a:rPr sz="1800" spc="-10" dirty="0">
                <a:latin typeface="Cambria Math"/>
                <a:cs typeface="Cambria Math"/>
              </a:rPr>
              <a:t>𝑥</a:t>
            </a:r>
            <a:r>
              <a:rPr sz="1950" spc="172" baseline="-14957" dirty="0">
                <a:latin typeface="Cambria Math"/>
                <a:cs typeface="Cambria Math"/>
              </a:rPr>
              <a:t>0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60" dirty="0">
                <a:latin typeface="Cambria Math"/>
                <a:cs typeface="Cambria Math"/>
              </a:rPr>
              <a:t>𝑦</a:t>
            </a:r>
            <a:r>
              <a:rPr sz="1950" spc="172" baseline="-14957" dirty="0">
                <a:latin typeface="Cambria Math"/>
                <a:cs typeface="Cambria Math"/>
              </a:rPr>
              <a:t>0</a:t>
            </a:r>
            <a:r>
              <a:rPr sz="1800" dirty="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26" name="object 21">
            <a:extLst>
              <a:ext uri="{FF2B5EF4-FFF2-40B4-BE49-F238E27FC236}">
                <a16:creationId xmlns:a16="http://schemas.microsoft.com/office/drawing/2014/main" id="{DFF76A75-73D0-1A42-FCB7-F2FE5129FDF7}"/>
              </a:ext>
            </a:extLst>
          </p:cNvPr>
          <p:cNvGrpSpPr/>
          <p:nvPr/>
        </p:nvGrpSpPr>
        <p:grpSpPr>
          <a:xfrm>
            <a:off x="8813800" y="3750373"/>
            <a:ext cx="539750" cy="1143000"/>
            <a:chOff x="8813800" y="3750373"/>
            <a:chExt cx="539750" cy="1143000"/>
          </a:xfrm>
        </p:grpSpPr>
        <p:sp>
          <p:nvSpPr>
            <p:cNvPr id="27" name="object 22">
              <a:extLst>
                <a:ext uri="{FF2B5EF4-FFF2-40B4-BE49-F238E27FC236}">
                  <a16:creationId xmlns:a16="http://schemas.microsoft.com/office/drawing/2014/main" id="{5B38128E-4986-3129-1833-924E36208869}"/>
                </a:ext>
              </a:extLst>
            </p:cNvPr>
            <p:cNvSpPr/>
            <p:nvPr/>
          </p:nvSpPr>
          <p:spPr>
            <a:xfrm>
              <a:off x="8877300" y="3755135"/>
              <a:ext cx="471170" cy="1074420"/>
            </a:xfrm>
            <a:custGeom>
              <a:avLst/>
              <a:gdLst/>
              <a:ahLst/>
              <a:cxnLst/>
              <a:rect l="l" t="t" r="r" b="b"/>
              <a:pathLst>
                <a:path w="471170" h="1074420">
                  <a:moveTo>
                    <a:pt x="470916" y="0"/>
                  </a:moveTo>
                  <a:lnTo>
                    <a:pt x="470916" y="1074165"/>
                  </a:lnTo>
                </a:path>
                <a:path w="471170" h="1074420">
                  <a:moveTo>
                    <a:pt x="461645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A42F0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3">
              <a:extLst>
                <a:ext uri="{FF2B5EF4-FFF2-40B4-BE49-F238E27FC236}">
                  <a16:creationId xmlns:a16="http://schemas.microsoft.com/office/drawing/2014/main" id="{23858E4D-23DC-B2E3-6548-3A1A35054CCE}"/>
                </a:ext>
              </a:extLst>
            </p:cNvPr>
            <p:cNvSpPr/>
            <p:nvPr/>
          </p:nvSpPr>
          <p:spPr>
            <a:xfrm>
              <a:off x="8813800" y="3755135"/>
              <a:ext cx="534035" cy="1137920"/>
            </a:xfrm>
            <a:custGeom>
              <a:avLst/>
              <a:gdLst/>
              <a:ahLst/>
              <a:cxnLst/>
              <a:rect l="l" t="t" r="r" b="b"/>
              <a:pathLst>
                <a:path w="534034" h="1137920">
                  <a:moveTo>
                    <a:pt x="127000" y="76200"/>
                  </a:moveTo>
                  <a:lnTo>
                    <a:pt x="109740" y="55499"/>
                  </a:lnTo>
                  <a:lnTo>
                    <a:pt x="63500" y="0"/>
                  </a:lnTo>
                  <a:lnTo>
                    <a:pt x="0" y="76200"/>
                  </a:lnTo>
                  <a:lnTo>
                    <a:pt x="55499" y="76200"/>
                  </a:lnTo>
                  <a:lnTo>
                    <a:pt x="55499" y="954278"/>
                  </a:lnTo>
                  <a:lnTo>
                    <a:pt x="59055" y="957834"/>
                  </a:lnTo>
                  <a:lnTo>
                    <a:pt x="67818" y="957834"/>
                  </a:lnTo>
                  <a:lnTo>
                    <a:pt x="71374" y="954278"/>
                  </a:lnTo>
                  <a:lnTo>
                    <a:pt x="71374" y="76200"/>
                  </a:lnTo>
                  <a:lnTo>
                    <a:pt x="127000" y="76200"/>
                  </a:lnTo>
                  <a:close/>
                </a:path>
                <a:path w="534034" h="1137920">
                  <a:moveTo>
                    <a:pt x="533654" y="1074420"/>
                  </a:moveTo>
                  <a:lnTo>
                    <a:pt x="524052" y="1066419"/>
                  </a:lnTo>
                  <a:lnTo>
                    <a:pt x="457454" y="1010920"/>
                  </a:lnTo>
                  <a:lnTo>
                    <a:pt x="457454" y="1066419"/>
                  </a:lnTo>
                  <a:lnTo>
                    <a:pt x="200787" y="1066419"/>
                  </a:lnTo>
                  <a:lnTo>
                    <a:pt x="197231" y="1069975"/>
                  </a:lnTo>
                  <a:lnTo>
                    <a:pt x="197231" y="1078865"/>
                  </a:lnTo>
                  <a:lnTo>
                    <a:pt x="200787" y="1082294"/>
                  </a:lnTo>
                  <a:lnTo>
                    <a:pt x="457454" y="1082294"/>
                  </a:lnTo>
                  <a:lnTo>
                    <a:pt x="457454" y="1137920"/>
                  </a:lnTo>
                  <a:lnTo>
                    <a:pt x="524205" y="1082294"/>
                  </a:lnTo>
                  <a:lnTo>
                    <a:pt x="533654" y="1074420"/>
                  </a:lnTo>
                  <a:close/>
                </a:path>
              </a:pathLst>
            </a:custGeom>
            <a:solidFill>
              <a:srgbClr val="9D2C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4">
            <a:extLst>
              <a:ext uri="{FF2B5EF4-FFF2-40B4-BE49-F238E27FC236}">
                <a16:creationId xmlns:a16="http://schemas.microsoft.com/office/drawing/2014/main" id="{FAD297D4-B81E-E590-6393-81F160F8546A}"/>
              </a:ext>
            </a:extLst>
          </p:cNvPr>
          <p:cNvSpPr txBox="1"/>
          <p:nvPr/>
        </p:nvSpPr>
        <p:spPr>
          <a:xfrm>
            <a:off x="9358883" y="4707382"/>
            <a:ext cx="610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40" dirty="0">
                <a:latin typeface="Cambria Math"/>
                <a:cs typeface="Cambria Math"/>
              </a:rPr>
              <a:t>(𝒗</a:t>
            </a:r>
            <a:r>
              <a:rPr sz="1950" spc="60" baseline="-14957" dirty="0">
                <a:latin typeface="Cambria Math"/>
                <a:cs typeface="Cambria Math"/>
              </a:rPr>
              <a:t>0</a:t>
            </a:r>
            <a:r>
              <a:rPr sz="1800" spc="40" dirty="0">
                <a:latin typeface="Cambria Math"/>
                <a:cs typeface="Cambria Math"/>
              </a:rPr>
              <a:t>)</a:t>
            </a:r>
            <a:r>
              <a:rPr sz="1950" spc="60" baseline="-14957" dirty="0">
                <a:latin typeface="Cambria Math"/>
                <a:cs typeface="Cambria Math"/>
              </a:rPr>
              <a:t>𝑥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0" name="object 25">
            <a:extLst>
              <a:ext uri="{FF2B5EF4-FFF2-40B4-BE49-F238E27FC236}">
                <a16:creationId xmlns:a16="http://schemas.microsoft.com/office/drawing/2014/main" id="{172FB43E-3279-105D-7C08-4FA2D67FC7B9}"/>
              </a:ext>
            </a:extLst>
          </p:cNvPr>
          <p:cNvSpPr txBox="1"/>
          <p:nvPr/>
        </p:nvSpPr>
        <p:spPr>
          <a:xfrm>
            <a:off x="8514842" y="3370529"/>
            <a:ext cx="6172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40" dirty="0">
                <a:latin typeface="Cambria Math"/>
                <a:cs typeface="Cambria Math"/>
              </a:rPr>
              <a:t>(𝒗</a:t>
            </a:r>
            <a:r>
              <a:rPr sz="1950" spc="60" baseline="-14957" dirty="0">
                <a:latin typeface="Cambria Math"/>
                <a:cs typeface="Cambria Math"/>
              </a:rPr>
              <a:t>0</a:t>
            </a:r>
            <a:r>
              <a:rPr sz="1800" spc="40" dirty="0">
                <a:latin typeface="Cambria Math"/>
                <a:cs typeface="Cambria Math"/>
              </a:rPr>
              <a:t>)</a:t>
            </a:r>
            <a:r>
              <a:rPr sz="1950" spc="60" baseline="-14957" dirty="0">
                <a:latin typeface="Cambria Math"/>
                <a:cs typeface="Cambria Math"/>
              </a:rPr>
              <a:t>𝑦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31" name="object 26">
            <a:extLst>
              <a:ext uri="{FF2B5EF4-FFF2-40B4-BE49-F238E27FC236}">
                <a16:creationId xmlns:a16="http://schemas.microsoft.com/office/drawing/2014/main" id="{15D18A55-5594-522F-7EC0-A533A7B52216}"/>
              </a:ext>
            </a:extLst>
          </p:cNvPr>
          <p:cNvGrpSpPr/>
          <p:nvPr/>
        </p:nvGrpSpPr>
        <p:grpSpPr>
          <a:xfrm>
            <a:off x="11177016" y="4137621"/>
            <a:ext cx="558800" cy="1002030"/>
            <a:chOff x="11177016" y="4137621"/>
            <a:chExt cx="558800" cy="1002030"/>
          </a:xfrm>
        </p:grpSpPr>
        <p:pic>
          <p:nvPicPr>
            <p:cNvPr id="32" name="object 27">
              <a:extLst>
                <a:ext uri="{FF2B5EF4-FFF2-40B4-BE49-F238E27FC236}">
                  <a16:creationId xmlns:a16="http://schemas.microsoft.com/office/drawing/2014/main" id="{8D493C55-9A68-4923-5377-C113DB14282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77016" y="4137621"/>
              <a:ext cx="339890" cy="339890"/>
            </a:xfrm>
            <a:prstGeom prst="rect">
              <a:avLst/>
            </a:prstGeom>
          </p:spPr>
        </p:pic>
        <p:pic>
          <p:nvPicPr>
            <p:cNvPr id="33" name="object 28">
              <a:extLst>
                <a:ext uri="{FF2B5EF4-FFF2-40B4-BE49-F238E27FC236}">
                  <a16:creationId xmlns:a16="http://schemas.microsoft.com/office/drawing/2014/main" id="{0EA9416B-CCBA-16C4-FB6A-E5F1660BF69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30356" y="4152899"/>
              <a:ext cx="237744" cy="237744"/>
            </a:xfrm>
            <a:prstGeom prst="rect">
              <a:avLst/>
            </a:prstGeom>
          </p:spPr>
        </p:pic>
        <p:sp>
          <p:nvSpPr>
            <p:cNvPr id="34" name="object 29">
              <a:extLst>
                <a:ext uri="{FF2B5EF4-FFF2-40B4-BE49-F238E27FC236}">
                  <a16:creationId xmlns:a16="http://schemas.microsoft.com/office/drawing/2014/main" id="{63EF9C9E-22E8-27EE-EDBE-38FD8D11AA00}"/>
                </a:ext>
              </a:extLst>
            </p:cNvPr>
            <p:cNvSpPr/>
            <p:nvPr/>
          </p:nvSpPr>
          <p:spPr>
            <a:xfrm>
              <a:off x="11380089" y="4378832"/>
              <a:ext cx="356235" cy="755650"/>
            </a:xfrm>
            <a:custGeom>
              <a:avLst/>
              <a:gdLst/>
              <a:ahLst/>
              <a:cxnLst/>
              <a:rect l="l" t="t" r="r" b="b"/>
              <a:pathLst>
                <a:path w="356234" h="755650">
                  <a:moveTo>
                    <a:pt x="287004" y="689680"/>
                  </a:moveTo>
                  <a:lnTo>
                    <a:pt x="238759" y="710057"/>
                  </a:lnTo>
                  <a:lnTo>
                    <a:pt x="326897" y="755523"/>
                  </a:lnTo>
                  <a:lnTo>
                    <a:pt x="340830" y="709676"/>
                  </a:lnTo>
                  <a:lnTo>
                    <a:pt x="300862" y="709676"/>
                  </a:lnTo>
                  <a:lnTo>
                    <a:pt x="294258" y="707009"/>
                  </a:lnTo>
                  <a:lnTo>
                    <a:pt x="291972" y="701421"/>
                  </a:lnTo>
                  <a:lnTo>
                    <a:pt x="287004" y="689680"/>
                  </a:lnTo>
                  <a:close/>
                </a:path>
                <a:path w="356234" h="755650">
                  <a:moveTo>
                    <a:pt x="307493" y="681026"/>
                  </a:moveTo>
                  <a:lnTo>
                    <a:pt x="287004" y="689680"/>
                  </a:lnTo>
                  <a:lnTo>
                    <a:pt x="291972" y="701421"/>
                  </a:lnTo>
                  <a:lnTo>
                    <a:pt x="294258" y="707009"/>
                  </a:lnTo>
                  <a:lnTo>
                    <a:pt x="300862" y="709676"/>
                  </a:lnTo>
                  <a:lnTo>
                    <a:pt x="312165" y="704850"/>
                  </a:lnTo>
                  <a:lnTo>
                    <a:pt x="314832" y="698373"/>
                  </a:lnTo>
                  <a:lnTo>
                    <a:pt x="307493" y="681026"/>
                  </a:lnTo>
                  <a:close/>
                </a:path>
                <a:path w="356234" h="755650">
                  <a:moveTo>
                    <a:pt x="355726" y="660654"/>
                  </a:moveTo>
                  <a:lnTo>
                    <a:pt x="307493" y="681026"/>
                  </a:lnTo>
                  <a:lnTo>
                    <a:pt x="314832" y="698373"/>
                  </a:lnTo>
                  <a:lnTo>
                    <a:pt x="312165" y="704850"/>
                  </a:lnTo>
                  <a:lnTo>
                    <a:pt x="300862" y="709676"/>
                  </a:lnTo>
                  <a:lnTo>
                    <a:pt x="340830" y="709676"/>
                  </a:lnTo>
                  <a:lnTo>
                    <a:pt x="355726" y="660654"/>
                  </a:lnTo>
                  <a:close/>
                </a:path>
                <a:path w="356234" h="755650">
                  <a:moveTo>
                    <a:pt x="13842" y="0"/>
                  </a:moveTo>
                  <a:lnTo>
                    <a:pt x="8254" y="2286"/>
                  </a:lnTo>
                  <a:lnTo>
                    <a:pt x="2539" y="4699"/>
                  </a:lnTo>
                  <a:lnTo>
                    <a:pt x="0" y="11303"/>
                  </a:lnTo>
                  <a:lnTo>
                    <a:pt x="2285" y="16891"/>
                  </a:lnTo>
                  <a:lnTo>
                    <a:pt x="287004" y="689680"/>
                  </a:lnTo>
                  <a:lnTo>
                    <a:pt x="307493" y="681026"/>
                  </a:lnTo>
                  <a:lnTo>
                    <a:pt x="20446" y="2540"/>
                  </a:lnTo>
                  <a:lnTo>
                    <a:pt x="13842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0">
              <a:extLst>
                <a:ext uri="{FF2B5EF4-FFF2-40B4-BE49-F238E27FC236}">
                  <a16:creationId xmlns:a16="http://schemas.microsoft.com/office/drawing/2014/main" id="{39011A37-06C2-05E7-96C3-D168B238A977}"/>
                </a:ext>
              </a:extLst>
            </p:cNvPr>
            <p:cNvSpPr/>
            <p:nvPr/>
          </p:nvSpPr>
          <p:spPr>
            <a:xfrm>
              <a:off x="11356848" y="4355591"/>
              <a:ext cx="349250" cy="779145"/>
            </a:xfrm>
            <a:custGeom>
              <a:avLst/>
              <a:gdLst/>
              <a:ahLst/>
              <a:cxnLst/>
              <a:rect l="l" t="t" r="r" b="b"/>
              <a:pathLst>
                <a:path w="349250" h="779145">
                  <a:moveTo>
                    <a:pt x="348996" y="777874"/>
                  </a:moveTo>
                  <a:lnTo>
                    <a:pt x="348996" y="0"/>
                  </a:lnTo>
                </a:path>
                <a:path w="349250" h="779145">
                  <a:moveTo>
                    <a:pt x="348996" y="778763"/>
                  </a:moveTo>
                  <a:lnTo>
                    <a:pt x="0" y="778763"/>
                  </a:lnTo>
                </a:path>
              </a:pathLst>
            </a:custGeom>
            <a:ln w="9525">
              <a:solidFill>
                <a:srgbClr val="9D2C0E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1">
              <a:extLst>
                <a:ext uri="{FF2B5EF4-FFF2-40B4-BE49-F238E27FC236}">
                  <a16:creationId xmlns:a16="http://schemas.microsoft.com/office/drawing/2014/main" id="{9651EF63-8EBA-E783-A19A-904BA8CF9E2E}"/>
                </a:ext>
              </a:extLst>
            </p:cNvPr>
            <p:cNvSpPr/>
            <p:nvPr/>
          </p:nvSpPr>
          <p:spPr>
            <a:xfrm>
              <a:off x="11318494" y="4318507"/>
              <a:ext cx="387985" cy="815340"/>
            </a:xfrm>
            <a:custGeom>
              <a:avLst/>
              <a:gdLst/>
              <a:ahLst/>
              <a:cxnLst/>
              <a:rect l="l" t="t" r="r" b="b"/>
              <a:pathLst>
                <a:path w="387984" h="815339">
                  <a:moveTo>
                    <a:pt x="76200" y="738505"/>
                  </a:moveTo>
                  <a:lnTo>
                    <a:pt x="45961" y="738809"/>
                  </a:lnTo>
                  <a:lnTo>
                    <a:pt x="38608" y="72263"/>
                  </a:lnTo>
                  <a:lnTo>
                    <a:pt x="38608" y="67691"/>
                  </a:lnTo>
                  <a:lnTo>
                    <a:pt x="35052" y="64135"/>
                  </a:lnTo>
                  <a:lnTo>
                    <a:pt x="30607" y="64135"/>
                  </a:lnTo>
                  <a:lnTo>
                    <a:pt x="30353" y="64147"/>
                  </a:lnTo>
                  <a:lnTo>
                    <a:pt x="30353" y="756031"/>
                  </a:lnTo>
                  <a:lnTo>
                    <a:pt x="30213" y="751459"/>
                  </a:lnTo>
                  <a:lnTo>
                    <a:pt x="30226" y="751713"/>
                  </a:lnTo>
                  <a:lnTo>
                    <a:pt x="30353" y="756031"/>
                  </a:lnTo>
                  <a:lnTo>
                    <a:pt x="30353" y="64147"/>
                  </a:lnTo>
                  <a:lnTo>
                    <a:pt x="26289" y="64262"/>
                  </a:lnTo>
                  <a:lnTo>
                    <a:pt x="22860" y="67691"/>
                  </a:lnTo>
                  <a:lnTo>
                    <a:pt x="22733" y="72263"/>
                  </a:lnTo>
                  <a:lnTo>
                    <a:pt x="30073" y="738974"/>
                  </a:lnTo>
                  <a:lnTo>
                    <a:pt x="0" y="739267"/>
                  </a:lnTo>
                  <a:lnTo>
                    <a:pt x="38862" y="815086"/>
                  </a:lnTo>
                  <a:lnTo>
                    <a:pt x="65913" y="759587"/>
                  </a:lnTo>
                  <a:lnTo>
                    <a:pt x="76200" y="738505"/>
                  </a:lnTo>
                  <a:close/>
                </a:path>
                <a:path w="387984" h="815339">
                  <a:moveTo>
                    <a:pt x="387604" y="38481"/>
                  </a:moveTo>
                  <a:lnTo>
                    <a:pt x="311531" y="0"/>
                  </a:lnTo>
                  <a:lnTo>
                    <a:pt x="311378" y="30162"/>
                  </a:lnTo>
                  <a:lnTo>
                    <a:pt x="114554" y="29083"/>
                  </a:lnTo>
                  <a:lnTo>
                    <a:pt x="110236" y="29083"/>
                  </a:lnTo>
                  <a:lnTo>
                    <a:pt x="106680" y="32639"/>
                  </a:lnTo>
                  <a:lnTo>
                    <a:pt x="106553" y="41402"/>
                  </a:lnTo>
                  <a:lnTo>
                    <a:pt x="110109" y="44958"/>
                  </a:lnTo>
                  <a:lnTo>
                    <a:pt x="311289" y="46037"/>
                  </a:lnTo>
                  <a:lnTo>
                    <a:pt x="323977" y="46101"/>
                  </a:lnTo>
                  <a:lnTo>
                    <a:pt x="311289" y="46101"/>
                  </a:lnTo>
                  <a:lnTo>
                    <a:pt x="311150" y="76200"/>
                  </a:lnTo>
                  <a:lnTo>
                    <a:pt x="372148" y="46101"/>
                  </a:lnTo>
                  <a:lnTo>
                    <a:pt x="328422" y="46101"/>
                  </a:lnTo>
                  <a:lnTo>
                    <a:pt x="372287" y="46037"/>
                  </a:lnTo>
                  <a:lnTo>
                    <a:pt x="387604" y="38481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2">
            <a:extLst>
              <a:ext uri="{FF2B5EF4-FFF2-40B4-BE49-F238E27FC236}">
                <a16:creationId xmlns:a16="http://schemas.microsoft.com/office/drawing/2014/main" id="{EEF13A0D-5F9E-4B33-5B80-00668C928E28}"/>
              </a:ext>
            </a:extLst>
          </p:cNvPr>
          <p:cNvSpPr txBox="1"/>
          <p:nvPr/>
        </p:nvSpPr>
        <p:spPr>
          <a:xfrm>
            <a:off x="11090275" y="3407267"/>
            <a:ext cx="954405" cy="66611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R="65405" algn="r">
              <a:lnSpc>
                <a:spcPct val="100000"/>
              </a:lnSpc>
              <a:spcBef>
                <a:spcPts val="459"/>
              </a:spcBef>
            </a:pPr>
            <a:r>
              <a:rPr sz="1800" dirty="0">
                <a:latin typeface="Cambria Math"/>
                <a:cs typeface="Cambria Math"/>
              </a:rPr>
              <a:t>@</a:t>
            </a:r>
            <a:r>
              <a:rPr sz="1800" spc="-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𝑡𝑖𝑚𝑒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𝑡</a:t>
            </a:r>
            <a:endParaRPr sz="1800">
              <a:latin typeface="Cambria Math"/>
              <a:cs typeface="Cambria Math"/>
            </a:endParaRPr>
          </a:p>
          <a:p>
            <a:pPr marR="5080" algn="r">
              <a:lnSpc>
                <a:spcPct val="100000"/>
              </a:lnSpc>
              <a:spcBef>
                <a:spcPts val="360"/>
              </a:spcBef>
            </a:pPr>
            <a:r>
              <a:rPr sz="1800" spc="30" dirty="0">
                <a:latin typeface="Cambria Math"/>
                <a:cs typeface="Cambria Math"/>
              </a:rPr>
              <a:t>𝑃</a:t>
            </a:r>
            <a:r>
              <a:rPr sz="1800" spc="5" dirty="0">
                <a:latin typeface="Cambria Math"/>
                <a:cs typeface="Cambria Math"/>
              </a:rPr>
              <a:t>(</a:t>
            </a:r>
            <a:r>
              <a:rPr sz="1800" spc="60" dirty="0">
                <a:latin typeface="Cambria Math"/>
                <a:cs typeface="Cambria Math"/>
              </a:rPr>
              <a:t>𝑥</a:t>
            </a:r>
            <a:r>
              <a:rPr sz="1800" dirty="0">
                <a:latin typeface="Cambria Math"/>
                <a:cs typeface="Cambria Math"/>
              </a:rPr>
              <a:t>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35" dirty="0">
                <a:latin typeface="Cambria Math"/>
                <a:cs typeface="Cambria Math"/>
              </a:rPr>
              <a:t>𝑦</a:t>
            </a:r>
            <a:r>
              <a:rPr sz="1800" dirty="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8" name="object 33">
            <a:extLst>
              <a:ext uri="{FF2B5EF4-FFF2-40B4-BE49-F238E27FC236}">
                <a16:creationId xmlns:a16="http://schemas.microsoft.com/office/drawing/2014/main" id="{E7570DE2-82F3-343F-C316-C446F74A8C08}"/>
              </a:ext>
            </a:extLst>
          </p:cNvPr>
          <p:cNvSpPr txBox="1"/>
          <p:nvPr/>
        </p:nvSpPr>
        <p:spPr>
          <a:xfrm>
            <a:off x="11778233" y="5004308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𝒗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9" name="object 34">
            <a:extLst>
              <a:ext uri="{FF2B5EF4-FFF2-40B4-BE49-F238E27FC236}">
                <a16:creationId xmlns:a16="http://schemas.microsoft.com/office/drawing/2014/main" id="{EDA4213B-329B-18DF-974D-805A4C7AE886}"/>
              </a:ext>
            </a:extLst>
          </p:cNvPr>
          <p:cNvSpPr txBox="1"/>
          <p:nvPr/>
        </p:nvSpPr>
        <p:spPr>
          <a:xfrm>
            <a:off x="11718670" y="4170933"/>
            <a:ext cx="312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40" dirty="0">
                <a:latin typeface="Cambria Math"/>
                <a:cs typeface="Cambria Math"/>
              </a:rPr>
              <a:t>𝒗</a:t>
            </a:r>
            <a:r>
              <a:rPr sz="1950" spc="60" baseline="-14957" dirty="0">
                <a:latin typeface="Cambria Math"/>
                <a:cs typeface="Cambria Math"/>
              </a:rPr>
              <a:t>𝑥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40" name="object 35">
            <a:extLst>
              <a:ext uri="{FF2B5EF4-FFF2-40B4-BE49-F238E27FC236}">
                <a16:creationId xmlns:a16="http://schemas.microsoft.com/office/drawing/2014/main" id="{FE94AFDE-7AE7-A0DB-1085-4F6BBAC63794}"/>
              </a:ext>
            </a:extLst>
          </p:cNvPr>
          <p:cNvSpPr txBox="1"/>
          <p:nvPr/>
        </p:nvSpPr>
        <p:spPr>
          <a:xfrm>
            <a:off x="11179809" y="5053329"/>
            <a:ext cx="320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latin typeface="Cambria Math"/>
                <a:cs typeface="Cambria Math"/>
              </a:rPr>
              <a:t>𝒗</a:t>
            </a:r>
            <a:r>
              <a:rPr sz="1950" spc="75" baseline="-14957" dirty="0">
                <a:latin typeface="Cambria Math"/>
                <a:cs typeface="Cambria Math"/>
              </a:rPr>
              <a:t>𝑦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41" name="object 36">
            <a:extLst>
              <a:ext uri="{FF2B5EF4-FFF2-40B4-BE49-F238E27FC236}">
                <a16:creationId xmlns:a16="http://schemas.microsoft.com/office/drawing/2014/main" id="{0DCDB008-57A9-06FB-1BF8-9078F56DAEF9}"/>
              </a:ext>
            </a:extLst>
          </p:cNvPr>
          <p:cNvSpPr txBox="1"/>
          <p:nvPr/>
        </p:nvSpPr>
        <p:spPr>
          <a:xfrm>
            <a:off x="5583682" y="1679270"/>
            <a:ext cx="6421755" cy="1267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Note: </a:t>
            </a:r>
            <a:r>
              <a:rPr sz="2400" b="1" spc="-5" dirty="0">
                <a:latin typeface="Times New Roman"/>
                <a:cs typeface="Times New Roman"/>
              </a:rPr>
              <a:t>Horizontal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motion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 vertical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motion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take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5" dirty="0">
                <a:latin typeface="Times New Roman"/>
                <a:cs typeface="Times New Roman"/>
              </a:rPr>
              <a:t>place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during the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same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time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R="538480" algn="ctr">
              <a:lnSpc>
                <a:spcPct val="100000"/>
              </a:lnSpc>
              <a:spcBef>
                <a:spcPts val="1850"/>
              </a:spcBef>
            </a:pPr>
            <a:r>
              <a:rPr sz="1800" dirty="0">
                <a:latin typeface="Times New Roman"/>
                <a:cs typeface="Times New Roman"/>
              </a:rPr>
              <a:t>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2" name="object 3">
            <a:extLst>
              <a:ext uri="{FF2B5EF4-FFF2-40B4-BE49-F238E27FC236}">
                <a16:creationId xmlns:a16="http://schemas.microsoft.com/office/drawing/2014/main" id="{C5CACF57-0414-B740-1D9B-24C2F31031C1}"/>
              </a:ext>
            </a:extLst>
          </p:cNvPr>
          <p:cNvSpPr txBox="1">
            <a:spLocks/>
          </p:cNvSpPr>
          <p:nvPr/>
        </p:nvSpPr>
        <p:spPr>
          <a:xfrm>
            <a:off x="707315" y="104949"/>
            <a:ext cx="487636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lang="en-US" sz="3200" spc="-5" dirty="0">
                <a:solidFill>
                  <a:srgbClr val="C0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Motion of a Projectile</a:t>
            </a:r>
          </a:p>
        </p:txBody>
      </p:sp>
    </p:spTree>
    <p:extLst>
      <p:ext uri="{BB962C8B-B14F-4D97-AF65-F5344CB8AC3E}">
        <p14:creationId xmlns:p14="http://schemas.microsoft.com/office/powerpoint/2010/main" val="1532270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7/1/2025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BD6D9863-93DF-15E1-09CF-6C12E9D3FCD4}"/>
              </a:ext>
            </a:extLst>
          </p:cNvPr>
          <p:cNvSpPr txBox="1"/>
          <p:nvPr/>
        </p:nvSpPr>
        <p:spPr>
          <a:xfrm>
            <a:off x="240388" y="839397"/>
            <a:ext cx="3084703" cy="3961982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95"/>
              </a:spcBef>
            </a:pPr>
            <a:r>
              <a:rPr lang="en-US"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Problem:</a:t>
            </a:r>
            <a:endParaRPr lang="en-US" sz="2400" b="1" dirty="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095"/>
              </a:spcBef>
            </a:pPr>
            <a:r>
              <a:rPr lang="en-US"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A basketball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player </a:t>
            </a:r>
            <a:r>
              <a:rPr lang="en-US"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shoots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when </a:t>
            </a:r>
            <a:r>
              <a:rPr lang="en-US"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she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lang="en-US"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16 ft </a:t>
            </a:r>
            <a:r>
              <a:rPr lang="en-US"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from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lang="en-US"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backboard. Knowing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that </a:t>
            </a:r>
            <a:r>
              <a:rPr lang="en-US"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lang="en-US"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ball has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an </a:t>
            </a:r>
            <a:r>
              <a:rPr lang="en-US"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initial velocity </a:t>
            </a:r>
            <a:r>
              <a:rPr lang="en-US" sz="2400" spc="20" dirty="0">
                <a:latin typeface="Cambria Math"/>
                <a:cs typeface="Cambria Math"/>
              </a:rPr>
              <a:t>𝒗</a:t>
            </a:r>
            <a:r>
              <a:rPr lang="en-US" sz="2625" spc="30" baseline="-15873" dirty="0">
                <a:latin typeface="Cambria Math"/>
                <a:cs typeface="Cambria Math"/>
              </a:rPr>
              <a:t>0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at an angle of </a:t>
            </a:r>
            <a:r>
              <a:rPr lang="en-US"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30° with the horizontal</a:t>
            </a:r>
            <a:r>
              <a:rPr lang="en-US"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, determine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 the</a:t>
            </a:r>
            <a:r>
              <a:rPr lang="en-US"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value</a:t>
            </a:r>
            <a:r>
              <a:rPr lang="en-US" sz="24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lang="en-US" sz="24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lang="en-US" sz="2400" spc="20" dirty="0">
                <a:latin typeface="Cambria Math"/>
                <a:cs typeface="Cambria Math"/>
              </a:rPr>
              <a:t>𝒗</a:t>
            </a:r>
            <a:r>
              <a:rPr lang="en-US" sz="2625" spc="30" baseline="-15873" dirty="0">
                <a:latin typeface="Cambria Math"/>
                <a:cs typeface="Cambria Math"/>
              </a:rPr>
              <a:t>0</a:t>
            </a:r>
            <a:r>
              <a:rPr lang="en-US" sz="2625" spc="450" baseline="-15873" dirty="0">
                <a:latin typeface="Cambria Math"/>
                <a:cs typeface="Cambria Math"/>
              </a:rPr>
              <a:t> </a:t>
            </a:r>
            <a:r>
              <a:rPr lang="en-US"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when </a:t>
            </a:r>
            <a:r>
              <a:rPr lang="en-US"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d</a:t>
            </a:r>
            <a:r>
              <a:rPr lang="en-US" sz="2400" b="1" i="1" spc="-5" dirty="0">
                <a:solidFill>
                  <a:srgbClr val="404040"/>
                </a:solidFill>
                <a:latin typeface="Times New Roman"/>
                <a:cs typeface="Times New Roman"/>
              </a:rPr>
              <a:t> =9 in.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4BDB2EF6-4779-BDFD-722A-37E82D52FB24}"/>
              </a:ext>
            </a:extLst>
          </p:cNvPr>
          <p:cNvSpPr txBox="1">
            <a:spLocks/>
          </p:cNvSpPr>
          <p:nvPr/>
        </p:nvSpPr>
        <p:spPr>
          <a:xfrm>
            <a:off x="1768981" y="334772"/>
            <a:ext cx="487636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lang="en-US" sz="3200" spc="-5" dirty="0">
                <a:solidFill>
                  <a:srgbClr val="C0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Motion</a:t>
            </a: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 of a Projectile</a:t>
            </a:r>
          </a:p>
        </p:txBody>
      </p:sp>
      <p:pic>
        <p:nvPicPr>
          <p:cNvPr id="10" name="object 4">
            <a:extLst>
              <a:ext uri="{FF2B5EF4-FFF2-40B4-BE49-F238E27FC236}">
                <a16:creationId xmlns:a16="http://schemas.microsoft.com/office/drawing/2014/main" id="{9B29405C-9ED3-9C25-8601-9B54306D3E8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79565" y="1611647"/>
            <a:ext cx="4174235" cy="318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465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4797" y="243619"/>
            <a:ext cx="5371858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Motion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5" dirty="0"/>
              <a:t>a</a:t>
            </a:r>
            <a:r>
              <a:rPr spc="-25" dirty="0"/>
              <a:t> </a:t>
            </a:r>
            <a:r>
              <a:rPr spc="-10" dirty="0"/>
              <a:t>Projectile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899" y="1156079"/>
            <a:ext cx="5189220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2735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Solution:</a:t>
            </a:r>
            <a:endParaRPr sz="2400" dirty="0">
              <a:latin typeface="Times New Roman"/>
              <a:cs typeface="Times New Roman"/>
            </a:endParaRPr>
          </a:p>
          <a:p>
            <a:pPr marL="482600">
              <a:lnSpc>
                <a:spcPts val="2735"/>
              </a:lnSpc>
            </a:pP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Horizontal</a:t>
            </a: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motion:</a:t>
            </a:r>
            <a:r>
              <a:rPr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𝒙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𝒙</a:t>
            </a:r>
            <a:r>
              <a:rPr sz="2625" spc="-7" baseline="-15873" dirty="0">
                <a:latin typeface="Cambria Math"/>
                <a:cs typeface="Cambria Math"/>
              </a:rPr>
              <a:t>𝟎</a:t>
            </a:r>
            <a:r>
              <a:rPr sz="2625" spc="37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30" dirty="0">
                <a:latin typeface="Cambria Math"/>
                <a:cs typeface="Cambria Math"/>
              </a:rPr>
              <a:t>(𝒗</a:t>
            </a:r>
            <a:r>
              <a:rPr sz="2625" spc="44" baseline="-15873" dirty="0">
                <a:latin typeface="Cambria Math"/>
                <a:cs typeface="Cambria Math"/>
              </a:rPr>
              <a:t>𝟎</a:t>
            </a:r>
            <a:r>
              <a:rPr sz="2400" spc="30" dirty="0">
                <a:latin typeface="Cambria Math"/>
                <a:cs typeface="Cambria Math"/>
              </a:rPr>
              <a:t>)</a:t>
            </a:r>
            <a:r>
              <a:rPr sz="2625" spc="44" baseline="-15873" dirty="0">
                <a:latin typeface="Cambria Math"/>
                <a:cs typeface="Cambria Math"/>
              </a:rPr>
              <a:t>𝒙</a:t>
            </a:r>
            <a:r>
              <a:rPr sz="2400" spc="30" dirty="0">
                <a:latin typeface="Cambria Math"/>
                <a:cs typeface="Cambria Math"/>
              </a:rPr>
              <a:t>𝒕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79397" y="2003552"/>
            <a:ext cx="5475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409065" algn="l"/>
              </a:tabLst>
            </a:pPr>
            <a:r>
              <a:rPr sz="2400" spc="-5" dirty="0">
                <a:latin typeface="Times New Roman"/>
                <a:cs typeface="Times New Roman"/>
              </a:rPr>
              <a:t>At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B,	</a:t>
            </a:r>
            <a:r>
              <a:rPr sz="2400" dirty="0">
                <a:latin typeface="Cambria Math"/>
                <a:cs typeface="Cambria Math"/>
              </a:rPr>
              <a:t>16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𝑑</a:t>
            </a:r>
            <a:r>
              <a:rPr sz="2400" spc="1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0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(𝒗</a:t>
            </a:r>
            <a:r>
              <a:rPr sz="2625" spc="-7" baseline="-15873" dirty="0">
                <a:latin typeface="Cambria Math"/>
                <a:cs typeface="Cambria Math"/>
              </a:rPr>
              <a:t>𝟎</a:t>
            </a:r>
            <a:r>
              <a:rPr sz="2625" spc="15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cos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30°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×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spc="50" dirty="0">
                <a:latin typeface="Cambria Math"/>
                <a:cs typeface="Cambria Math"/>
              </a:rPr>
              <a:t>𝑡</a:t>
            </a:r>
            <a:r>
              <a:rPr sz="2625" spc="75" baseline="-15873" dirty="0">
                <a:latin typeface="Cambria Math"/>
                <a:cs typeface="Cambria Math"/>
              </a:rPr>
              <a:t>𝐵</a:t>
            </a:r>
            <a:r>
              <a:rPr sz="2400" spc="50" dirty="0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19321" y="2578354"/>
            <a:ext cx="20129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55" dirty="0">
                <a:latin typeface="Cambria Math"/>
                <a:cs typeface="Cambria Math"/>
              </a:rPr>
              <a:t>𝐵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76397" y="2409189"/>
            <a:ext cx="11296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0900" algn="l"/>
              </a:tabLst>
            </a:pPr>
            <a:r>
              <a:rPr sz="2800" spc="-5" dirty="0">
                <a:latin typeface="Cambria Math"/>
                <a:cs typeface="Cambria Math"/>
              </a:rPr>
              <a:t>⇒</a:t>
            </a:r>
            <a:r>
              <a:rPr sz="2800" spc="16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𝑡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" dirty="0">
                <a:latin typeface="Cambria Math"/>
                <a:cs typeface="Cambria Math"/>
              </a:rPr>
              <a:t>=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91278" y="2663570"/>
            <a:ext cx="1224280" cy="22860"/>
          </a:xfrm>
          <a:custGeom>
            <a:avLst/>
            <a:gdLst/>
            <a:ahLst/>
            <a:cxnLst/>
            <a:rect l="l" t="t" r="r" b="b"/>
            <a:pathLst>
              <a:path w="1224279" h="22860">
                <a:moveTo>
                  <a:pt x="1223772" y="0"/>
                </a:moveTo>
                <a:lnTo>
                  <a:pt x="0" y="0"/>
                </a:lnTo>
                <a:lnTo>
                  <a:pt x="0" y="22860"/>
                </a:lnTo>
                <a:lnTo>
                  <a:pt x="1223772" y="22860"/>
                </a:lnTo>
                <a:lnTo>
                  <a:pt x="12237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58105" y="2295855"/>
            <a:ext cx="68199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35" dirty="0">
                <a:latin typeface="Cambria Math"/>
                <a:cs typeface="Cambria Math"/>
              </a:rPr>
              <a:t>1</a:t>
            </a:r>
            <a:r>
              <a:rPr sz="2050" spc="60" dirty="0">
                <a:latin typeface="Cambria Math"/>
                <a:cs typeface="Cambria Math"/>
              </a:rPr>
              <a:t>6</a:t>
            </a:r>
            <a:r>
              <a:rPr sz="2050" spc="-50" dirty="0">
                <a:latin typeface="Cambria Math"/>
                <a:cs typeface="Cambria Math"/>
              </a:rPr>
              <a:t>−</a:t>
            </a:r>
            <a:r>
              <a:rPr sz="2050" spc="200" dirty="0">
                <a:latin typeface="Cambria Math"/>
                <a:cs typeface="Cambria Math"/>
              </a:rPr>
              <a:t>𝑑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53814" y="2683510"/>
            <a:ext cx="129857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dirty="0">
                <a:latin typeface="Cambria Math"/>
                <a:cs typeface="Cambria Math"/>
              </a:rPr>
              <a:t>𝒗</a:t>
            </a:r>
            <a:r>
              <a:rPr sz="2475" baseline="-13468" dirty="0">
                <a:latin typeface="Cambria Math"/>
                <a:cs typeface="Cambria Math"/>
              </a:rPr>
              <a:t>𝟎</a:t>
            </a:r>
            <a:r>
              <a:rPr sz="2475" spc="217" baseline="-13468" dirty="0">
                <a:latin typeface="Cambria Math"/>
                <a:cs typeface="Cambria Math"/>
              </a:rPr>
              <a:t> </a:t>
            </a:r>
            <a:r>
              <a:rPr sz="2050" spc="120" dirty="0">
                <a:latin typeface="Cambria Math"/>
                <a:cs typeface="Cambria Math"/>
              </a:rPr>
              <a:t>cos</a:t>
            </a:r>
            <a:r>
              <a:rPr sz="2050" spc="-5" dirty="0">
                <a:latin typeface="Cambria Math"/>
                <a:cs typeface="Cambria Math"/>
              </a:rPr>
              <a:t> </a:t>
            </a:r>
            <a:r>
              <a:rPr sz="2050" spc="25" dirty="0">
                <a:latin typeface="Cambria Math"/>
                <a:cs typeface="Cambria Math"/>
              </a:rPr>
              <a:t>30°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51598" y="3614546"/>
            <a:ext cx="134620" cy="20320"/>
          </a:xfrm>
          <a:custGeom>
            <a:avLst/>
            <a:gdLst/>
            <a:ahLst/>
            <a:cxnLst/>
            <a:rect l="l" t="t" r="r" b="b"/>
            <a:pathLst>
              <a:path w="134620" h="20320">
                <a:moveTo>
                  <a:pt x="134111" y="0"/>
                </a:moveTo>
                <a:lnTo>
                  <a:pt x="0" y="0"/>
                </a:lnTo>
                <a:lnTo>
                  <a:pt x="0" y="19811"/>
                </a:lnTo>
                <a:lnTo>
                  <a:pt x="134111" y="19811"/>
                </a:lnTo>
                <a:lnTo>
                  <a:pt x="1341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939788" y="3297682"/>
            <a:ext cx="1587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Cambria Math"/>
                <a:cs typeface="Cambria Math"/>
              </a:rPr>
              <a:t>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36597" y="3393694"/>
            <a:ext cx="5273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Vertical </a:t>
            </a: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motion:</a:t>
            </a:r>
            <a:r>
              <a:rPr sz="240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𝒚</a:t>
            </a:r>
            <a:r>
              <a:rPr sz="2625" baseline="-15873" dirty="0">
                <a:latin typeface="Cambria Math"/>
                <a:cs typeface="Cambria Math"/>
              </a:rPr>
              <a:t>𝟎</a:t>
            </a:r>
            <a:r>
              <a:rPr sz="2625" spc="359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spc="30" dirty="0">
                <a:latin typeface="Cambria Math"/>
                <a:cs typeface="Cambria Math"/>
              </a:rPr>
              <a:t>(𝒗</a:t>
            </a:r>
            <a:r>
              <a:rPr sz="2625" spc="44" baseline="-15873" dirty="0">
                <a:latin typeface="Cambria Math"/>
                <a:cs typeface="Cambria Math"/>
              </a:rPr>
              <a:t>𝟎</a:t>
            </a:r>
            <a:r>
              <a:rPr sz="2400" spc="30" dirty="0">
                <a:latin typeface="Cambria Math"/>
                <a:cs typeface="Cambria Math"/>
              </a:rPr>
              <a:t>)</a:t>
            </a:r>
            <a:r>
              <a:rPr sz="2625" spc="44" baseline="-15873" dirty="0">
                <a:latin typeface="Cambria Math"/>
                <a:cs typeface="Cambria Math"/>
              </a:rPr>
              <a:t>𝒚</a:t>
            </a:r>
            <a:r>
              <a:rPr sz="2400" spc="30" dirty="0">
                <a:latin typeface="Cambria Math"/>
                <a:cs typeface="Cambria Math"/>
              </a:rPr>
              <a:t>𝒕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625" baseline="-38095" dirty="0">
                <a:latin typeface="Cambria Math"/>
                <a:cs typeface="Cambria Math"/>
              </a:rPr>
              <a:t>𝟐</a:t>
            </a:r>
            <a:r>
              <a:rPr sz="2625" spc="15" baseline="-3809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𝒈𝒕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59471" y="3364738"/>
            <a:ext cx="1587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Cambria Math"/>
                <a:cs typeface="Cambria Math"/>
              </a:rPr>
              <a:t>𝟐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41520" y="4293996"/>
            <a:ext cx="2104390" cy="282575"/>
          </a:xfrm>
          <a:custGeom>
            <a:avLst/>
            <a:gdLst/>
            <a:ahLst/>
            <a:cxnLst/>
            <a:rect l="l" t="t" r="r" b="b"/>
            <a:pathLst>
              <a:path w="2104390" h="282575">
                <a:moveTo>
                  <a:pt x="2014347" y="0"/>
                </a:moveTo>
                <a:lnTo>
                  <a:pt x="2010282" y="11556"/>
                </a:lnTo>
                <a:lnTo>
                  <a:pt x="2026646" y="18631"/>
                </a:lnTo>
                <a:lnTo>
                  <a:pt x="2040699" y="28432"/>
                </a:lnTo>
                <a:lnTo>
                  <a:pt x="2069232" y="73925"/>
                </a:lnTo>
                <a:lnTo>
                  <a:pt x="2077563" y="115732"/>
                </a:lnTo>
                <a:lnTo>
                  <a:pt x="2078608" y="139826"/>
                </a:lnTo>
                <a:lnTo>
                  <a:pt x="2077561" y="164707"/>
                </a:lnTo>
                <a:lnTo>
                  <a:pt x="2069179" y="207656"/>
                </a:lnTo>
                <a:lnTo>
                  <a:pt x="2040699" y="253857"/>
                </a:lnTo>
                <a:lnTo>
                  <a:pt x="2010790" y="270890"/>
                </a:lnTo>
                <a:lnTo>
                  <a:pt x="2014347" y="282320"/>
                </a:lnTo>
                <a:lnTo>
                  <a:pt x="2052843" y="264302"/>
                </a:lnTo>
                <a:lnTo>
                  <a:pt x="2081149" y="233044"/>
                </a:lnTo>
                <a:lnTo>
                  <a:pt x="2098579" y="191134"/>
                </a:lnTo>
                <a:lnTo>
                  <a:pt x="2104389" y="141223"/>
                </a:lnTo>
                <a:lnTo>
                  <a:pt x="2102935" y="115359"/>
                </a:lnTo>
                <a:lnTo>
                  <a:pt x="2091263" y="69536"/>
                </a:lnTo>
                <a:lnTo>
                  <a:pt x="2068139" y="32164"/>
                </a:lnTo>
                <a:lnTo>
                  <a:pt x="2034801" y="7435"/>
                </a:lnTo>
                <a:lnTo>
                  <a:pt x="2014347" y="0"/>
                </a:lnTo>
                <a:close/>
              </a:path>
              <a:path w="2104390" h="282575">
                <a:moveTo>
                  <a:pt x="90042" y="0"/>
                </a:moveTo>
                <a:lnTo>
                  <a:pt x="51593" y="18145"/>
                </a:lnTo>
                <a:lnTo>
                  <a:pt x="23240" y="49529"/>
                </a:lnTo>
                <a:lnTo>
                  <a:pt x="5810" y="91471"/>
                </a:lnTo>
                <a:lnTo>
                  <a:pt x="0" y="141223"/>
                </a:lnTo>
                <a:lnTo>
                  <a:pt x="1450" y="167179"/>
                </a:lnTo>
                <a:lnTo>
                  <a:pt x="13019" y="213090"/>
                </a:lnTo>
                <a:lnTo>
                  <a:pt x="36018" y="250334"/>
                </a:lnTo>
                <a:lnTo>
                  <a:pt x="69494" y="274960"/>
                </a:lnTo>
                <a:lnTo>
                  <a:pt x="90042" y="282320"/>
                </a:lnTo>
                <a:lnTo>
                  <a:pt x="93599" y="270890"/>
                </a:lnTo>
                <a:lnTo>
                  <a:pt x="77475" y="263773"/>
                </a:lnTo>
                <a:lnTo>
                  <a:pt x="63579" y="253857"/>
                </a:lnTo>
                <a:lnTo>
                  <a:pt x="35083" y="207656"/>
                </a:lnTo>
                <a:lnTo>
                  <a:pt x="26701" y="164707"/>
                </a:lnTo>
                <a:lnTo>
                  <a:pt x="25653" y="139826"/>
                </a:lnTo>
                <a:lnTo>
                  <a:pt x="26701" y="115732"/>
                </a:lnTo>
                <a:lnTo>
                  <a:pt x="35083" y="73925"/>
                </a:lnTo>
                <a:lnTo>
                  <a:pt x="63674" y="28432"/>
                </a:lnTo>
                <a:lnTo>
                  <a:pt x="93979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61581" y="4182744"/>
            <a:ext cx="1703705" cy="502920"/>
          </a:xfrm>
          <a:custGeom>
            <a:avLst/>
            <a:gdLst/>
            <a:ahLst/>
            <a:cxnLst/>
            <a:rect l="l" t="t" r="r" b="b"/>
            <a:pathLst>
              <a:path w="1703704" h="502920">
                <a:moveTo>
                  <a:pt x="113411" y="11811"/>
                </a:moveTo>
                <a:lnTo>
                  <a:pt x="63842" y="35852"/>
                </a:lnTo>
                <a:lnTo>
                  <a:pt x="29337" y="92837"/>
                </a:lnTo>
                <a:lnTo>
                  <a:pt x="7327" y="166217"/>
                </a:lnTo>
                <a:lnTo>
                  <a:pt x="1828" y="207251"/>
                </a:lnTo>
                <a:lnTo>
                  <a:pt x="0" y="251206"/>
                </a:lnTo>
                <a:lnTo>
                  <a:pt x="1828" y="294906"/>
                </a:lnTo>
                <a:lnTo>
                  <a:pt x="7327" y="335876"/>
                </a:lnTo>
                <a:lnTo>
                  <a:pt x="16497" y="374103"/>
                </a:lnTo>
                <a:lnTo>
                  <a:pt x="45339" y="440969"/>
                </a:lnTo>
                <a:lnTo>
                  <a:pt x="84874" y="487502"/>
                </a:lnTo>
                <a:lnTo>
                  <a:pt x="108458" y="502666"/>
                </a:lnTo>
                <a:lnTo>
                  <a:pt x="113411" y="490855"/>
                </a:lnTo>
                <a:lnTo>
                  <a:pt x="94500" y="475576"/>
                </a:lnTo>
                <a:lnTo>
                  <a:pt x="77787" y="455637"/>
                </a:lnTo>
                <a:lnTo>
                  <a:pt x="50927" y="401828"/>
                </a:lnTo>
                <a:lnTo>
                  <a:pt x="34061" y="332701"/>
                </a:lnTo>
                <a:lnTo>
                  <a:pt x="29845" y="293585"/>
                </a:lnTo>
                <a:lnTo>
                  <a:pt x="28448" y="251460"/>
                </a:lnTo>
                <a:lnTo>
                  <a:pt x="29845" y="208724"/>
                </a:lnTo>
                <a:lnTo>
                  <a:pt x="34099" y="169265"/>
                </a:lnTo>
                <a:lnTo>
                  <a:pt x="51181" y="100203"/>
                </a:lnTo>
                <a:lnTo>
                  <a:pt x="78054" y="46863"/>
                </a:lnTo>
                <a:lnTo>
                  <a:pt x="94665" y="27051"/>
                </a:lnTo>
                <a:lnTo>
                  <a:pt x="113411" y="11811"/>
                </a:lnTo>
                <a:close/>
              </a:path>
              <a:path w="1703704" h="502920">
                <a:moveTo>
                  <a:pt x="251206" y="242570"/>
                </a:moveTo>
                <a:lnTo>
                  <a:pt x="123190" y="242570"/>
                </a:lnTo>
                <a:lnTo>
                  <a:pt x="123190" y="262382"/>
                </a:lnTo>
                <a:lnTo>
                  <a:pt x="251206" y="262382"/>
                </a:lnTo>
                <a:lnTo>
                  <a:pt x="251206" y="242570"/>
                </a:lnTo>
                <a:close/>
              </a:path>
              <a:path w="1703704" h="502920">
                <a:moveTo>
                  <a:pt x="1703324" y="251206"/>
                </a:moveTo>
                <a:lnTo>
                  <a:pt x="1701482" y="207251"/>
                </a:lnTo>
                <a:lnTo>
                  <a:pt x="1695983" y="166217"/>
                </a:lnTo>
                <a:lnTo>
                  <a:pt x="1686814" y="128092"/>
                </a:lnTo>
                <a:lnTo>
                  <a:pt x="1657959" y="61696"/>
                </a:lnTo>
                <a:lnTo>
                  <a:pt x="1618335" y="15303"/>
                </a:lnTo>
                <a:lnTo>
                  <a:pt x="1594739" y="0"/>
                </a:lnTo>
                <a:lnTo>
                  <a:pt x="1589913" y="11811"/>
                </a:lnTo>
                <a:lnTo>
                  <a:pt x="1608645" y="27051"/>
                </a:lnTo>
                <a:lnTo>
                  <a:pt x="1625282" y="46863"/>
                </a:lnTo>
                <a:lnTo>
                  <a:pt x="1652270" y="100203"/>
                </a:lnTo>
                <a:lnTo>
                  <a:pt x="1669237" y="169265"/>
                </a:lnTo>
                <a:lnTo>
                  <a:pt x="1673466" y="208724"/>
                </a:lnTo>
                <a:lnTo>
                  <a:pt x="1674876" y="251460"/>
                </a:lnTo>
                <a:lnTo>
                  <a:pt x="1673466" y="293585"/>
                </a:lnTo>
                <a:lnTo>
                  <a:pt x="1669249" y="332701"/>
                </a:lnTo>
                <a:lnTo>
                  <a:pt x="1652397" y="401828"/>
                </a:lnTo>
                <a:lnTo>
                  <a:pt x="1625434" y="455637"/>
                </a:lnTo>
                <a:lnTo>
                  <a:pt x="1589913" y="490855"/>
                </a:lnTo>
                <a:lnTo>
                  <a:pt x="1594739" y="502666"/>
                </a:lnTo>
                <a:lnTo>
                  <a:pt x="1639404" y="466940"/>
                </a:lnTo>
                <a:lnTo>
                  <a:pt x="1673987" y="409575"/>
                </a:lnTo>
                <a:lnTo>
                  <a:pt x="1695983" y="335876"/>
                </a:lnTo>
                <a:lnTo>
                  <a:pt x="1701482" y="294906"/>
                </a:lnTo>
                <a:lnTo>
                  <a:pt x="1703324" y="2512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459469" y="4355719"/>
            <a:ext cx="17653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60" dirty="0">
                <a:latin typeface="Cambria Math"/>
                <a:cs typeface="Cambria Math"/>
              </a:rPr>
              <a:t>𝐵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66697" y="4108830"/>
            <a:ext cx="6906895" cy="487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350645" algn="r">
              <a:lnSpc>
                <a:spcPts val="1425"/>
              </a:lnSpc>
              <a:spcBef>
                <a:spcPts val="100"/>
              </a:spcBef>
            </a:pPr>
            <a:r>
              <a:rPr sz="1750" spc="40" dirty="0">
                <a:latin typeface="Cambria Math"/>
                <a:cs typeface="Cambria Math"/>
              </a:rPr>
              <a:t>1</a:t>
            </a:r>
            <a:endParaRPr sz="1750">
              <a:latin typeface="Cambria Math"/>
              <a:cs typeface="Cambria Math"/>
            </a:endParaRPr>
          </a:p>
          <a:p>
            <a:pPr marL="50800">
              <a:lnSpc>
                <a:spcPts val="2205"/>
              </a:lnSpc>
              <a:tabLst>
                <a:tab pos="1421765" algn="l"/>
                <a:tab pos="2874645" algn="l"/>
                <a:tab pos="4975225" algn="l"/>
                <a:tab pos="5615305" algn="l"/>
              </a:tabLst>
            </a:pPr>
            <a:r>
              <a:rPr sz="2400" spc="-5" dirty="0">
                <a:latin typeface="Times New Roman"/>
                <a:cs typeface="Times New Roman"/>
              </a:rPr>
              <a:t>At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B,	</a:t>
            </a:r>
            <a:r>
              <a:rPr sz="2400" dirty="0">
                <a:latin typeface="Cambria Math"/>
                <a:cs typeface="Cambria Math"/>
              </a:rPr>
              <a:t>3.2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0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	</a:t>
            </a:r>
            <a:r>
              <a:rPr sz="2400" spc="-5" dirty="0">
                <a:latin typeface="Cambria Math"/>
                <a:cs typeface="Cambria Math"/>
              </a:rPr>
              <a:t>𝒗</a:t>
            </a:r>
            <a:r>
              <a:rPr sz="2625" spc="-7" baseline="-15873" dirty="0">
                <a:latin typeface="Cambria Math"/>
                <a:cs typeface="Cambria Math"/>
              </a:rPr>
              <a:t>𝟎</a:t>
            </a:r>
            <a:r>
              <a:rPr sz="2625" spc="16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sin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30°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×</a:t>
            </a:r>
            <a:r>
              <a:rPr sz="2400" spc="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𝑡</a:t>
            </a:r>
            <a:r>
              <a:rPr sz="2625" baseline="-15873" dirty="0">
                <a:latin typeface="Cambria Math"/>
                <a:cs typeface="Cambria Math"/>
              </a:rPr>
              <a:t>𝐵	</a:t>
            </a:r>
            <a:r>
              <a:rPr sz="2400" dirty="0">
                <a:latin typeface="Cambria Math"/>
                <a:cs typeface="Cambria Math"/>
              </a:rPr>
              <a:t>−	×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32</a:t>
            </a:r>
            <a:r>
              <a:rPr sz="2400" spc="-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×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spc="85" dirty="0">
                <a:latin typeface="Cambria Math"/>
                <a:cs typeface="Cambria Math"/>
              </a:rPr>
              <a:t>𝑡</a:t>
            </a:r>
            <a:r>
              <a:rPr sz="2625" spc="127" baseline="28571" dirty="0">
                <a:latin typeface="Cambria Math"/>
                <a:cs typeface="Cambria Math"/>
              </a:rPr>
              <a:t>2</a:t>
            </a:r>
            <a:endParaRPr sz="2625" baseline="28571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888357" y="4673472"/>
            <a:ext cx="2915285" cy="502920"/>
          </a:xfrm>
          <a:custGeom>
            <a:avLst/>
            <a:gdLst/>
            <a:ahLst/>
            <a:cxnLst/>
            <a:rect l="l" t="t" r="r" b="b"/>
            <a:pathLst>
              <a:path w="2915284" h="502920">
                <a:moveTo>
                  <a:pt x="2806318" y="0"/>
                </a:moveTo>
                <a:lnTo>
                  <a:pt x="2801492" y="11810"/>
                </a:lnTo>
                <a:lnTo>
                  <a:pt x="2820237" y="27050"/>
                </a:lnTo>
                <a:lnTo>
                  <a:pt x="2836862" y="46862"/>
                </a:lnTo>
                <a:lnTo>
                  <a:pt x="2863849" y="100202"/>
                </a:lnTo>
                <a:lnTo>
                  <a:pt x="2880820" y="169259"/>
                </a:lnTo>
                <a:lnTo>
                  <a:pt x="2885049" y="208716"/>
                </a:lnTo>
                <a:lnTo>
                  <a:pt x="2886456" y="251459"/>
                </a:lnTo>
                <a:lnTo>
                  <a:pt x="2885051" y="293582"/>
                </a:lnTo>
                <a:lnTo>
                  <a:pt x="2880836" y="332692"/>
                </a:lnTo>
                <a:lnTo>
                  <a:pt x="2863976" y="401827"/>
                </a:lnTo>
                <a:lnTo>
                  <a:pt x="2837021" y="455628"/>
                </a:lnTo>
                <a:lnTo>
                  <a:pt x="2801492" y="490854"/>
                </a:lnTo>
                <a:lnTo>
                  <a:pt x="2806318" y="502665"/>
                </a:lnTo>
                <a:lnTo>
                  <a:pt x="2850991" y="466931"/>
                </a:lnTo>
                <a:lnTo>
                  <a:pt x="2885566" y="409575"/>
                </a:lnTo>
                <a:lnTo>
                  <a:pt x="2907569" y="335867"/>
                </a:lnTo>
                <a:lnTo>
                  <a:pt x="2913070" y="294899"/>
                </a:lnTo>
                <a:lnTo>
                  <a:pt x="2914903" y="251206"/>
                </a:lnTo>
                <a:lnTo>
                  <a:pt x="2913070" y="207244"/>
                </a:lnTo>
                <a:lnTo>
                  <a:pt x="2907569" y="166211"/>
                </a:lnTo>
                <a:lnTo>
                  <a:pt x="2898401" y="128083"/>
                </a:lnTo>
                <a:lnTo>
                  <a:pt x="2869541" y="61686"/>
                </a:lnTo>
                <a:lnTo>
                  <a:pt x="2829917" y="15291"/>
                </a:lnTo>
                <a:lnTo>
                  <a:pt x="2806318" y="0"/>
                </a:lnTo>
                <a:close/>
              </a:path>
              <a:path w="2915284" h="502920">
                <a:moveTo>
                  <a:pt x="108457" y="0"/>
                </a:moveTo>
                <a:lnTo>
                  <a:pt x="63849" y="35845"/>
                </a:lnTo>
                <a:lnTo>
                  <a:pt x="29337" y="92837"/>
                </a:lnTo>
                <a:lnTo>
                  <a:pt x="7334" y="166211"/>
                </a:lnTo>
                <a:lnTo>
                  <a:pt x="1833" y="207244"/>
                </a:lnTo>
                <a:lnTo>
                  <a:pt x="0" y="251206"/>
                </a:lnTo>
                <a:lnTo>
                  <a:pt x="1833" y="294899"/>
                </a:lnTo>
                <a:lnTo>
                  <a:pt x="7334" y="335867"/>
                </a:lnTo>
                <a:lnTo>
                  <a:pt x="16502" y="374096"/>
                </a:lnTo>
                <a:lnTo>
                  <a:pt x="45342" y="440961"/>
                </a:lnTo>
                <a:lnTo>
                  <a:pt x="84879" y="487495"/>
                </a:lnTo>
                <a:lnTo>
                  <a:pt x="108457" y="502665"/>
                </a:lnTo>
                <a:lnTo>
                  <a:pt x="113410" y="490854"/>
                </a:lnTo>
                <a:lnTo>
                  <a:pt x="94503" y="475569"/>
                </a:lnTo>
                <a:lnTo>
                  <a:pt x="77787" y="455628"/>
                </a:lnTo>
                <a:lnTo>
                  <a:pt x="50926" y="401827"/>
                </a:lnTo>
                <a:lnTo>
                  <a:pt x="34067" y="332692"/>
                </a:lnTo>
                <a:lnTo>
                  <a:pt x="29852" y="293582"/>
                </a:lnTo>
                <a:lnTo>
                  <a:pt x="28447" y="251459"/>
                </a:lnTo>
                <a:lnTo>
                  <a:pt x="29856" y="208716"/>
                </a:lnTo>
                <a:lnTo>
                  <a:pt x="34099" y="169259"/>
                </a:lnTo>
                <a:lnTo>
                  <a:pt x="51180" y="100202"/>
                </a:lnTo>
                <a:lnTo>
                  <a:pt x="78057" y="46862"/>
                </a:lnTo>
                <a:lnTo>
                  <a:pt x="113410" y="11810"/>
                </a:lnTo>
                <a:lnTo>
                  <a:pt x="1084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182361" y="4840351"/>
            <a:ext cx="1587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Cambria Math"/>
                <a:cs typeface="Cambria Math"/>
              </a:rPr>
              <a:t>𝟎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76397" y="4695570"/>
            <a:ext cx="3401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35150" algn="l"/>
                <a:tab pos="2214880" algn="l"/>
              </a:tabLst>
            </a:pPr>
            <a:r>
              <a:rPr sz="2400" dirty="0">
                <a:latin typeface="Cambria Math"/>
                <a:cs typeface="Cambria Math"/>
              </a:rPr>
              <a:t>⇒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3</a:t>
            </a:r>
            <a:r>
              <a:rPr sz="2400" spc="-5" dirty="0">
                <a:latin typeface="Cambria Math"/>
                <a:cs typeface="Cambria Math"/>
              </a:rPr>
              <a:t>.</a:t>
            </a:r>
            <a:r>
              <a:rPr sz="2400" dirty="0">
                <a:latin typeface="Cambria Math"/>
                <a:cs typeface="Cambria Math"/>
              </a:rPr>
              <a:t>2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0 +	𝒗	sin</a:t>
            </a:r>
            <a:r>
              <a:rPr sz="2400" spc="-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30°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×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631558" y="4916042"/>
            <a:ext cx="1049020" cy="20320"/>
          </a:xfrm>
          <a:custGeom>
            <a:avLst/>
            <a:gdLst/>
            <a:ahLst/>
            <a:cxnLst/>
            <a:rect l="l" t="t" r="r" b="b"/>
            <a:pathLst>
              <a:path w="1049020" h="20320">
                <a:moveTo>
                  <a:pt x="1048512" y="0"/>
                </a:moveTo>
                <a:lnTo>
                  <a:pt x="0" y="0"/>
                </a:lnTo>
                <a:lnTo>
                  <a:pt x="0" y="19811"/>
                </a:lnTo>
                <a:lnTo>
                  <a:pt x="1048512" y="19811"/>
                </a:lnTo>
                <a:lnTo>
                  <a:pt x="10485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859016" y="4441063"/>
            <a:ext cx="588645" cy="4514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390">
              <a:lnSpc>
                <a:spcPts val="1675"/>
              </a:lnSpc>
              <a:spcBef>
                <a:spcPts val="100"/>
              </a:spcBef>
            </a:pPr>
            <a:r>
              <a:rPr sz="1750" spc="40" dirty="0">
                <a:latin typeface="Cambria Math"/>
                <a:cs typeface="Cambria Math"/>
              </a:rPr>
              <a:t>2</a:t>
            </a:r>
            <a:endParaRPr sz="1750">
              <a:latin typeface="Cambria Math"/>
              <a:cs typeface="Cambria Math"/>
            </a:endParaRPr>
          </a:p>
          <a:p>
            <a:pPr marL="12700">
              <a:lnSpc>
                <a:spcPts val="1675"/>
              </a:lnSpc>
            </a:pPr>
            <a:r>
              <a:rPr sz="1750" spc="30" dirty="0">
                <a:latin typeface="Cambria Math"/>
                <a:cs typeface="Cambria Math"/>
              </a:rPr>
              <a:t>1</a:t>
            </a:r>
            <a:r>
              <a:rPr sz="1750" spc="45" dirty="0">
                <a:latin typeface="Cambria Math"/>
                <a:cs typeface="Cambria Math"/>
              </a:rPr>
              <a:t>6</a:t>
            </a:r>
            <a:r>
              <a:rPr sz="1750" spc="-30" dirty="0">
                <a:latin typeface="Cambria Math"/>
                <a:cs typeface="Cambria Math"/>
              </a:rPr>
              <a:t>−</a:t>
            </a:r>
            <a:r>
              <a:rPr sz="1750" spc="180" dirty="0">
                <a:latin typeface="Cambria Math"/>
                <a:cs typeface="Cambria Math"/>
              </a:rPr>
              <a:t>𝑑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94347" y="4931791"/>
            <a:ext cx="112458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Cambria Math"/>
                <a:cs typeface="Cambria Math"/>
              </a:rPr>
              <a:t>𝒗</a:t>
            </a:r>
            <a:r>
              <a:rPr sz="2175" spc="-7" baseline="-13409" dirty="0">
                <a:latin typeface="Cambria Math"/>
                <a:cs typeface="Cambria Math"/>
              </a:rPr>
              <a:t>𝟎</a:t>
            </a:r>
            <a:r>
              <a:rPr sz="2175" spc="172" baseline="-13409" dirty="0">
                <a:latin typeface="Cambria Math"/>
                <a:cs typeface="Cambria Math"/>
              </a:rPr>
              <a:t> </a:t>
            </a:r>
            <a:r>
              <a:rPr sz="1750" spc="105" dirty="0">
                <a:latin typeface="Cambria Math"/>
                <a:cs typeface="Cambria Math"/>
              </a:rPr>
              <a:t>cos</a:t>
            </a:r>
            <a:r>
              <a:rPr sz="1750" spc="5" dirty="0">
                <a:latin typeface="Cambria Math"/>
                <a:cs typeface="Cambria Math"/>
              </a:rPr>
              <a:t> </a:t>
            </a:r>
            <a:r>
              <a:rPr sz="1750" spc="20" dirty="0">
                <a:latin typeface="Cambria Math"/>
                <a:cs typeface="Cambria Math"/>
              </a:rPr>
              <a:t>30°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218297" y="4673472"/>
            <a:ext cx="2863215" cy="502920"/>
          </a:xfrm>
          <a:custGeom>
            <a:avLst/>
            <a:gdLst/>
            <a:ahLst/>
            <a:cxnLst/>
            <a:rect l="l" t="t" r="r" b="b"/>
            <a:pathLst>
              <a:path w="2863215" h="502920">
                <a:moveTo>
                  <a:pt x="113411" y="11811"/>
                </a:moveTo>
                <a:lnTo>
                  <a:pt x="63842" y="35852"/>
                </a:lnTo>
                <a:lnTo>
                  <a:pt x="29337" y="92837"/>
                </a:lnTo>
                <a:lnTo>
                  <a:pt x="7327" y="166217"/>
                </a:lnTo>
                <a:lnTo>
                  <a:pt x="1828" y="207251"/>
                </a:lnTo>
                <a:lnTo>
                  <a:pt x="0" y="251206"/>
                </a:lnTo>
                <a:lnTo>
                  <a:pt x="1828" y="294906"/>
                </a:lnTo>
                <a:lnTo>
                  <a:pt x="7327" y="335876"/>
                </a:lnTo>
                <a:lnTo>
                  <a:pt x="16497" y="374103"/>
                </a:lnTo>
                <a:lnTo>
                  <a:pt x="45339" y="440969"/>
                </a:lnTo>
                <a:lnTo>
                  <a:pt x="84874" y="487502"/>
                </a:lnTo>
                <a:lnTo>
                  <a:pt x="108458" y="502666"/>
                </a:lnTo>
                <a:lnTo>
                  <a:pt x="113411" y="490855"/>
                </a:lnTo>
                <a:lnTo>
                  <a:pt x="94500" y="475576"/>
                </a:lnTo>
                <a:lnTo>
                  <a:pt x="77774" y="455637"/>
                </a:lnTo>
                <a:lnTo>
                  <a:pt x="50927" y="401828"/>
                </a:lnTo>
                <a:lnTo>
                  <a:pt x="34061" y="332701"/>
                </a:lnTo>
                <a:lnTo>
                  <a:pt x="29845" y="293585"/>
                </a:lnTo>
                <a:lnTo>
                  <a:pt x="28448" y="251460"/>
                </a:lnTo>
                <a:lnTo>
                  <a:pt x="29845" y="208724"/>
                </a:lnTo>
                <a:lnTo>
                  <a:pt x="34099" y="169265"/>
                </a:lnTo>
                <a:lnTo>
                  <a:pt x="51181" y="100203"/>
                </a:lnTo>
                <a:lnTo>
                  <a:pt x="78054" y="46863"/>
                </a:lnTo>
                <a:lnTo>
                  <a:pt x="94665" y="27051"/>
                </a:lnTo>
                <a:lnTo>
                  <a:pt x="113411" y="11811"/>
                </a:lnTo>
                <a:close/>
              </a:path>
              <a:path w="2863215" h="502920">
                <a:moveTo>
                  <a:pt x="251206" y="242570"/>
                </a:moveTo>
                <a:lnTo>
                  <a:pt x="123190" y="242570"/>
                </a:lnTo>
                <a:lnTo>
                  <a:pt x="123190" y="262382"/>
                </a:lnTo>
                <a:lnTo>
                  <a:pt x="251206" y="262382"/>
                </a:lnTo>
                <a:lnTo>
                  <a:pt x="251206" y="242570"/>
                </a:lnTo>
                <a:close/>
              </a:path>
              <a:path w="2863215" h="502920">
                <a:moveTo>
                  <a:pt x="2863088" y="251206"/>
                </a:moveTo>
                <a:lnTo>
                  <a:pt x="2861246" y="207251"/>
                </a:lnTo>
                <a:lnTo>
                  <a:pt x="2855747" y="166217"/>
                </a:lnTo>
                <a:lnTo>
                  <a:pt x="2846578" y="128092"/>
                </a:lnTo>
                <a:lnTo>
                  <a:pt x="2817723" y="61696"/>
                </a:lnTo>
                <a:lnTo>
                  <a:pt x="2778099" y="15303"/>
                </a:lnTo>
                <a:lnTo>
                  <a:pt x="2754503" y="0"/>
                </a:lnTo>
                <a:lnTo>
                  <a:pt x="2749677" y="11811"/>
                </a:lnTo>
                <a:lnTo>
                  <a:pt x="2768409" y="27051"/>
                </a:lnTo>
                <a:lnTo>
                  <a:pt x="2785046" y="46863"/>
                </a:lnTo>
                <a:lnTo>
                  <a:pt x="2812034" y="100203"/>
                </a:lnTo>
                <a:lnTo>
                  <a:pt x="2829001" y="169265"/>
                </a:lnTo>
                <a:lnTo>
                  <a:pt x="2833230" y="208724"/>
                </a:lnTo>
                <a:lnTo>
                  <a:pt x="2834640" y="251460"/>
                </a:lnTo>
                <a:lnTo>
                  <a:pt x="2833230" y="293585"/>
                </a:lnTo>
                <a:lnTo>
                  <a:pt x="2829014" y="332701"/>
                </a:lnTo>
                <a:lnTo>
                  <a:pt x="2812161" y="401828"/>
                </a:lnTo>
                <a:lnTo>
                  <a:pt x="2785199" y="455637"/>
                </a:lnTo>
                <a:lnTo>
                  <a:pt x="2749677" y="490855"/>
                </a:lnTo>
                <a:lnTo>
                  <a:pt x="2754503" y="502666"/>
                </a:lnTo>
                <a:lnTo>
                  <a:pt x="2799169" y="466940"/>
                </a:lnTo>
                <a:lnTo>
                  <a:pt x="2833751" y="409575"/>
                </a:lnTo>
                <a:lnTo>
                  <a:pt x="2855747" y="335876"/>
                </a:lnTo>
                <a:lnTo>
                  <a:pt x="2861246" y="294906"/>
                </a:lnTo>
                <a:lnTo>
                  <a:pt x="2863088" y="2512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329930" y="4931791"/>
            <a:ext cx="15430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40" dirty="0">
                <a:latin typeface="Cambria Math"/>
                <a:cs typeface="Cambria Math"/>
              </a:rPr>
              <a:t>2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861045" y="4695570"/>
            <a:ext cx="18186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81330" algn="l"/>
              </a:tabLst>
            </a:pPr>
            <a:r>
              <a:rPr sz="2400" dirty="0">
                <a:latin typeface="Cambria Math"/>
                <a:cs typeface="Cambria Math"/>
              </a:rPr>
              <a:t>−	</a:t>
            </a:r>
            <a:r>
              <a:rPr sz="2625" spc="60" baseline="44444" dirty="0">
                <a:latin typeface="Cambria Math"/>
                <a:cs typeface="Cambria Math"/>
              </a:rPr>
              <a:t>1</a:t>
            </a:r>
            <a:r>
              <a:rPr sz="2625" spc="179" baseline="4444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×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32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×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(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639934" y="4916042"/>
            <a:ext cx="1049020" cy="20320"/>
          </a:xfrm>
          <a:custGeom>
            <a:avLst/>
            <a:gdLst/>
            <a:ahLst/>
            <a:cxnLst/>
            <a:rect l="l" t="t" r="r" b="b"/>
            <a:pathLst>
              <a:path w="1049020" h="20320">
                <a:moveTo>
                  <a:pt x="1048511" y="0"/>
                </a:moveTo>
                <a:lnTo>
                  <a:pt x="0" y="0"/>
                </a:lnTo>
                <a:lnTo>
                  <a:pt x="0" y="19811"/>
                </a:lnTo>
                <a:lnTo>
                  <a:pt x="1048511" y="19811"/>
                </a:lnTo>
                <a:lnTo>
                  <a:pt x="10485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867645" y="4599559"/>
            <a:ext cx="58864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35" dirty="0">
                <a:latin typeface="Cambria Math"/>
                <a:cs typeface="Cambria Math"/>
              </a:rPr>
              <a:t>1</a:t>
            </a:r>
            <a:r>
              <a:rPr sz="1750" spc="45" dirty="0">
                <a:latin typeface="Cambria Math"/>
                <a:cs typeface="Cambria Math"/>
              </a:rPr>
              <a:t>6</a:t>
            </a:r>
            <a:r>
              <a:rPr sz="1750" spc="-30" dirty="0">
                <a:latin typeface="Cambria Math"/>
                <a:cs typeface="Cambria Math"/>
              </a:rPr>
              <a:t>−</a:t>
            </a:r>
            <a:r>
              <a:rPr sz="1750" spc="180" dirty="0">
                <a:latin typeface="Cambria Math"/>
                <a:cs typeface="Cambria Math"/>
              </a:rPr>
              <a:t>𝑑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602978" y="4931791"/>
            <a:ext cx="112522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750" spc="-5" dirty="0">
                <a:latin typeface="Cambria Math"/>
                <a:cs typeface="Cambria Math"/>
              </a:rPr>
              <a:t>𝒗</a:t>
            </a:r>
            <a:r>
              <a:rPr sz="2175" spc="-7" baseline="-13409" dirty="0">
                <a:latin typeface="Cambria Math"/>
                <a:cs typeface="Cambria Math"/>
              </a:rPr>
              <a:t>𝟎</a:t>
            </a:r>
            <a:r>
              <a:rPr sz="2175" spc="172" baseline="-13409" dirty="0">
                <a:latin typeface="Cambria Math"/>
                <a:cs typeface="Cambria Math"/>
              </a:rPr>
              <a:t> </a:t>
            </a:r>
            <a:r>
              <a:rPr sz="1750" spc="110" dirty="0">
                <a:latin typeface="Cambria Math"/>
                <a:cs typeface="Cambria Math"/>
              </a:rPr>
              <a:t>cos</a:t>
            </a:r>
            <a:r>
              <a:rPr sz="1750" spc="-5" dirty="0">
                <a:latin typeface="Cambria Math"/>
                <a:cs typeface="Cambria Math"/>
              </a:rPr>
              <a:t> </a:t>
            </a:r>
            <a:r>
              <a:rPr sz="1750" spc="20" dirty="0">
                <a:latin typeface="Cambria Math"/>
                <a:cs typeface="Cambria Math"/>
              </a:rPr>
              <a:t>30°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653394" y="4584319"/>
            <a:ext cx="331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22" baseline="-20833" dirty="0">
                <a:latin typeface="Cambria Math"/>
                <a:cs typeface="Cambria Math"/>
              </a:rPr>
              <a:t>)</a:t>
            </a:r>
            <a:r>
              <a:rPr sz="1750" spc="15" dirty="0">
                <a:latin typeface="Cambria Math"/>
                <a:cs typeface="Cambria Math"/>
              </a:rPr>
              <a:t>2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774185" y="5425846"/>
            <a:ext cx="17589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45" dirty="0">
                <a:latin typeface="Cambria Math"/>
                <a:cs typeface="Cambria Math"/>
              </a:rPr>
              <a:t>0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50997" y="5249062"/>
            <a:ext cx="12274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mbria Math"/>
                <a:cs typeface="Cambria Math"/>
              </a:rPr>
              <a:t>⇒</a:t>
            </a:r>
            <a:r>
              <a:rPr sz="2800" spc="125" dirty="0">
                <a:latin typeface="Cambria Math"/>
                <a:cs typeface="Cambria Math"/>
              </a:rPr>
              <a:t> </a:t>
            </a:r>
            <a:r>
              <a:rPr sz="2800" spc="105" dirty="0">
                <a:latin typeface="Cambria Math"/>
                <a:cs typeface="Cambria Math"/>
              </a:rPr>
              <a:t>𝑣</a:t>
            </a:r>
            <a:r>
              <a:rPr sz="3075" spc="157" baseline="28455" dirty="0">
                <a:latin typeface="Cambria Math"/>
                <a:cs typeface="Cambria Math"/>
              </a:rPr>
              <a:t>2</a:t>
            </a:r>
            <a:r>
              <a:rPr sz="3075" spc="600" baseline="28455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=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438522" y="5502783"/>
            <a:ext cx="2024380" cy="22860"/>
          </a:xfrm>
          <a:custGeom>
            <a:avLst/>
            <a:gdLst/>
            <a:ahLst/>
            <a:cxnLst/>
            <a:rect l="l" t="t" r="r" b="b"/>
            <a:pathLst>
              <a:path w="2024379" h="22860">
                <a:moveTo>
                  <a:pt x="2023872" y="0"/>
                </a:moveTo>
                <a:lnTo>
                  <a:pt x="0" y="0"/>
                </a:lnTo>
                <a:lnTo>
                  <a:pt x="0" y="22859"/>
                </a:lnTo>
                <a:lnTo>
                  <a:pt x="2023872" y="22859"/>
                </a:lnTo>
                <a:lnTo>
                  <a:pt x="20238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739385" y="5135702"/>
            <a:ext cx="1412240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spc="55" dirty="0">
                <a:latin typeface="Cambria Math"/>
                <a:cs typeface="Cambria Math"/>
              </a:rPr>
              <a:t>2𝑔(16−𝑑)</a:t>
            </a:r>
            <a:r>
              <a:rPr sz="2475" spc="82" baseline="25252" dirty="0">
                <a:latin typeface="Cambria Math"/>
                <a:cs typeface="Cambria Math"/>
              </a:rPr>
              <a:t>2</a:t>
            </a:r>
            <a:endParaRPr sz="2475" baseline="25252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684395" y="5633897"/>
            <a:ext cx="1119505" cy="365760"/>
          </a:xfrm>
          <a:custGeom>
            <a:avLst/>
            <a:gdLst/>
            <a:ahLst/>
            <a:cxnLst/>
            <a:rect l="l" t="t" r="r" b="b"/>
            <a:pathLst>
              <a:path w="1119504" h="365760">
                <a:moveTo>
                  <a:pt x="263144" y="159931"/>
                </a:moveTo>
                <a:lnTo>
                  <a:pt x="136652" y="160045"/>
                </a:lnTo>
                <a:lnTo>
                  <a:pt x="122428" y="160045"/>
                </a:lnTo>
                <a:lnTo>
                  <a:pt x="70993" y="337883"/>
                </a:lnTo>
                <a:lnTo>
                  <a:pt x="34290" y="257035"/>
                </a:lnTo>
                <a:lnTo>
                  <a:pt x="0" y="272669"/>
                </a:lnTo>
                <a:lnTo>
                  <a:pt x="3302" y="280479"/>
                </a:lnTo>
                <a:lnTo>
                  <a:pt x="20955" y="272669"/>
                </a:lnTo>
                <a:lnTo>
                  <a:pt x="64008" y="365391"/>
                </a:lnTo>
                <a:lnTo>
                  <a:pt x="74168" y="365391"/>
                </a:lnTo>
                <a:lnTo>
                  <a:pt x="130175" y="173901"/>
                </a:lnTo>
                <a:lnTo>
                  <a:pt x="148971" y="173901"/>
                </a:lnTo>
                <a:lnTo>
                  <a:pt x="148971" y="173647"/>
                </a:lnTo>
                <a:lnTo>
                  <a:pt x="263144" y="173647"/>
                </a:lnTo>
                <a:lnTo>
                  <a:pt x="263144" y="159931"/>
                </a:lnTo>
                <a:close/>
              </a:path>
              <a:path w="1119504" h="365760">
                <a:moveTo>
                  <a:pt x="365887" y="9740"/>
                </a:moveTo>
                <a:lnTo>
                  <a:pt x="362458" y="0"/>
                </a:lnTo>
                <a:lnTo>
                  <a:pt x="345046" y="6286"/>
                </a:lnTo>
                <a:lnTo>
                  <a:pt x="329780" y="15392"/>
                </a:lnTo>
                <a:lnTo>
                  <a:pt x="297014" y="59055"/>
                </a:lnTo>
                <a:lnTo>
                  <a:pt x="287108" y="98056"/>
                </a:lnTo>
                <a:lnTo>
                  <a:pt x="285877" y="120053"/>
                </a:lnTo>
                <a:lnTo>
                  <a:pt x="287108" y="142113"/>
                </a:lnTo>
                <a:lnTo>
                  <a:pt x="296964" y="181102"/>
                </a:lnTo>
                <a:lnTo>
                  <a:pt x="329666" y="224624"/>
                </a:lnTo>
                <a:lnTo>
                  <a:pt x="362458" y="239979"/>
                </a:lnTo>
                <a:lnTo>
                  <a:pt x="365506" y="230238"/>
                </a:lnTo>
                <a:lnTo>
                  <a:pt x="351777" y="224180"/>
                </a:lnTo>
                <a:lnTo>
                  <a:pt x="339953" y="215760"/>
                </a:lnTo>
                <a:lnTo>
                  <a:pt x="315747" y="176453"/>
                </a:lnTo>
                <a:lnTo>
                  <a:pt x="307721" y="118783"/>
                </a:lnTo>
                <a:lnTo>
                  <a:pt x="308610" y="98323"/>
                </a:lnTo>
                <a:lnTo>
                  <a:pt x="321945" y="47752"/>
                </a:lnTo>
                <a:lnTo>
                  <a:pt x="351993" y="15773"/>
                </a:lnTo>
                <a:lnTo>
                  <a:pt x="365887" y="9740"/>
                </a:lnTo>
                <a:close/>
              </a:path>
              <a:path w="1119504" h="365760">
                <a:moveTo>
                  <a:pt x="1118997" y="120053"/>
                </a:moveTo>
                <a:lnTo>
                  <a:pt x="1114044" y="77724"/>
                </a:lnTo>
                <a:lnTo>
                  <a:pt x="1099185" y="42062"/>
                </a:lnTo>
                <a:lnTo>
                  <a:pt x="1059815" y="6286"/>
                </a:lnTo>
                <a:lnTo>
                  <a:pt x="1042416" y="0"/>
                </a:lnTo>
                <a:lnTo>
                  <a:pt x="1039114" y="9740"/>
                </a:lnTo>
                <a:lnTo>
                  <a:pt x="1052995" y="15773"/>
                </a:lnTo>
                <a:lnTo>
                  <a:pt x="1064920" y="24117"/>
                </a:lnTo>
                <a:lnTo>
                  <a:pt x="1089164" y="62801"/>
                </a:lnTo>
                <a:lnTo>
                  <a:pt x="1097153" y="118783"/>
                </a:lnTo>
                <a:lnTo>
                  <a:pt x="1096251" y="139954"/>
                </a:lnTo>
                <a:lnTo>
                  <a:pt x="1082929" y="191782"/>
                </a:lnTo>
                <a:lnTo>
                  <a:pt x="1053134" y="224180"/>
                </a:lnTo>
                <a:lnTo>
                  <a:pt x="1039495" y="230238"/>
                </a:lnTo>
                <a:lnTo>
                  <a:pt x="1042416" y="239979"/>
                </a:lnTo>
                <a:lnTo>
                  <a:pt x="1088326" y="212737"/>
                </a:lnTo>
                <a:lnTo>
                  <a:pt x="1114056" y="162458"/>
                </a:lnTo>
                <a:lnTo>
                  <a:pt x="1117752" y="142113"/>
                </a:lnTo>
                <a:lnTo>
                  <a:pt x="1118997" y="1200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401058" y="5558434"/>
            <a:ext cx="210121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spc="20" dirty="0">
                <a:latin typeface="Cambria Math"/>
                <a:cs typeface="Cambria Math"/>
              </a:rPr>
              <a:t>3[</a:t>
            </a:r>
            <a:r>
              <a:rPr sz="3075" u="heavy" spc="135" baseline="3252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sz="2475" u="heavy" spc="127" baseline="40404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 </a:t>
            </a:r>
            <a:r>
              <a:rPr sz="2475" spc="127" baseline="40404" dirty="0">
                <a:latin typeface="Cambria Math"/>
                <a:cs typeface="Cambria Math"/>
              </a:rPr>
              <a:t> </a:t>
            </a:r>
            <a:r>
              <a:rPr sz="2475" spc="179" baseline="40404" dirty="0">
                <a:latin typeface="Cambria Math"/>
                <a:cs typeface="Cambria Math"/>
              </a:rPr>
              <a:t> </a:t>
            </a:r>
            <a:r>
              <a:rPr sz="2050" spc="35" dirty="0">
                <a:latin typeface="Cambria Math"/>
                <a:cs typeface="Cambria Math"/>
              </a:rPr>
              <a:t>16−𝑑</a:t>
            </a:r>
            <a:r>
              <a:rPr sz="2050" spc="459" dirty="0">
                <a:latin typeface="Cambria Math"/>
                <a:cs typeface="Cambria Math"/>
              </a:rPr>
              <a:t> </a:t>
            </a:r>
            <a:r>
              <a:rPr sz="2050" spc="5" dirty="0">
                <a:latin typeface="Cambria Math"/>
                <a:cs typeface="Cambria Math"/>
              </a:rPr>
              <a:t>−3.2]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50997" y="5748934"/>
            <a:ext cx="2390775" cy="604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584835" algn="r">
              <a:lnSpc>
                <a:spcPts val="1814"/>
              </a:lnSpc>
              <a:spcBef>
                <a:spcPts val="130"/>
              </a:spcBef>
            </a:pPr>
            <a:r>
              <a:rPr sz="1650" spc="85" dirty="0">
                <a:latin typeface="Cambria Math"/>
                <a:cs typeface="Cambria Math"/>
              </a:rPr>
              <a:t>3</a:t>
            </a:r>
            <a:endParaRPr sz="1650">
              <a:latin typeface="Cambria Math"/>
              <a:cs typeface="Cambria Math"/>
            </a:endParaRPr>
          </a:p>
          <a:p>
            <a:pPr marL="38100">
              <a:lnSpc>
                <a:spcPts val="2715"/>
              </a:lnSpc>
            </a:pPr>
            <a:r>
              <a:rPr sz="2400" dirty="0">
                <a:latin typeface="Cambria Math"/>
                <a:cs typeface="Cambria Math"/>
              </a:rPr>
              <a:t>∴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mbria Math"/>
                <a:cs typeface="Cambria Math"/>
              </a:rPr>
              <a:t>𝒗</a:t>
            </a:r>
            <a:r>
              <a:rPr sz="2625" baseline="-15873" dirty="0">
                <a:solidFill>
                  <a:srgbClr val="FF0000"/>
                </a:solidFill>
                <a:latin typeface="Cambria Math"/>
                <a:cs typeface="Cambria Math"/>
              </a:rPr>
              <a:t>𝟎 </a:t>
            </a:r>
            <a:r>
              <a:rPr sz="2625" spc="-15" baseline="-15873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𝟐𝟗.</a:t>
            </a:r>
            <a:r>
              <a:rPr sz="2400" spc="-1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𝟖 𝒇</a:t>
            </a:r>
            <a:r>
              <a:rPr sz="2400" spc="-5" dirty="0">
                <a:solidFill>
                  <a:srgbClr val="FF0000"/>
                </a:solidFill>
                <a:latin typeface="Cambria Math"/>
                <a:cs typeface="Cambria Math"/>
              </a:rPr>
              <a:t>𝒕/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𝒔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983980" y="1030224"/>
            <a:ext cx="3208020" cy="2451100"/>
            <a:chOff x="8983980" y="1030224"/>
            <a:chExt cx="3208020" cy="2451100"/>
          </a:xfrm>
        </p:grpSpPr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83980" y="1030224"/>
              <a:ext cx="3208020" cy="2450591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9765792" y="1453896"/>
              <a:ext cx="1899920" cy="76200"/>
            </a:xfrm>
            <a:custGeom>
              <a:avLst/>
              <a:gdLst/>
              <a:ahLst/>
              <a:cxnLst/>
              <a:rect l="l" t="t" r="r" b="b"/>
              <a:pathLst>
                <a:path w="189992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59943" y="44450"/>
                  </a:lnTo>
                  <a:lnTo>
                    <a:pt x="57150" y="41655"/>
                  </a:lnTo>
                  <a:lnTo>
                    <a:pt x="57150" y="34543"/>
                  </a:lnTo>
                  <a:lnTo>
                    <a:pt x="59943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1899920" h="76200">
                  <a:moveTo>
                    <a:pt x="1823592" y="0"/>
                  </a:moveTo>
                  <a:lnTo>
                    <a:pt x="1823592" y="76200"/>
                  </a:lnTo>
                  <a:lnTo>
                    <a:pt x="1887092" y="44450"/>
                  </a:lnTo>
                  <a:lnTo>
                    <a:pt x="1839849" y="44450"/>
                  </a:lnTo>
                  <a:lnTo>
                    <a:pt x="1842642" y="41655"/>
                  </a:lnTo>
                  <a:lnTo>
                    <a:pt x="1842642" y="34543"/>
                  </a:lnTo>
                  <a:lnTo>
                    <a:pt x="1839849" y="31750"/>
                  </a:lnTo>
                  <a:lnTo>
                    <a:pt x="1887092" y="31750"/>
                  </a:lnTo>
                  <a:lnTo>
                    <a:pt x="1823592" y="0"/>
                  </a:lnTo>
                  <a:close/>
                </a:path>
                <a:path w="1899920" h="76200">
                  <a:moveTo>
                    <a:pt x="76200" y="31750"/>
                  </a:moveTo>
                  <a:lnTo>
                    <a:pt x="59943" y="31750"/>
                  </a:lnTo>
                  <a:lnTo>
                    <a:pt x="57150" y="34543"/>
                  </a:lnTo>
                  <a:lnTo>
                    <a:pt x="57150" y="41655"/>
                  </a:lnTo>
                  <a:lnTo>
                    <a:pt x="59943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1899920" h="76200">
                  <a:moveTo>
                    <a:pt x="1823592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1823592" y="44450"/>
                  </a:lnTo>
                  <a:lnTo>
                    <a:pt x="1823592" y="31750"/>
                  </a:lnTo>
                  <a:close/>
                </a:path>
                <a:path w="1899920" h="76200">
                  <a:moveTo>
                    <a:pt x="1887092" y="31750"/>
                  </a:moveTo>
                  <a:lnTo>
                    <a:pt x="1839849" y="31750"/>
                  </a:lnTo>
                  <a:lnTo>
                    <a:pt x="1842642" y="34543"/>
                  </a:lnTo>
                  <a:lnTo>
                    <a:pt x="1842642" y="41655"/>
                  </a:lnTo>
                  <a:lnTo>
                    <a:pt x="1839849" y="44450"/>
                  </a:lnTo>
                  <a:lnTo>
                    <a:pt x="1887092" y="44450"/>
                  </a:lnTo>
                  <a:lnTo>
                    <a:pt x="1899792" y="38100"/>
                  </a:lnTo>
                  <a:lnTo>
                    <a:pt x="1887092" y="31750"/>
                  </a:lnTo>
                  <a:close/>
                </a:path>
              </a:pathLst>
            </a:custGeom>
            <a:solidFill>
              <a:srgbClr val="9D2C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0769600" y="1519885"/>
            <a:ext cx="23304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7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ft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0120883" y="1903285"/>
            <a:ext cx="1109345" cy="448945"/>
            <a:chOff x="10120883" y="1903285"/>
            <a:chExt cx="1109345" cy="448945"/>
          </a:xfrm>
        </p:grpSpPr>
        <p:sp>
          <p:nvSpPr>
            <p:cNvPr id="43" name="object 43"/>
            <p:cNvSpPr/>
            <p:nvPr/>
          </p:nvSpPr>
          <p:spPr>
            <a:xfrm>
              <a:off x="10120883" y="1908048"/>
              <a:ext cx="1109345" cy="426720"/>
            </a:xfrm>
            <a:custGeom>
              <a:avLst/>
              <a:gdLst/>
              <a:ahLst/>
              <a:cxnLst/>
              <a:rect l="l" t="t" r="r" b="b"/>
              <a:pathLst>
                <a:path w="1109345" h="426719">
                  <a:moveTo>
                    <a:pt x="0" y="0"/>
                  </a:moveTo>
                  <a:lnTo>
                    <a:pt x="467614" y="0"/>
                  </a:lnTo>
                </a:path>
                <a:path w="1109345" h="426719">
                  <a:moveTo>
                    <a:pt x="1108964" y="426719"/>
                  </a:moveTo>
                  <a:lnTo>
                    <a:pt x="176784" y="42671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0401299" y="1908048"/>
              <a:ext cx="76200" cy="443865"/>
            </a:xfrm>
            <a:custGeom>
              <a:avLst/>
              <a:gdLst/>
              <a:ahLst/>
              <a:cxnLst/>
              <a:rect l="l" t="t" r="r" b="b"/>
              <a:pathLst>
                <a:path w="76200" h="443864">
                  <a:moveTo>
                    <a:pt x="31750" y="367664"/>
                  </a:moveTo>
                  <a:lnTo>
                    <a:pt x="0" y="367664"/>
                  </a:lnTo>
                  <a:lnTo>
                    <a:pt x="38100" y="443864"/>
                  </a:lnTo>
                  <a:lnTo>
                    <a:pt x="66675" y="386714"/>
                  </a:lnTo>
                  <a:lnTo>
                    <a:pt x="34544" y="386714"/>
                  </a:lnTo>
                  <a:lnTo>
                    <a:pt x="31750" y="383921"/>
                  </a:lnTo>
                  <a:lnTo>
                    <a:pt x="31750" y="367664"/>
                  </a:lnTo>
                  <a:close/>
                </a:path>
                <a:path w="76200" h="443864">
                  <a:moveTo>
                    <a:pt x="41655" y="57150"/>
                  </a:moveTo>
                  <a:lnTo>
                    <a:pt x="34544" y="57150"/>
                  </a:lnTo>
                  <a:lnTo>
                    <a:pt x="31750" y="59943"/>
                  </a:lnTo>
                  <a:lnTo>
                    <a:pt x="31750" y="383921"/>
                  </a:lnTo>
                  <a:lnTo>
                    <a:pt x="34544" y="386714"/>
                  </a:lnTo>
                  <a:lnTo>
                    <a:pt x="41655" y="386714"/>
                  </a:lnTo>
                  <a:lnTo>
                    <a:pt x="44450" y="383921"/>
                  </a:lnTo>
                  <a:lnTo>
                    <a:pt x="44450" y="59943"/>
                  </a:lnTo>
                  <a:lnTo>
                    <a:pt x="41655" y="57150"/>
                  </a:lnTo>
                  <a:close/>
                </a:path>
                <a:path w="76200" h="443864">
                  <a:moveTo>
                    <a:pt x="76200" y="367664"/>
                  </a:moveTo>
                  <a:lnTo>
                    <a:pt x="44450" y="367664"/>
                  </a:lnTo>
                  <a:lnTo>
                    <a:pt x="44450" y="383921"/>
                  </a:lnTo>
                  <a:lnTo>
                    <a:pt x="41655" y="386714"/>
                  </a:lnTo>
                  <a:lnTo>
                    <a:pt x="66675" y="386714"/>
                  </a:lnTo>
                  <a:lnTo>
                    <a:pt x="76200" y="367664"/>
                  </a:lnTo>
                  <a:close/>
                </a:path>
                <a:path w="76200" h="44386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59943"/>
                  </a:lnTo>
                  <a:lnTo>
                    <a:pt x="34544" y="57150"/>
                  </a:lnTo>
                  <a:lnTo>
                    <a:pt x="66675" y="57150"/>
                  </a:lnTo>
                  <a:lnTo>
                    <a:pt x="38100" y="0"/>
                  </a:lnTo>
                  <a:close/>
                </a:path>
                <a:path w="76200" h="443864">
                  <a:moveTo>
                    <a:pt x="66675" y="57150"/>
                  </a:moveTo>
                  <a:lnTo>
                    <a:pt x="41655" y="57150"/>
                  </a:lnTo>
                  <a:lnTo>
                    <a:pt x="44450" y="59943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6675" y="57150"/>
                  </a:lnTo>
                  <a:close/>
                </a:path>
              </a:pathLst>
            </a:custGeom>
            <a:solidFill>
              <a:srgbClr val="9D2C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0564748" y="2029205"/>
            <a:ext cx="347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3.2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23036" y="799338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20" dirty="0">
                <a:solidFill>
                  <a:srgbClr val="FDFFFF"/>
                </a:solidFill>
                <a:latin typeface="Tahoma"/>
                <a:cs typeface="Tahoma"/>
              </a:rPr>
              <a:t>16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7/1/2025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58837493-79D2-8636-5864-57952D635A30}"/>
              </a:ext>
            </a:extLst>
          </p:cNvPr>
          <p:cNvSpPr txBox="1"/>
          <p:nvPr/>
        </p:nvSpPr>
        <p:spPr>
          <a:xfrm>
            <a:off x="1804797" y="3023361"/>
            <a:ext cx="2320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Relative</a:t>
            </a:r>
            <a:r>
              <a:rPr sz="2400" b="1" spc="-6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Position: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FE123E89-8323-6921-2C4F-663C4615AC47}"/>
              </a:ext>
            </a:extLst>
          </p:cNvPr>
          <p:cNvSpPr txBox="1"/>
          <p:nvPr/>
        </p:nvSpPr>
        <p:spPr>
          <a:xfrm>
            <a:off x="4170934" y="3386073"/>
            <a:ext cx="2094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35" dirty="0">
                <a:solidFill>
                  <a:srgbClr val="404040"/>
                </a:solidFill>
                <a:latin typeface="Cambria Math"/>
                <a:cs typeface="Cambria Math"/>
              </a:rPr>
              <a:t>𝒙</a:t>
            </a:r>
            <a:r>
              <a:rPr sz="2625" spc="52" baseline="-15873" dirty="0">
                <a:solidFill>
                  <a:srgbClr val="404040"/>
                </a:solidFill>
                <a:latin typeface="Cambria Math"/>
                <a:cs typeface="Cambria Math"/>
              </a:rPr>
              <a:t>𝐵/𝐴</a:t>
            </a:r>
            <a:r>
              <a:rPr sz="2625" spc="555" baseline="-15873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2400" spc="11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15" dirty="0">
                <a:solidFill>
                  <a:srgbClr val="404040"/>
                </a:solidFill>
                <a:latin typeface="Cambria Math"/>
                <a:cs typeface="Cambria Math"/>
              </a:rPr>
              <a:t>𝒙</a:t>
            </a:r>
            <a:r>
              <a:rPr sz="2625" spc="22" baseline="-15873" dirty="0">
                <a:solidFill>
                  <a:srgbClr val="404040"/>
                </a:solidFill>
                <a:latin typeface="Cambria Math"/>
                <a:cs typeface="Cambria Math"/>
              </a:rPr>
              <a:t>𝐵</a:t>
            </a:r>
            <a:r>
              <a:rPr sz="2625" spc="434" baseline="-15873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−</a:t>
            </a:r>
            <a:r>
              <a:rPr sz="2400" spc="-2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Cambria Math"/>
                <a:cs typeface="Cambria Math"/>
              </a:rPr>
              <a:t>𝒙</a:t>
            </a:r>
            <a:r>
              <a:rPr sz="2625" spc="-60" baseline="-15873" dirty="0">
                <a:solidFill>
                  <a:srgbClr val="404040"/>
                </a:solidFill>
                <a:latin typeface="Cambria Math"/>
                <a:cs typeface="Cambria Math"/>
              </a:rPr>
              <a:t>𝐴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F85AEF03-FFD3-A188-B436-7FBCCEC44283}"/>
              </a:ext>
            </a:extLst>
          </p:cNvPr>
          <p:cNvSpPr txBox="1"/>
          <p:nvPr/>
        </p:nvSpPr>
        <p:spPr>
          <a:xfrm>
            <a:off x="1804797" y="3915282"/>
            <a:ext cx="2303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Relative</a:t>
            </a:r>
            <a:r>
              <a:rPr sz="2400" b="1" spc="-10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Velocity: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634E8839-13F7-D894-4474-418CBEB003CB}"/>
              </a:ext>
            </a:extLst>
          </p:cNvPr>
          <p:cNvSpPr txBox="1"/>
          <p:nvPr/>
        </p:nvSpPr>
        <p:spPr>
          <a:xfrm>
            <a:off x="1779397" y="4114927"/>
            <a:ext cx="4487545" cy="1445895"/>
          </a:xfrm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2411095">
              <a:lnSpc>
                <a:spcPct val="100000"/>
              </a:lnSpc>
              <a:spcBef>
                <a:spcPts val="1380"/>
              </a:spcBef>
            </a:pPr>
            <a:r>
              <a:rPr sz="2400" spc="30" dirty="0">
                <a:solidFill>
                  <a:srgbClr val="404040"/>
                </a:solidFill>
                <a:latin typeface="Cambria Math"/>
                <a:cs typeface="Cambria Math"/>
              </a:rPr>
              <a:t>𝒗</a:t>
            </a:r>
            <a:r>
              <a:rPr sz="2625" spc="44" baseline="-15873" dirty="0">
                <a:solidFill>
                  <a:srgbClr val="404040"/>
                </a:solidFill>
                <a:latin typeface="Cambria Math"/>
                <a:cs typeface="Cambria Math"/>
              </a:rPr>
              <a:t>𝐵/𝐴</a:t>
            </a:r>
            <a:r>
              <a:rPr sz="2625" spc="562" baseline="-15873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2400" spc="11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15" dirty="0">
                <a:solidFill>
                  <a:srgbClr val="404040"/>
                </a:solidFill>
                <a:latin typeface="Cambria Math"/>
                <a:cs typeface="Cambria Math"/>
              </a:rPr>
              <a:t>𝒗</a:t>
            </a:r>
            <a:r>
              <a:rPr sz="2625" spc="22" baseline="-15873" dirty="0">
                <a:solidFill>
                  <a:srgbClr val="404040"/>
                </a:solidFill>
                <a:latin typeface="Cambria Math"/>
                <a:cs typeface="Cambria Math"/>
              </a:rPr>
              <a:t>𝐵</a:t>
            </a:r>
            <a:r>
              <a:rPr sz="2625" spc="405" baseline="-15873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−</a:t>
            </a:r>
            <a:r>
              <a:rPr sz="2400" spc="-1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Cambria Math"/>
                <a:cs typeface="Cambria Math"/>
              </a:rPr>
              <a:t>𝒗</a:t>
            </a:r>
            <a:r>
              <a:rPr sz="2625" spc="-60" baseline="-15873" dirty="0">
                <a:solidFill>
                  <a:srgbClr val="404040"/>
                </a:solidFill>
                <a:latin typeface="Cambria Math"/>
                <a:cs typeface="Cambria Math"/>
              </a:rPr>
              <a:t>𝐴</a:t>
            </a:r>
            <a:endParaRPr sz="2625" baseline="-15873" dirty="0">
              <a:latin typeface="Cambria Math"/>
              <a:cs typeface="Cambria Math"/>
            </a:endParaRPr>
          </a:p>
          <a:p>
            <a:pPr marL="38100">
              <a:lnSpc>
                <a:spcPts val="2870"/>
              </a:lnSpc>
              <a:spcBef>
                <a:spcPts val="1285"/>
              </a:spcBef>
            </a:pP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Relative</a:t>
            </a:r>
            <a:r>
              <a:rPr sz="2400" b="1" spc="-1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Accelera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t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io</a:t>
            </a:r>
            <a:r>
              <a:rPr sz="24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n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 marL="2391410">
              <a:lnSpc>
                <a:spcPts val="2870"/>
              </a:lnSpc>
            </a:pPr>
            <a:r>
              <a:rPr sz="2400" spc="30" dirty="0">
                <a:solidFill>
                  <a:srgbClr val="404040"/>
                </a:solidFill>
                <a:latin typeface="Cambria Math"/>
                <a:cs typeface="Cambria Math"/>
              </a:rPr>
              <a:t>𝒂</a:t>
            </a:r>
            <a:r>
              <a:rPr sz="2625" spc="44" baseline="-15873" dirty="0">
                <a:solidFill>
                  <a:srgbClr val="404040"/>
                </a:solidFill>
                <a:latin typeface="Cambria Math"/>
                <a:cs typeface="Cambria Math"/>
              </a:rPr>
              <a:t>𝐵/𝐴</a:t>
            </a:r>
            <a:r>
              <a:rPr sz="2625" spc="562" baseline="-15873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2400" spc="12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15" dirty="0">
                <a:solidFill>
                  <a:srgbClr val="404040"/>
                </a:solidFill>
                <a:latin typeface="Cambria Math"/>
                <a:cs typeface="Cambria Math"/>
              </a:rPr>
              <a:t>𝒂</a:t>
            </a:r>
            <a:r>
              <a:rPr sz="2625" spc="22" baseline="-15873" dirty="0">
                <a:solidFill>
                  <a:srgbClr val="404040"/>
                </a:solidFill>
                <a:latin typeface="Cambria Math"/>
                <a:cs typeface="Cambria Math"/>
              </a:rPr>
              <a:t>𝐵</a:t>
            </a:r>
            <a:r>
              <a:rPr sz="2625" spc="405" baseline="-15873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−</a:t>
            </a:r>
            <a:r>
              <a:rPr sz="2400" spc="-1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Cambria Math"/>
                <a:cs typeface="Cambria Math"/>
              </a:rPr>
              <a:t>𝒂</a:t>
            </a:r>
            <a:r>
              <a:rPr sz="2625" spc="-60" baseline="-15873" dirty="0">
                <a:solidFill>
                  <a:srgbClr val="404040"/>
                </a:solidFill>
                <a:latin typeface="Cambria Math"/>
                <a:cs typeface="Cambria Math"/>
              </a:rPr>
              <a:t>𝐴</a:t>
            </a:r>
            <a:endParaRPr sz="2625" baseline="-15873" dirty="0">
              <a:latin typeface="Cambria Math"/>
              <a:cs typeface="Cambria Math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048067DE-F761-4D54-31AC-0928543BB5E0}"/>
              </a:ext>
            </a:extLst>
          </p:cNvPr>
          <p:cNvSpPr txBox="1"/>
          <p:nvPr/>
        </p:nvSpPr>
        <p:spPr>
          <a:xfrm>
            <a:off x="7263892" y="3386073"/>
            <a:ext cx="2519680" cy="2174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⇒</a:t>
            </a:r>
            <a:r>
              <a:rPr sz="2400" spc="12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15" dirty="0">
                <a:solidFill>
                  <a:srgbClr val="404040"/>
                </a:solidFill>
                <a:latin typeface="Cambria Math"/>
                <a:cs typeface="Cambria Math"/>
              </a:rPr>
              <a:t>𝒙</a:t>
            </a:r>
            <a:r>
              <a:rPr sz="2625" spc="22" baseline="-15873" dirty="0">
                <a:solidFill>
                  <a:srgbClr val="404040"/>
                </a:solidFill>
                <a:latin typeface="Cambria Math"/>
                <a:cs typeface="Cambria Math"/>
              </a:rPr>
              <a:t>𝐵</a:t>
            </a:r>
            <a:r>
              <a:rPr sz="2625" spc="615" baseline="-15873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2400" spc="11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Cambria Math"/>
                <a:cs typeface="Cambria Math"/>
              </a:rPr>
              <a:t>𝒙</a:t>
            </a:r>
            <a:r>
              <a:rPr sz="2625" spc="-60" baseline="-15873" dirty="0">
                <a:solidFill>
                  <a:srgbClr val="404040"/>
                </a:solidFill>
                <a:latin typeface="Cambria Math"/>
                <a:cs typeface="Cambria Math"/>
              </a:rPr>
              <a:t>𝐴</a:t>
            </a:r>
            <a:r>
              <a:rPr sz="2625" spc="397" baseline="-15873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+</a:t>
            </a:r>
            <a:r>
              <a:rPr sz="2400" spc="-1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30" dirty="0">
                <a:solidFill>
                  <a:srgbClr val="404040"/>
                </a:solidFill>
                <a:latin typeface="Cambria Math"/>
                <a:cs typeface="Cambria Math"/>
              </a:rPr>
              <a:t>𝒙</a:t>
            </a:r>
            <a:r>
              <a:rPr sz="2625" spc="44" baseline="-15873" dirty="0">
                <a:solidFill>
                  <a:srgbClr val="404040"/>
                </a:solidFill>
                <a:latin typeface="Cambria Math"/>
                <a:cs typeface="Cambria Math"/>
              </a:rPr>
              <a:t>𝐵/𝐴</a:t>
            </a:r>
            <a:endParaRPr sz="2625" baseline="-15873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00">
              <a:latin typeface="Cambria Math"/>
              <a:cs typeface="Cambria Math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⇒</a:t>
            </a:r>
            <a:r>
              <a:rPr sz="2400" spc="12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15" dirty="0">
                <a:solidFill>
                  <a:srgbClr val="404040"/>
                </a:solidFill>
                <a:latin typeface="Cambria Math"/>
                <a:cs typeface="Cambria Math"/>
              </a:rPr>
              <a:t>𝒗</a:t>
            </a:r>
            <a:r>
              <a:rPr sz="2625" spc="22" baseline="-15873" dirty="0">
                <a:solidFill>
                  <a:srgbClr val="404040"/>
                </a:solidFill>
                <a:latin typeface="Cambria Math"/>
                <a:cs typeface="Cambria Math"/>
              </a:rPr>
              <a:t>𝐵</a:t>
            </a:r>
            <a:r>
              <a:rPr sz="2625" spc="600" baseline="-15873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2400" spc="12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Cambria Math"/>
                <a:cs typeface="Cambria Math"/>
              </a:rPr>
              <a:t>𝒗</a:t>
            </a:r>
            <a:r>
              <a:rPr sz="2625" spc="-60" baseline="-15873" dirty="0">
                <a:solidFill>
                  <a:srgbClr val="404040"/>
                </a:solidFill>
                <a:latin typeface="Cambria Math"/>
                <a:cs typeface="Cambria Math"/>
              </a:rPr>
              <a:t>𝐴</a:t>
            </a:r>
            <a:r>
              <a:rPr sz="2625" spc="359" baseline="-15873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+</a:t>
            </a:r>
            <a:r>
              <a:rPr sz="2400" spc="-1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30" dirty="0">
                <a:solidFill>
                  <a:srgbClr val="404040"/>
                </a:solidFill>
                <a:latin typeface="Cambria Math"/>
                <a:cs typeface="Cambria Math"/>
              </a:rPr>
              <a:t>𝒗</a:t>
            </a:r>
            <a:r>
              <a:rPr sz="2625" spc="44" baseline="-15873" dirty="0">
                <a:solidFill>
                  <a:srgbClr val="404040"/>
                </a:solidFill>
                <a:latin typeface="Cambria Math"/>
                <a:cs typeface="Cambria Math"/>
              </a:rPr>
              <a:t>𝐵/𝐴</a:t>
            </a:r>
            <a:endParaRPr sz="2625" baseline="-15873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00">
              <a:latin typeface="Cambria Math"/>
              <a:cs typeface="Cambria Math"/>
            </a:endParaRPr>
          </a:p>
          <a:p>
            <a:pPr marL="63500">
              <a:lnSpc>
                <a:spcPct val="100000"/>
              </a:lnSpc>
            </a:pP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⇒</a:t>
            </a:r>
            <a:r>
              <a:rPr sz="2400" spc="12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15" dirty="0">
                <a:solidFill>
                  <a:srgbClr val="404040"/>
                </a:solidFill>
                <a:latin typeface="Cambria Math"/>
                <a:cs typeface="Cambria Math"/>
              </a:rPr>
              <a:t>𝒂</a:t>
            </a:r>
            <a:r>
              <a:rPr sz="2625" spc="22" baseline="-15873" dirty="0">
                <a:solidFill>
                  <a:srgbClr val="404040"/>
                </a:solidFill>
                <a:latin typeface="Cambria Math"/>
                <a:cs typeface="Cambria Math"/>
              </a:rPr>
              <a:t>𝐵</a:t>
            </a:r>
            <a:r>
              <a:rPr sz="2625" spc="600" baseline="-15873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2400" spc="12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Cambria Math"/>
                <a:cs typeface="Cambria Math"/>
              </a:rPr>
              <a:t>𝒂</a:t>
            </a:r>
            <a:r>
              <a:rPr sz="2625" spc="-60" baseline="-15873" dirty="0">
                <a:solidFill>
                  <a:srgbClr val="404040"/>
                </a:solidFill>
                <a:latin typeface="Cambria Math"/>
                <a:cs typeface="Cambria Math"/>
              </a:rPr>
              <a:t>𝐴</a:t>
            </a:r>
            <a:r>
              <a:rPr sz="2625" spc="375" baseline="-15873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+</a:t>
            </a:r>
            <a:r>
              <a:rPr sz="2400" spc="-2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30" dirty="0">
                <a:solidFill>
                  <a:srgbClr val="404040"/>
                </a:solidFill>
                <a:latin typeface="Cambria Math"/>
                <a:cs typeface="Cambria Math"/>
              </a:rPr>
              <a:t>𝒂</a:t>
            </a:r>
            <a:r>
              <a:rPr sz="2625" spc="44" baseline="-15873" dirty="0">
                <a:solidFill>
                  <a:srgbClr val="404040"/>
                </a:solidFill>
                <a:latin typeface="Cambria Math"/>
                <a:cs typeface="Cambria Math"/>
              </a:rPr>
              <a:t>𝐵/𝐴</a:t>
            </a:r>
            <a:endParaRPr sz="2625" baseline="-15873">
              <a:latin typeface="Cambria Math"/>
              <a:cs typeface="Cambria Math"/>
            </a:endParaRPr>
          </a:p>
        </p:txBody>
      </p:sp>
      <p:grpSp>
        <p:nvGrpSpPr>
          <p:cNvPr id="11" name="object 8">
            <a:extLst>
              <a:ext uri="{FF2B5EF4-FFF2-40B4-BE49-F238E27FC236}">
                <a16:creationId xmlns:a16="http://schemas.microsoft.com/office/drawing/2014/main" id="{964A5A7D-4EAA-31FF-5BF5-90FE6161D017}"/>
              </a:ext>
            </a:extLst>
          </p:cNvPr>
          <p:cNvGrpSpPr/>
          <p:nvPr/>
        </p:nvGrpSpPr>
        <p:grpSpPr>
          <a:xfrm>
            <a:off x="4256341" y="1622742"/>
            <a:ext cx="4431030" cy="93980"/>
            <a:chOff x="4256341" y="1622742"/>
            <a:chExt cx="4431030" cy="93980"/>
          </a:xfrm>
        </p:grpSpPr>
        <p:pic>
          <p:nvPicPr>
            <p:cNvPr id="12" name="object 9">
              <a:extLst>
                <a:ext uri="{FF2B5EF4-FFF2-40B4-BE49-F238E27FC236}">
                  <a16:creationId xmlns:a16="http://schemas.microsoft.com/office/drawing/2014/main" id="{9A7D0A43-80E7-13B6-7BB1-DF214C3A36C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1382" y="1622742"/>
              <a:ext cx="96646" cy="78359"/>
            </a:xfrm>
            <a:prstGeom prst="rect">
              <a:avLst/>
            </a:prstGeom>
          </p:spPr>
        </p:pic>
        <p:pic>
          <p:nvPicPr>
            <p:cNvPr id="13" name="object 10">
              <a:extLst>
                <a:ext uri="{FF2B5EF4-FFF2-40B4-BE49-F238E27FC236}">
                  <a16:creationId xmlns:a16="http://schemas.microsoft.com/office/drawing/2014/main" id="{CBD13AA3-7E4E-1A82-35B2-53C1FCD6809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94130" y="1622742"/>
              <a:ext cx="96647" cy="78359"/>
            </a:xfrm>
            <a:prstGeom prst="rect">
              <a:avLst/>
            </a:prstGeom>
          </p:spPr>
        </p:pic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EB06C0ED-EB3C-E0B4-CEA6-BF139970DFDE}"/>
                </a:ext>
              </a:extLst>
            </p:cNvPr>
            <p:cNvSpPr/>
            <p:nvPr/>
          </p:nvSpPr>
          <p:spPr>
            <a:xfrm>
              <a:off x="4261103" y="1662684"/>
              <a:ext cx="4421505" cy="15875"/>
            </a:xfrm>
            <a:custGeom>
              <a:avLst/>
              <a:gdLst/>
              <a:ahLst/>
              <a:cxnLst/>
              <a:rect l="l" t="t" r="r" b="b"/>
              <a:pathLst>
                <a:path w="4421505" h="15875">
                  <a:moveTo>
                    <a:pt x="0" y="15493"/>
                  </a:moveTo>
                  <a:lnTo>
                    <a:pt x="4421124" y="0"/>
                  </a:lnTo>
                </a:path>
              </a:pathLst>
            </a:custGeom>
            <a:ln w="9525">
              <a:solidFill>
                <a:srgbClr val="9D2C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2">
              <a:extLst>
                <a:ext uri="{FF2B5EF4-FFF2-40B4-BE49-F238E27FC236}">
                  <a16:creationId xmlns:a16="http://schemas.microsoft.com/office/drawing/2014/main" id="{329CD717-1DE2-61EC-A643-BFDB9B937B4E}"/>
                </a:ext>
              </a:extLst>
            </p:cNvPr>
            <p:cNvSpPr/>
            <p:nvPr/>
          </p:nvSpPr>
          <p:spPr>
            <a:xfrm>
              <a:off x="4597907" y="1662684"/>
              <a:ext cx="58419" cy="45720"/>
            </a:xfrm>
            <a:custGeom>
              <a:avLst/>
              <a:gdLst/>
              <a:ahLst/>
              <a:cxnLst/>
              <a:rect l="l" t="t" r="r" b="b"/>
              <a:pathLst>
                <a:path w="58420" h="45719">
                  <a:moveTo>
                    <a:pt x="28955" y="0"/>
                  </a:moveTo>
                  <a:lnTo>
                    <a:pt x="17680" y="1803"/>
                  </a:lnTo>
                  <a:lnTo>
                    <a:pt x="8477" y="6715"/>
                  </a:lnTo>
                  <a:lnTo>
                    <a:pt x="2274" y="13983"/>
                  </a:lnTo>
                  <a:lnTo>
                    <a:pt x="0" y="22860"/>
                  </a:lnTo>
                  <a:lnTo>
                    <a:pt x="2274" y="31736"/>
                  </a:lnTo>
                  <a:lnTo>
                    <a:pt x="8477" y="39004"/>
                  </a:lnTo>
                  <a:lnTo>
                    <a:pt x="17680" y="43916"/>
                  </a:lnTo>
                  <a:lnTo>
                    <a:pt x="28955" y="45719"/>
                  </a:lnTo>
                  <a:lnTo>
                    <a:pt x="40231" y="43916"/>
                  </a:lnTo>
                  <a:lnTo>
                    <a:pt x="49434" y="39004"/>
                  </a:lnTo>
                  <a:lnTo>
                    <a:pt x="55637" y="31736"/>
                  </a:lnTo>
                  <a:lnTo>
                    <a:pt x="57912" y="22860"/>
                  </a:lnTo>
                  <a:lnTo>
                    <a:pt x="55637" y="13983"/>
                  </a:lnTo>
                  <a:lnTo>
                    <a:pt x="49434" y="6715"/>
                  </a:lnTo>
                  <a:lnTo>
                    <a:pt x="40231" y="1803"/>
                  </a:lnTo>
                  <a:lnTo>
                    <a:pt x="28955" y="0"/>
                  </a:lnTo>
                  <a:close/>
                </a:path>
              </a:pathLst>
            </a:custGeom>
            <a:solidFill>
              <a:srgbClr val="A42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A7B1BC96-63AC-B155-3713-6E81DA73EC47}"/>
                </a:ext>
              </a:extLst>
            </p:cNvPr>
            <p:cNvSpPr/>
            <p:nvPr/>
          </p:nvSpPr>
          <p:spPr>
            <a:xfrm>
              <a:off x="4597907" y="1662684"/>
              <a:ext cx="58419" cy="45720"/>
            </a:xfrm>
            <a:custGeom>
              <a:avLst/>
              <a:gdLst/>
              <a:ahLst/>
              <a:cxnLst/>
              <a:rect l="l" t="t" r="r" b="b"/>
              <a:pathLst>
                <a:path w="58420" h="45719">
                  <a:moveTo>
                    <a:pt x="0" y="22860"/>
                  </a:moveTo>
                  <a:lnTo>
                    <a:pt x="2274" y="13983"/>
                  </a:lnTo>
                  <a:lnTo>
                    <a:pt x="8477" y="6715"/>
                  </a:lnTo>
                  <a:lnTo>
                    <a:pt x="17680" y="1803"/>
                  </a:lnTo>
                  <a:lnTo>
                    <a:pt x="28955" y="0"/>
                  </a:lnTo>
                  <a:lnTo>
                    <a:pt x="40231" y="1803"/>
                  </a:lnTo>
                  <a:lnTo>
                    <a:pt x="49434" y="6715"/>
                  </a:lnTo>
                  <a:lnTo>
                    <a:pt x="55637" y="13983"/>
                  </a:lnTo>
                  <a:lnTo>
                    <a:pt x="57912" y="22860"/>
                  </a:lnTo>
                  <a:lnTo>
                    <a:pt x="55637" y="31736"/>
                  </a:lnTo>
                  <a:lnTo>
                    <a:pt x="49434" y="39004"/>
                  </a:lnTo>
                  <a:lnTo>
                    <a:pt x="40231" y="43916"/>
                  </a:lnTo>
                  <a:lnTo>
                    <a:pt x="28955" y="45719"/>
                  </a:lnTo>
                  <a:lnTo>
                    <a:pt x="17680" y="43916"/>
                  </a:lnTo>
                  <a:lnTo>
                    <a:pt x="8477" y="39004"/>
                  </a:lnTo>
                  <a:lnTo>
                    <a:pt x="2274" y="31736"/>
                  </a:lnTo>
                  <a:lnTo>
                    <a:pt x="0" y="22860"/>
                  </a:lnTo>
                  <a:close/>
                </a:path>
              </a:pathLst>
            </a:custGeom>
            <a:ln w="15875">
              <a:solidFill>
                <a:srgbClr val="781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4">
            <a:extLst>
              <a:ext uri="{FF2B5EF4-FFF2-40B4-BE49-F238E27FC236}">
                <a16:creationId xmlns:a16="http://schemas.microsoft.com/office/drawing/2014/main" id="{AB96E60E-DE60-B45D-BFED-94DC2FFD2B2B}"/>
              </a:ext>
            </a:extLst>
          </p:cNvPr>
          <p:cNvSpPr txBox="1"/>
          <p:nvPr/>
        </p:nvSpPr>
        <p:spPr>
          <a:xfrm>
            <a:off x="6016497" y="1213865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15">
            <a:extLst>
              <a:ext uri="{FF2B5EF4-FFF2-40B4-BE49-F238E27FC236}">
                <a16:creationId xmlns:a16="http://schemas.microsoft.com/office/drawing/2014/main" id="{6DB52DFA-6633-51EC-5AEA-389F9CCCB9BA}"/>
              </a:ext>
            </a:extLst>
          </p:cNvPr>
          <p:cNvSpPr txBox="1"/>
          <p:nvPr/>
        </p:nvSpPr>
        <p:spPr>
          <a:xfrm>
            <a:off x="7344282" y="1226058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16">
            <a:extLst>
              <a:ext uri="{FF2B5EF4-FFF2-40B4-BE49-F238E27FC236}">
                <a16:creationId xmlns:a16="http://schemas.microsoft.com/office/drawing/2014/main" id="{B9780BE9-49CA-3E57-4841-1D2B3034B756}"/>
              </a:ext>
            </a:extLst>
          </p:cNvPr>
          <p:cNvSpPr txBox="1"/>
          <p:nvPr/>
        </p:nvSpPr>
        <p:spPr>
          <a:xfrm>
            <a:off x="4528820" y="1287526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O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2" name="object 17">
            <a:extLst>
              <a:ext uri="{FF2B5EF4-FFF2-40B4-BE49-F238E27FC236}">
                <a16:creationId xmlns:a16="http://schemas.microsoft.com/office/drawing/2014/main" id="{B245B1F2-2078-D815-5E22-D64E6EC19910}"/>
              </a:ext>
            </a:extLst>
          </p:cNvPr>
          <p:cNvGrpSpPr/>
          <p:nvPr/>
        </p:nvGrpSpPr>
        <p:grpSpPr>
          <a:xfrm>
            <a:off x="4618990" y="1769173"/>
            <a:ext cx="2827655" cy="721995"/>
            <a:chOff x="4618990" y="1769173"/>
            <a:chExt cx="2827655" cy="721995"/>
          </a:xfrm>
        </p:grpSpPr>
        <p:sp>
          <p:nvSpPr>
            <p:cNvPr id="23" name="object 18">
              <a:extLst>
                <a:ext uri="{FF2B5EF4-FFF2-40B4-BE49-F238E27FC236}">
                  <a16:creationId xmlns:a16="http://schemas.microsoft.com/office/drawing/2014/main" id="{9F347185-7CE6-9AC2-609B-64D409EE283F}"/>
                </a:ext>
              </a:extLst>
            </p:cNvPr>
            <p:cNvSpPr/>
            <p:nvPr/>
          </p:nvSpPr>
          <p:spPr>
            <a:xfrm>
              <a:off x="4625340" y="1784603"/>
              <a:ext cx="1403985" cy="701675"/>
            </a:xfrm>
            <a:custGeom>
              <a:avLst/>
              <a:gdLst/>
              <a:ahLst/>
              <a:cxnLst/>
              <a:rect l="l" t="t" r="r" b="b"/>
              <a:pathLst>
                <a:path w="1403985" h="701675">
                  <a:moveTo>
                    <a:pt x="0" y="0"/>
                  </a:moveTo>
                  <a:lnTo>
                    <a:pt x="0" y="701294"/>
                  </a:lnTo>
                </a:path>
                <a:path w="1403985" h="701675">
                  <a:moveTo>
                    <a:pt x="1403604" y="0"/>
                  </a:moveTo>
                  <a:lnTo>
                    <a:pt x="1403604" y="34277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9">
              <a:extLst>
                <a:ext uri="{FF2B5EF4-FFF2-40B4-BE49-F238E27FC236}">
                  <a16:creationId xmlns:a16="http://schemas.microsoft.com/office/drawing/2014/main" id="{87CC9A67-4381-1B51-D185-F41EA02907C7}"/>
                </a:ext>
              </a:extLst>
            </p:cNvPr>
            <p:cNvSpPr/>
            <p:nvPr/>
          </p:nvSpPr>
          <p:spPr>
            <a:xfrm>
              <a:off x="4618990" y="1847087"/>
              <a:ext cx="1419860" cy="76200"/>
            </a:xfrm>
            <a:custGeom>
              <a:avLst/>
              <a:gdLst/>
              <a:ahLst/>
              <a:cxnLst/>
              <a:rect l="l" t="t" r="r" b="b"/>
              <a:pathLst>
                <a:path w="1419860" h="76200">
                  <a:moveTo>
                    <a:pt x="1343152" y="0"/>
                  </a:moveTo>
                  <a:lnTo>
                    <a:pt x="1343152" y="76200"/>
                  </a:lnTo>
                  <a:lnTo>
                    <a:pt x="1406652" y="44450"/>
                  </a:lnTo>
                  <a:lnTo>
                    <a:pt x="1359408" y="44450"/>
                  </a:lnTo>
                  <a:lnTo>
                    <a:pt x="1362202" y="41656"/>
                  </a:lnTo>
                  <a:lnTo>
                    <a:pt x="1362202" y="34544"/>
                  </a:lnTo>
                  <a:lnTo>
                    <a:pt x="1359408" y="31750"/>
                  </a:lnTo>
                  <a:lnTo>
                    <a:pt x="1406652" y="31750"/>
                  </a:lnTo>
                  <a:lnTo>
                    <a:pt x="1343152" y="0"/>
                  </a:lnTo>
                  <a:close/>
                </a:path>
                <a:path w="1419860" h="76200">
                  <a:moveTo>
                    <a:pt x="1343152" y="31750"/>
                  </a:moveTo>
                  <a:lnTo>
                    <a:pt x="2794" y="31750"/>
                  </a:lnTo>
                  <a:lnTo>
                    <a:pt x="0" y="34544"/>
                  </a:lnTo>
                  <a:lnTo>
                    <a:pt x="0" y="41656"/>
                  </a:lnTo>
                  <a:lnTo>
                    <a:pt x="2794" y="44450"/>
                  </a:lnTo>
                  <a:lnTo>
                    <a:pt x="1343152" y="44450"/>
                  </a:lnTo>
                  <a:lnTo>
                    <a:pt x="1343152" y="31750"/>
                  </a:lnTo>
                  <a:close/>
                </a:path>
                <a:path w="1419860" h="76200">
                  <a:moveTo>
                    <a:pt x="1406652" y="31750"/>
                  </a:moveTo>
                  <a:lnTo>
                    <a:pt x="1359408" y="31750"/>
                  </a:lnTo>
                  <a:lnTo>
                    <a:pt x="1362202" y="34544"/>
                  </a:lnTo>
                  <a:lnTo>
                    <a:pt x="1362202" y="41656"/>
                  </a:lnTo>
                  <a:lnTo>
                    <a:pt x="1359408" y="44450"/>
                  </a:lnTo>
                  <a:lnTo>
                    <a:pt x="1406652" y="44450"/>
                  </a:lnTo>
                  <a:lnTo>
                    <a:pt x="1419352" y="38100"/>
                  </a:lnTo>
                  <a:lnTo>
                    <a:pt x="1406652" y="31750"/>
                  </a:lnTo>
                  <a:close/>
                </a:path>
              </a:pathLst>
            </a:custGeom>
            <a:solidFill>
              <a:srgbClr val="9D2C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0">
              <a:extLst>
                <a:ext uri="{FF2B5EF4-FFF2-40B4-BE49-F238E27FC236}">
                  <a16:creationId xmlns:a16="http://schemas.microsoft.com/office/drawing/2014/main" id="{C489AE64-60B0-3B67-C9AC-B03820422236}"/>
                </a:ext>
              </a:extLst>
            </p:cNvPr>
            <p:cNvSpPr/>
            <p:nvPr/>
          </p:nvSpPr>
          <p:spPr>
            <a:xfrm>
              <a:off x="7441692" y="1773935"/>
              <a:ext cx="0" cy="701675"/>
            </a:xfrm>
            <a:custGeom>
              <a:avLst/>
              <a:gdLst/>
              <a:ahLst/>
              <a:cxnLst/>
              <a:rect l="l" t="t" r="r" b="b"/>
              <a:pathLst>
                <a:path h="701675">
                  <a:moveTo>
                    <a:pt x="0" y="0"/>
                  </a:moveTo>
                  <a:lnTo>
                    <a:pt x="0" y="701293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1">
            <a:extLst>
              <a:ext uri="{FF2B5EF4-FFF2-40B4-BE49-F238E27FC236}">
                <a16:creationId xmlns:a16="http://schemas.microsoft.com/office/drawing/2014/main" id="{D1AD13FE-FC22-28A9-EAC4-E9208C89D27E}"/>
              </a:ext>
            </a:extLst>
          </p:cNvPr>
          <p:cNvSpPr txBox="1"/>
          <p:nvPr/>
        </p:nvSpPr>
        <p:spPr>
          <a:xfrm>
            <a:off x="5141086" y="1811273"/>
            <a:ext cx="297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𝐴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7" name="object 22">
            <a:extLst>
              <a:ext uri="{FF2B5EF4-FFF2-40B4-BE49-F238E27FC236}">
                <a16:creationId xmlns:a16="http://schemas.microsoft.com/office/drawing/2014/main" id="{0F3F0550-0369-C198-EAB8-F2860307ACE0}"/>
              </a:ext>
            </a:extLst>
          </p:cNvPr>
          <p:cNvSpPr/>
          <p:nvPr/>
        </p:nvSpPr>
        <p:spPr>
          <a:xfrm>
            <a:off x="4618990" y="2257044"/>
            <a:ext cx="2823845" cy="76200"/>
          </a:xfrm>
          <a:custGeom>
            <a:avLst/>
            <a:gdLst/>
            <a:ahLst/>
            <a:cxnLst/>
            <a:rect l="l" t="t" r="r" b="b"/>
            <a:pathLst>
              <a:path w="2823845" h="76200">
                <a:moveTo>
                  <a:pt x="2747517" y="0"/>
                </a:moveTo>
                <a:lnTo>
                  <a:pt x="2747517" y="76200"/>
                </a:lnTo>
                <a:lnTo>
                  <a:pt x="2811017" y="44450"/>
                </a:lnTo>
                <a:lnTo>
                  <a:pt x="2763774" y="44450"/>
                </a:lnTo>
                <a:lnTo>
                  <a:pt x="2766567" y="41655"/>
                </a:lnTo>
                <a:lnTo>
                  <a:pt x="2766567" y="34543"/>
                </a:lnTo>
                <a:lnTo>
                  <a:pt x="2763774" y="31750"/>
                </a:lnTo>
                <a:lnTo>
                  <a:pt x="2811017" y="31750"/>
                </a:lnTo>
                <a:lnTo>
                  <a:pt x="2747517" y="0"/>
                </a:lnTo>
                <a:close/>
              </a:path>
              <a:path w="2823845" h="76200">
                <a:moveTo>
                  <a:pt x="2747517" y="31750"/>
                </a:moveTo>
                <a:lnTo>
                  <a:pt x="2794" y="31750"/>
                </a:lnTo>
                <a:lnTo>
                  <a:pt x="0" y="34543"/>
                </a:lnTo>
                <a:lnTo>
                  <a:pt x="0" y="41655"/>
                </a:lnTo>
                <a:lnTo>
                  <a:pt x="2794" y="44450"/>
                </a:lnTo>
                <a:lnTo>
                  <a:pt x="2747517" y="44450"/>
                </a:lnTo>
                <a:lnTo>
                  <a:pt x="2747517" y="31750"/>
                </a:lnTo>
                <a:close/>
              </a:path>
              <a:path w="2823845" h="76200">
                <a:moveTo>
                  <a:pt x="2811017" y="31750"/>
                </a:moveTo>
                <a:lnTo>
                  <a:pt x="2763774" y="31750"/>
                </a:lnTo>
                <a:lnTo>
                  <a:pt x="2766567" y="34543"/>
                </a:lnTo>
                <a:lnTo>
                  <a:pt x="2766567" y="41655"/>
                </a:lnTo>
                <a:lnTo>
                  <a:pt x="2763774" y="44450"/>
                </a:lnTo>
                <a:lnTo>
                  <a:pt x="2811017" y="44450"/>
                </a:lnTo>
                <a:lnTo>
                  <a:pt x="2823717" y="38100"/>
                </a:lnTo>
                <a:lnTo>
                  <a:pt x="2811017" y="31750"/>
                </a:lnTo>
                <a:close/>
              </a:path>
            </a:pathLst>
          </a:custGeom>
          <a:solidFill>
            <a:srgbClr val="9D2C0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3">
            <a:extLst>
              <a:ext uri="{FF2B5EF4-FFF2-40B4-BE49-F238E27FC236}">
                <a16:creationId xmlns:a16="http://schemas.microsoft.com/office/drawing/2014/main" id="{F2C0BEF6-2793-3941-AE7C-727062E132B8}"/>
              </a:ext>
            </a:extLst>
          </p:cNvPr>
          <p:cNvSpPr txBox="1"/>
          <p:nvPr/>
        </p:nvSpPr>
        <p:spPr>
          <a:xfrm>
            <a:off x="5880480" y="2203830"/>
            <a:ext cx="311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latin typeface="Cambria Math"/>
                <a:cs typeface="Cambria Math"/>
              </a:rPr>
              <a:t>𝑥</a:t>
            </a:r>
            <a:r>
              <a:rPr sz="1950" spc="22" baseline="-14957" dirty="0">
                <a:latin typeface="Cambria Math"/>
                <a:cs typeface="Cambria Math"/>
              </a:rPr>
              <a:t>𝐵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9" name="object 24">
            <a:extLst>
              <a:ext uri="{FF2B5EF4-FFF2-40B4-BE49-F238E27FC236}">
                <a16:creationId xmlns:a16="http://schemas.microsoft.com/office/drawing/2014/main" id="{2F45C224-4BC7-679A-A886-2EEF9F7AF1AB}"/>
              </a:ext>
            </a:extLst>
          </p:cNvPr>
          <p:cNvSpPr/>
          <p:nvPr/>
        </p:nvSpPr>
        <p:spPr>
          <a:xfrm>
            <a:off x="6022594" y="1847088"/>
            <a:ext cx="1419860" cy="76200"/>
          </a:xfrm>
          <a:custGeom>
            <a:avLst/>
            <a:gdLst/>
            <a:ahLst/>
            <a:cxnLst/>
            <a:rect l="l" t="t" r="r" b="b"/>
            <a:pathLst>
              <a:path w="1419859" h="76200">
                <a:moveTo>
                  <a:pt x="1343152" y="0"/>
                </a:moveTo>
                <a:lnTo>
                  <a:pt x="1343152" y="76200"/>
                </a:lnTo>
                <a:lnTo>
                  <a:pt x="1406652" y="44450"/>
                </a:lnTo>
                <a:lnTo>
                  <a:pt x="1359407" y="44450"/>
                </a:lnTo>
                <a:lnTo>
                  <a:pt x="1362202" y="41656"/>
                </a:lnTo>
                <a:lnTo>
                  <a:pt x="1362202" y="34544"/>
                </a:lnTo>
                <a:lnTo>
                  <a:pt x="1359407" y="31750"/>
                </a:lnTo>
                <a:lnTo>
                  <a:pt x="1406652" y="31750"/>
                </a:lnTo>
                <a:lnTo>
                  <a:pt x="1343152" y="0"/>
                </a:lnTo>
                <a:close/>
              </a:path>
              <a:path w="1419859" h="76200">
                <a:moveTo>
                  <a:pt x="1343152" y="31750"/>
                </a:moveTo>
                <a:lnTo>
                  <a:pt x="2793" y="31750"/>
                </a:lnTo>
                <a:lnTo>
                  <a:pt x="0" y="34544"/>
                </a:lnTo>
                <a:lnTo>
                  <a:pt x="0" y="41656"/>
                </a:lnTo>
                <a:lnTo>
                  <a:pt x="2793" y="44450"/>
                </a:lnTo>
                <a:lnTo>
                  <a:pt x="1343152" y="44450"/>
                </a:lnTo>
                <a:lnTo>
                  <a:pt x="1343152" y="31750"/>
                </a:lnTo>
                <a:close/>
              </a:path>
              <a:path w="1419859" h="76200">
                <a:moveTo>
                  <a:pt x="1406652" y="31750"/>
                </a:moveTo>
                <a:lnTo>
                  <a:pt x="1359407" y="31750"/>
                </a:lnTo>
                <a:lnTo>
                  <a:pt x="1362202" y="34544"/>
                </a:lnTo>
                <a:lnTo>
                  <a:pt x="1362202" y="41656"/>
                </a:lnTo>
                <a:lnTo>
                  <a:pt x="1359407" y="44450"/>
                </a:lnTo>
                <a:lnTo>
                  <a:pt x="1406652" y="44450"/>
                </a:lnTo>
                <a:lnTo>
                  <a:pt x="1419352" y="38100"/>
                </a:lnTo>
                <a:lnTo>
                  <a:pt x="1406652" y="31750"/>
                </a:lnTo>
                <a:close/>
              </a:path>
            </a:pathLst>
          </a:custGeom>
          <a:solidFill>
            <a:srgbClr val="9D2C0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5">
            <a:extLst>
              <a:ext uri="{FF2B5EF4-FFF2-40B4-BE49-F238E27FC236}">
                <a16:creationId xmlns:a16="http://schemas.microsoft.com/office/drawing/2014/main" id="{9F2F0DEE-A530-86C3-9AE4-0D335EAA1AB6}"/>
              </a:ext>
            </a:extLst>
          </p:cNvPr>
          <p:cNvSpPr txBox="1"/>
          <p:nvPr/>
        </p:nvSpPr>
        <p:spPr>
          <a:xfrm>
            <a:off x="6500495" y="1857502"/>
            <a:ext cx="506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37" baseline="10802" dirty="0">
                <a:latin typeface="Cambria Math"/>
                <a:cs typeface="Cambria Math"/>
              </a:rPr>
              <a:t>𝑥</a:t>
            </a:r>
            <a:r>
              <a:rPr sz="1300" spc="25" dirty="0">
                <a:latin typeface="Cambria Math"/>
                <a:cs typeface="Cambria Math"/>
              </a:rPr>
              <a:t>𝐵/𝐴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1" name="object 3">
            <a:extLst>
              <a:ext uri="{FF2B5EF4-FFF2-40B4-BE49-F238E27FC236}">
                <a16:creationId xmlns:a16="http://schemas.microsoft.com/office/drawing/2014/main" id="{85218D6D-F513-A3AB-7A16-27C1A26CBFAE}"/>
              </a:ext>
            </a:extLst>
          </p:cNvPr>
          <p:cNvSpPr txBox="1">
            <a:spLocks/>
          </p:cNvSpPr>
          <p:nvPr/>
        </p:nvSpPr>
        <p:spPr>
          <a:xfrm>
            <a:off x="1768981" y="334772"/>
            <a:ext cx="487636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lang="en-US" sz="3200" spc="-5" dirty="0">
                <a:solidFill>
                  <a:srgbClr val="C0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Relative Motion</a:t>
            </a:r>
          </a:p>
        </p:txBody>
      </p:sp>
    </p:spTree>
    <p:extLst>
      <p:ext uri="{BB962C8B-B14F-4D97-AF65-F5344CB8AC3E}">
        <p14:creationId xmlns:p14="http://schemas.microsoft.com/office/powerpoint/2010/main" val="3725043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7/1/2025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D92C6AB9-0BC3-9D29-5AAD-F994F0BDE439}"/>
              </a:ext>
            </a:extLst>
          </p:cNvPr>
          <p:cNvGrpSpPr/>
          <p:nvPr/>
        </p:nvGrpSpPr>
        <p:grpSpPr>
          <a:xfrm>
            <a:off x="1726000" y="1255269"/>
            <a:ext cx="6524625" cy="4218940"/>
            <a:chOff x="1706879" y="1319783"/>
            <a:chExt cx="6524625" cy="4218940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1F7BDAA1-043B-3485-E63C-DC7A96938CB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5167" y="1319783"/>
              <a:ext cx="6505956" cy="4218432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DE43064D-1B61-0865-2D19-BAEB1562EF3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6879" y="1376171"/>
              <a:ext cx="6524244" cy="4162044"/>
            </a:xfrm>
            <a:prstGeom prst="rect">
              <a:avLst/>
            </a:prstGeom>
          </p:spPr>
        </p:pic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F8F25823-607B-0268-02B0-71A798CEAF70}"/>
                </a:ext>
              </a:extLst>
            </p:cNvPr>
            <p:cNvSpPr/>
            <p:nvPr/>
          </p:nvSpPr>
          <p:spPr>
            <a:xfrm>
              <a:off x="2049779" y="3072383"/>
              <a:ext cx="2699385" cy="2409190"/>
            </a:xfrm>
            <a:custGeom>
              <a:avLst/>
              <a:gdLst/>
              <a:ahLst/>
              <a:cxnLst/>
              <a:rect l="l" t="t" r="r" b="b"/>
              <a:pathLst>
                <a:path w="2699385" h="2409190">
                  <a:moveTo>
                    <a:pt x="728471" y="1890902"/>
                  </a:moveTo>
                  <a:lnTo>
                    <a:pt x="728471" y="0"/>
                  </a:lnTo>
                </a:path>
                <a:path w="2699385" h="2409190">
                  <a:moveTo>
                    <a:pt x="719327" y="1898903"/>
                  </a:moveTo>
                  <a:lnTo>
                    <a:pt x="2699004" y="1898903"/>
                  </a:lnTo>
                </a:path>
                <a:path w="2699385" h="2409190">
                  <a:moveTo>
                    <a:pt x="728599" y="1889759"/>
                  </a:moveTo>
                  <a:lnTo>
                    <a:pt x="0" y="2408809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7">
            <a:extLst>
              <a:ext uri="{FF2B5EF4-FFF2-40B4-BE49-F238E27FC236}">
                <a16:creationId xmlns:a16="http://schemas.microsoft.com/office/drawing/2014/main" id="{6FEDBADF-E1C7-C74A-16E2-D1D04CC19BDA}"/>
              </a:ext>
            </a:extLst>
          </p:cNvPr>
          <p:cNvSpPr txBox="1"/>
          <p:nvPr/>
        </p:nvSpPr>
        <p:spPr>
          <a:xfrm>
            <a:off x="1881377" y="5196078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B3A4210D-8AD0-3B15-D88E-BC7FFB4FB96E}"/>
              </a:ext>
            </a:extLst>
          </p:cNvPr>
          <p:cNvSpPr txBox="1"/>
          <p:nvPr/>
        </p:nvSpPr>
        <p:spPr>
          <a:xfrm>
            <a:off x="4695825" y="489483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78F99CF0-B5FD-BF98-7EF2-05DD520D792A}"/>
              </a:ext>
            </a:extLst>
          </p:cNvPr>
          <p:cNvSpPr txBox="1"/>
          <p:nvPr/>
        </p:nvSpPr>
        <p:spPr>
          <a:xfrm>
            <a:off x="2599689" y="2728340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z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8D8A7237-3F17-4438-F111-75BF1AF84D0A}"/>
              </a:ext>
            </a:extLst>
          </p:cNvPr>
          <p:cNvSpPr txBox="1"/>
          <p:nvPr/>
        </p:nvSpPr>
        <p:spPr>
          <a:xfrm>
            <a:off x="2392426" y="4712589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O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1838C2F7-DF9C-1EA9-9598-A5DA38322CA7}"/>
              </a:ext>
            </a:extLst>
          </p:cNvPr>
          <p:cNvSpPr txBox="1"/>
          <p:nvPr/>
        </p:nvSpPr>
        <p:spPr>
          <a:xfrm>
            <a:off x="2014220" y="5646216"/>
            <a:ext cx="2195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Times New Roman"/>
                <a:cs typeface="Times New Roman"/>
              </a:rPr>
              <a:t>Fixed</a:t>
            </a:r>
            <a:r>
              <a:rPr sz="18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FC0"/>
                </a:solidFill>
                <a:latin typeface="Times New Roman"/>
                <a:cs typeface="Times New Roman"/>
              </a:rPr>
              <a:t>Reference</a:t>
            </a:r>
            <a:r>
              <a:rPr sz="1800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Times New Roman"/>
                <a:cs typeface="Times New Roman"/>
              </a:rPr>
              <a:t>Frame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5" name="object 12">
            <a:extLst>
              <a:ext uri="{FF2B5EF4-FFF2-40B4-BE49-F238E27FC236}">
                <a16:creationId xmlns:a16="http://schemas.microsoft.com/office/drawing/2014/main" id="{912DA38F-D7AB-6A82-A2FA-16C995493D2D}"/>
              </a:ext>
            </a:extLst>
          </p:cNvPr>
          <p:cNvGrpSpPr/>
          <p:nvPr/>
        </p:nvGrpSpPr>
        <p:grpSpPr>
          <a:xfrm>
            <a:off x="2737104" y="3180588"/>
            <a:ext cx="4109085" cy="1854835"/>
            <a:chOff x="2737104" y="3180588"/>
            <a:chExt cx="4109085" cy="1854835"/>
          </a:xfrm>
        </p:grpSpPr>
        <p:pic>
          <p:nvPicPr>
            <p:cNvPr id="16" name="object 13">
              <a:extLst>
                <a:ext uri="{FF2B5EF4-FFF2-40B4-BE49-F238E27FC236}">
                  <a16:creationId xmlns:a16="http://schemas.microsoft.com/office/drawing/2014/main" id="{B2AFC0E8-9DD2-C576-8BAA-3BB04FE0B12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37104" y="3180588"/>
              <a:ext cx="1409699" cy="1853183"/>
            </a:xfrm>
            <a:prstGeom prst="rect">
              <a:avLst/>
            </a:prstGeom>
          </p:spPr>
        </p:pic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CD0EF385-81C7-CD80-10B3-464843A76793}"/>
                </a:ext>
              </a:extLst>
            </p:cNvPr>
            <p:cNvSpPr/>
            <p:nvPr/>
          </p:nvSpPr>
          <p:spPr>
            <a:xfrm>
              <a:off x="2775585" y="3283458"/>
              <a:ext cx="1253490" cy="1692275"/>
            </a:xfrm>
            <a:custGeom>
              <a:avLst/>
              <a:gdLst/>
              <a:ahLst/>
              <a:cxnLst/>
              <a:rect l="l" t="t" r="r" b="b"/>
              <a:pathLst>
                <a:path w="1253489" h="1692275">
                  <a:moveTo>
                    <a:pt x="1193119" y="54830"/>
                  </a:moveTo>
                  <a:lnTo>
                    <a:pt x="3556" y="1672716"/>
                  </a:lnTo>
                  <a:lnTo>
                    <a:pt x="0" y="1677669"/>
                  </a:lnTo>
                  <a:lnTo>
                    <a:pt x="1015" y="1684654"/>
                  </a:lnTo>
                  <a:lnTo>
                    <a:pt x="5968" y="1688210"/>
                  </a:lnTo>
                  <a:lnTo>
                    <a:pt x="10921" y="1691893"/>
                  </a:lnTo>
                  <a:lnTo>
                    <a:pt x="17906" y="1690877"/>
                  </a:lnTo>
                  <a:lnTo>
                    <a:pt x="21462" y="1685924"/>
                  </a:lnTo>
                  <a:lnTo>
                    <a:pt x="1211042" y="68016"/>
                  </a:lnTo>
                  <a:lnTo>
                    <a:pt x="1193119" y="54830"/>
                  </a:lnTo>
                  <a:close/>
                </a:path>
                <a:path w="1253489" h="1692275">
                  <a:moveTo>
                    <a:pt x="1249593" y="38607"/>
                  </a:moveTo>
                  <a:lnTo>
                    <a:pt x="1211199" y="38607"/>
                  </a:lnTo>
                  <a:lnTo>
                    <a:pt x="1216152" y="42163"/>
                  </a:lnTo>
                  <a:lnTo>
                    <a:pt x="1221104" y="45846"/>
                  </a:lnTo>
                  <a:lnTo>
                    <a:pt x="1222248" y="52831"/>
                  </a:lnTo>
                  <a:lnTo>
                    <a:pt x="1218564" y="57784"/>
                  </a:lnTo>
                  <a:lnTo>
                    <a:pt x="1211042" y="68016"/>
                  </a:lnTo>
                  <a:lnTo>
                    <a:pt x="1253236" y="99059"/>
                  </a:lnTo>
                  <a:lnTo>
                    <a:pt x="1249593" y="38607"/>
                  </a:lnTo>
                  <a:close/>
                </a:path>
                <a:path w="1253489" h="1692275">
                  <a:moveTo>
                    <a:pt x="1211199" y="38607"/>
                  </a:moveTo>
                  <a:lnTo>
                    <a:pt x="1204340" y="39624"/>
                  </a:lnTo>
                  <a:lnTo>
                    <a:pt x="1200657" y="44576"/>
                  </a:lnTo>
                  <a:lnTo>
                    <a:pt x="1193119" y="54830"/>
                  </a:lnTo>
                  <a:lnTo>
                    <a:pt x="1211042" y="68016"/>
                  </a:lnTo>
                  <a:lnTo>
                    <a:pt x="1218564" y="57784"/>
                  </a:lnTo>
                  <a:lnTo>
                    <a:pt x="1222248" y="52831"/>
                  </a:lnTo>
                  <a:lnTo>
                    <a:pt x="1221104" y="45846"/>
                  </a:lnTo>
                  <a:lnTo>
                    <a:pt x="1216152" y="42163"/>
                  </a:lnTo>
                  <a:lnTo>
                    <a:pt x="1211199" y="38607"/>
                  </a:lnTo>
                  <a:close/>
                </a:path>
                <a:path w="1253489" h="1692275">
                  <a:moveTo>
                    <a:pt x="1247266" y="0"/>
                  </a:moveTo>
                  <a:lnTo>
                    <a:pt x="1150874" y="23749"/>
                  </a:lnTo>
                  <a:lnTo>
                    <a:pt x="1193119" y="54830"/>
                  </a:lnTo>
                  <a:lnTo>
                    <a:pt x="1200657" y="44576"/>
                  </a:lnTo>
                  <a:lnTo>
                    <a:pt x="1204340" y="39624"/>
                  </a:lnTo>
                  <a:lnTo>
                    <a:pt x="1211199" y="38607"/>
                  </a:lnTo>
                  <a:lnTo>
                    <a:pt x="1249593" y="38607"/>
                  </a:lnTo>
                  <a:lnTo>
                    <a:pt x="124726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15">
              <a:extLst>
                <a:ext uri="{FF2B5EF4-FFF2-40B4-BE49-F238E27FC236}">
                  <a16:creationId xmlns:a16="http://schemas.microsoft.com/office/drawing/2014/main" id="{24A96CF3-45D9-E960-D40A-A1BAB5CC268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47772" y="3355848"/>
              <a:ext cx="4098035" cy="1679447"/>
            </a:xfrm>
            <a:prstGeom prst="rect">
              <a:avLst/>
            </a:prstGeom>
          </p:spPr>
        </p:pic>
        <p:sp>
          <p:nvSpPr>
            <p:cNvPr id="21" name="object 16">
              <a:extLst>
                <a:ext uri="{FF2B5EF4-FFF2-40B4-BE49-F238E27FC236}">
                  <a16:creationId xmlns:a16="http://schemas.microsoft.com/office/drawing/2014/main" id="{E9EEBE81-EE63-863C-E624-BF6B17532B2D}"/>
                </a:ext>
              </a:extLst>
            </p:cNvPr>
            <p:cNvSpPr/>
            <p:nvPr/>
          </p:nvSpPr>
          <p:spPr>
            <a:xfrm>
              <a:off x="2786253" y="3426714"/>
              <a:ext cx="3935729" cy="1550035"/>
            </a:xfrm>
            <a:custGeom>
              <a:avLst/>
              <a:gdLst/>
              <a:ahLst/>
              <a:cxnLst/>
              <a:rect l="l" t="t" r="r" b="b"/>
              <a:pathLst>
                <a:path w="3935729" h="1550035">
                  <a:moveTo>
                    <a:pt x="3860103" y="48878"/>
                  </a:moveTo>
                  <a:lnTo>
                    <a:pt x="2921" y="1528826"/>
                  </a:lnTo>
                  <a:lnTo>
                    <a:pt x="0" y="1535303"/>
                  </a:lnTo>
                  <a:lnTo>
                    <a:pt x="2159" y="1541018"/>
                  </a:lnTo>
                  <a:lnTo>
                    <a:pt x="4445" y="1546733"/>
                  </a:lnTo>
                  <a:lnTo>
                    <a:pt x="10795" y="1549654"/>
                  </a:lnTo>
                  <a:lnTo>
                    <a:pt x="16510" y="1547368"/>
                  </a:lnTo>
                  <a:lnTo>
                    <a:pt x="3868073" y="69669"/>
                  </a:lnTo>
                  <a:lnTo>
                    <a:pt x="3860103" y="48878"/>
                  </a:lnTo>
                  <a:close/>
                </a:path>
                <a:path w="3935729" h="1550035">
                  <a:moveTo>
                    <a:pt x="3929546" y="42163"/>
                  </a:moveTo>
                  <a:lnTo>
                    <a:pt x="3877691" y="42163"/>
                  </a:lnTo>
                  <a:lnTo>
                    <a:pt x="3884041" y="45085"/>
                  </a:lnTo>
                  <a:lnTo>
                    <a:pt x="3886327" y="50800"/>
                  </a:lnTo>
                  <a:lnTo>
                    <a:pt x="3888486" y="56514"/>
                  </a:lnTo>
                  <a:lnTo>
                    <a:pt x="3885692" y="62864"/>
                  </a:lnTo>
                  <a:lnTo>
                    <a:pt x="3868073" y="69669"/>
                  </a:lnTo>
                  <a:lnTo>
                    <a:pt x="3886835" y="118618"/>
                  </a:lnTo>
                  <a:lnTo>
                    <a:pt x="3929546" y="42163"/>
                  </a:lnTo>
                  <a:close/>
                </a:path>
                <a:path w="3935729" h="1550035">
                  <a:moveTo>
                    <a:pt x="3877691" y="42163"/>
                  </a:moveTo>
                  <a:lnTo>
                    <a:pt x="3860103" y="48878"/>
                  </a:lnTo>
                  <a:lnTo>
                    <a:pt x="3868073" y="69669"/>
                  </a:lnTo>
                  <a:lnTo>
                    <a:pt x="3885692" y="62864"/>
                  </a:lnTo>
                  <a:lnTo>
                    <a:pt x="3888486" y="56514"/>
                  </a:lnTo>
                  <a:lnTo>
                    <a:pt x="3886327" y="50800"/>
                  </a:lnTo>
                  <a:lnTo>
                    <a:pt x="3884041" y="45085"/>
                  </a:lnTo>
                  <a:lnTo>
                    <a:pt x="3877691" y="42163"/>
                  </a:lnTo>
                  <a:close/>
                </a:path>
                <a:path w="3935729" h="1550035">
                  <a:moveTo>
                    <a:pt x="3841369" y="0"/>
                  </a:moveTo>
                  <a:lnTo>
                    <a:pt x="3860103" y="48878"/>
                  </a:lnTo>
                  <a:lnTo>
                    <a:pt x="3877691" y="42163"/>
                  </a:lnTo>
                  <a:lnTo>
                    <a:pt x="3929546" y="42163"/>
                  </a:lnTo>
                  <a:lnTo>
                    <a:pt x="3935222" y="32003"/>
                  </a:lnTo>
                  <a:lnTo>
                    <a:pt x="384136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17">
            <a:extLst>
              <a:ext uri="{FF2B5EF4-FFF2-40B4-BE49-F238E27FC236}">
                <a16:creationId xmlns:a16="http://schemas.microsoft.com/office/drawing/2014/main" id="{AA5D2F61-F5FE-C09C-B2C1-E18BAEA7394F}"/>
              </a:ext>
            </a:extLst>
          </p:cNvPr>
          <p:cNvSpPr txBox="1"/>
          <p:nvPr/>
        </p:nvSpPr>
        <p:spPr>
          <a:xfrm>
            <a:off x="3633342" y="3074034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18">
            <a:extLst>
              <a:ext uri="{FF2B5EF4-FFF2-40B4-BE49-F238E27FC236}">
                <a16:creationId xmlns:a16="http://schemas.microsoft.com/office/drawing/2014/main" id="{B02D16A3-57A6-02A3-F948-8554506C9426}"/>
              </a:ext>
            </a:extLst>
          </p:cNvPr>
          <p:cNvSpPr txBox="1"/>
          <p:nvPr/>
        </p:nvSpPr>
        <p:spPr>
          <a:xfrm>
            <a:off x="6772147" y="3426714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19">
            <a:extLst>
              <a:ext uri="{FF2B5EF4-FFF2-40B4-BE49-F238E27FC236}">
                <a16:creationId xmlns:a16="http://schemas.microsoft.com/office/drawing/2014/main" id="{8EF289CD-11FA-357B-4CD4-C7A64845608C}"/>
              </a:ext>
            </a:extLst>
          </p:cNvPr>
          <p:cNvSpPr txBox="1"/>
          <p:nvPr/>
        </p:nvSpPr>
        <p:spPr>
          <a:xfrm>
            <a:off x="5317363" y="3925061"/>
            <a:ext cx="148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F5F"/>
                </a:solidFill>
                <a:latin typeface="Cambria Math"/>
                <a:cs typeface="Cambria Math"/>
              </a:rPr>
              <a:t>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0">
            <a:extLst>
              <a:ext uri="{FF2B5EF4-FFF2-40B4-BE49-F238E27FC236}">
                <a16:creationId xmlns:a16="http://schemas.microsoft.com/office/drawing/2014/main" id="{560FC015-78FE-A21B-4CF3-8F61A2636DC2}"/>
              </a:ext>
            </a:extLst>
          </p:cNvPr>
          <p:cNvSpPr txBox="1"/>
          <p:nvPr/>
        </p:nvSpPr>
        <p:spPr>
          <a:xfrm>
            <a:off x="5440807" y="4033265"/>
            <a:ext cx="1397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60" dirty="0">
                <a:solidFill>
                  <a:srgbClr val="001F5F"/>
                </a:solidFill>
                <a:latin typeface="Cambria Math"/>
                <a:cs typeface="Cambria Math"/>
              </a:rPr>
              <a:t>𝐵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6" name="object 21">
            <a:extLst>
              <a:ext uri="{FF2B5EF4-FFF2-40B4-BE49-F238E27FC236}">
                <a16:creationId xmlns:a16="http://schemas.microsoft.com/office/drawing/2014/main" id="{E289947C-FCC5-A63B-3BC9-86F6C3B1D976}"/>
              </a:ext>
            </a:extLst>
          </p:cNvPr>
          <p:cNvSpPr/>
          <p:nvPr/>
        </p:nvSpPr>
        <p:spPr>
          <a:xfrm>
            <a:off x="3302508" y="1383791"/>
            <a:ext cx="2699385" cy="2410460"/>
          </a:xfrm>
          <a:custGeom>
            <a:avLst/>
            <a:gdLst/>
            <a:ahLst/>
            <a:cxnLst/>
            <a:rect l="l" t="t" r="r" b="b"/>
            <a:pathLst>
              <a:path w="2699385" h="2410460">
                <a:moveTo>
                  <a:pt x="728471" y="1890903"/>
                </a:moveTo>
                <a:lnTo>
                  <a:pt x="728471" y="0"/>
                </a:lnTo>
              </a:path>
              <a:path w="2699385" h="2410460">
                <a:moveTo>
                  <a:pt x="719327" y="1900428"/>
                </a:moveTo>
                <a:lnTo>
                  <a:pt x="2699004" y="1900428"/>
                </a:lnTo>
              </a:path>
              <a:path w="2699385" h="2410460">
                <a:moveTo>
                  <a:pt x="728599" y="1891284"/>
                </a:moveTo>
                <a:lnTo>
                  <a:pt x="0" y="241033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2">
            <a:extLst>
              <a:ext uri="{FF2B5EF4-FFF2-40B4-BE49-F238E27FC236}">
                <a16:creationId xmlns:a16="http://schemas.microsoft.com/office/drawing/2014/main" id="{89C07893-92BD-CA39-B57B-00C842C487CC}"/>
              </a:ext>
            </a:extLst>
          </p:cNvPr>
          <p:cNvSpPr txBox="1"/>
          <p:nvPr/>
        </p:nvSpPr>
        <p:spPr>
          <a:xfrm>
            <a:off x="3086989" y="3505327"/>
            <a:ext cx="300355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lnSpc>
                <a:spcPts val="208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x'</a:t>
            </a:r>
            <a:endParaRPr sz="1800">
              <a:latin typeface="Times New Roman"/>
              <a:cs typeface="Times New Roman"/>
            </a:endParaRPr>
          </a:p>
          <a:p>
            <a:pPr marL="38100">
              <a:lnSpc>
                <a:spcPts val="2080"/>
              </a:lnSpc>
            </a:pPr>
            <a:r>
              <a:rPr sz="1800" spc="-15" dirty="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1950" spc="-22" baseline="-14957" dirty="0">
                <a:solidFill>
                  <a:srgbClr val="FF0000"/>
                </a:solidFill>
                <a:latin typeface="Cambria Math"/>
                <a:cs typeface="Cambria Math"/>
              </a:rPr>
              <a:t>𝐴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8" name="object 23">
            <a:extLst>
              <a:ext uri="{FF2B5EF4-FFF2-40B4-BE49-F238E27FC236}">
                <a16:creationId xmlns:a16="http://schemas.microsoft.com/office/drawing/2014/main" id="{2225D46D-6179-259A-2352-1057A9418AD8}"/>
              </a:ext>
            </a:extLst>
          </p:cNvPr>
          <p:cNvSpPr txBox="1"/>
          <p:nvPr/>
        </p:nvSpPr>
        <p:spPr>
          <a:xfrm>
            <a:off x="6042152" y="3044774"/>
            <a:ext cx="1873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0" dirty="0">
                <a:latin typeface="Times New Roman"/>
                <a:cs typeface="Times New Roman"/>
              </a:rPr>
              <a:t>y'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9" name="object 24">
            <a:extLst>
              <a:ext uri="{FF2B5EF4-FFF2-40B4-BE49-F238E27FC236}">
                <a16:creationId xmlns:a16="http://schemas.microsoft.com/office/drawing/2014/main" id="{DA46597D-9FE0-BA99-9416-C79E1284D752}"/>
              </a:ext>
            </a:extLst>
          </p:cNvPr>
          <p:cNvSpPr txBox="1"/>
          <p:nvPr/>
        </p:nvSpPr>
        <p:spPr>
          <a:xfrm>
            <a:off x="4109720" y="1278382"/>
            <a:ext cx="169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z'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0" name="object 25">
            <a:extLst>
              <a:ext uri="{FF2B5EF4-FFF2-40B4-BE49-F238E27FC236}">
                <a16:creationId xmlns:a16="http://schemas.microsoft.com/office/drawing/2014/main" id="{C9118CC2-BB0C-37EE-FE8E-46A485239D54}"/>
              </a:ext>
            </a:extLst>
          </p:cNvPr>
          <p:cNvSpPr txBox="1"/>
          <p:nvPr/>
        </p:nvSpPr>
        <p:spPr>
          <a:xfrm>
            <a:off x="4082541" y="2986785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O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26">
            <a:extLst>
              <a:ext uri="{FF2B5EF4-FFF2-40B4-BE49-F238E27FC236}">
                <a16:creationId xmlns:a16="http://schemas.microsoft.com/office/drawing/2014/main" id="{62006DE1-7597-58E6-6D1D-0B10B1ED817C}"/>
              </a:ext>
            </a:extLst>
          </p:cNvPr>
          <p:cNvSpPr txBox="1"/>
          <p:nvPr/>
        </p:nvSpPr>
        <p:spPr>
          <a:xfrm>
            <a:off x="2111120" y="1999564"/>
            <a:ext cx="1791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Translating</a:t>
            </a:r>
            <a:r>
              <a:rPr sz="1800" b="1" spc="-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Times New Roman"/>
                <a:cs typeface="Times New Roman"/>
              </a:rPr>
              <a:t>Frame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2" name="object 27">
            <a:extLst>
              <a:ext uri="{FF2B5EF4-FFF2-40B4-BE49-F238E27FC236}">
                <a16:creationId xmlns:a16="http://schemas.microsoft.com/office/drawing/2014/main" id="{55EB6A93-54A5-CD0A-96F2-D22635D7EB5C}"/>
              </a:ext>
            </a:extLst>
          </p:cNvPr>
          <p:cNvSpPr/>
          <p:nvPr/>
        </p:nvSpPr>
        <p:spPr>
          <a:xfrm>
            <a:off x="3991228" y="3270377"/>
            <a:ext cx="2702560" cy="229870"/>
          </a:xfrm>
          <a:custGeom>
            <a:avLst/>
            <a:gdLst/>
            <a:ahLst/>
            <a:cxnLst/>
            <a:rect l="l" t="t" r="r" b="b"/>
            <a:pathLst>
              <a:path w="2702559" h="229870">
                <a:moveTo>
                  <a:pt x="2625671" y="178838"/>
                </a:moveTo>
                <a:lnTo>
                  <a:pt x="2622677" y="229488"/>
                </a:lnTo>
                <a:lnTo>
                  <a:pt x="2689713" y="179959"/>
                </a:lnTo>
                <a:lnTo>
                  <a:pt x="2645410" y="179959"/>
                </a:lnTo>
                <a:lnTo>
                  <a:pt x="2625671" y="178838"/>
                </a:lnTo>
                <a:close/>
              </a:path>
              <a:path w="2702559" h="229870">
                <a:moveTo>
                  <a:pt x="2627173" y="153437"/>
                </a:moveTo>
                <a:lnTo>
                  <a:pt x="2625671" y="178838"/>
                </a:lnTo>
                <a:lnTo>
                  <a:pt x="2645410" y="179959"/>
                </a:lnTo>
                <a:lnTo>
                  <a:pt x="2651379" y="174625"/>
                </a:lnTo>
                <a:lnTo>
                  <a:pt x="2652141" y="160655"/>
                </a:lnTo>
                <a:lnTo>
                  <a:pt x="2646806" y="154559"/>
                </a:lnTo>
                <a:lnTo>
                  <a:pt x="2627173" y="153437"/>
                </a:lnTo>
                <a:close/>
              </a:path>
              <a:path w="2702559" h="229870">
                <a:moveTo>
                  <a:pt x="2630170" y="102743"/>
                </a:moveTo>
                <a:lnTo>
                  <a:pt x="2627173" y="153437"/>
                </a:lnTo>
                <a:lnTo>
                  <a:pt x="2646806" y="154559"/>
                </a:lnTo>
                <a:lnTo>
                  <a:pt x="2652141" y="160655"/>
                </a:lnTo>
                <a:lnTo>
                  <a:pt x="2651379" y="174625"/>
                </a:lnTo>
                <a:lnTo>
                  <a:pt x="2645410" y="179959"/>
                </a:lnTo>
                <a:lnTo>
                  <a:pt x="2689713" y="179959"/>
                </a:lnTo>
                <a:lnTo>
                  <a:pt x="2702432" y="170561"/>
                </a:lnTo>
                <a:lnTo>
                  <a:pt x="2630170" y="102743"/>
                </a:lnTo>
                <a:close/>
              </a:path>
              <a:path w="2702559" h="229870">
                <a:moveTo>
                  <a:pt x="6858" y="0"/>
                </a:moveTo>
                <a:lnTo>
                  <a:pt x="762" y="5334"/>
                </a:lnTo>
                <a:lnTo>
                  <a:pt x="0" y="19303"/>
                </a:lnTo>
                <a:lnTo>
                  <a:pt x="5334" y="25400"/>
                </a:lnTo>
                <a:lnTo>
                  <a:pt x="2625671" y="178838"/>
                </a:lnTo>
                <a:lnTo>
                  <a:pt x="2627173" y="153437"/>
                </a:lnTo>
                <a:lnTo>
                  <a:pt x="6858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8">
            <a:extLst>
              <a:ext uri="{FF2B5EF4-FFF2-40B4-BE49-F238E27FC236}">
                <a16:creationId xmlns:a16="http://schemas.microsoft.com/office/drawing/2014/main" id="{6AB12756-30B9-F5BB-57EC-36129255DC8E}"/>
              </a:ext>
            </a:extLst>
          </p:cNvPr>
          <p:cNvSpPr txBox="1"/>
          <p:nvPr/>
        </p:nvSpPr>
        <p:spPr>
          <a:xfrm>
            <a:off x="4946015" y="3327603"/>
            <a:ext cx="5092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37" baseline="10802" dirty="0">
                <a:solidFill>
                  <a:srgbClr val="00AF50"/>
                </a:solidFill>
                <a:latin typeface="Cambria Math"/>
                <a:cs typeface="Cambria Math"/>
              </a:rPr>
              <a:t>𝒓</a:t>
            </a:r>
            <a:r>
              <a:rPr sz="1300" spc="25" dirty="0">
                <a:solidFill>
                  <a:srgbClr val="00AF50"/>
                </a:solidFill>
                <a:latin typeface="Cambria Math"/>
                <a:cs typeface="Cambria Math"/>
              </a:rPr>
              <a:t>𝐵/𝐴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4" name="object 29">
            <a:extLst>
              <a:ext uri="{FF2B5EF4-FFF2-40B4-BE49-F238E27FC236}">
                <a16:creationId xmlns:a16="http://schemas.microsoft.com/office/drawing/2014/main" id="{45B87431-A838-B313-C989-8D4463E9514F}"/>
              </a:ext>
            </a:extLst>
          </p:cNvPr>
          <p:cNvSpPr txBox="1"/>
          <p:nvPr/>
        </p:nvSpPr>
        <p:spPr>
          <a:xfrm>
            <a:off x="4803647" y="4305427"/>
            <a:ext cx="3340100" cy="117602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85"/>
              </a:spcBef>
            </a:pPr>
            <a:r>
              <a:rPr sz="1800" spc="-15" dirty="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1950" spc="-22" baseline="-14957" dirty="0">
                <a:solidFill>
                  <a:srgbClr val="FF0000"/>
                </a:solidFill>
                <a:latin typeface="Cambria Math"/>
                <a:cs typeface="Cambria Math"/>
              </a:rPr>
              <a:t>𝐴</a:t>
            </a:r>
            <a:r>
              <a:rPr sz="1950" spc="22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20" dirty="0">
                <a:solidFill>
                  <a:srgbClr val="001F5F"/>
                </a:solidFill>
                <a:latin typeface="Cambria Math"/>
                <a:cs typeface="Cambria Math"/>
              </a:rPr>
              <a:t>𝒓</a:t>
            </a:r>
            <a:r>
              <a:rPr sz="1950" spc="30" baseline="-14957" dirty="0">
                <a:solidFill>
                  <a:srgbClr val="001F5F"/>
                </a:solidFill>
                <a:latin typeface="Cambria Math"/>
                <a:cs typeface="Cambria Math"/>
              </a:rPr>
              <a:t>𝐵</a:t>
            </a:r>
            <a:r>
              <a:rPr sz="1950" spc="442" baseline="-14957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absolute</a:t>
            </a:r>
            <a:r>
              <a:rPr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positions</a:t>
            </a:r>
            <a:endParaRPr sz="1800">
              <a:latin typeface="Times New Roman"/>
              <a:cs typeface="Times New Roman"/>
            </a:endParaRPr>
          </a:p>
          <a:p>
            <a:pPr marL="562610" marR="30480">
              <a:lnSpc>
                <a:spcPct val="109400"/>
              </a:lnSpc>
              <a:spcBef>
                <a:spcPts val="985"/>
              </a:spcBef>
            </a:pPr>
            <a:r>
              <a:rPr sz="1800" spc="30" dirty="0">
                <a:solidFill>
                  <a:srgbClr val="00AF50"/>
                </a:solidFill>
                <a:latin typeface="Cambria Math"/>
                <a:cs typeface="Cambria Math"/>
              </a:rPr>
              <a:t>𝒓</a:t>
            </a:r>
            <a:r>
              <a:rPr sz="1950" spc="44" baseline="-14957" dirty="0">
                <a:solidFill>
                  <a:srgbClr val="00AF50"/>
                </a:solidFill>
                <a:latin typeface="Cambria Math"/>
                <a:cs typeface="Cambria Math"/>
              </a:rPr>
              <a:t>𝐵/𝐴</a:t>
            </a:r>
            <a:r>
              <a:rPr sz="1950" spc="434" baseline="-14957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relative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position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1F5F"/>
                </a:solidFill>
                <a:latin typeface="Times New Roman"/>
                <a:cs typeface="Times New Roman"/>
              </a:rPr>
              <a:t>B </a:t>
            </a:r>
            <a:r>
              <a:rPr sz="1800" spc="-434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relative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A.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5" name="object 30">
            <a:extLst>
              <a:ext uri="{FF2B5EF4-FFF2-40B4-BE49-F238E27FC236}">
                <a16:creationId xmlns:a16="http://schemas.microsoft.com/office/drawing/2014/main" id="{70FC5717-69B5-9560-A738-C1CFD882139F}"/>
              </a:ext>
            </a:extLst>
          </p:cNvPr>
          <p:cNvSpPr txBox="1"/>
          <p:nvPr/>
        </p:nvSpPr>
        <p:spPr>
          <a:xfrm>
            <a:off x="5604002" y="5643168"/>
            <a:ext cx="172973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30" dirty="0">
                <a:solidFill>
                  <a:srgbClr val="00AF50"/>
                </a:solidFill>
                <a:latin typeface="Cambria Math"/>
                <a:cs typeface="Cambria Math"/>
              </a:rPr>
              <a:t>𝒓</a:t>
            </a:r>
            <a:r>
              <a:rPr sz="2175" spc="44" baseline="-15325" dirty="0">
                <a:solidFill>
                  <a:srgbClr val="00AF50"/>
                </a:solidFill>
                <a:latin typeface="Cambria Math"/>
                <a:cs typeface="Cambria Math"/>
              </a:rPr>
              <a:t>𝐵/𝐴</a:t>
            </a:r>
            <a:r>
              <a:rPr sz="2175" spc="450" baseline="-15325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AF50"/>
                </a:solidFill>
                <a:latin typeface="Cambria Math"/>
                <a:cs typeface="Cambria Math"/>
              </a:rPr>
              <a:t>=</a:t>
            </a:r>
            <a:r>
              <a:rPr sz="2000" spc="90" dirty="0">
                <a:solidFill>
                  <a:srgbClr val="00AF50"/>
                </a:solidFill>
                <a:latin typeface="Cambria Math"/>
                <a:cs typeface="Cambria Math"/>
              </a:rPr>
              <a:t> </a:t>
            </a:r>
            <a:r>
              <a:rPr sz="2000" spc="20" dirty="0">
                <a:solidFill>
                  <a:srgbClr val="001F5F"/>
                </a:solidFill>
                <a:latin typeface="Cambria Math"/>
                <a:cs typeface="Cambria Math"/>
              </a:rPr>
              <a:t>𝒓</a:t>
            </a:r>
            <a:r>
              <a:rPr sz="2175" spc="30" baseline="-15325" dirty="0">
                <a:solidFill>
                  <a:srgbClr val="001F5F"/>
                </a:solidFill>
                <a:latin typeface="Cambria Math"/>
                <a:cs typeface="Cambria Math"/>
              </a:rPr>
              <a:t>𝐵</a:t>
            </a:r>
            <a:r>
              <a:rPr sz="2175" spc="330" baseline="-15325" dirty="0">
                <a:solidFill>
                  <a:srgbClr val="001F5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1F5F"/>
                </a:solidFill>
                <a:latin typeface="Cambria Math"/>
                <a:cs typeface="Cambria Math"/>
              </a:rPr>
              <a:t>− </a:t>
            </a:r>
            <a:r>
              <a:rPr sz="2000" spc="-25" dirty="0">
                <a:solidFill>
                  <a:srgbClr val="FF0000"/>
                </a:solidFill>
                <a:latin typeface="Cambria Math"/>
                <a:cs typeface="Cambria Math"/>
              </a:rPr>
              <a:t>𝒓</a:t>
            </a:r>
            <a:r>
              <a:rPr sz="2175" spc="-37" baseline="-15325" dirty="0">
                <a:solidFill>
                  <a:srgbClr val="FF0000"/>
                </a:solidFill>
                <a:latin typeface="Cambria Math"/>
                <a:cs typeface="Cambria Math"/>
              </a:rPr>
              <a:t>𝐴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36" name="object 31">
            <a:extLst>
              <a:ext uri="{FF2B5EF4-FFF2-40B4-BE49-F238E27FC236}">
                <a16:creationId xmlns:a16="http://schemas.microsoft.com/office/drawing/2014/main" id="{FFF5DAE3-D1A7-9A9A-8B3F-3486F9C5D7A8}"/>
              </a:ext>
            </a:extLst>
          </p:cNvPr>
          <p:cNvSpPr txBox="1"/>
          <p:nvPr/>
        </p:nvSpPr>
        <p:spPr>
          <a:xfrm>
            <a:off x="8502395" y="1511553"/>
            <a:ext cx="2970530" cy="1151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87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Relative</a:t>
            </a:r>
            <a:r>
              <a:rPr sz="2400"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Position:</a:t>
            </a:r>
            <a:endParaRPr sz="2400">
              <a:latin typeface="Times New Roman"/>
              <a:cs typeface="Times New Roman"/>
            </a:endParaRPr>
          </a:p>
          <a:p>
            <a:pPr marL="709930">
              <a:lnSpc>
                <a:spcPts val="2870"/>
              </a:lnSpc>
            </a:pPr>
            <a:r>
              <a:rPr sz="2400" spc="35" dirty="0">
                <a:latin typeface="Cambria Math"/>
                <a:cs typeface="Cambria Math"/>
              </a:rPr>
              <a:t>𝒓</a:t>
            </a:r>
            <a:r>
              <a:rPr sz="2625" spc="52" baseline="-15873" dirty="0">
                <a:latin typeface="Cambria Math"/>
                <a:cs typeface="Cambria Math"/>
              </a:rPr>
              <a:t>𝐵/𝐴</a:t>
            </a:r>
            <a:r>
              <a:rPr sz="2625" spc="56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spc="15" dirty="0">
                <a:latin typeface="Cambria Math"/>
                <a:cs typeface="Cambria Math"/>
              </a:rPr>
              <a:t>𝒓</a:t>
            </a:r>
            <a:r>
              <a:rPr sz="2625" spc="22" baseline="-15873" dirty="0">
                <a:latin typeface="Cambria Math"/>
                <a:cs typeface="Cambria Math"/>
              </a:rPr>
              <a:t>𝐵</a:t>
            </a:r>
            <a:r>
              <a:rPr sz="2625" spc="42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spc="-40" dirty="0">
                <a:latin typeface="Cambria Math"/>
                <a:cs typeface="Cambria Math"/>
              </a:rPr>
              <a:t>𝒓</a:t>
            </a:r>
            <a:r>
              <a:rPr sz="2625" spc="-60" baseline="-15873" dirty="0">
                <a:latin typeface="Cambria Math"/>
                <a:cs typeface="Cambria Math"/>
              </a:rPr>
              <a:t>𝐴</a:t>
            </a:r>
            <a:endParaRPr sz="2625" baseline="-15873">
              <a:latin typeface="Cambria Math"/>
              <a:cs typeface="Cambria Math"/>
            </a:endParaRPr>
          </a:p>
          <a:p>
            <a:pPr marL="603250">
              <a:lnSpc>
                <a:spcPct val="100000"/>
              </a:lnSpc>
              <a:spcBef>
                <a:spcPts val="250"/>
              </a:spcBef>
            </a:pPr>
            <a:r>
              <a:rPr sz="2400" dirty="0">
                <a:latin typeface="Cambria Math"/>
                <a:cs typeface="Cambria Math"/>
              </a:rPr>
              <a:t>⇒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spc="15" dirty="0">
                <a:latin typeface="Cambria Math"/>
                <a:cs typeface="Cambria Math"/>
              </a:rPr>
              <a:t>𝒓</a:t>
            </a:r>
            <a:r>
              <a:rPr sz="2625" spc="22" baseline="-15873" dirty="0">
                <a:latin typeface="Cambria Math"/>
                <a:cs typeface="Cambria Math"/>
              </a:rPr>
              <a:t>𝐵 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spc="-40" dirty="0">
                <a:latin typeface="Cambria Math"/>
                <a:cs typeface="Cambria Math"/>
              </a:rPr>
              <a:t>𝒓</a:t>
            </a:r>
            <a:r>
              <a:rPr sz="2625" spc="-60" baseline="-15873" dirty="0">
                <a:latin typeface="Cambria Math"/>
                <a:cs typeface="Cambria Math"/>
              </a:rPr>
              <a:t>𝐴</a:t>
            </a:r>
            <a:r>
              <a:rPr sz="2625" spc="38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spc="30" dirty="0">
                <a:latin typeface="Cambria Math"/>
                <a:cs typeface="Cambria Math"/>
              </a:rPr>
              <a:t>𝒓</a:t>
            </a:r>
            <a:r>
              <a:rPr sz="2625" spc="44" baseline="-15873" dirty="0">
                <a:latin typeface="Cambria Math"/>
                <a:cs typeface="Cambria Math"/>
              </a:rPr>
              <a:t>𝐵/𝐴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37" name="object 32">
            <a:extLst>
              <a:ext uri="{FF2B5EF4-FFF2-40B4-BE49-F238E27FC236}">
                <a16:creationId xmlns:a16="http://schemas.microsoft.com/office/drawing/2014/main" id="{E60D55B9-B2C4-171A-CBF9-3F2326B7CDB9}"/>
              </a:ext>
            </a:extLst>
          </p:cNvPr>
          <p:cNvSpPr txBox="1"/>
          <p:nvPr/>
        </p:nvSpPr>
        <p:spPr>
          <a:xfrm>
            <a:off x="8527795" y="3040507"/>
            <a:ext cx="2303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Relative</a:t>
            </a:r>
            <a:r>
              <a:rPr sz="2400" b="1" spc="-10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Times New Roman"/>
                <a:cs typeface="Times New Roman"/>
              </a:rPr>
              <a:t>Velocity: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3">
            <a:extLst>
              <a:ext uri="{FF2B5EF4-FFF2-40B4-BE49-F238E27FC236}">
                <a16:creationId xmlns:a16="http://schemas.microsoft.com/office/drawing/2014/main" id="{9896123B-452B-E7B6-159C-496C83AC4438}"/>
              </a:ext>
            </a:extLst>
          </p:cNvPr>
          <p:cNvSpPr txBox="1"/>
          <p:nvPr/>
        </p:nvSpPr>
        <p:spPr>
          <a:xfrm>
            <a:off x="9138919" y="3403219"/>
            <a:ext cx="1931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7390" algn="l"/>
                <a:tab pos="1438910" algn="l"/>
              </a:tabLst>
            </a:pPr>
            <a:r>
              <a:rPr sz="2400" dirty="0">
                <a:latin typeface="Cambria Math"/>
                <a:cs typeface="Cambria Math"/>
              </a:rPr>
              <a:t>𝒗	=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𝒗	−</a:t>
            </a:r>
            <a:r>
              <a:rPr sz="2400" spc="-8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𝒗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9" name="object 34">
            <a:extLst>
              <a:ext uri="{FF2B5EF4-FFF2-40B4-BE49-F238E27FC236}">
                <a16:creationId xmlns:a16="http://schemas.microsoft.com/office/drawing/2014/main" id="{ECD053F0-2B6B-68B8-2252-3672EE002ED5}"/>
              </a:ext>
            </a:extLst>
          </p:cNvPr>
          <p:cNvSpPr txBox="1"/>
          <p:nvPr/>
        </p:nvSpPr>
        <p:spPr>
          <a:xfrm>
            <a:off x="9321800" y="3547998"/>
            <a:ext cx="188023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9810" algn="l"/>
                <a:tab pos="1719580" algn="l"/>
              </a:tabLst>
            </a:pPr>
            <a:r>
              <a:rPr sz="1750" spc="95" dirty="0">
                <a:latin typeface="Cambria Math"/>
                <a:cs typeface="Cambria Math"/>
              </a:rPr>
              <a:t>𝐵</a:t>
            </a:r>
            <a:r>
              <a:rPr sz="1750" spc="5" dirty="0">
                <a:latin typeface="Cambria Math"/>
                <a:cs typeface="Cambria Math"/>
              </a:rPr>
              <a:t>/</a:t>
            </a:r>
            <a:r>
              <a:rPr sz="1750" spc="80" dirty="0">
                <a:latin typeface="Cambria Math"/>
                <a:cs typeface="Cambria Math"/>
              </a:rPr>
              <a:t>𝐴</a:t>
            </a:r>
            <a:r>
              <a:rPr sz="1750" dirty="0">
                <a:latin typeface="Cambria Math"/>
                <a:cs typeface="Cambria Math"/>
              </a:rPr>
              <a:t>	</a:t>
            </a:r>
            <a:r>
              <a:rPr sz="1750" spc="60" dirty="0">
                <a:latin typeface="Cambria Math"/>
                <a:cs typeface="Cambria Math"/>
              </a:rPr>
              <a:t>𝐵</a:t>
            </a:r>
            <a:r>
              <a:rPr sz="1750" dirty="0">
                <a:latin typeface="Cambria Math"/>
                <a:cs typeface="Cambria Math"/>
              </a:rPr>
              <a:t>	</a:t>
            </a:r>
            <a:r>
              <a:rPr sz="1750" spc="80" dirty="0">
                <a:latin typeface="Cambria Math"/>
                <a:cs typeface="Cambria Math"/>
              </a:rPr>
              <a:t>𝐴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40" name="object 35">
            <a:extLst>
              <a:ext uri="{FF2B5EF4-FFF2-40B4-BE49-F238E27FC236}">
                <a16:creationId xmlns:a16="http://schemas.microsoft.com/office/drawing/2014/main" id="{5BFD2740-062C-3C57-40D7-7CCE82EDA024}"/>
              </a:ext>
            </a:extLst>
          </p:cNvPr>
          <p:cNvSpPr txBox="1"/>
          <p:nvPr/>
        </p:nvSpPr>
        <p:spPr>
          <a:xfrm>
            <a:off x="9038843" y="3802507"/>
            <a:ext cx="2462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⇒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15" dirty="0">
                <a:latin typeface="Cambria Math"/>
                <a:cs typeface="Cambria Math"/>
              </a:rPr>
              <a:t>𝒗</a:t>
            </a:r>
            <a:r>
              <a:rPr sz="2625" spc="22" baseline="-15873" dirty="0">
                <a:latin typeface="Cambria Math"/>
                <a:cs typeface="Cambria Math"/>
              </a:rPr>
              <a:t>𝐵</a:t>
            </a:r>
            <a:r>
              <a:rPr sz="2625" spc="600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spc="-40" dirty="0">
                <a:latin typeface="Cambria Math"/>
                <a:cs typeface="Cambria Math"/>
              </a:rPr>
              <a:t>𝒗</a:t>
            </a:r>
            <a:r>
              <a:rPr sz="2625" spc="-60" baseline="-15873" dirty="0">
                <a:latin typeface="Cambria Math"/>
                <a:cs typeface="Cambria Math"/>
              </a:rPr>
              <a:t>𝐴</a:t>
            </a:r>
            <a:r>
              <a:rPr sz="2625" spc="36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spc="30" dirty="0">
                <a:latin typeface="Cambria Math"/>
                <a:cs typeface="Cambria Math"/>
              </a:rPr>
              <a:t>𝒗</a:t>
            </a:r>
            <a:r>
              <a:rPr sz="2625" spc="44" baseline="-15873" dirty="0">
                <a:latin typeface="Cambria Math"/>
                <a:cs typeface="Cambria Math"/>
              </a:rPr>
              <a:t>𝐵/𝐴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41" name="object 36">
            <a:extLst>
              <a:ext uri="{FF2B5EF4-FFF2-40B4-BE49-F238E27FC236}">
                <a16:creationId xmlns:a16="http://schemas.microsoft.com/office/drawing/2014/main" id="{4EDCD81A-6047-7725-5ED0-2130330DC145}"/>
              </a:ext>
            </a:extLst>
          </p:cNvPr>
          <p:cNvSpPr txBox="1"/>
          <p:nvPr/>
        </p:nvSpPr>
        <p:spPr>
          <a:xfrm>
            <a:off x="8502395" y="4569332"/>
            <a:ext cx="3008630" cy="1153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87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Relative</a:t>
            </a:r>
            <a:r>
              <a:rPr sz="2400" b="1" spc="-1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Accelera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t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io</a:t>
            </a:r>
            <a:r>
              <a:rPr sz="24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n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671830">
              <a:lnSpc>
                <a:spcPts val="2870"/>
              </a:lnSpc>
            </a:pPr>
            <a:r>
              <a:rPr sz="2400" spc="30" dirty="0">
                <a:latin typeface="Cambria Math"/>
                <a:cs typeface="Cambria Math"/>
              </a:rPr>
              <a:t>𝒂</a:t>
            </a:r>
            <a:r>
              <a:rPr sz="2625" spc="44" baseline="-15873" dirty="0">
                <a:latin typeface="Cambria Math"/>
                <a:cs typeface="Cambria Math"/>
              </a:rPr>
              <a:t>𝐵/𝐴</a:t>
            </a:r>
            <a:r>
              <a:rPr sz="2625" spc="56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15" dirty="0">
                <a:latin typeface="Cambria Math"/>
                <a:cs typeface="Cambria Math"/>
              </a:rPr>
              <a:t>𝒂</a:t>
            </a:r>
            <a:r>
              <a:rPr sz="2625" spc="22" baseline="-15873" dirty="0">
                <a:latin typeface="Cambria Math"/>
                <a:cs typeface="Cambria Math"/>
              </a:rPr>
              <a:t>𝐵</a:t>
            </a:r>
            <a:r>
              <a:rPr sz="2625" spc="40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spc="-40" dirty="0">
                <a:latin typeface="Cambria Math"/>
                <a:cs typeface="Cambria Math"/>
              </a:rPr>
              <a:t>𝒂</a:t>
            </a:r>
            <a:r>
              <a:rPr sz="2625" spc="-60" baseline="-15873" dirty="0">
                <a:latin typeface="Cambria Math"/>
                <a:cs typeface="Cambria Math"/>
              </a:rPr>
              <a:t>𝐴</a:t>
            </a:r>
            <a:endParaRPr sz="2625" baseline="-15873">
              <a:latin typeface="Cambria Math"/>
              <a:cs typeface="Cambria Math"/>
            </a:endParaRPr>
          </a:p>
          <a:p>
            <a:pPr marL="565150">
              <a:lnSpc>
                <a:spcPct val="100000"/>
              </a:lnSpc>
              <a:spcBef>
                <a:spcPts val="265"/>
              </a:spcBef>
            </a:pPr>
            <a:r>
              <a:rPr sz="2400" dirty="0">
                <a:latin typeface="Cambria Math"/>
                <a:cs typeface="Cambria Math"/>
              </a:rPr>
              <a:t>⇒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spc="15" dirty="0">
                <a:latin typeface="Cambria Math"/>
                <a:cs typeface="Cambria Math"/>
              </a:rPr>
              <a:t>𝒂</a:t>
            </a:r>
            <a:r>
              <a:rPr sz="2625" spc="22" baseline="-15873" dirty="0">
                <a:latin typeface="Cambria Math"/>
                <a:cs typeface="Cambria Math"/>
              </a:rPr>
              <a:t>𝐵 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spc="-40" dirty="0">
                <a:latin typeface="Cambria Math"/>
                <a:cs typeface="Cambria Math"/>
              </a:rPr>
              <a:t>𝒂</a:t>
            </a:r>
            <a:r>
              <a:rPr sz="2625" spc="-60" baseline="-15873" dirty="0">
                <a:latin typeface="Cambria Math"/>
                <a:cs typeface="Cambria Math"/>
              </a:rPr>
              <a:t>𝐴</a:t>
            </a:r>
            <a:r>
              <a:rPr sz="2625" spc="38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spc="30" dirty="0">
                <a:latin typeface="Cambria Math"/>
                <a:cs typeface="Cambria Math"/>
              </a:rPr>
              <a:t>𝒂</a:t>
            </a:r>
            <a:r>
              <a:rPr sz="2625" spc="44" baseline="-15873" dirty="0">
                <a:latin typeface="Cambria Math"/>
                <a:cs typeface="Cambria Math"/>
              </a:rPr>
              <a:t>𝐵/𝐴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42" name="object 3">
            <a:extLst>
              <a:ext uri="{FF2B5EF4-FFF2-40B4-BE49-F238E27FC236}">
                <a16:creationId xmlns:a16="http://schemas.microsoft.com/office/drawing/2014/main" id="{AF9BDEB8-BC28-F3D2-241D-0337639A1243}"/>
              </a:ext>
            </a:extLst>
          </p:cNvPr>
          <p:cNvSpPr txBox="1">
            <a:spLocks/>
          </p:cNvSpPr>
          <p:nvPr/>
        </p:nvSpPr>
        <p:spPr>
          <a:xfrm>
            <a:off x="1089891" y="334772"/>
            <a:ext cx="7948952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lang="en-US" sz="3200" spc="-5" dirty="0">
                <a:solidFill>
                  <a:srgbClr val="C0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Motion Relative to Frame in Translation</a:t>
            </a:r>
          </a:p>
        </p:txBody>
      </p:sp>
    </p:spTree>
    <p:extLst>
      <p:ext uri="{BB962C8B-B14F-4D97-AF65-F5344CB8AC3E}">
        <p14:creationId xmlns:p14="http://schemas.microsoft.com/office/powerpoint/2010/main" val="3521957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7/1/2025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922D43B9-FC68-3684-B0AE-59780EBAE35E}"/>
              </a:ext>
            </a:extLst>
          </p:cNvPr>
          <p:cNvSpPr txBox="1"/>
          <p:nvPr/>
        </p:nvSpPr>
        <p:spPr>
          <a:xfrm>
            <a:off x="317863" y="523311"/>
            <a:ext cx="10334625" cy="2356414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95"/>
              </a:spcBef>
            </a:pPr>
            <a:r>
              <a:rPr lang="en-US"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Problem:</a:t>
            </a:r>
            <a:endParaRPr lang="en-US" sz="2400" dirty="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</a:pPr>
            <a:r>
              <a:rPr lang="en-US"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Three seconds after automobile B passes through the intersection shown, automobile A passes through the same intersection. Knowing that the speed of each automobile is constant, determine (a) the relative velocity of B with respect to A, (b) the change in position of B with respect to A during a 4-s interval, (c) the distance between the two automobiles 2 s after A has passed through the intersection.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60112AD9-7DCA-ED6D-C34E-D4D627EF440B}"/>
              </a:ext>
            </a:extLst>
          </p:cNvPr>
          <p:cNvSpPr txBox="1">
            <a:spLocks/>
          </p:cNvSpPr>
          <p:nvPr/>
        </p:nvSpPr>
        <p:spPr>
          <a:xfrm>
            <a:off x="317863" y="18686"/>
            <a:ext cx="487636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lang="en-US" sz="3200" spc="-5" dirty="0">
                <a:solidFill>
                  <a:srgbClr val="C0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Relative Motion</a:t>
            </a:r>
          </a:p>
        </p:txBody>
      </p:sp>
      <p:pic>
        <p:nvPicPr>
          <p:cNvPr id="8" name="Picture 7" descr="A diagram of a road intersection&#10;&#10;Description automatically generated">
            <a:extLst>
              <a:ext uri="{FF2B5EF4-FFF2-40B4-BE49-F238E27FC236}">
                <a16:creationId xmlns:a16="http://schemas.microsoft.com/office/drawing/2014/main" id="{E7C9C1A1-4ED9-396F-E8B2-60A771246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472" y="2897862"/>
            <a:ext cx="4192240" cy="380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81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7/1/2025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F2107AC-CD78-CB42-A59B-8B5D55A03E4F}"/>
              </a:ext>
            </a:extLst>
          </p:cNvPr>
          <p:cNvSpPr txBox="1"/>
          <p:nvPr/>
        </p:nvSpPr>
        <p:spPr>
          <a:xfrm>
            <a:off x="511763" y="503262"/>
            <a:ext cx="10334625" cy="1987082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95"/>
              </a:spcBef>
            </a:pPr>
            <a:r>
              <a:rPr lang="en-US"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Problem:</a:t>
            </a:r>
            <a:endParaRPr lang="en-US" sz="2400" dirty="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</a:pPr>
            <a:r>
              <a:rPr lang="en-US"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Conveyor belt A, which forms a 20° angle with the horizontal, moves at a constant speed of 4 ft/s and is used to load an airplane. Knowing that a worker tosses duffel bag B with an initial velocity of 2.5 ft/s at an angle of 30° with the horizontal, determine the velocity of the bag relative to the belt as it lands on the belt.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7" name="Picture 6" descr="A cartoon of a car with a crane&#10;&#10;Description automatically generated">
            <a:extLst>
              <a:ext uri="{FF2B5EF4-FFF2-40B4-BE49-F238E27FC236}">
                <a16:creationId xmlns:a16="http://schemas.microsoft.com/office/drawing/2014/main" id="{2C218979-6C40-BB3A-1C3A-269D5E42A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923" y="3052762"/>
            <a:ext cx="7648575" cy="3486150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220A57D8-89E0-CC1B-0288-D2E809CDC231}"/>
              </a:ext>
            </a:extLst>
          </p:cNvPr>
          <p:cNvSpPr txBox="1">
            <a:spLocks/>
          </p:cNvSpPr>
          <p:nvPr/>
        </p:nvSpPr>
        <p:spPr>
          <a:xfrm>
            <a:off x="511763" y="106795"/>
            <a:ext cx="487636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lang="en-US" sz="3200" spc="-5" dirty="0">
                <a:solidFill>
                  <a:srgbClr val="C00000"/>
                </a:solidFill>
                <a:latin typeface="Bookman Old Style" panose="02050604050505020204" pitchFamily="18" charset="0"/>
                <a:cs typeface="Dreaming Outloud Pro" panose="03050502040302030504" pitchFamily="66" charset="0"/>
              </a:rPr>
              <a:t>Relative Motion</a:t>
            </a:r>
          </a:p>
        </p:txBody>
      </p:sp>
    </p:spTree>
    <p:extLst>
      <p:ext uri="{BB962C8B-B14F-4D97-AF65-F5344CB8AC3E}">
        <p14:creationId xmlns:p14="http://schemas.microsoft.com/office/powerpoint/2010/main" val="4286511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7/1/2025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272FD9DD-ACD6-4C90-CD5C-0C6E52B59E18}"/>
              </a:ext>
            </a:extLst>
          </p:cNvPr>
          <p:cNvGrpSpPr/>
          <p:nvPr/>
        </p:nvGrpSpPr>
        <p:grpSpPr>
          <a:xfrm>
            <a:off x="2772474" y="2104898"/>
            <a:ext cx="2915920" cy="4514215"/>
            <a:chOff x="1725167" y="1171955"/>
            <a:chExt cx="2915920" cy="4514215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5D526704-EF0B-DD3B-FD7C-865A360E200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5167" y="1171955"/>
              <a:ext cx="2915411" cy="4514088"/>
            </a:xfrm>
            <a:prstGeom prst="rect">
              <a:avLst/>
            </a:prstGeom>
          </p:spPr>
        </p:pic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2B119F00-8F11-7579-B877-411929F51BC8}"/>
                </a:ext>
              </a:extLst>
            </p:cNvPr>
            <p:cNvSpPr/>
            <p:nvPr/>
          </p:nvSpPr>
          <p:spPr>
            <a:xfrm>
              <a:off x="3043427" y="2068067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19" h="45719">
                  <a:moveTo>
                    <a:pt x="22860" y="0"/>
                  </a:moveTo>
                  <a:lnTo>
                    <a:pt x="13983" y="1803"/>
                  </a:lnTo>
                  <a:lnTo>
                    <a:pt x="6715" y="6715"/>
                  </a:lnTo>
                  <a:lnTo>
                    <a:pt x="1803" y="13983"/>
                  </a:lnTo>
                  <a:lnTo>
                    <a:pt x="0" y="22860"/>
                  </a:lnTo>
                  <a:lnTo>
                    <a:pt x="1803" y="31736"/>
                  </a:lnTo>
                  <a:lnTo>
                    <a:pt x="6715" y="39004"/>
                  </a:lnTo>
                  <a:lnTo>
                    <a:pt x="13983" y="43916"/>
                  </a:lnTo>
                  <a:lnTo>
                    <a:pt x="22860" y="45720"/>
                  </a:lnTo>
                  <a:lnTo>
                    <a:pt x="31736" y="43916"/>
                  </a:lnTo>
                  <a:lnTo>
                    <a:pt x="39004" y="39004"/>
                  </a:lnTo>
                  <a:lnTo>
                    <a:pt x="43916" y="31736"/>
                  </a:lnTo>
                  <a:lnTo>
                    <a:pt x="45720" y="22860"/>
                  </a:lnTo>
                  <a:lnTo>
                    <a:pt x="43916" y="13983"/>
                  </a:lnTo>
                  <a:lnTo>
                    <a:pt x="39004" y="6715"/>
                  </a:lnTo>
                  <a:lnTo>
                    <a:pt x="31736" y="1803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A42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D4641D49-A943-90DB-72F4-76C917DDB999}"/>
                </a:ext>
              </a:extLst>
            </p:cNvPr>
            <p:cNvSpPr/>
            <p:nvPr/>
          </p:nvSpPr>
          <p:spPr>
            <a:xfrm>
              <a:off x="3043427" y="2068067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19" h="45719">
                  <a:moveTo>
                    <a:pt x="45720" y="22860"/>
                  </a:moveTo>
                  <a:lnTo>
                    <a:pt x="43916" y="13983"/>
                  </a:lnTo>
                  <a:lnTo>
                    <a:pt x="39004" y="6715"/>
                  </a:lnTo>
                  <a:lnTo>
                    <a:pt x="31736" y="1803"/>
                  </a:lnTo>
                  <a:lnTo>
                    <a:pt x="22860" y="0"/>
                  </a:lnTo>
                  <a:lnTo>
                    <a:pt x="13983" y="1803"/>
                  </a:lnTo>
                  <a:lnTo>
                    <a:pt x="6715" y="6715"/>
                  </a:lnTo>
                  <a:lnTo>
                    <a:pt x="1803" y="13983"/>
                  </a:lnTo>
                  <a:lnTo>
                    <a:pt x="0" y="22860"/>
                  </a:lnTo>
                  <a:lnTo>
                    <a:pt x="1803" y="31736"/>
                  </a:lnTo>
                  <a:lnTo>
                    <a:pt x="6715" y="39004"/>
                  </a:lnTo>
                  <a:lnTo>
                    <a:pt x="13983" y="43916"/>
                  </a:lnTo>
                  <a:lnTo>
                    <a:pt x="22860" y="45720"/>
                  </a:lnTo>
                  <a:lnTo>
                    <a:pt x="31736" y="43916"/>
                  </a:lnTo>
                  <a:lnTo>
                    <a:pt x="39004" y="39004"/>
                  </a:lnTo>
                  <a:lnTo>
                    <a:pt x="43916" y="31736"/>
                  </a:lnTo>
                  <a:lnTo>
                    <a:pt x="45720" y="22860"/>
                  </a:lnTo>
                  <a:close/>
                </a:path>
              </a:pathLst>
            </a:custGeom>
            <a:ln w="15875">
              <a:solidFill>
                <a:srgbClr val="781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7">
            <a:extLst>
              <a:ext uri="{FF2B5EF4-FFF2-40B4-BE49-F238E27FC236}">
                <a16:creationId xmlns:a16="http://schemas.microsoft.com/office/drawing/2014/main" id="{783BB703-435F-22B7-14EA-C6BF4E2515CE}"/>
              </a:ext>
            </a:extLst>
          </p:cNvPr>
          <p:cNvSpPr txBox="1"/>
          <p:nvPr/>
        </p:nvSpPr>
        <p:spPr>
          <a:xfrm>
            <a:off x="4164902" y="3068828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1" name="object 8">
            <a:extLst>
              <a:ext uri="{FF2B5EF4-FFF2-40B4-BE49-F238E27FC236}">
                <a16:creationId xmlns:a16="http://schemas.microsoft.com/office/drawing/2014/main" id="{BED324FD-5A88-6567-2B08-9CAA50CFBDCE}"/>
              </a:ext>
            </a:extLst>
          </p:cNvPr>
          <p:cNvGrpSpPr/>
          <p:nvPr/>
        </p:nvGrpSpPr>
        <p:grpSpPr>
          <a:xfrm>
            <a:off x="3255265" y="2994660"/>
            <a:ext cx="1951355" cy="1486535"/>
            <a:chOff x="2207958" y="2061717"/>
            <a:chExt cx="1951355" cy="1486535"/>
          </a:xfrm>
        </p:grpSpPr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FEE48EF1-BEBC-3742-031F-FDCF4BCAEF97}"/>
                </a:ext>
              </a:extLst>
            </p:cNvPr>
            <p:cNvSpPr/>
            <p:nvPr/>
          </p:nvSpPr>
          <p:spPr>
            <a:xfrm>
              <a:off x="2215895" y="2090927"/>
              <a:ext cx="1935480" cy="0"/>
            </a:xfrm>
            <a:custGeom>
              <a:avLst/>
              <a:gdLst/>
              <a:ahLst/>
              <a:cxnLst/>
              <a:rect l="l" t="t" r="r" b="b"/>
              <a:pathLst>
                <a:path w="1935479">
                  <a:moveTo>
                    <a:pt x="0" y="0"/>
                  </a:moveTo>
                  <a:lnTo>
                    <a:pt x="1935353" y="0"/>
                  </a:lnTo>
                </a:path>
              </a:pathLst>
            </a:custGeom>
            <a:ln w="158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F94E9F82-1092-3C5A-25BE-A48000FB0AB8}"/>
                </a:ext>
              </a:extLst>
            </p:cNvPr>
            <p:cNvSpPr/>
            <p:nvPr/>
          </p:nvSpPr>
          <p:spPr>
            <a:xfrm>
              <a:off x="2295143" y="3543300"/>
              <a:ext cx="295275" cy="0"/>
            </a:xfrm>
            <a:custGeom>
              <a:avLst/>
              <a:gdLst/>
              <a:ahLst/>
              <a:cxnLst/>
              <a:rect l="l" t="t" r="r" b="b"/>
              <a:pathLst>
                <a:path w="29527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ln w="9525">
              <a:solidFill>
                <a:srgbClr val="9D2C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0DF690D4-DFE6-ABC6-3652-5F431ABB91E6}"/>
                </a:ext>
              </a:extLst>
            </p:cNvPr>
            <p:cNvSpPr/>
            <p:nvPr/>
          </p:nvSpPr>
          <p:spPr>
            <a:xfrm>
              <a:off x="2362199" y="2061717"/>
              <a:ext cx="76200" cy="1481455"/>
            </a:xfrm>
            <a:custGeom>
              <a:avLst/>
              <a:gdLst/>
              <a:ahLst/>
              <a:cxnLst/>
              <a:rect l="l" t="t" r="r" b="b"/>
              <a:pathLst>
                <a:path w="76200" h="1481454">
                  <a:moveTo>
                    <a:pt x="31750" y="1405001"/>
                  </a:moveTo>
                  <a:lnTo>
                    <a:pt x="0" y="1405001"/>
                  </a:lnTo>
                  <a:lnTo>
                    <a:pt x="38100" y="1481201"/>
                  </a:lnTo>
                  <a:lnTo>
                    <a:pt x="66675" y="1424051"/>
                  </a:lnTo>
                  <a:lnTo>
                    <a:pt x="34543" y="1424051"/>
                  </a:lnTo>
                  <a:lnTo>
                    <a:pt x="31750" y="1421130"/>
                  </a:lnTo>
                  <a:lnTo>
                    <a:pt x="31750" y="1405001"/>
                  </a:lnTo>
                  <a:close/>
                </a:path>
                <a:path w="76200" h="1481454">
                  <a:moveTo>
                    <a:pt x="41656" y="0"/>
                  </a:moveTo>
                  <a:lnTo>
                    <a:pt x="34543" y="0"/>
                  </a:lnTo>
                  <a:lnTo>
                    <a:pt x="31750" y="2794"/>
                  </a:lnTo>
                  <a:lnTo>
                    <a:pt x="31750" y="1421130"/>
                  </a:lnTo>
                  <a:lnTo>
                    <a:pt x="34543" y="1424051"/>
                  </a:lnTo>
                  <a:lnTo>
                    <a:pt x="41656" y="1424051"/>
                  </a:lnTo>
                  <a:lnTo>
                    <a:pt x="44450" y="1421130"/>
                  </a:lnTo>
                  <a:lnTo>
                    <a:pt x="44450" y="2794"/>
                  </a:lnTo>
                  <a:lnTo>
                    <a:pt x="41656" y="0"/>
                  </a:lnTo>
                  <a:close/>
                </a:path>
                <a:path w="76200" h="1481454">
                  <a:moveTo>
                    <a:pt x="76200" y="1405001"/>
                  </a:moveTo>
                  <a:lnTo>
                    <a:pt x="44450" y="1405001"/>
                  </a:lnTo>
                  <a:lnTo>
                    <a:pt x="44450" y="1421130"/>
                  </a:lnTo>
                  <a:lnTo>
                    <a:pt x="41656" y="1424051"/>
                  </a:lnTo>
                  <a:lnTo>
                    <a:pt x="66675" y="1424051"/>
                  </a:lnTo>
                  <a:lnTo>
                    <a:pt x="76200" y="1405001"/>
                  </a:lnTo>
                  <a:close/>
                </a:path>
              </a:pathLst>
            </a:custGeom>
            <a:solidFill>
              <a:srgbClr val="9D2C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2">
            <a:extLst>
              <a:ext uri="{FF2B5EF4-FFF2-40B4-BE49-F238E27FC236}">
                <a16:creationId xmlns:a16="http://schemas.microsoft.com/office/drawing/2014/main" id="{1FB87564-7C7A-42BC-0B01-A13A8674E77D}"/>
              </a:ext>
            </a:extLst>
          </p:cNvPr>
          <p:cNvSpPr txBox="1"/>
          <p:nvPr/>
        </p:nvSpPr>
        <p:spPr>
          <a:xfrm>
            <a:off x="3139124" y="3596336"/>
            <a:ext cx="2978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latin typeface="Cambria Math"/>
                <a:cs typeface="Cambria Math"/>
              </a:rPr>
              <a:t>𝐴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16" name="object 13">
            <a:extLst>
              <a:ext uri="{FF2B5EF4-FFF2-40B4-BE49-F238E27FC236}">
                <a16:creationId xmlns:a16="http://schemas.microsoft.com/office/drawing/2014/main" id="{03933C4E-7200-9F3E-7E5F-D693AD34B208}"/>
              </a:ext>
            </a:extLst>
          </p:cNvPr>
          <p:cNvGrpSpPr/>
          <p:nvPr/>
        </p:nvGrpSpPr>
        <p:grpSpPr>
          <a:xfrm>
            <a:off x="4614800" y="2994660"/>
            <a:ext cx="304800" cy="2324735"/>
            <a:chOff x="3567493" y="2061717"/>
            <a:chExt cx="304800" cy="2324735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484721E1-9D03-EC5E-593E-FC16A5B8B323}"/>
                </a:ext>
              </a:extLst>
            </p:cNvPr>
            <p:cNvSpPr/>
            <p:nvPr/>
          </p:nvSpPr>
          <p:spPr>
            <a:xfrm>
              <a:off x="3572255" y="4381500"/>
              <a:ext cx="295275" cy="0"/>
            </a:xfrm>
            <a:custGeom>
              <a:avLst/>
              <a:gdLst/>
              <a:ahLst/>
              <a:cxnLst/>
              <a:rect l="l" t="t" r="r" b="b"/>
              <a:pathLst>
                <a:path w="29527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ln w="9525">
              <a:solidFill>
                <a:srgbClr val="9D2C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15290EA7-078C-C976-3CFC-30D48E31755B}"/>
                </a:ext>
              </a:extLst>
            </p:cNvPr>
            <p:cNvSpPr/>
            <p:nvPr/>
          </p:nvSpPr>
          <p:spPr>
            <a:xfrm>
              <a:off x="3681983" y="2061717"/>
              <a:ext cx="76200" cy="2319655"/>
            </a:xfrm>
            <a:custGeom>
              <a:avLst/>
              <a:gdLst/>
              <a:ahLst/>
              <a:cxnLst/>
              <a:rect l="l" t="t" r="r" b="b"/>
              <a:pathLst>
                <a:path w="76200" h="2319654">
                  <a:moveTo>
                    <a:pt x="31750" y="2243201"/>
                  </a:moveTo>
                  <a:lnTo>
                    <a:pt x="0" y="2243201"/>
                  </a:lnTo>
                  <a:lnTo>
                    <a:pt x="38100" y="2319401"/>
                  </a:lnTo>
                  <a:lnTo>
                    <a:pt x="66675" y="2262251"/>
                  </a:lnTo>
                  <a:lnTo>
                    <a:pt x="34543" y="2262251"/>
                  </a:lnTo>
                  <a:lnTo>
                    <a:pt x="31750" y="2259330"/>
                  </a:lnTo>
                  <a:lnTo>
                    <a:pt x="31750" y="2243201"/>
                  </a:lnTo>
                  <a:close/>
                </a:path>
                <a:path w="76200" h="2319654">
                  <a:moveTo>
                    <a:pt x="41655" y="0"/>
                  </a:moveTo>
                  <a:lnTo>
                    <a:pt x="34543" y="0"/>
                  </a:lnTo>
                  <a:lnTo>
                    <a:pt x="31750" y="2794"/>
                  </a:lnTo>
                  <a:lnTo>
                    <a:pt x="31750" y="2259330"/>
                  </a:lnTo>
                  <a:lnTo>
                    <a:pt x="34543" y="2262251"/>
                  </a:lnTo>
                  <a:lnTo>
                    <a:pt x="41655" y="2262251"/>
                  </a:lnTo>
                  <a:lnTo>
                    <a:pt x="44450" y="2259330"/>
                  </a:lnTo>
                  <a:lnTo>
                    <a:pt x="44450" y="2794"/>
                  </a:lnTo>
                  <a:lnTo>
                    <a:pt x="41655" y="0"/>
                  </a:lnTo>
                  <a:close/>
                </a:path>
                <a:path w="76200" h="2319654">
                  <a:moveTo>
                    <a:pt x="76200" y="2243201"/>
                  </a:moveTo>
                  <a:lnTo>
                    <a:pt x="44450" y="2243201"/>
                  </a:lnTo>
                  <a:lnTo>
                    <a:pt x="44450" y="2259330"/>
                  </a:lnTo>
                  <a:lnTo>
                    <a:pt x="41655" y="2262251"/>
                  </a:lnTo>
                  <a:lnTo>
                    <a:pt x="66675" y="2262251"/>
                  </a:lnTo>
                  <a:lnTo>
                    <a:pt x="76200" y="2243201"/>
                  </a:lnTo>
                  <a:close/>
                </a:path>
              </a:pathLst>
            </a:custGeom>
            <a:solidFill>
              <a:srgbClr val="9D2C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16">
            <a:extLst>
              <a:ext uri="{FF2B5EF4-FFF2-40B4-BE49-F238E27FC236}">
                <a16:creationId xmlns:a16="http://schemas.microsoft.com/office/drawing/2014/main" id="{2C8DEB82-8CD9-9DEA-1A98-769B37859C61}"/>
              </a:ext>
            </a:extLst>
          </p:cNvPr>
          <p:cNvSpPr txBox="1"/>
          <p:nvPr/>
        </p:nvSpPr>
        <p:spPr>
          <a:xfrm>
            <a:off x="4819841" y="3927044"/>
            <a:ext cx="310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latin typeface="Cambria Math"/>
                <a:cs typeface="Cambria Math"/>
              </a:rPr>
              <a:t>𝑥</a:t>
            </a:r>
            <a:r>
              <a:rPr sz="1950" spc="15" baseline="-14957" dirty="0">
                <a:latin typeface="Cambria Math"/>
                <a:cs typeface="Cambria Math"/>
              </a:rPr>
              <a:t>𝐵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22" name="object 17">
            <a:extLst>
              <a:ext uri="{FF2B5EF4-FFF2-40B4-BE49-F238E27FC236}">
                <a16:creationId xmlns:a16="http://schemas.microsoft.com/office/drawing/2014/main" id="{7C6641F2-B938-01D9-1BC2-F878F5FF1663}"/>
              </a:ext>
            </a:extLst>
          </p:cNvPr>
          <p:cNvGrpSpPr/>
          <p:nvPr/>
        </p:nvGrpSpPr>
        <p:grpSpPr>
          <a:xfrm>
            <a:off x="3734118" y="2479421"/>
            <a:ext cx="967740" cy="548005"/>
            <a:chOff x="2686811" y="1546478"/>
            <a:chExt cx="967740" cy="548005"/>
          </a:xfrm>
        </p:grpSpPr>
        <p:sp>
          <p:nvSpPr>
            <p:cNvPr id="23" name="object 18">
              <a:extLst>
                <a:ext uri="{FF2B5EF4-FFF2-40B4-BE49-F238E27FC236}">
                  <a16:creationId xmlns:a16="http://schemas.microsoft.com/office/drawing/2014/main" id="{20A95BC3-5B4B-F5D1-AAF1-73F6FE98AD79}"/>
                </a:ext>
              </a:extLst>
            </p:cNvPr>
            <p:cNvSpPr/>
            <p:nvPr/>
          </p:nvSpPr>
          <p:spPr>
            <a:xfrm>
              <a:off x="2705861" y="1745773"/>
              <a:ext cx="737870" cy="329565"/>
            </a:xfrm>
            <a:custGeom>
              <a:avLst/>
              <a:gdLst/>
              <a:ahLst/>
              <a:cxnLst/>
              <a:rect l="l" t="t" r="r" b="b"/>
              <a:pathLst>
                <a:path w="737870" h="329564">
                  <a:moveTo>
                    <a:pt x="0" y="321405"/>
                  </a:moveTo>
                  <a:lnTo>
                    <a:pt x="23812" y="266477"/>
                  </a:lnTo>
                  <a:lnTo>
                    <a:pt x="47625" y="216884"/>
                  </a:lnTo>
                  <a:lnTo>
                    <a:pt x="69056" y="177038"/>
                  </a:lnTo>
                  <a:lnTo>
                    <a:pt x="95250" y="140811"/>
                  </a:lnTo>
                  <a:lnTo>
                    <a:pt x="132714" y="101584"/>
                  </a:lnTo>
                  <a:lnTo>
                    <a:pt x="180848" y="64738"/>
                  </a:lnTo>
                  <a:lnTo>
                    <a:pt x="242760" y="31464"/>
                  </a:lnTo>
                  <a:lnTo>
                    <a:pt x="314198" y="7715"/>
                  </a:lnTo>
                  <a:lnTo>
                    <a:pt x="353962" y="2143"/>
                  </a:lnTo>
                  <a:lnTo>
                    <a:pt x="396859" y="0"/>
                  </a:lnTo>
                  <a:lnTo>
                    <a:pt x="438874" y="1714"/>
                  </a:lnTo>
                  <a:lnTo>
                    <a:pt x="506208" y="18988"/>
                  </a:lnTo>
                  <a:lnTo>
                    <a:pt x="555916" y="54060"/>
                  </a:lnTo>
                  <a:lnTo>
                    <a:pt x="580771" y="74263"/>
                  </a:lnTo>
                  <a:lnTo>
                    <a:pt x="608230" y="94910"/>
                  </a:lnTo>
                  <a:lnTo>
                    <a:pt x="663245" y="141539"/>
                  </a:lnTo>
                  <a:lnTo>
                    <a:pt x="702450" y="204706"/>
                  </a:lnTo>
                  <a:lnTo>
                    <a:pt x="715756" y="245951"/>
                  </a:lnTo>
                  <a:lnTo>
                    <a:pt x="725799" y="284505"/>
                  </a:lnTo>
                  <a:lnTo>
                    <a:pt x="733043" y="311880"/>
                  </a:lnTo>
                  <a:lnTo>
                    <a:pt x="736919" y="325209"/>
                  </a:lnTo>
                  <a:lnTo>
                    <a:pt x="737473" y="329168"/>
                  </a:lnTo>
                  <a:lnTo>
                    <a:pt x="735812" y="326864"/>
                  </a:lnTo>
                  <a:lnTo>
                    <a:pt x="733043" y="321405"/>
                  </a:lnTo>
                </a:path>
              </a:pathLst>
            </a:custGeom>
            <a:ln w="381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9">
              <a:extLst>
                <a:ext uri="{FF2B5EF4-FFF2-40B4-BE49-F238E27FC236}">
                  <a16:creationId xmlns:a16="http://schemas.microsoft.com/office/drawing/2014/main" id="{304553BB-0C50-3623-AC8B-1E849C055A99}"/>
                </a:ext>
              </a:extLst>
            </p:cNvPr>
            <p:cNvSpPr/>
            <p:nvPr/>
          </p:nvSpPr>
          <p:spPr>
            <a:xfrm>
              <a:off x="3285743" y="1546478"/>
              <a:ext cx="368935" cy="295910"/>
            </a:xfrm>
            <a:custGeom>
              <a:avLst/>
              <a:gdLst/>
              <a:ahLst/>
              <a:cxnLst/>
              <a:rect l="l" t="t" r="r" b="b"/>
              <a:pathLst>
                <a:path w="368935" h="295910">
                  <a:moveTo>
                    <a:pt x="67436" y="221107"/>
                  </a:moveTo>
                  <a:lnTo>
                    <a:pt x="0" y="273176"/>
                  </a:lnTo>
                  <a:lnTo>
                    <a:pt x="82168" y="295910"/>
                  </a:lnTo>
                  <a:lnTo>
                    <a:pt x="76666" y="267970"/>
                  </a:lnTo>
                  <a:lnTo>
                    <a:pt x="60578" y="267970"/>
                  </a:lnTo>
                  <a:lnTo>
                    <a:pt x="57150" y="265938"/>
                  </a:lnTo>
                  <a:lnTo>
                    <a:pt x="56133" y="262636"/>
                  </a:lnTo>
                  <a:lnTo>
                    <a:pt x="55244" y="259207"/>
                  </a:lnTo>
                  <a:lnTo>
                    <a:pt x="57276" y="255778"/>
                  </a:lnTo>
                  <a:lnTo>
                    <a:pt x="60705" y="254762"/>
                  </a:lnTo>
                  <a:lnTo>
                    <a:pt x="73407" y="251423"/>
                  </a:lnTo>
                  <a:lnTo>
                    <a:pt x="67436" y="221107"/>
                  </a:lnTo>
                  <a:close/>
                </a:path>
                <a:path w="368935" h="295910">
                  <a:moveTo>
                    <a:pt x="73407" y="251423"/>
                  </a:moveTo>
                  <a:lnTo>
                    <a:pt x="60705" y="254762"/>
                  </a:lnTo>
                  <a:lnTo>
                    <a:pt x="57276" y="255778"/>
                  </a:lnTo>
                  <a:lnTo>
                    <a:pt x="55244" y="259207"/>
                  </a:lnTo>
                  <a:lnTo>
                    <a:pt x="56133" y="262636"/>
                  </a:lnTo>
                  <a:lnTo>
                    <a:pt x="57150" y="265938"/>
                  </a:lnTo>
                  <a:lnTo>
                    <a:pt x="60578" y="267970"/>
                  </a:lnTo>
                  <a:lnTo>
                    <a:pt x="64007" y="267081"/>
                  </a:lnTo>
                  <a:lnTo>
                    <a:pt x="75858" y="263869"/>
                  </a:lnTo>
                  <a:lnTo>
                    <a:pt x="73407" y="251423"/>
                  </a:lnTo>
                  <a:close/>
                </a:path>
                <a:path w="368935" h="295910">
                  <a:moveTo>
                    <a:pt x="75858" y="263869"/>
                  </a:moveTo>
                  <a:lnTo>
                    <a:pt x="64007" y="267081"/>
                  </a:lnTo>
                  <a:lnTo>
                    <a:pt x="60578" y="267970"/>
                  </a:lnTo>
                  <a:lnTo>
                    <a:pt x="76666" y="267970"/>
                  </a:lnTo>
                  <a:lnTo>
                    <a:pt x="75858" y="263869"/>
                  </a:lnTo>
                  <a:close/>
                </a:path>
                <a:path w="368935" h="295910">
                  <a:moveTo>
                    <a:pt x="79757" y="249754"/>
                  </a:moveTo>
                  <a:lnTo>
                    <a:pt x="73407" y="251423"/>
                  </a:lnTo>
                  <a:lnTo>
                    <a:pt x="75858" y="263869"/>
                  </a:lnTo>
                  <a:lnTo>
                    <a:pt x="83692" y="261747"/>
                  </a:lnTo>
                  <a:lnTo>
                    <a:pt x="84073" y="261747"/>
                  </a:lnTo>
                  <a:lnTo>
                    <a:pt x="84454" y="261493"/>
                  </a:lnTo>
                  <a:lnTo>
                    <a:pt x="84835" y="261366"/>
                  </a:lnTo>
                  <a:lnTo>
                    <a:pt x="100202" y="254126"/>
                  </a:lnTo>
                  <a:lnTo>
                    <a:pt x="107441" y="249936"/>
                  </a:lnTo>
                  <a:lnTo>
                    <a:pt x="79375" y="249936"/>
                  </a:lnTo>
                  <a:lnTo>
                    <a:pt x="79757" y="249754"/>
                  </a:lnTo>
                  <a:close/>
                </a:path>
                <a:path w="368935" h="295910">
                  <a:moveTo>
                    <a:pt x="80517" y="249555"/>
                  </a:moveTo>
                  <a:lnTo>
                    <a:pt x="79757" y="249754"/>
                  </a:lnTo>
                  <a:lnTo>
                    <a:pt x="79375" y="249936"/>
                  </a:lnTo>
                  <a:lnTo>
                    <a:pt x="80517" y="249555"/>
                  </a:lnTo>
                  <a:close/>
                </a:path>
                <a:path w="368935" h="295910">
                  <a:moveTo>
                    <a:pt x="108100" y="249555"/>
                  </a:moveTo>
                  <a:lnTo>
                    <a:pt x="80517" y="249555"/>
                  </a:lnTo>
                  <a:lnTo>
                    <a:pt x="79375" y="249936"/>
                  </a:lnTo>
                  <a:lnTo>
                    <a:pt x="107441" y="249936"/>
                  </a:lnTo>
                  <a:lnTo>
                    <a:pt x="108100" y="249555"/>
                  </a:lnTo>
                  <a:close/>
                </a:path>
                <a:path w="368935" h="295910">
                  <a:moveTo>
                    <a:pt x="186474" y="150749"/>
                  </a:moveTo>
                  <a:lnTo>
                    <a:pt x="173735" y="150749"/>
                  </a:lnTo>
                  <a:lnTo>
                    <a:pt x="173608" y="151765"/>
                  </a:lnTo>
                  <a:lnTo>
                    <a:pt x="152018" y="196596"/>
                  </a:lnTo>
                  <a:lnTo>
                    <a:pt x="120395" y="226568"/>
                  </a:lnTo>
                  <a:lnTo>
                    <a:pt x="79757" y="249754"/>
                  </a:lnTo>
                  <a:lnTo>
                    <a:pt x="80517" y="249555"/>
                  </a:lnTo>
                  <a:lnTo>
                    <a:pt x="108100" y="249555"/>
                  </a:lnTo>
                  <a:lnTo>
                    <a:pt x="114680" y="245745"/>
                  </a:lnTo>
                  <a:lnTo>
                    <a:pt x="152272" y="215519"/>
                  </a:lnTo>
                  <a:lnTo>
                    <a:pt x="177926" y="179197"/>
                  </a:lnTo>
                  <a:lnTo>
                    <a:pt x="186181" y="153162"/>
                  </a:lnTo>
                  <a:lnTo>
                    <a:pt x="186308" y="152781"/>
                  </a:lnTo>
                  <a:lnTo>
                    <a:pt x="186474" y="150749"/>
                  </a:lnTo>
                  <a:close/>
                </a:path>
                <a:path w="368935" h="295910">
                  <a:moveTo>
                    <a:pt x="173669" y="151018"/>
                  </a:moveTo>
                  <a:lnTo>
                    <a:pt x="173487" y="151765"/>
                  </a:lnTo>
                  <a:lnTo>
                    <a:pt x="173669" y="151018"/>
                  </a:lnTo>
                  <a:close/>
                </a:path>
                <a:path w="368935" h="295910">
                  <a:moveTo>
                    <a:pt x="365125" y="0"/>
                  </a:moveTo>
                  <a:lnTo>
                    <a:pt x="310260" y="6858"/>
                  </a:lnTo>
                  <a:lnTo>
                    <a:pt x="262127" y="25273"/>
                  </a:lnTo>
                  <a:lnTo>
                    <a:pt x="221360" y="52959"/>
                  </a:lnTo>
                  <a:lnTo>
                    <a:pt x="191388" y="87249"/>
                  </a:lnTo>
                  <a:lnTo>
                    <a:pt x="175894" y="125857"/>
                  </a:lnTo>
                  <a:lnTo>
                    <a:pt x="175767" y="126111"/>
                  </a:lnTo>
                  <a:lnTo>
                    <a:pt x="175640" y="126873"/>
                  </a:lnTo>
                  <a:lnTo>
                    <a:pt x="173669" y="151018"/>
                  </a:lnTo>
                  <a:lnTo>
                    <a:pt x="173735" y="150749"/>
                  </a:lnTo>
                  <a:lnTo>
                    <a:pt x="186474" y="150749"/>
                  </a:lnTo>
                  <a:lnTo>
                    <a:pt x="188258" y="128905"/>
                  </a:lnTo>
                  <a:lnTo>
                    <a:pt x="188340" y="127888"/>
                  </a:lnTo>
                  <a:lnTo>
                    <a:pt x="191007" y="117348"/>
                  </a:lnTo>
                  <a:lnTo>
                    <a:pt x="195452" y="105791"/>
                  </a:lnTo>
                  <a:lnTo>
                    <a:pt x="218820" y="72898"/>
                  </a:lnTo>
                  <a:lnTo>
                    <a:pt x="254000" y="44704"/>
                  </a:lnTo>
                  <a:lnTo>
                    <a:pt x="297306" y="24003"/>
                  </a:lnTo>
                  <a:lnTo>
                    <a:pt x="345313" y="13588"/>
                  </a:lnTo>
                  <a:lnTo>
                    <a:pt x="365759" y="12700"/>
                  </a:lnTo>
                  <a:lnTo>
                    <a:pt x="368426" y="9651"/>
                  </a:lnTo>
                  <a:lnTo>
                    <a:pt x="368172" y="2667"/>
                  </a:lnTo>
                  <a:lnTo>
                    <a:pt x="365125" y="0"/>
                  </a:lnTo>
                  <a:close/>
                </a:path>
                <a:path w="368935" h="295910">
                  <a:moveTo>
                    <a:pt x="188280" y="128629"/>
                  </a:moveTo>
                  <a:lnTo>
                    <a:pt x="188213" y="128905"/>
                  </a:lnTo>
                  <a:lnTo>
                    <a:pt x="188280" y="128629"/>
                  </a:lnTo>
                  <a:close/>
                </a:path>
                <a:path w="368935" h="295910">
                  <a:moveTo>
                    <a:pt x="188459" y="127888"/>
                  </a:moveTo>
                  <a:lnTo>
                    <a:pt x="188280" y="128629"/>
                  </a:lnTo>
                  <a:lnTo>
                    <a:pt x="188459" y="127888"/>
                  </a:lnTo>
                  <a:close/>
                </a:path>
              </a:pathLst>
            </a:custGeom>
            <a:solidFill>
              <a:srgbClr val="9D2C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0">
            <a:extLst>
              <a:ext uri="{FF2B5EF4-FFF2-40B4-BE49-F238E27FC236}">
                <a16:creationId xmlns:a16="http://schemas.microsoft.com/office/drawing/2014/main" id="{F660762A-DB3F-D626-B535-C8FEB7E64F69}"/>
              </a:ext>
            </a:extLst>
          </p:cNvPr>
          <p:cNvSpPr txBox="1"/>
          <p:nvPr/>
        </p:nvSpPr>
        <p:spPr>
          <a:xfrm>
            <a:off x="4604577" y="2164716"/>
            <a:ext cx="673100" cy="825500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1085"/>
              </a:spcBef>
            </a:pPr>
            <a:r>
              <a:rPr sz="2700" spc="82" baseline="10802" dirty="0">
                <a:latin typeface="Cambria Math"/>
                <a:cs typeface="Cambria Math"/>
              </a:rPr>
              <a:t>𝑙</a:t>
            </a:r>
            <a:r>
              <a:rPr sz="1300" spc="55" dirty="0">
                <a:latin typeface="Cambria Math"/>
                <a:cs typeface="Cambria Math"/>
              </a:rPr>
              <a:t>𝑠𝑒𝑚𝑖</a:t>
            </a:r>
            <a:endParaRPr sz="130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  <a:spcBef>
                <a:spcPts val="990"/>
              </a:spcBef>
            </a:pPr>
            <a:r>
              <a:rPr sz="1800" spc="-5" dirty="0">
                <a:solidFill>
                  <a:srgbClr val="FF0000"/>
                </a:solidFill>
                <a:latin typeface="Times New Roman"/>
                <a:cs typeface="Times New Roman"/>
              </a:rPr>
              <a:t>Datum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2">
            <a:extLst>
              <a:ext uri="{FF2B5EF4-FFF2-40B4-BE49-F238E27FC236}">
                <a16:creationId xmlns:a16="http://schemas.microsoft.com/office/drawing/2014/main" id="{DBF6652A-C1AE-620B-AA10-827FF95F482D}"/>
              </a:ext>
            </a:extLst>
          </p:cNvPr>
          <p:cNvSpPr txBox="1"/>
          <p:nvPr/>
        </p:nvSpPr>
        <p:spPr>
          <a:xfrm>
            <a:off x="7888608" y="2332762"/>
            <a:ext cx="19900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⇒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𝑥</a:t>
            </a:r>
            <a:r>
              <a:rPr sz="2625" spc="-75" baseline="-15873" dirty="0">
                <a:latin typeface="Cambria Math"/>
                <a:cs typeface="Cambria Math"/>
              </a:rPr>
              <a:t>𝐴</a:t>
            </a:r>
            <a:r>
              <a:rPr sz="2625" spc="390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𝑥</a:t>
            </a:r>
            <a:r>
              <a:rPr sz="2625" baseline="-15873" dirty="0">
                <a:latin typeface="Cambria Math"/>
                <a:cs typeface="Cambria Math"/>
              </a:rPr>
              <a:t>𝐵</a:t>
            </a:r>
            <a:r>
              <a:rPr sz="2625" spc="61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C</a:t>
            </a:r>
          </a:p>
        </p:txBody>
      </p:sp>
      <p:sp>
        <p:nvSpPr>
          <p:cNvPr id="27" name="object 23">
            <a:extLst>
              <a:ext uri="{FF2B5EF4-FFF2-40B4-BE49-F238E27FC236}">
                <a16:creationId xmlns:a16="http://schemas.microsoft.com/office/drawing/2014/main" id="{1FD00291-316A-E319-3E3A-E187C3CE7BC3}"/>
              </a:ext>
            </a:extLst>
          </p:cNvPr>
          <p:cNvSpPr txBox="1"/>
          <p:nvPr/>
        </p:nvSpPr>
        <p:spPr>
          <a:xfrm>
            <a:off x="7377561" y="3258083"/>
            <a:ext cx="289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24">
            <a:extLst>
              <a:ext uri="{FF2B5EF4-FFF2-40B4-BE49-F238E27FC236}">
                <a16:creationId xmlns:a16="http://schemas.microsoft.com/office/drawing/2014/main" id="{E597A7F2-E89D-3A85-2EB5-600B273ED675}"/>
              </a:ext>
            </a:extLst>
          </p:cNvPr>
          <p:cNvSpPr/>
          <p:nvPr/>
        </p:nvSpPr>
        <p:spPr>
          <a:xfrm>
            <a:off x="7736843" y="3478937"/>
            <a:ext cx="1437640" cy="20320"/>
          </a:xfrm>
          <a:custGeom>
            <a:avLst/>
            <a:gdLst/>
            <a:ahLst/>
            <a:cxnLst/>
            <a:rect l="l" t="t" r="r" b="b"/>
            <a:pathLst>
              <a:path w="1437640" h="20319">
                <a:moveTo>
                  <a:pt x="1437131" y="0"/>
                </a:moveTo>
                <a:lnTo>
                  <a:pt x="0" y="0"/>
                </a:lnTo>
                <a:lnTo>
                  <a:pt x="0" y="19812"/>
                </a:lnTo>
                <a:lnTo>
                  <a:pt x="1437131" y="19812"/>
                </a:lnTo>
                <a:lnTo>
                  <a:pt x="14371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5">
            <a:extLst>
              <a:ext uri="{FF2B5EF4-FFF2-40B4-BE49-F238E27FC236}">
                <a16:creationId xmlns:a16="http://schemas.microsoft.com/office/drawing/2014/main" id="{D03D34F7-8920-C40D-9AF6-A68099B37621}"/>
              </a:ext>
            </a:extLst>
          </p:cNvPr>
          <p:cNvSpPr/>
          <p:nvPr/>
        </p:nvSpPr>
        <p:spPr>
          <a:xfrm>
            <a:off x="9570215" y="3478937"/>
            <a:ext cx="304800" cy="20320"/>
          </a:xfrm>
          <a:custGeom>
            <a:avLst/>
            <a:gdLst/>
            <a:ahLst/>
            <a:cxnLst/>
            <a:rect l="l" t="t" r="r" b="b"/>
            <a:pathLst>
              <a:path w="304800" h="20319">
                <a:moveTo>
                  <a:pt x="304800" y="0"/>
                </a:moveTo>
                <a:lnTo>
                  <a:pt x="0" y="0"/>
                </a:lnTo>
                <a:lnTo>
                  <a:pt x="0" y="19812"/>
                </a:lnTo>
                <a:lnTo>
                  <a:pt x="304800" y="19812"/>
                </a:lnTo>
                <a:lnTo>
                  <a:pt x="30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6">
            <a:extLst>
              <a:ext uri="{FF2B5EF4-FFF2-40B4-BE49-F238E27FC236}">
                <a16:creationId xmlns:a16="http://schemas.microsoft.com/office/drawing/2014/main" id="{ED05563C-13A9-E4AF-7183-0D9C4278D959}"/>
              </a:ext>
            </a:extLst>
          </p:cNvPr>
          <p:cNvSpPr txBox="1"/>
          <p:nvPr/>
        </p:nvSpPr>
        <p:spPr>
          <a:xfrm>
            <a:off x="7686932" y="3027959"/>
            <a:ext cx="2159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943735" algn="l"/>
              </a:tabLst>
            </a:pPr>
            <a:r>
              <a:rPr sz="2400" spc="-5" dirty="0">
                <a:latin typeface="Cambria Math"/>
                <a:cs typeface="Cambria Math"/>
              </a:rPr>
              <a:t>𝑑(𝑥</a:t>
            </a:r>
            <a:r>
              <a:rPr sz="2625" spc="-7" baseline="-15873" dirty="0">
                <a:latin typeface="Cambria Math"/>
                <a:cs typeface="Cambria Math"/>
              </a:rPr>
              <a:t>𝐴</a:t>
            </a:r>
            <a:r>
              <a:rPr sz="2625" spc="39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spc="50" dirty="0">
                <a:latin typeface="Cambria Math"/>
                <a:cs typeface="Cambria Math"/>
              </a:rPr>
              <a:t>𝑥</a:t>
            </a:r>
            <a:r>
              <a:rPr sz="2625" spc="75" baseline="-15873" dirty="0">
                <a:latin typeface="Cambria Math"/>
                <a:cs typeface="Cambria Math"/>
              </a:rPr>
              <a:t>𝐵</a:t>
            </a:r>
            <a:r>
              <a:rPr sz="2400" spc="50" dirty="0">
                <a:latin typeface="Cambria Math"/>
                <a:cs typeface="Cambria Math"/>
              </a:rPr>
              <a:t>)	</a:t>
            </a:r>
            <a:r>
              <a:rPr sz="2400" dirty="0">
                <a:latin typeface="Cambria Math"/>
                <a:cs typeface="Cambria Math"/>
              </a:rPr>
              <a:t>𝑑</a:t>
            </a:r>
          </a:p>
        </p:txBody>
      </p:sp>
      <p:sp>
        <p:nvSpPr>
          <p:cNvPr id="31" name="object 27">
            <a:extLst>
              <a:ext uri="{FF2B5EF4-FFF2-40B4-BE49-F238E27FC236}">
                <a16:creationId xmlns:a16="http://schemas.microsoft.com/office/drawing/2014/main" id="{420AAEE5-4D15-3D93-DCF4-04507F354067}"/>
              </a:ext>
            </a:extLst>
          </p:cNvPr>
          <p:cNvSpPr txBox="1"/>
          <p:nvPr/>
        </p:nvSpPr>
        <p:spPr>
          <a:xfrm>
            <a:off x="8290437" y="3462300"/>
            <a:ext cx="1591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80795" algn="l"/>
              </a:tabLst>
            </a:pPr>
            <a:r>
              <a:rPr sz="2400" dirty="0">
                <a:latin typeface="Cambria Math"/>
                <a:cs typeface="Cambria Math"/>
              </a:rPr>
              <a:t>𝑑𝑡	𝑑𝑡</a:t>
            </a:r>
          </a:p>
        </p:txBody>
      </p:sp>
      <p:sp>
        <p:nvSpPr>
          <p:cNvPr id="32" name="object 28">
            <a:extLst>
              <a:ext uri="{FF2B5EF4-FFF2-40B4-BE49-F238E27FC236}">
                <a16:creationId xmlns:a16="http://schemas.microsoft.com/office/drawing/2014/main" id="{21E62D22-5D85-8755-90B3-927BF53926E5}"/>
              </a:ext>
            </a:extLst>
          </p:cNvPr>
          <p:cNvSpPr txBox="1"/>
          <p:nvPr/>
        </p:nvSpPr>
        <p:spPr>
          <a:xfrm>
            <a:off x="9247890" y="3258083"/>
            <a:ext cx="11410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8180" algn="l"/>
              </a:tabLst>
            </a:pPr>
            <a:r>
              <a:rPr sz="2400" dirty="0">
                <a:latin typeface="Cambria Math"/>
                <a:cs typeface="Cambria Math"/>
              </a:rPr>
              <a:t>=	</a:t>
            </a:r>
            <a:r>
              <a:rPr sz="2400" spc="10" dirty="0">
                <a:latin typeface="Cambria Math"/>
                <a:cs typeface="Cambria Math"/>
              </a:rPr>
              <a:t>(</a:t>
            </a:r>
            <a:r>
              <a:rPr sz="2400" spc="100" dirty="0">
                <a:latin typeface="Cambria Math"/>
                <a:cs typeface="Cambria Math"/>
              </a:rPr>
              <a:t>𝐶</a:t>
            </a:r>
            <a:r>
              <a:rPr sz="2400" dirty="0">
                <a:latin typeface="Cambria Math"/>
                <a:cs typeface="Cambria Math"/>
              </a:rPr>
              <a:t>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7" name="object 33">
            <a:extLst>
              <a:ext uri="{FF2B5EF4-FFF2-40B4-BE49-F238E27FC236}">
                <a16:creationId xmlns:a16="http://schemas.microsoft.com/office/drawing/2014/main" id="{4FB964FE-E462-2575-C68F-2814C8CC5A5B}"/>
              </a:ext>
            </a:extLst>
          </p:cNvPr>
          <p:cNvSpPr txBox="1"/>
          <p:nvPr/>
        </p:nvSpPr>
        <p:spPr>
          <a:xfrm>
            <a:off x="7030785" y="6236830"/>
            <a:ext cx="243586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860">
              <a:lnSpc>
                <a:spcPct val="100000"/>
              </a:lnSpc>
            </a:pPr>
            <a:r>
              <a:rPr sz="2400" dirty="0">
                <a:latin typeface="Cambria Math"/>
                <a:cs typeface="Cambria Math"/>
              </a:rPr>
              <a:t>⇒</a:t>
            </a:r>
            <a:r>
              <a:rPr sz="2400" spc="100" dirty="0">
                <a:latin typeface="Cambria Math"/>
                <a:cs typeface="Cambria Math"/>
              </a:rPr>
              <a:t> </a:t>
            </a:r>
            <a:r>
              <a:rPr sz="2400" spc="-40" dirty="0">
                <a:latin typeface="Cambria Math"/>
                <a:cs typeface="Cambria Math"/>
              </a:rPr>
              <a:t>𝑎</a:t>
            </a:r>
            <a:r>
              <a:rPr sz="2625" spc="-60" baseline="-15873" dirty="0">
                <a:latin typeface="Cambria Math"/>
                <a:cs typeface="Cambria Math"/>
              </a:rPr>
              <a:t>𝐴</a:t>
            </a:r>
            <a:r>
              <a:rPr sz="2625" spc="56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95" dirty="0">
                <a:latin typeface="Cambria Math"/>
                <a:cs typeface="Cambria Math"/>
              </a:rPr>
              <a:t> </a:t>
            </a:r>
            <a:r>
              <a:rPr sz="2400" spc="5" dirty="0">
                <a:latin typeface="Cambria Math"/>
                <a:cs typeface="Cambria Math"/>
              </a:rPr>
              <a:t>−𝑎</a:t>
            </a:r>
            <a:r>
              <a:rPr sz="2625" spc="7" baseline="-15873" dirty="0">
                <a:latin typeface="Cambria Math"/>
                <a:cs typeface="Cambria Math"/>
              </a:rPr>
              <a:t>𝐵</a:t>
            </a:r>
            <a:endParaRPr sz="2625" baseline="-15873" dirty="0">
              <a:latin typeface="Cambria Math"/>
              <a:cs typeface="Cambria Math"/>
            </a:endParaRPr>
          </a:p>
        </p:txBody>
      </p:sp>
      <p:sp>
        <p:nvSpPr>
          <p:cNvPr id="38" name="object 3">
            <a:extLst>
              <a:ext uri="{FF2B5EF4-FFF2-40B4-BE49-F238E27FC236}">
                <a16:creationId xmlns:a16="http://schemas.microsoft.com/office/drawing/2014/main" id="{21356CC3-06E6-6004-371C-FC81C15E45B6}"/>
              </a:ext>
            </a:extLst>
          </p:cNvPr>
          <p:cNvSpPr txBox="1">
            <a:spLocks/>
          </p:cNvSpPr>
          <p:nvPr/>
        </p:nvSpPr>
        <p:spPr>
          <a:xfrm>
            <a:off x="1663981" y="425560"/>
            <a:ext cx="3432086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lang="en-US" sz="3200" spc="-5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Dependent Motion</a:t>
            </a:r>
          </a:p>
        </p:txBody>
      </p:sp>
      <p:sp>
        <p:nvSpPr>
          <p:cNvPr id="39" name="object 21">
            <a:extLst>
              <a:ext uri="{FF2B5EF4-FFF2-40B4-BE49-F238E27FC236}">
                <a16:creationId xmlns:a16="http://schemas.microsoft.com/office/drawing/2014/main" id="{D9832C6D-40C6-3333-B5DA-CBAE302C45D1}"/>
              </a:ext>
            </a:extLst>
          </p:cNvPr>
          <p:cNvSpPr txBox="1"/>
          <p:nvPr/>
        </p:nvSpPr>
        <p:spPr>
          <a:xfrm>
            <a:off x="7519801" y="1602765"/>
            <a:ext cx="2707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𝑥</a:t>
            </a:r>
            <a:r>
              <a:rPr sz="2625" spc="-75" baseline="-15873" dirty="0">
                <a:latin typeface="Cambria Math"/>
                <a:cs typeface="Cambria Math"/>
              </a:rPr>
              <a:t>𝐴</a:t>
            </a:r>
            <a:r>
              <a:rPr sz="2625" spc="37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spc="70" dirty="0">
                <a:latin typeface="Cambria Math"/>
                <a:cs typeface="Cambria Math"/>
              </a:rPr>
              <a:t>𝑙</a:t>
            </a:r>
            <a:r>
              <a:rPr sz="2625" spc="104" baseline="-15873" dirty="0">
                <a:latin typeface="Cambria Math"/>
                <a:cs typeface="Cambria Math"/>
              </a:rPr>
              <a:t>𝑠𝑒𝑚𝑖</a:t>
            </a:r>
            <a:r>
              <a:rPr sz="2625" spc="419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𝑥</a:t>
            </a:r>
            <a:r>
              <a:rPr sz="2625" baseline="-15873" dirty="0">
                <a:latin typeface="Cambria Math"/>
                <a:cs typeface="Cambria Math"/>
              </a:rPr>
              <a:t>𝐵</a:t>
            </a:r>
            <a:r>
              <a:rPr sz="2625" spc="62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spc="55" dirty="0">
                <a:latin typeface="Cambria Math"/>
                <a:cs typeface="Cambria Math"/>
              </a:rPr>
              <a:t>𝑙</a:t>
            </a:r>
            <a:r>
              <a:rPr sz="2625" spc="82" baseline="-15873" dirty="0">
                <a:latin typeface="Cambria Math"/>
                <a:cs typeface="Cambria Math"/>
              </a:rPr>
              <a:t>𝑇</a:t>
            </a:r>
            <a:endParaRPr sz="2625" baseline="-15873" dirty="0">
              <a:latin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9832539-C54F-D311-C4D3-287E4C442929}"/>
                  </a:ext>
                </a:extLst>
              </p:cNvPr>
              <p:cNvSpPr txBox="1"/>
              <p:nvPr/>
            </p:nvSpPr>
            <p:spPr>
              <a:xfrm>
                <a:off x="7389281" y="4130502"/>
                <a:ext cx="2311787" cy="5763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600" dirty="0">
                    <a:latin typeface="Cambria Math"/>
                    <a:cs typeface="Cambria Math"/>
                  </a:rPr>
                  <a:t>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9832539-C54F-D311-C4D3-287E4C442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9281" y="4130502"/>
                <a:ext cx="2311787" cy="576312"/>
              </a:xfrm>
              <a:prstGeom prst="rect">
                <a:avLst/>
              </a:prstGeom>
              <a:blipFill>
                <a:blip r:embed="rId5"/>
                <a:stretch>
                  <a:fillRect l="-8707" t="-4255" b="-18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61D585CE-6021-890E-D238-BB0DB48B3568}"/>
              </a:ext>
            </a:extLst>
          </p:cNvPr>
          <p:cNvSpPr txBox="1"/>
          <p:nvPr/>
        </p:nvSpPr>
        <p:spPr>
          <a:xfrm>
            <a:off x="6946078" y="4820290"/>
            <a:ext cx="22537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1480">
              <a:lnSpc>
                <a:spcPct val="100000"/>
              </a:lnSpc>
            </a:pPr>
            <a:r>
              <a:rPr lang="en-US" sz="2400" dirty="0">
                <a:latin typeface="Cambria Math"/>
                <a:cs typeface="Cambria Math"/>
              </a:rPr>
              <a:t>⇒</a:t>
            </a:r>
            <a:r>
              <a:rPr lang="en-US" sz="2400" spc="110" dirty="0">
                <a:latin typeface="Cambria Math"/>
                <a:cs typeface="Cambria Math"/>
              </a:rPr>
              <a:t> </a:t>
            </a:r>
            <a:r>
              <a:rPr lang="en-US" sz="2400" spc="-50" dirty="0">
                <a:latin typeface="Cambria Math"/>
                <a:cs typeface="Cambria Math"/>
              </a:rPr>
              <a:t>𝑣</a:t>
            </a:r>
            <a:r>
              <a:rPr lang="en-US" sz="2400" spc="-75" baseline="-15873" dirty="0">
                <a:latin typeface="Cambria Math"/>
                <a:cs typeface="Cambria Math"/>
              </a:rPr>
              <a:t>𝐴</a:t>
            </a:r>
            <a:r>
              <a:rPr lang="en-US" sz="2400" spc="60" baseline="-15873" dirty="0">
                <a:latin typeface="Cambria Math"/>
                <a:cs typeface="Cambria Math"/>
              </a:rPr>
              <a:t> </a:t>
            </a:r>
            <a:r>
              <a:rPr lang="en-US" sz="2400" dirty="0">
                <a:latin typeface="Cambria Math"/>
                <a:cs typeface="Cambria Math"/>
              </a:rPr>
              <a:t>=</a:t>
            </a:r>
            <a:r>
              <a:rPr lang="en-US" sz="2400" spc="105" dirty="0">
                <a:latin typeface="Cambria Math"/>
                <a:cs typeface="Cambria Math"/>
              </a:rPr>
              <a:t> </a:t>
            </a:r>
            <a:r>
              <a:rPr lang="en-US" sz="2400" dirty="0">
                <a:latin typeface="Cambria Math"/>
                <a:cs typeface="Cambria Math"/>
              </a:rPr>
              <a:t>−𝑣</a:t>
            </a:r>
            <a:r>
              <a:rPr lang="en-US" sz="2400" baseline="-15873" dirty="0">
                <a:latin typeface="Cambria Math"/>
                <a:cs typeface="Cambria Math"/>
              </a:rPr>
              <a:t>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56AABCF-628A-EA12-4F5D-F87DAB1B7736}"/>
                  </a:ext>
                </a:extLst>
              </p:cNvPr>
              <p:cNvSpPr txBox="1"/>
              <p:nvPr/>
            </p:nvSpPr>
            <p:spPr>
              <a:xfrm>
                <a:off x="7444681" y="5462260"/>
                <a:ext cx="2021964" cy="9764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600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/>
                  </a:rPr>
                  <a:t>⇒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sz="2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56AABCF-628A-EA12-4F5D-F87DAB1B7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4681" y="5462260"/>
                <a:ext cx="2021964" cy="976421"/>
              </a:xfrm>
              <a:prstGeom prst="rect">
                <a:avLst/>
              </a:prstGeom>
              <a:blipFill>
                <a:blip r:embed="rId6"/>
                <a:stretch>
                  <a:fillRect l="-9940" t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1955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21" grpId="0"/>
      <p:bldP spid="25" grpId="0"/>
      <p:bldP spid="26" grpId="0"/>
      <p:bldP spid="27" grpId="0"/>
      <p:bldP spid="28" grpId="0" animBg="1"/>
      <p:bldP spid="29" grpId="0" animBg="1"/>
      <p:bldP spid="30" grpId="0"/>
      <p:bldP spid="31" grpId="0"/>
      <p:bldP spid="32" grpId="0"/>
      <p:bldP spid="37" grpId="0"/>
      <p:bldP spid="39" grpId="0"/>
      <p:bldP spid="40" grpId="0"/>
      <p:bldP spid="42" grpId="0"/>
      <p:bldP spid="4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4797" y="287295"/>
            <a:ext cx="655411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Dependent</a:t>
            </a:r>
            <a:r>
              <a:rPr spc="-25" dirty="0"/>
              <a:t> </a:t>
            </a:r>
            <a:r>
              <a:rPr spc="-5" dirty="0"/>
              <a:t>Motion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6215" y="931146"/>
            <a:ext cx="4974694" cy="44448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Problem:</a:t>
            </a:r>
            <a:endParaRPr sz="2400" dirty="0">
              <a:latin typeface="Times New Roman"/>
              <a:cs typeface="Times New Roman"/>
            </a:endParaRPr>
          </a:p>
          <a:p>
            <a:pPr marL="12700" marR="5080" indent="457200" algn="just">
              <a:lnSpc>
                <a:spcPct val="100000"/>
              </a:lnSpc>
            </a:pP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Collar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400" b="1" i="1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starts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 from</a:t>
            </a:r>
            <a:r>
              <a:rPr sz="2400" b="1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rest</a:t>
            </a:r>
            <a:r>
              <a:rPr sz="2400" b="1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b="1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moves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 upward</a:t>
            </a:r>
            <a:r>
              <a:rPr sz="2400" b="1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with</a:t>
            </a:r>
            <a:r>
              <a:rPr sz="2400" b="1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400" b="1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constant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acceleration.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 Knowing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that after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8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s the relative velocity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collar </a:t>
            </a: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B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with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respect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to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collar </a:t>
            </a: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A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is 24 </a:t>
            </a:r>
            <a:r>
              <a:rPr sz="2400" b="1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in./s.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Determine-</a:t>
            </a:r>
            <a:endParaRPr lang="en-US" sz="2400" b="1" spc="-5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12700" marR="5080" indent="457200" algn="just">
              <a:lnSpc>
                <a:spcPct val="100000"/>
              </a:lnSpc>
            </a:pPr>
            <a:endParaRPr sz="2400" b="1" dirty="0">
              <a:latin typeface="Times New Roman"/>
              <a:cs typeface="Times New Roman"/>
            </a:endParaRPr>
          </a:p>
          <a:p>
            <a:pPr marL="443865" indent="-431800" algn="just">
              <a:lnSpc>
                <a:spcPct val="100000"/>
              </a:lnSpc>
              <a:buAutoNum type="alphaLcParenBoth"/>
              <a:tabLst>
                <a:tab pos="444500" algn="l"/>
              </a:tabLst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accelerations</a:t>
            </a:r>
            <a:r>
              <a:rPr sz="2400" b="1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400" b="1" i="1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endParaRPr lang="en-US" sz="2400" dirty="0">
              <a:solidFill>
                <a:srgbClr val="404040"/>
              </a:solidFill>
              <a:latin typeface="Times New Roman"/>
              <a:cs typeface="Times New Roman"/>
            </a:endParaRPr>
          </a:p>
          <a:p>
            <a:pPr marL="443865" indent="-431800" algn="just">
              <a:lnSpc>
                <a:spcPct val="100000"/>
              </a:lnSpc>
              <a:buAutoNum type="alphaLcParenBoth"/>
              <a:tabLst>
                <a:tab pos="444500" algn="l"/>
              </a:tabLst>
            </a:pPr>
            <a:endParaRPr sz="2400" dirty="0">
              <a:latin typeface="Times New Roman"/>
              <a:cs typeface="Times New Roman"/>
            </a:endParaRPr>
          </a:p>
          <a:p>
            <a:pPr marL="443865" indent="-431800" algn="just">
              <a:lnSpc>
                <a:spcPct val="100000"/>
              </a:lnSpc>
              <a:buAutoNum type="alphaLcParenBoth"/>
              <a:tabLst>
                <a:tab pos="444500" algn="l"/>
              </a:tabLst>
            </a:pP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velocity</a:t>
            </a:r>
            <a:r>
              <a:rPr sz="2400" b="1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change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4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position</a:t>
            </a:r>
            <a:r>
              <a:rPr sz="24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b="1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404040"/>
                </a:solidFill>
                <a:latin typeface="Times New Roman"/>
                <a:cs typeface="Times New Roman"/>
              </a:rPr>
              <a:t>B</a:t>
            </a:r>
            <a:r>
              <a:rPr sz="2400" b="1" i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after</a:t>
            </a:r>
            <a:r>
              <a:rPr sz="24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404040"/>
                </a:solidFill>
                <a:latin typeface="Times New Roman"/>
                <a:cs typeface="Times New Roman"/>
              </a:rPr>
              <a:t>6</a:t>
            </a:r>
            <a:r>
              <a:rPr sz="2400" b="1" spc="-5" dirty="0">
                <a:solidFill>
                  <a:srgbClr val="404040"/>
                </a:solidFill>
                <a:latin typeface="Times New Roman"/>
                <a:cs typeface="Times New Roman"/>
              </a:rPr>
              <a:t> s.</a:t>
            </a:r>
            <a:endParaRPr sz="2400" b="1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1419" y="1130173"/>
            <a:ext cx="2435814" cy="45779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64767" y="799338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5" dirty="0">
                <a:solidFill>
                  <a:srgbClr val="FDFFFF"/>
                </a:solidFill>
                <a:latin typeface="Tahoma"/>
                <a:cs typeface="Tahoma"/>
              </a:rPr>
              <a:t>9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0239" y="147989"/>
            <a:ext cx="4936488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Dependent</a:t>
            </a:r>
            <a:r>
              <a:rPr spc="-25" dirty="0"/>
              <a:t> </a:t>
            </a:r>
            <a:r>
              <a:rPr spc="-5" dirty="0"/>
              <a:t>Motion</a:t>
            </a:r>
          </a:p>
        </p:txBody>
      </p:sp>
      <p:sp>
        <p:nvSpPr>
          <p:cNvPr id="3" name="object 3"/>
          <p:cNvSpPr/>
          <p:nvPr/>
        </p:nvSpPr>
        <p:spPr>
          <a:xfrm>
            <a:off x="4821935" y="1625472"/>
            <a:ext cx="1260475" cy="282575"/>
          </a:xfrm>
          <a:custGeom>
            <a:avLst/>
            <a:gdLst/>
            <a:ahLst/>
            <a:cxnLst/>
            <a:rect l="l" t="t" r="r" b="b"/>
            <a:pathLst>
              <a:path w="1260475" h="282575">
                <a:moveTo>
                  <a:pt x="1170051" y="0"/>
                </a:moveTo>
                <a:lnTo>
                  <a:pt x="1165987" y="11556"/>
                </a:lnTo>
                <a:lnTo>
                  <a:pt x="1182350" y="18631"/>
                </a:lnTo>
                <a:lnTo>
                  <a:pt x="1196403" y="28432"/>
                </a:lnTo>
                <a:lnTo>
                  <a:pt x="1224936" y="73925"/>
                </a:lnTo>
                <a:lnTo>
                  <a:pt x="1233267" y="115732"/>
                </a:lnTo>
                <a:lnTo>
                  <a:pt x="1234313" y="139826"/>
                </a:lnTo>
                <a:lnTo>
                  <a:pt x="1233265" y="164707"/>
                </a:lnTo>
                <a:lnTo>
                  <a:pt x="1224883" y="207656"/>
                </a:lnTo>
                <a:lnTo>
                  <a:pt x="1196403" y="253857"/>
                </a:lnTo>
                <a:lnTo>
                  <a:pt x="1166494" y="270890"/>
                </a:lnTo>
                <a:lnTo>
                  <a:pt x="1170051" y="282321"/>
                </a:lnTo>
                <a:lnTo>
                  <a:pt x="1208547" y="264302"/>
                </a:lnTo>
                <a:lnTo>
                  <a:pt x="1236852" y="233044"/>
                </a:lnTo>
                <a:lnTo>
                  <a:pt x="1254283" y="191135"/>
                </a:lnTo>
                <a:lnTo>
                  <a:pt x="1260093" y="141224"/>
                </a:lnTo>
                <a:lnTo>
                  <a:pt x="1258639" y="115359"/>
                </a:lnTo>
                <a:lnTo>
                  <a:pt x="1246967" y="69536"/>
                </a:lnTo>
                <a:lnTo>
                  <a:pt x="1223843" y="32164"/>
                </a:lnTo>
                <a:lnTo>
                  <a:pt x="1190505" y="7435"/>
                </a:lnTo>
                <a:lnTo>
                  <a:pt x="1170051" y="0"/>
                </a:lnTo>
                <a:close/>
              </a:path>
              <a:path w="1260475" h="282575">
                <a:moveTo>
                  <a:pt x="90042" y="0"/>
                </a:moveTo>
                <a:lnTo>
                  <a:pt x="51593" y="18145"/>
                </a:lnTo>
                <a:lnTo>
                  <a:pt x="23240" y="49529"/>
                </a:lnTo>
                <a:lnTo>
                  <a:pt x="5810" y="91471"/>
                </a:lnTo>
                <a:lnTo>
                  <a:pt x="0" y="141224"/>
                </a:lnTo>
                <a:lnTo>
                  <a:pt x="1450" y="167179"/>
                </a:lnTo>
                <a:lnTo>
                  <a:pt x="13019" y="213090"/>
                </a:lnTo>
                <a:lnTo>
                  <a:pt x="36018" y="250334"/>
                </a:lnTo>
                <a:lnTo>
                  <a:pt x="69494" y="274960"/>
                </a:lnTo>
                <a:lnTo>
                  <a:pt x="90042" y="282321"/>
                </a:lnTo>
                <a:lnTo>
                  <a:pt x="93599" y="270890"/>
                </a:lnTo>
                <a:lnTo>
                  <a:pt x="77475" y="263773"/>
                </a:lnTo>
                <a:lnTo>
                  <a:pt x="63579" y="253857"/>
                </a:lnTo>
                <a:lnTo>
                  <a:pt x="35083" y="207656"/>
                </a:lnTo>
                <a:lnTo>
                  <a:pt x="26701" y="164707"/>
                </a:lnTo>
                <a:lnTo>
                  <a:pt x="25653" y="139826"/>
                </a:lnTo>
                <a:lnTo>
                  <a:pt x="26701" y="115732"/>
                </a:lnTo>
                <a:lnTo>
                  <a:pt x="35083" y="73925"/>
                </a:lnTo>
                <a:lnTo>
                  <a:pt x="63674" y="28432"/>
                </a:lnTo>
                <a:lnTo>
                  <a:pt x="93979" y="11556"/>
                </a:lnTo>
                <a:lnTo>
                  <a:pt x="90042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92097" y="935227"/>
            <a:ext cx="4204335" cy="991869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25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Solution:</a:t>
            </a:r>
            <a:endParaRPr sz="2400" dirty="0">
              <a:latin typeface="Times New Roman"/>
              <a:cs typeface="Times New Roman"/>
            </a:endParaRPr>
          </a:p>
          <a:p>
            <a:pPr marL="1397000">
              <a:lnSpc>
                <a:spcPct val="100000"/>
              </a:lnSpc>
              <a:spcBef>
                <a:spcPts val="919"/>
              </a:spcBef>
              <a:tabLst>
                <a:tab pos="3129915" algn="l"/>
              </a:tabLst>
            </a:pP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𝟐𝒚</a:t>
            </a:r>
            <a:r>
              <a:rPr sz="2625" baseline="-15873" dirty="0">
                <a:solidFill>
                  <a:srgbClr val="006FC0"/>
                </a:solidFill>
                <a:latin typeface="Cambria Math"/>
                <a:cs typeface="Cambria Math"/>
              </a:rPr>
              <a:t>𝑨</a:t>
            </a:r>
            <a:r>
              <a:rPr sz="2625" spc="359" baseline="-15873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+</a:t>
            </a:r>
            <a:r>
              <a:rPr sz="2400" spc="1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𝒚</a:t>
            </a:r>
            <a:r>
              <a:rPr sz="2625" baseline="-15873" dirty="0">
                <a:solidFill>
                  <a:srgbClr val="006FC0"/>
                </a:solidFill>
                <a:latin typeface="Cambria Math"/>
                <a:cs typeface="Cambria Math"/>
              </a:rPr>
              <a:t>𝑩</a:t>
            </a:r>
            <a:r>
              <a:rPr sz="2625" spc="352" baseline="-15873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+	𝒚</a:t>
            </a:r>
            <a:r>
              <a:rPr sz="2625" baseline="-15873" dirty="0">
                <a:solidFill>
                  <a:srgbClr val="006FC0"/>
                </a:solidFill>
                <a:latin typeface="Cambria Math"/>
                <a:cs typeface="Cambria Math"/>
              </a:rPr>
              <a:t>𝑩</a:t>
            </a:r>
            <a:r>
              <a:rPr sz="2625" spc="300" baseline="-15873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−</a:t>
            </a:r>
            <a:r>
              <a:rPr sz="2400" spc="-4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𝒚</a:t>
            </a:r>
            <a:r>
              <a:rPr sz="2625" baseline="-15873" dirty="0">
                <a:solidFill>
                  <a:srgbClr val="006FC0"/>
                </a:solidFill>
                <a:latin typeface="Cambria Math"/>
                <a:cs typeface="Cambria Math"/>
              </a:rPr>
              <a:t>𝑨</a:t>
            </a:r>
            <a:endParaRPr sz="2625" baseline="-15873" dirty="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0835" y="1535684"/>
            <a:ext cx="1657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2400" spc="6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Cambria Math"/>
                <a:cs typeface="Cambria Math"/>
              </a:rPr>
              <a:t>𝒄𝒐𝒏𝒔𝒕𝒂𝒏𝒕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76397" y="2084019"/>
            <a:ext cx="14446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1525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⇒</a:t>
            </a:r>
            <a:r>
              <a:rPr sz="2400" spc="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𝒚	+</a:t>
            </a:r>
            <a:r>
              <a:rPr sz="2400" spc="-9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𝟐𝒚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07129" y="2229104"/>
            <a:ext cx="107505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1065" algn="l"/>
              </a:tabLst>
            </a:pPr>
            <a:r>
              <a:rPr sz="1750" dirty="0">
                <a:solidFill>
                  <a:srgbClr val="006FC0"/>
                </a:solidFill>
                <a:latin typeface="Cambria Math"/>
                <a:cs typeface="Cambria Math"/>
              </a:rPr>
              <a:t>𝑨	𝑩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53178" y="2084019"/>
            <a:ext cx="16579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2400" spc="5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400" spc="-5" dirty="0">
                <a:solidFill>
                  <a:srgbClr val="006FC0"/>
                </a:solidFill>
                <a:latin typeface="Cambria Math"/>
                <a:cs typeface="Cambria Math"/>
              </a:rPr>
              <a:t>𝒄𝒐𝒏𝒔𝒕𝒂𝒏𝒕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02076" y="2739898"/>
            <a:ext cx="107569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1065" algn="l"/>
              </a:tabLst>
            </a:pPr>
            <a:r>
              <a:rPr sz="1750" dirty="0">
                <a:solidFill>
                  <a:srgbClr val="C00000"/>
                </a:solidFill>
                <a:latin typeface="Cambria Math"/>
                <a:cs typeface="Cambria Math"/>
              </a:rPr>
              <a:t>𝑨	𝑩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236075" y="2815970"/>
            <a:ext cx="134620" cy="20320"/>
          </a:xfrm>
          <a:custGeom>
            <a:avLst/>
            <a:gdLst/>
            <a:ahLst/>
            <a:cxnLst/>
            <a:rect l="l" t="t" r="r" b="b"/>
            <a:pathLst>
              <a:path w="134620" h="20319">
                <a:moveTo>
                  <a:pt x="134111" y="0"/>
                </a:moveTo>
                <a:lnTo>
                  <a:pt x="0" y="0"/>
                </a:lnTo>
                <a:lnTo>
                  <a:pt x="0" y="19812"/>
                </a:lnTo>
                <a:lnTo>
                  <a:pt x="134111" y="19812"/>
                </a:lnTo>
                <a:lnTo>
                  <a:pt x="13411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224518" y="2499105"/>
            <a:ext cx="1587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solidFill>
                  <a:srgbClr val="C00000"/>
                </a:solidFill>
                <a:latin typeface="Cambria Math"/>
                <a:cs typeface="Cambria Math"/>
              </a:rPr>
              <a:t>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10647" y="2499105"/>
            <a:ext cx="12763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63015" algn="l"/>
              </a:tabLst>
            </a:pPr>
            <a:r>
              <a:rPr sz="1750" u="dash" dirty="0">
                <a:solidFill>
                  <a:srgbClr val="C0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04797" y="2512822"/>
            <a:ext cx="3717925" cy="9220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500"/>
              </a:lnSpc>
              <a:spcBef>
                <a:spcPts val="100"/>
              </a:spcBef>
              <a:tabLst>
                <a:tab pos="926465" algn="l"/>
                <a:tab pos="1336675" algn="l"/>
                <a:tab pos="2254250" algn="l"/>
                <a:tab pos="321310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So,	</a:t>
            </a:r>
            <a:r>
              <a:rPr sz="2400" spc="-5" dirty="0">
                <a:solidFill>
                  <a:srgbClr val="C00000"/>
                </a:solidFill>
                <a:latin typeface="Cambria Math"/>
                <a:cs typeface="Cambria Math"/>
              </a:rPr>
              <a:t>𝒗	+</a:t>
            </a:r>
            <a:r>
              <a:rPr sz="2400" spc="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𝟐𝒗	=</a:t>
            </a:r>
            <a:r>
              <a:rPr sz="2400" spc="13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𝟎	</a:t>
            </a:r>
            <a:r>
              <a:rPr sz="24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and 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(a)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79397" y="3408933"/>
            <a:ext cx="38500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40" dirty="0">
                <a:latin typeface="Times New Roman"/>
                <a:cs typeface="Times New Roman"/>
              </a:rPr>
              <a:t>Now,</a:t>
            </a:r>
            <a:r>
              <a:rPr sz="2400" b="1" spc="25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Cambria Math"/>
                <a:cs typeface="Cambria Math"/>
              </a:rPr>
              <a:t>𝒗</a:t>
            </a:r>
            <a:r>
              <a:rPr sz="2625" spc="-60" baseline="-15873" dirty="0">
                <a:latin typeface="Cambria Math"/>
                <a:cs typeface="Cambria Math"/>
              </a:rPr>
              <a:t>𝐴</a:t>
            </a:r>
            <a:r>
              <a:rPr sz="2625" spc="57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spc="40" dirty="0">
                <a:latin typeface="Cambria Math"/>
                <a:cs typeface="Cambria Math"/>
              </a:rPr>
              <a:t>(𝒗</a:t>
            </a:r>
            <a:r>
              <a:rPr sz="2625" spc="60" baseline="-15873" dirty="0">
                <a:latin typeface="Cambria Math"/>
                <a:cs typeface="Cambria Math"/>
              </a:rPr>
              <a:t>0</a:t>
            </a:r>
            <a:r>
              <a:rPr sz="2400" spc="40" dirty="0">
                <a:latin typeface="Cambria Math"/>
                <a:cs typeface="Cambria Math"/>
              </a:rPr>
              <a:t>)</a:t>
            </a:r>
            <a:r>
              <a:rPr sz="2625" spc="60" baseline="-15873" dirty="0">
                <a:latin typeface="Cambria Math"/>
                <a:cs typeface="Cambria Math"/>
              </a:rPr>
              <a:t>𝐴</a:t>
            </a:r>
            <a:r>
              <a:rPr sz="2400" spc="40" dirty="0">
                <a:latin typeface="Cambria Math"/>
                <a:cs typeface="Cambria Math"/>
              </a:rPr>
              <a:t>+𝒂</a:t>
            </a:r>
            <a:r>
              <a:rPr sz="2625" spc="60" baseline="-15873" dirty="0">
                <a:latin typeface="Cambria Math"/>
                <a:cs typeface="Cambria Math"/>
              </a:rPr>
              <a:t>𝑨</a:t>
            </a:r>
            <a:r>
              <a:rPr sz="2400" spc="40" dirty="0">
                <a:latin typeface="Cambria Math"/>
                <a:cs typeface="Cambria Math"/>
              </a:rPr>
              <a:t>𝑡</a:t>
            </a:r>
            <a:r>
              <a:rPr sz="2400" spc="18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30" dirty="0">
                <a:latin typeface="Cambria Math"/>
                <a:cs typeface="Cambria Math"/>
              </a:rPr>
              <a:t>𝒂</a:t>
            </a:r>
            <a:r>
              <a:rPr sz="2625" spc="44" baseline="-15873" dirty="0">
                <a:latin typeface="Cambria Math"/>
                <a:cs typeface="Cambria Math"/>
              </a:rPr>
              <a:t>𝑨</a:t>
            </a:r>
            <a:r>
              <a:rPr sz="2400" spc="30" dirty="0">
                <a:latin typeface="Cambria Math"/>
                <a:cs typeface="Cambria Math"/>
              </a:rPr>
              <a:t>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94832" y="3408933"/>
            <a:ext cx="4187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035685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and	</a:t>
            </a:r>
            <a:r>
              <a:rPr sz="2400" spc="15" dirty="0">
                <a:latin typeface="Cambria Math"/>
                <a:cs typeface="Cambria Math"/>
              </a:rPr>
              <a:t>𝒗</a:t>
            </a:r>
            <a:r>
              <a:rPr sz="2625" spc="22" baseline="-15873" dirty="0">
                <a:latin typeface="Cambria Math"/>
                <a:cs typeface="Cambria Math"/>
              </a:rPr>
              <a:t>𝐵</a:t>
            </a:r>
            <a:r>
              <a:rPr sz="2625" spc="61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(𝒗</a:t>
            </a:r>
            <a:r>
              <a:rPr sz="2625" spc="67" baseline="-15873" dirty="0">
                <a:latin typeface="Cambria Math"/>
                <a:cs typeface="Cambria Math"/>
              </a:rPr>
              <a:t>0</a:t>
            </a:r>
            <a:r>
              <a:rPr sz="2400" spc="45" dirty="0">
                <a:latin typeface="Cambria Math"/>
                <a:cs typeface="Cambria Math"/>
              </a:rPr>
              <a:t>)</a:t>
            </a:r>
            <a:r>
              <a:rPr sz="2625" spc="67" baseline="-15873" dirty="0">
                <a:latin typeface="Cambria Math"/>
                <a:cs typeface="Cambria Math"/>
              </a:rPr>
              <a:t>𝐵</a:t>
            </a:r>
            <a:r>
              <a:rPr sz="2400" spc="45" dirty="0">
                <a:latin typeface="Cambria Math"/>
                <a:cs typeface="Cambria Math"/>
              </a:rPr>
              <a:t>+𝒂</a:t>
            </a:r>
            <a:r>
              <a:rPr sz="2625" spc="67" baseline="-15873" dirty="0">
                <a:latin typeface="Cambria Math"/>
                <a:cs typeface="Cambria Math"/>
              </a:rPr>
              <a:t>𝑩</a:t>
            </a:r>
            <a:r>
              <a:rPr sz="2400" spc="45" dirty="0">
                <a:latin typeface="Cambria Math"/>
                <a:cs typeface="Cambria Math"/>
              </a:rPr>
              <a:t>𝑡</a:t>
            </a:r>
            <a:r>
              <a:rPr sz="2400" spc="17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0" dirty="0">
                <a:latin typeface="Cambria Math"/>
                <a:cs typeface="Cambria Math"/>
              </a:rPr>
              <a:t> </a:t>
            </a:r>
            <a:r>
              <a:rPr sz="2400" spc="30" dirty="0">
                <a:latin typeface="Cambria Math"/>
                <a:cs typeface="Cambria Math"/>
              </a:rPr>
              <a:t>𝒂</a:t>
            </a:r>
            <a:r>
              <a:rPr sz="2625" spc="44" baseline="-15873" dirty="0">
                <a:latin typeface="Cambria Math"/>
                <a:cs typeface="Cambria Math"/>
              </a:rPr>
              <a:t>𝑩</a:t>
            </a:r>
            <a:r>
              <a:rPr sz="2400" spc="30" dirty="0">
                <a:latin typeface="Cambria Math"/>
                <a:cs typeface="Cambria Math"/>
              </a:rPr>
              <a:t>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76635" y="3408933"/>
            <a:ext cx="1491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8280" algn="l"/>
              </a:tabLst>
            </a:pPr>
            <a:r>
              <a:rPr sz="2400" u="dash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79397" y="3854322"/>
            <a:ext cx="3241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Here,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Cambria Math"/>
                <a:cs typeface="Cambria Math"/>
              </a:rPr>
              <a:t>𝒗</a:t>
            </a:r>
            <a:r>
              <a:rPr sz="2625" spc="44" baseline="-15873" dirty="0">
                <a:latin typeface="Cambria Math"/>
                <a:cs typeface="Cambria Math"/>
              </a:rPr>
              <a:t>𝐵/𝐴</a:t>
            </a:r>
            <a:r>
              <a:rPr sz="2625" spc="57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spc="15" dirty="0">
                <a:latin typeface="Cambria Math"/>
                <a:cs typeface="Cambria Math"/>
              </a:rPr>
              <a:t>𝒗</a:t>
            </a:r>
            <a:r>
              <a:rPr sz="2625" spc="22" baseline="-15873" dirty="0">
                <a:latin typeface="Cambria Math"/>
                <a:cs typeface="Cambria Math"/>
              </a:rPr>
              <a:t>𝐵</a:t>
            </a:r>
            <a:r>
              <a:rPr sz="2625" spc="42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-40" dirty="0">
                <a:latin typeface="Cambria Math"/>
                <a:cs typeface="Cambria Math"/>
              </a:rPr>
              <a:t>𝒗</a:t>
            </a:r>
            <a:r>
              <a:rPr sz="2625" spc="-60" baseline="-15873" dirty="0">
                <a:latin typeface="Cambria Math"/>
                <a:cs typeface="Cambria Math"/>
              </a:rPr>
              <a:t>𝐴</a:t>
            </a:r>
            <a:r>
              <a:rPr sz="2625" spc="6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081015" y="3943477"/>
            <a:ext cx="1272540" cy="282575"/>
          </a:xfrm>
          <a:custGeom>
            <a:avLst/>
            <a:gdLst/>
            <a:ahLst/>
            <a:cxnLst/>
            <a:rect l="l" t="t" r="r" b="b"/>
            <a:pathLst>
              <a:path w="1272539" h="282575">
                <a:moveTo>
                  <a:pt x="1182243" y="0"/>
                </a:moveTo>
                <a:lnTo>
                  <a:pt x="1178179" y="11556"/>
                </a:lnTo>
                <a:lnTo>
                  <a:pt x="1194542" y="18631"/>
                </a:lnTo>
                <a:lnTo>
                  <a:pt x="1208595" y="28432"/>
                </a:lnTo>
                <a:lnTo>
                  <a:pt x="1237128" y="73925"/>
                </a:lnTo>
                <a:lnTo>
                  <a:pt x="1245459" y="115732"/>
                </a:lnTo>
                <a:lnTo>
                  <a:pt x="1246505" y="139827"/>
                </a:lnTo>
                <a:lnTo>
                  <a:pt x="1245457" y="164707"/>
                </a:lnTo>
                <a:lnTo>
                  <a:pt x="1237075" y="207656"/>
                </a:lnTo>
                <a:lnTo>
                  <a:pt x="1208595" y="253857"/>
                </a:lnTo>
                <a:lnTo>
                  <a:pt x="1178687" y="270891"/>
                </a:lnTo>
                <a:lnTo>
                  <a:pt x="1182243" y="282321"/>
                </a:lnTo>
                <a:lnTo>
                  <a:pt x="1220739" y="264302"/>
                </a:lnTo>
                <a:lnTo>
                  <a:pt x="1249045" y="233045"/>
                </a:lnTo>
                <a:lnTo>
                  <a:pt x="1266475" y="191135"/>
                </a:lnTo>
                <a:lnTo>
                  <a:pt x="1272286" y="141224"/>
                </a:lnTo>
                <a:lnTo>
                  <a:pt x="1270831" y="115359"/>
                </a:lnTo>
                <a:lnTo>
                  <a:pt x="1259159" y="69536"/>
                </a:lnTo>
                <a:lnTo>
                  <a:pt x="1236035" y="32164"/>
                </a:lnTo>
                <a:lnTo>
                  <a:pt x="1202697" y="7435"/>
                </a:lnTo>
                <a:lnTo>
                  <a:pt x="1182243" y="0"/>
                </a:lnTo>
                <a:close/>
              </a:path>
              <a:path w="1272539" h="282575">
                <a:moveTo>
                  <a:pt x="90043" y="0"/>
                </a:moveTo>
                <a:lnTo>
                  <a:pt x="51593" y="18145"/>
                </a:lnTo>
                <a:lnTo>
                  <a:pt x="23241" y="49530"/>
                </a:lnTo>
                <a:lnTo>
                  <a:pt x="5810" y="91471"/>
                </a:lnTo>
                <a:lnTo>
                  <a:pt x="0" y="141224"/>
                </a:lnTo>
                <a:lnTo>
                  <a:pt x="1450" y="167179"/>
                </a:lnTo>
                <a:lnTo>
                  <a:pt x="13019" y="213090"/>
                </a:lnTo>
                <a:lnTo>
                  <a:pt x="36018" y="250334"/>
                </a:lnTo>
                <a:lnTo>
                  <a:pt x="69494" y="274960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475" y="263773"/>
                </a:lnTo>
                <a:lnTo>
                  <a:pt x="63579" y="253857"/>
                </a:lnTo>
                <a:lnTo>
                  <a:pt x="35083" y="207656"/>
                </a:lnTo>
                <a:lnTo>
                  <a:pt x="26701" y="164707"/>
                </a:lnTo>
                <a:lnTo>
                  <a:pt x="25654" y="139827"/>
                </a:lnTo>
                <a:lnTo>
                  <a:pt x="26701" y="115732"/>
                </a:lnTo>
                <a:lnTo>
                  <a:pt x="35083" y="73925"/>
                </a:lnTo>
                <a:lnTo>
                  <a:pt x="63674" y="28432"/>
                </a:lnTo>
                <a:lnTo>
                  <a:pt x="93980" y="11556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183246" y="4074795"/>
            <a:ext cx="134620" cy="20320"/>
          </a:xfrm>
          <a:custGeom>
            <a:avLst/>
            <a:gdLst/>
            <a:ahLst/>
            <a:cxnLst/>
            <a:rect l="l" t="t" r="r" b="b"/>
            <a:pathLst>
              <a:path w="134620" h="20320">
                <a:moveTo>
                  <a:pt x="134111" y="0"/>
                </a:moveTo>
                <a:lnTo>
                  <a:pt x="0" y="0"/>
                </a:lnTo>
                <a:lnTo>
                  <a:pt x="0" y="19811"/>
                </a:lnTo>
                <a:lnTo>
                  <a:pt x="134111" y="19811"/>
                </a:lnTo>
                <a:lnTo>
                  <a:pt x="1341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171435" y="3757625"/>
            <a:ext cx="15875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dirty="0">
                <a:latin typeface="Cambria Math"/>
                <a:cs typeface="Cambria Math"/>
              </a:rPr>
              <a:t>𝟑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43246" y="3854322"/>
            <a:ext cx="2740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2400" spc="-5" dirty="0">
                <a:latin typeface="Cambria Math"/>
                <a:cs typeface="Cambria Math"/>
              </a:rPr>
              <a:t>𝒂</a:t>
            </a:r>
            <a:r>
              <a:rPr sz="2625" baseline="-15873" dirty="0">
                <a:latin typeface="Cambria Math"/>
                <a:cs typeface="Cambria Math"/>
              </a:rPr>
              <a:t>𝑩 </a:t>
            </a:r>
            <a:r>
              <a:rPr sz="2625" spc="-209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𝒂</a:t>
            </a:r>
            <a:r>
              <a:rPr sz="2625" baseline="-15873" dirty="0">
                <a:latin typeface="Cambria Math"/>
                <a:cs typeface="Cambria Math"/>
              </a:rPr>
              <a:t>𝑨	</a:t>
            </a:r>
            <a:r>
              <a:rPr sz="2400" dirty="0">
                <a:latin typeface="Cambria Math"/>
                <a:cs typeface="Cambria Math"/>
              </a:rPr>
              <a:t>𝒕</a:t>
            </a:r>
            <a:r>
              <a:rPr sz="2400" spc="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625" baseline="-38095" dirty="0">
                <a:latin typeface="Cambria Math"/>
                <a:cs typeface="Cambria Math"/>
              </a:rPr>
              <a:t>𝟐</a:t>
            </a:r>
            <a:r>
              <a:rPr sz="2625" spc="22" baseline="-38095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𝒂</a:t>
            </a:r>
            <a:r>
              <a:rPr sz="2625" spc="150" baseline="-15873" dirty="0">
                <a:latin typeface="Cambria Math"/>
                <a:cs typeface="Cambria Math"/>
              </a:rPr>
              <a:t>𝑨</a:t>
            </a:r>
            <a:r>
              <a:rPr sz="2400" dirty="0">
                <a:latin typeface="Cambria Math"/>
                <a:cs typeface="Cambria Math"/>
              </a:rPr>
              <a:t>𝒕</a:t>
            </a:r>
          </a:p>
        </p:txBody>
      </p:sp>
      <p:sp>
        <p:nvSpPr>
          <p:cNvPr id="22" name="object 22"/>
          <p:cNvSpPr/>
          <p:nvPr/>
        </p:nvSpPr>
        <p:spPr>
          <a:xfrm>
            <a:off x="4118483" y="4602098"/>
            <a:ext cx="134620" cy="20320"/>
          </a:xfrm>
          <a:custGeom>
            <a:avLst/>
            <a:gdLst/>
            <a:ahLst/>
            <a:cxnLst/>
            <a:rect l="l" t="t" r="r" b="b"/>
            <a:pathLst>
              <a:path w="134620" h="20320">
                <a:moveTo>
                  <a:pt x="134112" y="0"/>
                </a:moveTo>
                <a:lnTo>
                  <a:pt x="0" y="0"/>
                </a:lnTo>
                <a:lnTo>
                  <a:pt x="0" y="19812"/>
                </a:lnTo>
                <a:lnTo>
                  <a:pt x="134112" y="19812"/>
                </a:lnTo>
                <a:lnTo>
                  <a:pt x="1341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106417" y="4285615"/>
            <a:ext cx="1587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Cambria Math"/>
                <a:cs typeface="Cambria Math"/>
              </a:rPr>
              <a:t>𝟑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93797" y="4381627"/>
            <a:ext cx="253301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370"/>
              </a:lnSpc>
              <a:spcBef>
                <a:spcPts val="100"/>
              </a:spcBef>
              <a:tabLst>
                <a:tab pos="1609090" algn="l"/>
              </a:tabLst>
            </a:pPr>
            <a:r>
              <a:rPr sz="2400" dirty="0">
                <a:latin typeface="Cambria Math"/>
                <a:cs typeface="Cambria Math"/>
              </a:rPr>
              <a:t>⇒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𝟐𝟒</a:t>
            </a:r>
            <a:r>
              <a:rPr sz="2400" spc="1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−	</a:t>
            </a:r>
            <a:r>
              <a:rPr sz="2400" spc="-5" dirty="0">
                <a:latin typeface="Cambria Math"/>
                <a:cs typeface="Cambria Math"/>
              </a:rPr>
              <a:t>𝒂</a:t>
            </a:r>
            <a:r>
              <a:rPr sz="2625" spc="-7" baseline="-15873" dirty="0">
                <a:latin typeface="Cambria Math"/>
                <a:cs typeface="Cambria Math"/>
              </a:rPr>
              <a:t>𝑨</a:t>
            </a:r>
            <a:r>
              <a:rPr sz="2625" spc="31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×</a:t>
            </a:r>
            <a:r>
              <a:rPr sz="2400" spc="-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𝟖</a:t>
            </a:r>
            <a:endParaRPr sz="2400">
              <a:latin typeface="Cambria Math"/>
              <a:cs typeface="Cambria Math"/>
            </a:endParaRPr>
          </a:p>
          <a:p>
            <a:pPr marL="450850" algn="ctr">
              <a:lnSpc>
                <a:spcPts val="1590"/>
              </a:lnSpc>
            </a:pPr>
            <a:r>
              <a:rPr sz="1750" dirty="0">
                <a:latin typeface="Cambria Math"/>
                <a:cs typeface="Cambria Math"/>
              </a:rPr>
              <a:t>𝟐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486522" y="4602098"/>
            <a:ext cx="230504" cy="20320"/>
          </a:xfrm>
          <a:custGeom>
            <a:avLst/>
            <a:gdLst/>
            <a:ahLst/>
            <a:cxnLst/>
            <a:rect l="l" t="t" r="r" b="b"/>
            <a:pathLst>
              <a:path w="230504" h="20320">
                <a:moveTo>
                  <a:pt x="230124" y="0"/>
                </a:moveTo>
                <a:lnTo>
                  <a:pt x="0" y="0"/>
                </a:lnTo>
                <a:lnTo>
                  <a:pt x="0" y="19812"/>
                </a:lnTo>
                <a:lnTo>
                  <a:pt x="230124" y="19812"/>
                </a:lnTo>
                <a:lnTo>
                  <a:pt x="23012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346058" y="4602098"/>
            <a:ext cx="230504" cy="20320"/>
          </a:xfrm>
          <a:custGeom>
            <a:avLst/>
            <a:gdLst/>
            <a:ahLst/>
            <a:cxnLst/>
            <a:rect l="l" t="t" r="r" b="b"/>
            <a:pathLst>
              <a:path w="230504" h="20320">
                <a:moveTo>
                  <a:pt x="230124" y="0"/>
                </a:moveTo>
                <a:lnTo>
                  <a:pt x="0" y="0"/>
                </a:lnTo>
                <a:lnTo>
                  <a:pt x="0" y="19812"/>
                </a:lnTo>
                <a:lnTo>
                  <a:pt x="230124" y="19812"/>
                </a:lnTo>
                <a:lnTo>
                  <a:pt x="23012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476235" y="4285615"/>
            <a:ext cx="11112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71855" algn="l"/>
              </a:tabLst>
            </a:pPr>
            <a:r>
              <a:rPr sz="1750" spc="-5" dirty="0">
                <a:solidFill>
                  <a:srgbClr val="FF0000"/>
                </a:solidFill>
                <a:latin typeface="Cambria Math"/>
                <a:cs typeface="Cambria Math"/>
              </a:rPr>
              <a:t>𝒊</a:t>
            </a:r>
            <a:r>
              <a:rPr sz="1750" dirty="0">
                <a:solidFill>
                  <a:srgbClr val="FF0000"/>
                </a:solidFill>
                <a:latin typeface="Cambria Math"/>
                <a:cs typeface="Cambria Math"/>
              </a:rPr>
              <a:t>𝒏	</a:t>
            </a:r>
            <a:r>
              <a:rPr sz="1750" spc="-5" dirty="0">
                <a:solidFill>
                  <a:srgbClr val="FF0000"/>
                </a:solidFill>
                <a:latin typeface="Cambria Math"/>
                <a:cs typeface="Cambria Math"/>
              </a:rPr>
              <a:t>𝒊𝒏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94832" y="4381627"/>
            <a:ext cx="2711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⇒</a:t>
            </a:r>
            <a:r>
              <a:rPr sz="2400" spc="1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mbria Math"/>
                <a:cs typeface="Cambria Math"/>
              </a:rPr>
              <a:t>𝒂</a:t>
            </a:r>
            <a:r>
              <a:rPr sz="2625" baseline="-15873" dirty="0">
                <a:solidFill>
                  <a:srgbClr val="FF0000"/>
                </a:solidFill>
                <a:latin typeface="Cambria Math"/>
                <a:cs typeface="Cambria Math"/>
              </a:rPr>
              <a:t>𝑨 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mbria Math"/>
                <a:cs typeface="Cambria Math"/>
              </a:rPr>
              <a:t>−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2400" spc="-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625" spc="-7" baseline="-38095" dirty="0">
                <a:solidFill>
                  <a:srgbClr val="FF0000"/>
                </a:solidFill>
                <a:latin typeface="Cambria Math"/>
                <a:cs typeface="Cambria Math"/>
              </a:rPr>
              <a:t>𝒔</a:t>
            </a:r>
            <a:r>
              <a:rPr sz="2175" spc="-15" baseline="-26819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2175" baseline="-26819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175" spc="142" baseline="-26819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1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2400" spc="-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625" spc="-7" baseline="-38095" dirty="0">
                <a:solidFill>
                  <a:srgbClr val="FF0000"/>
                </a:solidFill>
                <a:latin typeface="Cambria Math"/>
                <a:cs typeface="Cambria Math"/>
              </a:rPr>
              <a:t>𝒔</a:t>
            </a:r>
            <a:r>
              <a:rPr sz="2175" spc="-15" baseline="-26819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endParaRPr sz="2175" baseline="-26819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77432" y="4910454"/>
            <a:ext cx="474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∴</a:t>
            </a:r>
            <a:r>
              <a:rPr sz="2400" spc="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𝒂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25488" y="5055234"/>
            <a:ext cx="18669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solidFill>
                  <a:srgbClr val="FF0000"/>
                </a:solidFill>
                <a:latin typeface="Cambria Math"/>
                <a:cs typeface="Cambria Math"/>
              </a:rPr>
              <a:t>𝑩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640446" y="5130927"/>
            <a:ext cx="230504" cy="20320"/>
          </a:xfrm>
          <a:custGeom>
            <a:avLst/>
            <a:gdLst/>
            <a:ahLst/>
            <a:cxnLst/>
            <a:rect l="l" t="t" r="r" b="b"/>
            <a:pathLst>
              <a:path w="230504" h="20320">
                <a:moveTo>
                  <a:pt x="230124" y="0"/>
                </a:moveTo>
                <a:lnTo>
                  <a:pt x="0" y="0"/>
                </a:lnTo>
                <a:lnTo>
                  <a:pt x="0" y="19812"/>
                </a:lnTo>
                <a:lnTo>
                  <a:pt x="230124" y="19812"/>
                </a:lnTo>
                <a:lnTo>
                  <a:pt x="23012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057643" y="4732146"/>
            <a:ext cx="849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aseline="-32407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3600" spc="202" baseline="-3240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3600" baseline="-32407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3600" spc="-179" baseline="-3240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750" spc="-5" dirty="0">
                <a:solidFill>
                  <a:srgbClr val="FF0000"/>
                </a:solidFill>
                <a:latin typeface="Cambria Math"/>
                <a:cs typeface="Cambria Math"/>
              </a:rPr>
              <a:t>𝒊𝒏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603235" y="5079619"/>
            <a:ext cx="29718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625" spc="-7" baseline="-17460" dirty="0">
                <a:solidFill>
                  <a:srgbClr val="FF0000"/>
                </a:solidFill>
                <a:latin typeface="Cambria Math"/>
                <a:cs typeface="Cambria Math"/>
              </a:rPr>
              <a:t>𝒔</a:t>
            </a:r>
            <a:r>
              <a:rPr sz="1450" spc="-5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79397" y="5360314"/>
            <a:ext cx="4229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78485" algn="l"/>
              </a:tabLst>
            </a:pP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(b)	</a:t>
            </a:r>
            <a:r>
              <a:rPr sz="2400" spc="15" dirty="0">
                <a:solidFill>
                  <a:srgbClr val="FF0000"/>
                </a:solidFill>
                <a:latin typeface="Cambria Math"/>
                <a:cs typeface="Cambria Math"/>
              </a:rPr>
              <a:t>𝒗</a:t>
            </a:r>
            <a:r>
              <a:rPr sz="2625" spc="22" baseline="-15873" dirty="0">
                <a:solidFill>
                  <a:srgbClr val="FF0000"/>
                </a:solidFill>
                <a:latin typeface="Cambria Math"/>
                <a:cs typeface="Cambria Math"/>
              </a:rPr>
              <a:t>𝐵 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spc="30" dirty="0">
                <a:latin typeface="Cambria Math"/>
                <a:cs typeface="Cambria Math"/>
              </a:rPr>
              <a:t>𝒂</a:t>
            </a:r>
            <a:r>
              <a:rPr sz="2625" spc="44" baseline="-15873" dirty="0">
                <a:latin typeface="Cambria Math"/>
                <a:cs typeface="Cambria Math"/>
              </a:rPr>
              <a:t>𝑩</a:t>
            </a:r>
            <a:r>
              <a:rPr sz="2400" spc="30" dirty="0">
                <a:latin typeface="Cambria Math"/>
                <a:cs typeface="Cambria Math"/>
              </a:rPr>
              <a:t>𝒕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𝟏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×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𝟔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𝟔</a:t>
            </a:r>
            <a:r>
              <a:rPr sz="2400" spc="-5" dirty="0">
                <a:solidFill>
                  <a:srgbClr val="FF0000"/>
                </a:solidFill>
                <a:latin typeface="Cambria Math"/>
                <a:cs typeface="Cambria Math"/>
              </a:rPr>
              <a:t> 𝒊𝒏/𝒔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238622" y="6391237"/>
            <a:ext cx="134620" cy="20320"/>
          </a:xfrm>
          <a:custGeom>
            <a:avLst/>
            <a:gdLst/>
            <a:ahLst/>
            <a:cxnLst/>
            <a:rect l="l" t="t" r="r" b="b"/>
            <a:pathLst>
              <a:path w="134620" h="20320">
                <a:moveTo>
                  <a:pt x="134112" y="0"/>
                </a:moveTo>
                <a:lnTo>
                  <a:pt x="0" y="0"/>
                </a:lnTo>
                <a:lnTo>
                  <a:pt x="0" y="19811"/>
                </a:lnTo>
                <a:lnTo>
                  <a:pt x="134112" y="19811"/>
                </a:lnTo>
                <a:lnTo>
                  <a:pt x="1341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226558" y="6075070"/>
            <a:ext cx="1587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Cambria Math"/>
                <a:cs typeface="Cambria Math"/>
              </a:rPr>
              <a:t>𝟏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236597" y="6171082"/>
            <a:ext cx="3716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𝒚</a:t>
            </a:r>
            <a:r>
              <a:rPr sz="2625" baseline="-15873" dirty="0">
                <a:latin typeface="Cambria Math"/>
                <a:cs typeface="Cambria Math"/>
              </a:rPr>
              <a:t>𝑩</a:t>
            </a:r>
            <a:r>
              <a:rPr sz="2625" spc="547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spc="50" dirty="0">
                <a:latin typeface="Cambria Math"/>
                <a:cs typeface="Cambria Math"/>
              </a:rPr>
              <a:t>(𝒚</a:t>
            </a:r>
            <a:r>
              <a:rPr sz="2625" spc="75" baseline="-15873" dirty="0">
                <a:latin typeface="Cambria Math"/>
                <a:cs typeface="Cambria Math"/>
              </a:rPr>
              <a:t>0</a:t>
            </a:r>
            <a:r>
              <a:rPr sz="2400" spc="50" dirty="0">
                <a:latin typeface="Cambria Math"/>
                <a:cs typeface="Cambria Math"/>
              </a:rPr>
              <a:t>)</a:t>
            </a:r>
            <a:r>
              <a:rPr sz="2625" spc="75" baseline="-15873" dirty="0">
                <a:latin typeface="Cambria Math"/>
                <a:cs typeface="Cambria Math"/>
              </a:rPr>
              <a:t>𝐵</a:t>
            </a:r>
            <a:r>
              <a:rPr sz="2400" spc="50" dirty="0">
                <a:latin typeface="Cambria Math"/>
                <a:cs typeface="Cambria Math"/>
              </a:rPr>
              <a:t>+(𝒗</a:t>
            </a:r>
            <a:r>
              <a:rPr sz="2625" spc="75" baseline="-15873" dirty="0">
                <a:latin typeface="Cambria Math"/>
                <a:cs typeface="Cambria Math"/>
              </a:rPr>
              <a:t>0</a:t>
            </a:r>
            <a:r>
              <a:rPr sz="2400" spc="50" dirty="0">
                <a:latin typeface="Cambria Math"/>
                <a:cs typeface="Cambria Math"/>
              </a:rPr>
              <a:t>)</a:t>
            </a:r>
            <a:r>
              <a:rPr sz="2625" spc="75" baseline="-15873" dirty="0">
                <a:latin typeface="Cambria Math"/>
                <a:cs typeface="Cambria Math"/>
              </a:rPr>
              <a:t>𝐵</a:t>
            </a:r>
            <a:r>
              <a:rPr sz="2400" spc="50" dirty="0">
                <a:latin typeface="Cambria Math"/>
                <a:cs typeface="Cambria Math"/>
              </a:rPr>
              <a:t>𝒕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625" baseline="-38095" dirty="0">
                <a:latin typeface="Cambria Math"/>
                <a:cs typeface="Cambria Math"/>
              </a:rPr>
              <a:t>𝟐</a:t>
            </a:r>
            <a:r>
              <a:rPr sz="2625" spc="15" baseline="-38095" dirty="0">
                <a:latin typeface="Cambria Math"/>
                <a:cs typeface="Cambria Math"/>
              </a:rPr>
              <a:t> </a:t>
            </a:r>
            <a:r>
              <a:rPr sz="2400" spc="30" dirty="0">
                <a:latin typeface="Cambria Math"/>
                <a:cs typeface="Cambria Math"/>
              </a:rPr>
              <a:t>𝒂</a:t>
            </a:r>
            <a:r>
              <a:rPr sz="2625" spc="44" baseline="-15873" dirty="0">
                <a:latin typeface="Cambria Math"/>
                <a:cs typeface="Cambria Math"/>
              </a:rPr>
              <a:t>𝑩</a:t>
            </a:r>
            <a:r>
              <a:rPr sz="2400" spc="30" dirty="0">
                <a:latin typeface="Cambria Math"/>
                <a:cs typeface="Cambria Math"/>
              </a:rPr>
              <a:t>𝒕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901944" y="6142126"/>
            <a:ext cx="15875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latin typeface="Cambria Math"/>
                <a:cs typeface="Cambria Math"/>
              </a:rPr>
              <a:t>𝟐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352032" y="6171082"/>
            <a:ext cx="986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∴</a:t>
            </a:r>
            <a:r>
              <a:rPr sz="2400" spc="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𝒚</a:t>
            </a:r>
            <a:r>
              <a:rPr sz="2625" baseline="-15873" dirty="0">
                <a:solidFill>
                  <a:srgbClr val="FF0000"/>
                </a:solidFill>
                <a:latin typeface="Cambria Math"/>
                <a:cs typeface="Cambria Math"/>
              </a:rPr>
              <a:t>𝑩</a:t>
            </a:r>
            <a:r>
              <a:rPr sz="2625" spc="300" baseline="-15873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392923" y="6260007"/>
            <a:ext cx="528955" cy="282575"/>
          </a:xfrm>
          <a:custGeom>
            <a:avLst/>
            <a:gdLst/>
            <a:ahLst/>
            <a:cxnLst/>
            <a:rect l="l" t="t" r="r" b="b"/>
            <a:pathLst>
              <a:path w="528954" h="282575">
                <a:moveTo>
                  <a:pt x="438530" y="0"/>
                </a:moveTo>
                <a:lnTo>
                  <a:pt x="434467" y="11455"/>
                </a:lnTo>
                <a:lnTo>
                  <a:pt x="450830" y="18551"/>
                </a:lnTo>
                <a:lnTo>
                  <a:pt x="464883" y="28371"/>
                </a:lnTo>
                <a:lnTo>
                  <a:pt x="493416" y="73880"/>
                </a:lnTo>
                <a:lnTo>
                  <a:pt x="501747" y="115661"/>
                </a:lnTo>
                <a:lnTo>
                  <a:pt x="502793" y="139750"/>
                </a:lnTo>
                <a:lnTo>
                  <a:pt x="501745" y="164648"/>
                </a:lnTo>
                <a:lnTo>
                  <a:pt x="493363" y="207582"/>
                </a:lnTo>
                <a:lnTo>
                  <a:pt x="464883" y="253822"/>
                </a:lnTo>
                <a:lnTo>
                  <a:pt x="434975" y="270865"/>
                </a:lnTo>
                <a:lnTo>
                  <a:pt x="438530" y="282321"/>
                </a:lnTo>
                <a:lnTo>
                  <a:pt x="477027" y="264261"/>
                </a:lnTo>
                <a:lnTo>
                  <a:pt x="505332" y="232981"/>
                </a:lnTo>
                <a:lnTo>
                  <a:pt x="522763" y="191109"/>
                </a:lnTo>
                <a:lnTo>
                  <a:pt x="528574" y="141236"/>
                </a:lnTo>
                <a:lnTo>
                  <a:pt x="527119" y="115355"/>
                </a:lnTo>
                <a:lnTo>
                  <a:pt x="515447" y="69474"/>
                </a:lnTo>
                <a:lnTo>
                  <a:pt x="492323" y="32127"/>
                </a:lnTo>
                <a:lnTo>
                  <a:pt x="458985" y="7386"/>
                </a:lnTo>
                <a:lnTo>
                  <a:pt x="438530" y="0"/>
                </a:lnTo>
                <a:close/>
              </a:path>
              <a:path w="528954" h="282575">
                <a:moveTo>
                  <a:pt x="90043" y="0"/>
                </a:moveTo>
                <a:lnTo>
                  <a:pt x="51593" y="18095"/>
                </a:lnTo>
                <a:lnTo>
                  <a:pt x="23241" y="49479"/>
                </a:lnTo>
                <a:lnTo>
                  <a:pt x="5810" y="91433"/>
                </a:lnTo>
                <a:lnTo>
                  <a:pt x="0" y="141236"/>
                </a:lnTo>
                <a:lnTo>
                  <a:pt x="1450" y="167173"/>
                </a:lnTo>
                <a:lnTo>
                  <a:pt x="13019" y="213045"/>
                </a:lnTo>
                <a:lnTo>
                  <a:pt x="36018" y="250274"/>
                </a:lnTo>
                <a:lnTo>
                  <a:pt x="69494" y="274943"/>
                </a:lnTo>
                <a:lnTo>
                  <a:pt x="90043" y="282321"/>
                </a:lnTo>
                <a:lnTo>
                  <a:pt x="93599" y="270865"/>
                </a:lnTo>
                <a:lnTo>
                  <a:pt x="77475" y="263738"/>
                </a:lnTo>
                <a:lnTo>
                  <a:pt x="63579" y="253822"/>
                </a:lnTo>
                <a:lnTo>
                  <a:pt x="35083" y="207582"/>
                </a:lnTo>
                <a:lnTo>
                  <a:pt x="26701" y="164648"/>
                </a:lnTo>
                <a:lnTo>
                  <a:pt x="25653" y="139750"/>
                </a:lnTo>
                <a:lnTo>
                  <a:pt x="26701" y="115661"/>
                </a:lnTo>
                <a:lnTo>
                  <a:pt x="35083" y="73880"/>
                </a:lnTo>
                <a:lnTo>
                  <a:pt x="63674" y="28371"/>
                </a:lnTo>
                <a:lnTo>
                  <a:pt x="93979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455407" y="6171082"/>
            <a:ext cx="1843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93395" algn="l"/>
              </a:tabLst>
            </a:pP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𝒚</a:t>
            </a:r>
            <a:r>
              <a:rPr sz="2625" baseline="-15873" dirty="0">
                <a:solidFill>
                  <a:srgbClr val="FF0000"/>
                </a:solidFill>
                <a:latin typeface="Cambria Math"/>
                <a:cs typeface="Cambria Math"/>
              </a:rPr>
              <a:t>𝟎	𝑩</a:t>
            </a:r>
            <a:r>
              <a:rPr sz="2625" spc="509" baseline="-15873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2400" spc="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𝟏𝟖</a:t>
            </a:r>
            <a:r>
              <a:rPr sz="2400" spc="-2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mbria Math"/>
                <a:cs typeface="Cambria Math"/>
              </a:rPr>
              <a:t>𝒊𝒏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359530" y="3429000"/>
            <a:ext cx="495300" cy="489584"/>
          </a:xfrm>
          <a:custGeom>
            <a:avLst/>
            <a:gdLst/>
            <a:ahLst/>
            <a:cxnLst/>
            <a:rect l="l" t="t" r="r" b="b"/>
            <a:pathLst>
              <a:path w="495300" h="489585">
                <a:moveTo>
                  <a:pt x="436628" y="49035"/>
                </a:moveTo>
                <a:lnTo>
                  <a:pt x="2540" y="477774"/>
                </a:lnTo>
                <a:lnTo>
                  <a:pt x="0" y="480313"/>
                </a:lnTo>
                <a:lnTo>
                  <a:pt x="0" y="484377"/>
                </a:lnTo>
                <a:lnTo>
                  <a:pt x="4953" y="489331"/>
                </a:lnTo>
                <a:lnTo>
                  <a:pt x="8890" y="489331"/>
                </a:lnTo>
                <a:lnTo>
                  <a:pt x="11430" y="486918"/>
                </a:lnTo>
                <a:lnTo>
                  <a:pt x="445530" y="58042"/>
                </a:lnTo>
                <a:lnTo>
                  <a:pt x="436628" y="49035"/>
                </a:lnTo>
                <a:close/>
              </a:path>
              <a:path w="495300" h="489585">
                <a:moveTo>
                  <a:pt x="482512" y="37591"/>
                </a:moveTo>
                <a:lnTo>
                  <a:pt x="448056" y="37591"/>
                </a:lnTo>
                <a:lnTo>
                  <a:pt x="452120" y="37719"/>
                </a:lnTo>
                <a:lnTo>
                  <a:pt x="454660" y="40132"/>
                </a:lnTo>
                <a:lnTo>
                  <a:pt x="457073" y="42672"/>
                </a:lnTo>
                <a:lnTo>
                  <a:pt x="457073" y="46736"/>
                </a:lnTo>
                <a:lnTo>
                  <a:pt x="454533" y="49149"/>
                </a:lnTo>
                <a:lnTo>
                  <a:pt x="445530" y="58042"/>
                </a:lnTo>
                <a:lnTo>
                  <a:pt x="467868" y="80645"/>
                </a:lnTo>
                <a:lnTo>
                  <a:pt x="482512" y="37591"/>
                </a:lnTo>
                <a:close/>
              </a:path>
              <a:path w="495300" h="489585">
                <a:moveTo>
                  <a:pt x="448056" y="37591"/>
                </a:moveTo>
                <a:lnTo>
                  <a:pt x="445643" y="40132"/>
                </a:lnTo>
                <a:lnTo>
                  <a:pt x="436628" y="49035"/>
                </a:lnTo>
                <a:lnTo>
                  <a:pt x="445530" y="58042"/>
                </a:lnTo>
                <a:lnTo>
                  <a:pt x="454652" y="49035"/>
                </a:lnTo>
                <a:lnTo>
                  <a:pt x="457073" y="46736"/>
                </a:lnTo>
                <a:lnTo>
                  <a:pt x="457073" y="42672"/>
                </a:lnTo>
                <a:lnTo>
                  <a:pt x="454660" y="40132"/>
                </a:lnTo>
                <a:lnTo>
                  <a:pt x="452120" y="37719"/>
                </a:lnTo>
                <a:lnTo>
                  <a:pt x="448056" y="37591"/>
                </a:lnTo>
                <a:close/>
              </a:path>
              <a:path w="495300" h="489585">
                <a:moveTo>
                  <a:pt x="495300" y="0"/>
                </a:moveTo>
                <a:lnTo>
                  <a:pt x="414274" y="26415"/>
                </a:lnTo>
                <a:lnTo>
                  <a:pt x="436628" y="49035"/>
                </a:lnTo>
                <a:lnTo>
                  <a:pt x="445643" y="40132"/>
                </a:lnTo>
                <a:lnTo>
                  <a:pt x="448056" y="37591"/>
                </a:lnTo>
                <a:lnTo>
                  <a:pt x="482512" y="37591"/>
                </a:lnTo>
                <a:lnTo>
                  <a:pt x="495300" y="0"/>
                </a:lnTo>
                <a:close/>
              </a:path>
            </a:pathLst>
          </a:custGeom>
          <a:solidFill>
            <a:srgbClr val="9D2C0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3836670" y="3241294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855331" y="3400044"/>
            <a:ext cx="495300" cy="489584"/>
          </a:xfrm>
          <a:custGeom>
            <a:avLst/>
            <a:gdLst/>
            <a:ahLst/>
            <a:cxnLst/>
            <a:rect l="l" t="t" r="r" b="b"/>
            <a:pathLst>
              <a:path w="495300" h="489585">
                <a:moveTo>
                  <a:pt x="436628" y="49035"/>
                </a:moveTo>
                <a:lnTo>
                  <a:pt x="2540" y="477773"/>
                </a:lnTo>
                <a:lnTo>
                  <a:pt x="0" y="480313"/>
                </a:lnTo>
                <a:lnTo>
                  <a:pt x="0" y="484377"/>
                </a:lnTo>
                <a:lnTo>
                  <a:pt x="4952" y="489330"/>
                </a:lnTo>
                <a:lnTo>
                  <a:pt x="8890" y="489330"/>
                </a:lnTo>
                <a:lnTo>
                  <a:pt x="11429" y="486917"/>
                </a:lnTo>
                <a:lnTo>
                  <a:pt x="445530" y="58042"/>
                </a:lnTo>
                <a:lnTo>
                  <a:pt x="436628" y="49035"/>
                </a:lnTo>
                <a:close/>
              </a:path>
              <a:path w="495300" h="489585">
                <a:moveTo>
                  <a:pt x="482512" y="37591"/>
                </a:moveTo>
                <a:lnTo>
                  <a:pt x="448055" y="37591"/>
                </a:lnTo>
                <a:lnTo>
                  <a:pt x="452120" y="37718"/>
                </a:lnTo>
                <a:lnTo>
                  <a:pt x="454660" y="40131"/>
                </a:lnTo>
                <a:lnTo>
                  <a:pt x="457073" y="42671"/>
                </a:lnTo>
                <a:lnTo>
                  <a:pt x="457073" y="46735"/>
                </a:lnTo>
                <a:lnTo>
                  <a:pt x="454533" y="49148"/>
                </a:lnTo>
                <a:lnTo>
                  <a:pt x="445530" y="58042"/>
                </a:lnTo>
                <a:lnTo>
                  <a:pt x="467868" y="80644"/>
                </a:lnTo>
                <a:lnTo>
                  <a:pt x="482512" y="37591"/>
                </a:lnTo>
                <a:close/>
              </a:path>
              <a:path w="495300" h="489585">
                <a:moveTo>
                  <a:pt x="448055" y="37591"/>
                </a:moveTo>
                <a:lnTo>
                  <a:pt x="445643" y="40131"/>
                </a:lnTo>
                <a:lnTo>
                  <a:pt x="436628" y="49035"/>
                </a:lnTo>
                <a:lnTo>
                  <a:pt x="445530" y="58042"/>
                </a:lnTo>
                <a:lnTo>
                  <a:pt x="454652" y="49035"/>
                </a:lnTo>
                <a:lnTo>
                  <a:pt x="457073" y="46735"/>
                </a:lnTo>
                <a:lnTo>
                  <a:pt x="457073" y="42671"/>
                </a:lnTo>
                <a:lnTo>
                  <a:pt x="454660" y="40131"/>
                </a:lnTo>
                <a:lnTo>
                  <a:pt x="452120" y="37718"/>
                </a:lnTo>
                <a:lnTo>
                  <a:pt x="448055" y="37591"/>
                </a:lnTo>
                <a:close/>
              </a:path>
              <a:path w="495300" h="489585">
                <a:moveTo>
                  <a:pt x="495300" y="0"/>
                </a:moveTo>
                <a:lnTo>
                  <a:pt x="414274" y="26415"/>
                </a:lnTo>
                <a:lnTo>
                  <a:pt x="436628" y="49035"/>
                </a:lnTo>
                <a:lnTo>
                  <a:pt x="445643" y="40131"/>
                </a:lnTo>
                <a:lnTo>
                  <a:pt x="448055" y="37591"/>
                </a:lnTo>
                <a:lnTo>
                  <a:pt x="482512" y="37591"/>
                </a:lnTo>
                <a:lnTo>
                  <a:pt x="495300" y="0"/>
                </a:lnTo>
                <a:close/>
              </a:path>
            </a:pathLst>
          </a:custGeom>
          <a:solidFill>
            <a:srgbClr val="9D2C0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5894832" y="2595117"/>
            <a:ext cx="3901440" cy="895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00000"/>
                </a:solidFill>
                <a:latin typeface="Cambria Math"/>
                <a:cs typeface="Cambria Math"/>
              </a:rPr>
              <a:t>𝒂</a:t>
            </a:r>
            <a:r>
              <a:rPr sz="2625" baseline="-15873" dirty="0">
                <a:solidFill>
                  <a:srgbClr val="C00000"/>
                </a:solidFill>
                <a:latin typeface="Cambria Math"/>
                <a:cs typeface="Cambria Math"/>
              </a:rPr>
              <a:t>𝑨 </a:t>
            </a:r>
            <a:r>
              <a:rPr sz="2625" spc="-195" baseline="-15873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+</a:t>
            </a:r>
            <a:r>
              <a:rPr sz="2400" spc="-1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𝟐</a:t>
            </a:r>
            <a:r>
              <a:rPr sz="2400" spc="-5" dirty="0">
                <a:solidFill>
                  <a:srgbClr val="C00000"/>
                </a:solidFill>
                <a:latin typeface="Cambria Math"/>
                <a:cs typeface="Cambria Math"/>
              </a:rPr>
              <a:t>𝒂</a:t>
            </a:r>
            <a:r>
              <a:rPr sz="2625" baseline="-15873" dirty="0">
                <a:solidFill>
                  <a:srgbClr val="C00000"/>
                </a:solidFill>
                <a:latin typeface="Cambria Math"/>
                <a:cs typeface="Cambria Math"/>
              </a:rPr>
              <a:t>𝑩 </a:t>
            </a:r>
            <a:r>
              <a:rPr sz="2625" spc="-15" baseline="-15873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sz="2400" spc="12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𝟎</a:t>
            </a:r>
            <a:r>
              <a:rPr sz="2400" spc="14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⇒</a:t>
            </a:r>
            <a:r>
              <a:rPr sz="2400" spc="12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mbria Math"/>
                <a:cs typeface="Cambria Math"/>
              </a:rPr>
              <a:t>𝒂</a:t>
            </a:r>
            <a:r>
              <a:rPr sz="2625" baseline="-15873" dirty="0">
                <a:solidFill>
                  <a:srgbClr val="C00000"/>
                </a:solidFill>
                <a:latin typeface="Cambria Math"/>
                <a:cs typeface="Cambria Math"/>
              </a:rPr>
              <a:t>𝑩 </a:t>
            </a:r>
            <a:r>
              <a:rPr sz="2625" spc="-15" baseline="-15873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sz="2400" spc="13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C00000"/>
                </a:solidFill>
                <a:latin typeface="Cambria Math"/>
                <a:cs typeface="Cambria Math"/>
              </a:rPr>
              <a:t>−</a:t>
            </a:r>
            <a:r>
              <a:rPr sz="2400" spc="-140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625" baseline="-38095" dirty="0">
                <a:solidFill>
                  <a:srgbClr val="C00000"/>
                </a:solidFill>
                <a:latin typeface="Cambria Math"/>
                <a:cs typeface="Cambria Math"/>
              </a:rPr>
              <a:t>𝟐</a:t>
            </a:r>
            <a:r>
              <a:rPr sz="2625" spc="22" baseline="-38095" dirty="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mbria Math"/>
                <a:cs typeface="Cambria Math"/>
              </a:rPr>
              <a:t>𝒂</a:t>
            </a:r>
            <a:r>
              <a:rPr sz="2625" baseline="-15873" dirty="0">
                <a:solidFill>
                  <a:srgbClr val="C00000"/>
                </a:solidFill>
                <a:latin typeface="Cambria Math"/>
                <a:cs typeface="Cambria Math"/>
              </a:rPr>
              <a:t>𝑨</a:t>
            </a:r>
            <a:endParaRPr sz="2625" baseline="-15873">
              <a:latin typeface="Cambria Math"/>
              <a:cs typeface="Cambria Math"/>
            </a:endParaRPr>
          </a:p>
          <a:p>
            <a:pPr marL="1142365" algn="ctr">
              <a:lnSpc>
                <a:spcPct val="100000"/>
              </a:lnSpc>
              <a:spcBef>
                <a:spcPts val="1805"/>
              </a:spcBef>
            </a:pPr>
            <a:r>
              <a:rPr sz="180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8638031" y="4335779"/>
            <a:ext cx="76200" cy="487045"/>
          </a:xfrm>
          <a:custGeom>
            <a:avLst/>
            <a:gdLst/>
            <a:ahLst/>
            <a:cxnLst/>
            <a:rect l="l" t="t" r="r" b="b"/>
            <a:pathLst>
              <a:path w="76200" h="487045">
                <a:moveTo>
                  <a:pt x="42545" y="55499"/>
                </a:moveTo>
                <a:lnTo>
                  <a:pt x="33654" y="55499"/>
                </a:lnTo>
                <a:lnTo>
                  <a:pt x="30099" y="59055"/>
                </a:lnTo>
                <a:lnTo>
                  <a:pt x="30099" y="483489"/>
                </a:lnTo>
                <a:lnTo>
                  <a:pt x="33654" y="487045"/>
                </a:lnTo>
                <a:lnTo>
                  <a:pt x="42418" y="487045"/>
                </a:lnTo>
                <a:lnTo>
                  <a:pt x="45974" y="483489"/>
                </a:lnTo>
                <a:lnTo>
                  <a:pt x="45974" y="59055"/>
                </a:lnTo>
                <a:lnTo>
                  <a:pt x="42545" y="55499"/>
                </a:lnTo>
                <a:close/>
              </a:path>
              <a:path w="76200" h="487045">
                <a:moveTo>
                  <a:pt x="38100" y="0"/>
                </a:moveTo>
                <a:lnTo>
                  <a:pt x="0" y="76200"/>
                </a:lnTo>
                <a:lnTo>
                  <a:pt x="30099" y="76200"/>
                </a:lnTo>
                <a:lnTo>
                  <a:pt x="30099" y="59055"/>
                </a:lnTo>
                <a:lnTo>
                  <a:pt x="33654" y="55499"/>
                </a:lnTo>
                <a:lnTo>
                  <a:pt x="65849" y="55499"/>
                </a:lnTo>
                <a:lnTo>
                  <a:pt x="38100" y="0"/>
                </a:lnTo>
                <a:close/>
              </a:path>
              <a:path w="76200" h="487045">
                <a:moveTo>
                  <a:pt x="65849" y="55499"/>
                </a:moveTo>
                <a:lnTo>
                  <a:pt x="42545" y="55499"/>
                </a:lnTo>
                <a:lnTo>
                  <a:pt x="45974" y="59055"/>
                </a:lnTo>
                <a:lnTo>
                  <a:pt x="45974" y="76200"/>
                </a:lnTo>
                <a:lnTo>
                  <a:pt x="76200" y="76200"/>
                </a:lnTo>
                <a:lnTo>
                  <a:pt x="65849" y="554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932419" y="4916042"/>
            <a:ext cx="76200" cy="487045"/>
          </a:xfrm>
          <a:custGeom>
            <a:avLst/>
            <a:gdLst/>
            <a:ahLst/>
            <a:cxnLst/>
            <a:rect l="l" t="t" r="r" b="b"/>
            <a:pathLst>
              <a:path w="76200" h="487045">
                <a:moveTo>
                  <a:pt x="30099" y="410844"/>
                </a:moveTo>
                <a:lnTo>
                  <a:pt x="0" y="410844"/>
                </a:lnTo>
                <a:lnTo>
                  <a:pt x="38100" y="487044"/>
                </a:lnTo>
                <a:lnTo>
                  <a:pt x="65849" y="431545"/>
                </a:lnTo>
                <a:lnTo>
                  <a:pt x="33654" y="431545"/>
                </a:lnTo>
                <a:lnTo>
                  <a:pt x="30099" y="427989"/>
                </a:lnTo>
                <a:lnTo>
                  <a:pt x="30099" y="410844"/>
                </a:lnTo>
                <a:close/>
              </a:path>
              <a:path w="76200" h="487045">
                <a:moveTo>
                  <a:pt x="42545" y="0"/>
                </a:moveTo>
                <a:lnTo>
                  <a:pt x="33654" y="0"/>
                </a:lnTo>
                <a:lnTo>
                  <a:pt x="30099" y="3555"/>
                </a:lnTo>
                <a:lnTo>
                  <a:pt x="30099" y="427989"/>
                </a:lnTo>
                <a:lnTo>
                  <a:pt x="33654" y="431545"/>
                </a:lnTo>
                <a:lnTo>
                  <a:pt x="42545" y="431545"/>
                </a:lnTo>
                <a:lnTo>
                  <a:pt x="45974" y="427989"/>
                </a:lnTo>
                <a:lnTo>
                  <a:pt x="45974" y="3555"/>
                </a:lnTo>
                <a:lnTo>
                  <a:pt x="42545" y="0"/>
                </a:lnTo>
                <a:close/>
              </a:path>
              <a:path w="76200" h="487045">
                <a:moveTo>
                  <a:pt x="76200" y="410844"/>
                </a:moveTo>
                <a:lnTo>
                  <a:pt x="45974" y="410844"/>
                </a:lnTo>
                <a:lnTo>
                  <a:pt x="45974" y="427989"/>
                </a:lnTo>
                <a:lnTo>
                  <a:pt x="42545" y="431545"/>
                </a:lnTo>
                <a:lnTo>
                  <a:pt x="65849" y="431545"/>
                </a:lnTo>
                <a:lnTo>
                  <a:pt x="76200" y="41084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057900" y="5394578"/>
            <a:ext cx="76200" cy="374015"/>
          </a:xfrm>
          <a:custGeom>
            <a:avLst/>
            <a:gdLst/>
            <a:ahLst/>
            <a:cxnLst/>
            <a:rect l="l" t="t" r="r" b="b"/>
            <a:pathLst>
              <a:path w="76200" h="374014">
                <a:moveTo>
                  <a:pt x="30099" y="297268"/>
                </a:moveTo>
                <a:lnTo>
                  <a:pt x="0" y="297268"/>
                </a:lnTo>
                <a:lnTo>
                  <a:pt x="38100" y="373468"/>
                </a:lnTo>
                <a:lnTo>
                  <a:pt x="65881" y="317906"/>
                </a:lnTo>
                <a:lnTo>
                  <a:pt x="33654" y="317906"/>
                </a:lnTo>
                <a:lnTo>
                  <a:pt x="30099" y="314350"/>
                </a:lnTo>
                <a:lnTo>
                  <a:pt x="30099" y="297268"/>
                </a:lnTo>
                <a:close/>
              </a:path>
              <a:path w="76200" h="374014">
                <a:moveTo>
                  <a:pt x="42545" y="0"/>
                </a:moveTo>
                <a:lnTo>
                  <a:pt x="33654" y="0"/>
                </a:lnTo>
                <a:lnTo>
                  <a:pt x="30099" y="3556"/>
                </a:lnTo>
                <a:lnTo>
                  <a:pt x="30099" y="314350"/>
                </a:lnTo>
                <a:lnTo>
                  <a:pt x="33654" y="317906"/>
                </a:lnTo>
                <a:lnTo>
                  <a:pt x="42545" y="317906"/>
                </a:lnTo>
                <a:lnTo>
                  <a:pt x="45974" y="314350"/>
                </a:lnTo>
                <a:lnTo>
                  <a:pt x="45974" y="3556"/>
                </a:lnTo>
                <a:lnTo>
                  <a:pt x="42545" y="0"/>
                </a:lnTo>
                <a:close/>
              </a:path>
              <a:path w="76200" h="374014">
                <a:moveTo>
                  <a:pt x="76200" y="297268"/>
                </a:moveTo>
                <a:lnTo>
                  <a:pt x="45974" y="297268"/>
                </a:lnTo>
                <a:lnTo>
                  <a:pt x="45974" y="314350"/>
                </a:lnTo>
                <a:lnTo>
                  <a:pt x="42545" y="317906"/>
                </a:lnTo>
                <a:lnTo>
                  <a:pt x="65881" y="317906"/>
                </a:lnTo>
                <a:lnTo>
                  <a:pt x="76200" y="29726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9290304" y="6187122"/>
            <a:ext cx="76200" cy="374015"/>
          </a:xfrm>
          <a:custGeom>
            <a:avLst/>
            <a:gdLst/>
            <a:ahLst/>
            <a:cxnLst/>
            <a:rect l="l" t="t" r="r" b="b"/>
            <a:pathLst>
              <a:path w="76200" h="374015">
                <a:moveTo>
                  <a:pt x="30099" y="297205"/>
                </a:moveTo>
                <a:lnTo>
                  <a:pt x="0" y="297205"/>
                </a:lnTo>
                <a:lnTo>
                  <a:pt x="38100" y="373405"/>
                </a:lnTo>
                <a:lnTo>
                  <a:pt x="65881" y="317842"/>
                </a:lnTo>
                <a:lnTo>
                  <a:pt x="33654" y="317842"/>
                </a:lnTo>
                <a:lnTo>
                  <a:pt x="30099" y="314286"/>
                </a:lnTo>
                <a:lnTo>
                  <a:pt x="30099" y="297205"/>
                </a:lnTo>
                <a:close/>
              </a:path>
              <a:path w="76200" h="374015">
                <a:moveTo>
                  <a:pt x="42418" y="0"/>
                </a:moveTo>
                <a:lnTo>
                  <a:pt x="33654" y="0"/>
                </a:lnTo>
                <a:lnTo>
                  <a:pt x="30099" y="3555"/>
                </a:lnTo>
                <a:lnTo>
                  <a:pt x="30099" y="314286"/>
                </a:lnTo>
                <a:lnTo>
                  <a:pt x="33654" y="317842"/>
                </a:lnTo>
                <a:lnTo>
                  <a:pt x="42545" y="317842"/>
                </a:lnTo>
                <a:lnTo>
                  <a:pt x="45974" y="314286"/>
                </a:lnTo>
                <a:lnTo>
                  <a:pt x="45974" y="3555"/>
                </a:lnTo>
                <a:lnTo>
                  <a:pt x="42418" y="0"/>
                </a:lnTo>
                <a:close/>
              </a:path>
              <a:path w="76200" h="374015">
                <a:moveTo>
                  <a:pt x="76200" y="297205"/>
                </a:moveTo>
                <a:lnTo>
                  <a:pt x="45974" y="297205"/>
                </a:lnTo>
                <a:lnTo>
                  <a:pt x="45974" y="314286"/>
                </a:lnTo>
                <a:lnTo>
                  <a:pt x="42545" y="317842"/>
                </a:lnTo>
                <a:lnTo>
                  <a:pt x="65881" y="317842"/>
                </a:lnTo>
                <a:lnTo>
                  <a:pt x="76200" y="29720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923036" y="799338"/>
            <a:ext cx="3092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20" dirty="0">
                <a:solidFill>
                  <a:srgbClr val="FDFFFF"/>
                </a:solidFill>
                <a:latin typeface="Tahoma"/>
                <a:cs typeface="Tahoma"/>
              </a:rPr>
              <a:t>10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0018585" y="1153667"/>
            <a:ext cx="2178685" cy="3971925"/>
            <a:chOff x="10018585" y="1153667"/>
            <a:chExt cx="2178685" cy="3971925"/>
          </a:xfrm>
        </p:grpSpPr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98607" y="1153667"/>
              <a:ext cx="1889759" cy="3971544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0023347" y="1584959"/>
              <a:ext cx="2169160" cy="0"/>
            </a:xfrm>
            <a:custGeom>
              <a:avLst/>
              <a:gdLst/>
              <a:ahLst/>
              <a:cxnLst/>
              <a:rect l="l" t="t" r="r" b="b"/>
              <a:pathLst>
                <a:path w="2169159">
                  <a:moveTo>
                    <a:pt x="2169159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0224515" y="1578609"/>
              <a:ext cx="76200" cy="1144270"/>
            </a:xfrm>
            <a:custGeom>
              <a:avLst/>
              <a:gdLst/>
              <a:ahLst/>
              <a:cxnLst/>
              <a:rect l="l" t="t" r="r" b="b"/>
              <a:pathLst>
                <a:path w="76200" h="1144270">
                  <a:moveTo>
                    <a:pt x="31750" y="1067942"/>
                  </a:moveTo>
                  <a:lnTo>
                    <a:pt x="0" y="1067942"/>
                  </a:lnTo>
                  <a:lnTo>
                    <a:pt x="38100" y="1144142"/>
                  </a:lnTo>
                  <a:lnTo>
                    <a:pt x="66675" y="1086992"/>
                  </a:lnTo>
                  <a:lnTo>
                    <a:pt x="34543" y="1086992"/>
                  </a:lnTo>
                  <a:lnTo>
                    <a:pt x="31750" y="1084199"/>
                  </a:lnTo>
                  <a:lnTo>
                    <a:pt x="31750" y="1067942"/>
                  </a:lnTo>
                  <a:close/>
                </a:path>
                <a:path w="76200" h="1144270">
                  <a:moveTo>
                    <a:pt x="41655" y="0"/>
                  </a:moveTo>
                  <a:lnTo>
                    <a:pt x="34543" y="0"/>
                  </a:lnTo>
                  <a:lnTo>
                    <a:pt x="31750" y="2793"/>
                  </a:lnTo>
                  <a:lnTo>
                    <a:pt x="31750" y="1084199"/>
                  </a:lnTo>
                  <a:lnTo>
                    <a:pt x="34543" y="1086992"/>
                  </a:lnTo>
                  <a:lnTo>
                    <a:pt x="41655" y="1086992"/>
                  </a:lnTo>
                  <a:lnTo>
                    <a:pt x="44450" y="1084199"/>
                  </a:lnTo>
                  <a:lnTo>
                    <a:pt x="44450" y="2793"/>
                  </a:lnTo>
                  <a:lnTo>
                    <a:pt x="41655" y="0"/>
                  </a:lnTo>
                  <a:close/>
                </a:path>
                <a:path w="76200" h="1144270">
                  <a:moveTo>
                    <a:pt x="76200" y="1067942"/>
                  </a:moveTo>
                  <a:lnTo>
                    <a:pt x="44450" y="1067942"/>
                  </a:lnTo>
                  <a:lnTo>
                    <a:pt x="44450" y="1084199"/>
                  </a:lnTo>
                  <a:lnTo>
                    <a:pt x="41655" y="1086992"/>
                  </a:lnTo>
                  <a:lnTo>
                    <a:pt x="66675" y="1086992"/>
                  </a:lnTo>
                  <a:lnTo>
                    <a:pt x="76200" y="1067942"/>
                  </a:lnTo>
                  <a:close/>
                </a:path>
              </a:pathLst>
            </a:custGeom>
            <a:solidFill>
              <a:srgbClr val="9D2C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9909047" y="1977390"/>
            <a:ext cx="297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𝑦</a:t>
            </a:r>
            <a:r>
              <a:rPr sz="1950" spc="-75" baseline="-14957" dirty="0">
                <a:latin typeface="Cambria Math"/>
                <a:cs typeface="Cambria Math"/>
              </a:rPr>
              <a:t>𝐴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1797283" y="1578610"/>
            <a:ext cx="76200" cy="2166620"/>
          </a:xfrm>
          <a:custGeom>
            <a:avLst/>
            <a:gdLst/>
            <a:ahLst/>
            <a:cxnLst/>
            <a:rect l="l" t="t" r="r" b="b"/>
            <a:pathLst>
              <a:path w="76200" h="2166620">
                <a:moveTo>
                  <a:pt x="31750" y="2090420"/>
                </a:moveTo>
                <a:lnTo>
                  <a:pt x="0" y="2090420"/>
                </a:lnTo>
                <a:lnTo>
                  <a:pt x="38100" y="2166620"/>
                </a:lnTo>
                <a:lnTo>
                  <a:pt x="66675" y="2109470"/>
                </a:lnTo>
                <a:lnTo>
                  <a:pt x="34544" y="2109470"/>
                </a:lnTo>
                <a:lnTo>
                  <a:pt x="31750" y="2106548"/>
                </a:lnTo>
                <a:lnTo>
                  <a:pt x="31750" y="2090420"/>
                </a:lnTo>
                <a:close/>
              </a:path>
              <a:path w="76200" h="2166620">
                <a:moveTo>
                  <a:pt x="41656" y="0"/>
                </a:moveTo>
                <a:lnTo>
                  <a:pt x="34544" y="0"/>
                </a:lnTo>
                <a:lnTo>
                  <a:pt x="31750" y="2793"/>
                </a:lnTo>
                <a:lnTo>
                  <a:pt x="31750" y="2106548"/>
                </a:lnTo>
                <a:lnTo>
                  <a:pt x="34544" y="2109470"/>
                </a:lnTo>
                <a:lnTo>
                  <a:pt x="41656" y="2109470"/>
                </a:lnTo>
                <a:lnTo>
                  <a:pt x="44450" y="2106548"/>
                </a:lnTo>
                <a:lnTo>
                  <a:pt x="44450" y="2793"/>
                </a:lnTo>
                <a:lnTo>
                  <a:pt x="41656" y="0"/>
                </a:lnTo>
                <a:close/>
              </a:path>
              <a:path w="76200" h="2166620">
                <a:moveTo>
                  <a:pt x="76200" y="2090420"/>
                </a:moveTo>
                <a:lnTo>
                  <a:pt x="44450" y="2090420"/>
                </a:lnTo>
                <a:lnTo>
                  <a:pt x="44450" y="2106548"/>
                </a:lnTo>
                <a:lnTo>
                  <a:pt x="41656" y="2109470"/>
                </a:lnTo>
                <a:lnTo>
                  <a:pt x="66675" y="2109470"/>
                </a:lnTo>
                <a:lnTo>
                  <a:pt x="76200" y="2090420"/>
                </a:lnTo>
                <a:close/>
              </a:path>
            </a:pathLst>
          </a:custGeom>
          <a:solidFill>
            <a:srgbClr val="9D2C0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1905742" y="2307082"/>
            <a:ext cx="310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𝑦</a:t>
            </a:r>
            <a:r>
              <a:rPr sz="1950" spc="-15" baseline="-14957" dirty="0">
                <a:latin typeface="Cambria Math"/>
                <a:cs typeface="Cambria Math"/>
              </a:rPr>
              <a:t>𝐵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1992356" y="1578610"/>
            <a:ext cx="76200" cy="554990"/>
          </a:xfrm>
          <a:custGeom>
            <a:avLst/>
            <a:gdLst/>
            <a:ahLst/>
            <a:cxnLst/>
            <a:rect l="l" t="t" r="r" b="b"/>
            <a:pathLst>
              <a:path w="76200" h="554989">
                <a:moveTo>
                  <a:pt x="31750" y="478789"/>
                </a:moveTo>
                <a:lnTo>
                  <a:pt x="0" y="478789"/>
                </a:lnTo>
                <a:lnTo>
                  <a:pt x="38100" y="554989"/>
                </a:lnTo>
                <a:lnTo>
                  <a:pt x="66675" y="497839"/>
                </a:lnTo>
                <a:lnTo>
                  <a:pt x="34544" y="497839"/>
                </a:lnTo>
                <a:lnTo>
                  <a:pt x="31750" y="495045"/>
                </a:lnTo>
                <a:lnTo>
                  <a:pt x="31750" y="478789"/>
                </a:lnTo>
                <a:close/>
              </a:path>
              <a:path w="76200" h="554989">
                <a:moveTo>
                  <a:pt x="41655" y="0"/>
                </a:moveTo>
                <a:lnTo>
                  <a:pt x="34544" y="0"/>
                </a:lnTo>
                <a:lnTo>
                  <a:pt x="31750" y="2793"/>
                </a:lnTo>
                <a:lnTo>
                  <a:pt x="31750" y="495045"/>
                </a:lnTo>
                <a:lnTo>
                  <a:pt x="34544" y="497839"/>
                </a:lnTo>
                <a:lnTo>
                  <a:pt x="41655" y="497839"/>
                </a:lnTo>
                <a:lnTo>
                  <a:pt x="44450" y="495045"/>
                </a:lnTo>
                <a:lnTo>
                  <a:pt x="44450" y="2793"/>
                </a:lnTo>
                <a:lnTo>
                  <a:pt x="41655" y="0"/>
                </a:lnTo>
                <a:close/>
              </a:path>
              <a:path w="76200" h="554989">
                <a:moveTo>
                  <a:pt x="76200" y="478789"/>
                </a:moveTo>
                <a:lnTo>
                  <a:pt x="44450" y="478789"/>
                </a:lnTo>
                <a:lnTo>
                  <a:pt x="44450" y="495045"/>
                </a:lnTo>
                <a:lnTo>
                  <a:pt x="41655" y="497839"/>
                </a:lnTo>
                <a:lnTo>
                  <a:pt x="66675" y="497839"/>
                </a:lnTo>
                <a:lnTo>
                  <a:pt x="76200" y="478789"/>
                </a:lnTo>
                <a:close/>
              </a:path>
            </a:pathLst>
          </a:custGeom>
          <a:solidFill>
            <a:srgbClr val="9D2C0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12031218" y="1755394"/>
            <a:ext cx="156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+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E86FEA2-6706-2B52-EC65-3B9077C228AF}"/>
              </a:ext>
            </a:extLst>
          </p:cNvPr>
          <p:cNvSpPr/>
          <p:nvPr/>
        </p:nvSpPr>
        <p:spPr>
          <a:xfrm>
            <a:off x="0" y="0"/>
            <a:ext cx="1238757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7/1/2025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0DBCDA9D-B594-2ADE-B300-CD5C3B63B035}"/>
              </a:ext>
            </a:extLst>
          </p:cNvPr>
          <p:cNvSpPr txBox="1">
            <a:spLocks/>
          </p:cNvSpPr>
          <p:nvPr/>
        </p:nvSpPr>
        <p:spPr>
          <a:xfrm>
            <a:off x="1779397" y="334772"/>
            <a:ext cx="61937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938145" algn="l"/>
              </a:tabLst>
            </a:pPr>
            <a:r>
              <a:rPr lang="en-US" sz="4000" spc="-25">
                <a:solidFill>
                  <a:srgbClr val="6F2F9F"/>
                </a:solidFill>
                <a:latin typeface="Times New Roman"/>
                <a:cs typeface="Times New Roman"/>
              </a:rPr>
              <a:t>Newton’s</a:t>
            </a:r>
            <a:r>
              <a:rPr lang="en-US" sz="4000" spc="3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4000">
                <a:solidFill>
                  <a:srgbClr val="6F2F9F"/>
                </a:solidFill>
                <a:latin typeface="Times New Roman"/>
                <a:cs typeface="Times New Roman"/>
              </a:rPr>
              <a:t>2</a:t>
            </a:r>
            <a:r>
              <a:rPr lang="en-US" sz="3975" baseline="25157">
                <a:solidFill>
                  <a:srgbClr val="6F2F9F"/>
                </a:solidFill>
                <a:latin typeface="Times New Roman"/>
                <a:cs typeface="Times New Roman"/>
              </a:rPr>
              <a:t>nd	</a:t>
            </a:r>
            <a:r>
              <a:rPr lang="en-US" sz="4000" spc="-5">
                <a:solidFill>
                  <a:srgbClr val="6F2F9F"/>
                </a:solidFill>
                <a:latin typeface="Times New Roman"/>
                <a:cs typeface="Times New Roman"/>
              </a:rPr>
              <a:t>Law</a:t>
            </a:r>
            <a:r>
              <a:rPr lang="en-US" sz="4000" spc="-35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4000">
                <a:solidFill>
                  <a:srgbClr val="6F2F9F"/>
                </a:solidFill>
                <a:latin typeface="Times New Roman"/>
                <a:cs typeface="Times New Roman"/>
              </a:rPr>
              <a:t>of</a:t>
            </a:r>
            <a:r>
              <a:rPr lang="en-US" sz="4000" spc="-3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4000" spc="-5">
                <a:solidFill>
                  <a:srgbClr val="6F2F9F"/>
                </a:solidFill>
                <a:latin typeface="Times New Roman"/>
                <a:cs typeface="Times New Roman"/>
              </a:rPr>
              <a:t>Motion</a:t>
            </a:r>
            <a:endParaRPr lang="en-US" sz="4000">
              <a:latin typeface="Times New Roman"/>
              <a:cs typeface="Times New Roman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D21D54F4-30A5-0EED-C829-21F83CC0707A}"/>
              </a:ext>
            </a:extLst>
          </p:cNvPr>
          <p:cNvSpPr/>
          <p:nvPr/>
        </p:nvSpPr>
        <p:spPr>
          <a:xfrm>
            <a:off x="6502019" y="5582259"/>
            <a:ext cx="358140" cy="20320"/>
          </a:xfrm>
          <a:custGeom>
            <a:avLst/>
            <a:gdLst/>
            <a:ahLst/>
            <a:cxnLst/>
            <a:rect l="l" t="t" r="r" b="b"/>
            <a:pathLst>
              <a:path w="358140" h="20320">
                <a:moveTo>
                  <a:pt x="358140" y="0"/>
                </a:moveTo>
                <a:lnTo>
                  <a:pt x="0" y="0"/>
                </a:lnTo>
                <a:lnTo>
                  <a:pt x="0" y="19812"/>
                </a:lnTo>
                <a:lnTo>
                  <a:pt x="358140" y="19812"/>
                </a:lnTo>
                <a:lnTo>
                  <a:pt x="35814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8A93ADA4-6352-A934-94C6-A6AF9CE72BC7}"/>
              </a:ext>
            </a:extLst>
          </p:cNvPr>
          <p:cNvSpPr/>
          <p:nvPr/>
        </p:nvSpPr>
        <p:spPr>
          <a:xfrm>
            <a:off x="7256398" y="5582259"/>
            <a:ext cx="304800" cy="20320"/>
          </a:xfrm>
          <a:custGeom>
            <a:avLst/>
            <a:gdLst/>
            <a:ahLst/>
            <a:cxnLst/>
            <a:rect l="l" t="t" r="r" b="b"/>
            <a:pathLst>
              <a:path w="304800" h="20320">
                <a:moveTo>
                  <a:pt x="304800" y="0"/>
                </a:moveTo>
                <a:lnTo>
                  <a:pt x="0" y="0"/>
                </a:lnTo>
                <a:lnTo>
                  <a:pt x="0" y="19812"/>
                </a:lnTo>
                <a:lnTo>
                  <a:pt x="304800" y="19812"/>
                </a:lnTo>
                <a:lnTo>
                  <a:pt x="3048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5">
                <a:extLst>
                  <a:ext uri="{FF2B5EF4-FFF2-40B4-BE49-F238E27FC236}">
                    <a16:creationId xmlns:a16="http://schemas.microsoft.com/office/drawing/2014/main" id="{409DC2BA-716F-228A-7BD0-D4AE84E06B39}"/>
                  </a:ext>
                </a:extLst>
              </p:cNvPr>
              <p:cNvSpPr txBox="1"/>
              <p:nvPr/>
            </p:nvSpPr>
            <p:spPr>
              <a:xfrm>
                <a:off x="4290821" y="5131689"/>
                <a:ext cx="3276600" cy="80791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211705">
                  <a:lnSpc>
                    <a:spcPts val="2345"/>
                  </a:lnSpc>
                  <a:spcBef>
                    <a:spcPts val="100"/>
                  </a:spcBef>
                  <a:tabLst>
                    <a:tab pos="3025775" algn="l"/>
                  </a:tabLst>
                </a:pPr>
                <a:r>
                  <a:rPr sz="2400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𝑑𝒗	𝑑</a:t>
                </a:r>
                <a:endParaRPr sz="2400" dirty="0">
                  <a:latin typeface="Cambria Math"/>
                  <a:cs typeface="Cambria Math"/>
                </a:endParaRPr>
              </a:p>
              <a:p>
                <a:pPr marL="12700">
                  <a:lnSpc>
                    <a:spcPts val="1710"/>
                  </a:lnSpc>
                  <a:tabLst>
                    <a:tab pos="2654935" algn="l"/>
                  </a:tabLst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400" i="1" spc="-13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404040"/>
                            </a:solidFill>
                            <a:latin typeface="Cambria Math"/>
                            <a:cs typeface="Cambria Math"/>
                          </a:rPr>
                          <m:t>𝑭</m:t>
                        </m:r>
                      </m:e>
                    </m:nary>
                  </m:oMath>
                </a14:m>
                <a:r>
                  <a:rPr sz="2400" spc="-130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=</a:t>
                </a:r>
                <a:r>
                  <a:rPr sz="2400" spc="140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𝑚𝒂</a:t>
                </a:r>
                <a:r>
                  <a:rPr sz="2400" spc="125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=</a:t>
                </a:r>
                <a:r>
                  <a:rPr sz="2400" spc="140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𝑚	=</a:t>
                </a:r>
                <a:endParaRPr sz="2400" dirty="0">
                  <a:latin typeface="Cambria Math"/>
                  <a:cs typeface="Cambria Math"/>
                </a:endParaRPr>
              </a:p>
              <a:p>
                <a:pPr marL="2237740">
                  <a:lnSpc>
                    <a:spcPts val="2245"/>
                  </a:lnSpc>
                  <a:tabLst>
                    <a:tab pos="2966085" algn="l"/>
                  </a:tabLst>
                </a:pPr>
                <a:r>
                  <a:rPr sz="2400" dirty="0">
                    <a:solidFill>
                      <a:srgbClr val="404040"/>
                    </a:solidFill>
                    <a:latin typeface="Cambria Math"/>
                    <a:cs typeface="Cambria Math"/>
                  </a:rPr>
                  <a:t>𝑑𝑡	𝑑𝑡</a:t>
                </a:r>
                <a:endParaRPr sz="2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8" name="object 5">
                <a:extLst>
                  <a:ext uri="{FF2B5EF4-FFF2-40B4-BE49-F238E27FC236}">
                    <a16:creationId xmlns:a16="http://schemas.microsoft.com/office/drawing/2014/main" id="{409DC2BA-716F-228A-7BD0-D4AE84E06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821" y="5131689"/>
                <a:ext cx="3276600" cy="807913"/>
              </a:xfrm>
              <a:prstGeom prst="rect">
                <a:avLst/>
              </a:prstGeom>
              <a:blipFill>
                <a:blip r:embed="rId4"/>
                <a:stretch>
                  <a:fillRect l="-16946" t="-59091" r="-5400" b="-85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bject 6">
            <a:extLst>
              <a:ext uri="{FF2B5EF4-FFF2-40B4-BE49-F238E27FC236}">
                <a16:creationId xmlns:a16="http://schemas.microsoft.com/office/drawing/2014/main" id="{9749AD39-3C9E-FD24-D685-A24DD4E7EAFA}"/>
              </a:ext>
            </a:extLst>
          </p:cNvPr>
          <p:cNvSpPr/>
          <p:nvPr/>
        </p:nvSpPr>
        <p:spPr>
          <a:xfrm>
            <a:off x="7638288" y="5450966"/>
            <a:ext cx="638810" cy="282575"/>
          </a:xfrm>
          <a:custGeom>
            <a:avLst/>
            <a:gdLst/>
            <a:ahLst/>
            <a:cxnLst/>
            <a:rect l="l" t="t" r="r" b="b"/>
            <a:pathLst>
              <a:path w="638809" h="282575">
                <a:moveTo>
                  <a:pt x="548258" y="0"/>
                </a:moveTo>
                <a:lnTo>
                  <a:pt x="544194" y="11557"/>
                </a:lnTo>
                <a:lnTo>
                  <a:pt x="560558" y="18631"/>
                </a:lnTo>
                <a:lnTo>
                  <a:pt x="574611" y="28432"/>
                </a:lnTo>
                <a:lnTo>
                  <a:pt x="603144" y="73925"/>
                </a:lnTo>
                <a:lnTo>
                  <a:pt x="611475" y="115727"/>
                </a:lnTo>
                <a:lnTo>
                  <a:pt x="612520" y="139814"/>
                </a:lnTo>
                <a:lnTo>
                  <a:pt x="611473" y="164712"/>
                </a:lnTo>
                <a:lnTo>
                  <a:pt x="603091" y="207645"/>
                </a:lnTo>
                <a:lnTo>
                  <a:pt x="574611" y="253885"/>
                </a:lnTo>
                <a:lnTo>
                  <a:pt x="544702" y="270929"/>
                </a:lnTo>
                <a:lnTo>
                  <a:pt x="548258" y="282384"/>
                </a:lnTo>
                <a:lnTo>
                  <a:pt x="586755" y="264325"/>
                </a:lnTo>
                <a:lnTo>
                  <a:pt x="615060" y="233045"/>
                </a:lnTo>
                <a:lnTo>
                  <a:pt x="632491" y="191173"/>
                </a:lnTo>
                <a:lnTo>
                  <a:pt x="638301" y="141300"/>
                </a:lnTo>
                <a:lnTo>
                  <a:pt x="636847" y="115445"/>
                </a:lnTo>
                <a:lnTo>
                  <a:pt x="625175" y="69555"/>
                </a:lnTo>
                <a:lnTo>
                  <a:pt x="602051" y="32218"/>
                </a:lnTo>
                <a:lnTo>
                  <a:pt x="568713" y="7453"/>
                </a:lnTo>
                <a:lnTo>
                  <a:pt x="548258" y="0"/>
                </a:lnTo>
                <a:close/>
              </a:path>
              <a:path w="638809" h="282575">
                <a:moveTo>
                  <a:pt x="90042" y="0"/>
                </a:moveTo>
                <a:lnTo>
                  <a:pt x="51593" y="18192"/>
                </a:lnTo>
                <a:lnTo>
                  <a:pt x="23240" y="49530"/>
                </a:lnTo>
                <a:lnTo>
                  <a:pt x="5810" y="91528"/>
                </a:lnTo>
                <a:lnTo>
                  <a:pt x="0" y="141300"/>
                </a:lnTo>
                <a:lnTo>
                  <a:pt x="1450" y="167236"/>
                </a:lnTo>
                <a:lnTo>
                  <a:pt x="13019" y="213109"/>
                </a:lnTo>
                <a:lnTo>
                  <a:pt x="36018" y="250337"/>
                </a:lnTo>
                <a:lnTo>
                  <a:pt x="69494" y="275007"/>
                </a:lnTo>
                <a:lnTo>
                  <a:pt x="90042" y="282384"/>
                </a:lnTo>
                <a:lnTo>
                  <a:pt x="93598" y="270929"/>
                </a:lnTo>
                <a:lnTo>
                  <a:pt x="77475" y="263801"/>
                </a:lnTo>
                <a:lnTo>
                  <a:pt x="63579" y="253885"/>
                </a:lnTo>
                <a:lnTo>
                  <a:pt x="35083" y="207645"/>
                </a:lnTo>
                <a:lnTo>
                  <a:pt x="26701" y="164712"/>
                </a:lnTo>
                <a:lnTo>
                  <a:pt x="25653" y="139814"/>
                </a:lnTo>
                <a:lnTo>
                  <a:pt x="26701" y="115727"/>
                </a:lnTo>
                <a:lnTo>
                  <a:pt x="35083" y="73925"/>
                </a:lnTo>
                <a:lnTo>
                  <a:pt x="63674" y="28432"/>
                </a:lnTo>
                <a:lnTo>
                  <a:pt x="93979" y="11557"/>
                </a:lnTo>
                <a:lnTo>
                  <a:pt x="9004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83D929A8-F422-B76F-5A08-FBD01E33789A}"/>
              </a:ext>
            </a:extLst>
          </p:cNvPr>
          <p:cNvSpPr/>
          <p:nvPr/>
        </p:nvSpPr>
        <p:spPr>
          <a:xfrm>
            <a:off x="8699627" y="5582259"/>
            <a:ext cx="349250" cy="20320"/>
          </a:xfrm>
          <a:custGeom>
            <a:avLst/>
            <a:gdLst/>
            <a:ahLst/>
            <a:cxnLst/>
            <a:rect l="l" t="t" r="r" b="b"/>
            <a:pathLst>
              <a:path w="349250" h="20320">
                <a:moveTo>
                  <a:pt x="348996" y="0"/>
                </a:moveTo>
                <a:lnTo>
                  <a:pt x="0" y="0"/>
                </a:lnTo>
                <a:lnTo>
                  <a:pt x="0" y="19812"/>
                </a:lnTo>
                <a:lnTo>
                  <a:pt x="348996" y="19812"/>
                </a:lnTo>
                <a:lnTo>
                  <a:pt x="348996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124DC60A-2FA1-FD33-8747-121853D7BC18}"/>
              </a:ext>
            </a:extLst>
          </p:cNvPr>
          <p:cNvSpPr txBox="1"/>
          <p:nvPr/>
        </p:nvSpPr>
        <p:spPr>
          <a:xfrm>
            <a:off x="8709406" y="5566359"/>
            <a:ext cx="322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𝑑𝑡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099C6525-FEF0-141E-84AD-6DFAE73AD9B8}"/>
              </a:ext>
            </a:extLst>
          </p:cNvPr>
          <p:cNvSpPr txBox="1"/>
          <p:nvPr/>
        </p:nvSpPr>
        <p:spPr>
          <a:xfrm>
            <a:off x="7726171" y="5131689"/>
            <a:ext cx="1892935" cy="621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4090">
              <a:lnSpc>
                <a:spcPts val="2345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𝑑𝑳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345"/>
              </a:lnSpc>
              <a:tabLst>
                <a:tab pos="663575" algn="l"/>
                <a:tab pos="1408430" algn="l"/>
              </a:tabLst>
            </a:pP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𝑚𝒗	=	=</a:t>
            </a:r>
            <a:r>
              <a:rPr sz="2400" spc="5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-355" dirty="0">
                <a:solidFill>
                  <a:srgbClr val="404040"/>
                </a:solidFill>
                <a:latin typeface="Cambria Math"/>
                <a:cs typeface="Cambria Math"/>
              </a:rPr>
              <a:t>𝑳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08A82F7E-6779-97A5-7CF5-AB7464CDBB6F}"/>
              </a:ext>
            </a:extLst>
          </p:cNvPr>
          <p:cNvSpPr txBox="1"/>
          <p:nvPr/>
        </p:nvSpPr>
        <p:spPr>
          <a:xfrm>
            <a:off x="3844290" y="6046419"/>
            <a:ext cx="6233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Here,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mbria Math"/>
                <a:cs typeface="Cambria Math"/>
              </a:rPr>
              <a:t>𝑳</a:t>
            </a:r>
            <a:r>
              <a:rPr sz="2400" spc="13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mbria Math"/>
                <a:cs typeface="Cambria Math"/>
              </a:rPr>
              <a:t>=</a:t>
            </a:r>
            <a:r>
              <a:rPr sz="2400" spc="120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mbria Math"/>
                <a:cs typeface="Cambria Math"/>
              </a:rPr>
              <a:t>𝑚𝒗</a:t>
            </a:r>
            <a:r>
              <a:rPr sz="2400" spc="145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is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linear</a:t>
            </a:r>
            <a:r>
              <a:rPr sz="2400" b="1" spc="-7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momentum</a:t>
            </a: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particle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15" name="object 12">
            <a:extLst>
              <a:ext uri="{FF2B5EF4-FFF2-40B4-BE49-F238E27FC236}">
                <a16:creationId xmlns:a16="http://schemas.microsoft.com/office/drawing/2014/main" id="{88CE92C6-D9E5-6789-F3C9-C3ADBDF6D3F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70176" y="1284732"/>
            <a:ext cx="2633472" cy="21854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3">
                <a:extLst>
                  <a:ext uri="{FF2B5EF4-FFF2-40B4-BE49-F238E27FC236}">
                    <a16:creationId xmlns:a16="http://schemas.microsoft.com/office/drawing/2014/main" id="{EA72CF7E-7491-9AC5-1502-E76F6B5B2140}"/>
                  </a:ext>
                </a:extLst>
              </p:cNvPr>
              <p:cNvSpPr txBox="1"/>
              <p:nvPr/>
            </p:nvSpPr>
            <p:spPr>
              <a:xfrm>
                <a:off x="9232518" y="1519809"/>
                <a:ext cx="1518285" cy="38215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400" i="1" spc="-125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Cambria Math"/>
                            <a:cs typeface="Cambria Math"/>
                          </a:rPr>
                          <m:t>𝑭</m:t>
                        </m:r>
                      </m:e>
                    </m:nary>
                  </m:oMath>
                </a14:m>
                <a:r>
                  <a:rPr sz="2400" spc="-125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=</a:t>
                </a:r>
                <a:r>
                  <a:rPr sz="2400" spc="135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𝑚𝒂</a:t>
                </a:r>
              </a:p>
            </p:txBody>
          </p:sp>
        </mc:Choice>
        <mc:Fallback xmlns="">
          <p:sp>
            <p:nvSpPr>
              <p:cNvPr id="16" name="object 13">
                <a:extLst>
                  <a:ext uri="{FF2B5EF4-FFF2-40B4-BE49-F238E27FC236}">
                    <a16:creationId xmlns:a16="http://schemas.microsoft.com/office/drawing/2014/main" id="{EA72CF7E-7491-9AC5-1502-E76F6B5B2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2518" y="1519809"/>
                <a:ext cx="1518285" cy="382156"/>
              </a:xfrm>
              <a:prstGeom prst="rect">
                <a:avLst/>
              </a:prstGeom>
              <a:blipFill>
                <a:blip r:embed="rId6"/>
                <a:stretch>
                  <a:fillRect l="-36546" t="-161905" b="-250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bject 14">
            <a:extLst>
              <a:ext uri="{FF2B5EF4-FFF2-40B4-BE49-F238E27FC236}">
                <a16:creationId xmlns:a16="http://schemas.microsoft.com/office/drawing/2014/main" id="{BBE7868B-0F58-E5A1-A8D0-A304E786D7CD}"/>
              </a:ext>
            </a:extLst>
          </p:cNvPr>
          <p:cNvSpPr txBox="1"/>
          <p:nvPr/>
        </p:nvSpPr>
        <p:spPr>
          <a:xfrm>
            <a:off x="8797290" y="2205990"/>
            <a:ext cx="2391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Equation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motion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20" name="object 15">
            <a:extLst>
              <a:ext uri="{FF2B5EF4-FFF2-40B4-BE49-F238E27FC236}">
                <a16:creationId xmlns:a16="http://schemas.microsoft.com/office/drawing/2014/main" id="{D8922291-B1DC-72FD-E4CF-9E86B0C685F9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96484" y="2042160"/>
            <a:ext cx="2183891" cy="739139"/>
          </a:xfrm>
          <a:prstGeom prst="rect">
            <a:avLst/>
          </a:prstGeom>
        </p:spPr>
      </p:pic>
      <p:sp>
        <p:nvSpPr>
          <p:cNvPr id="21" name="object 16">
            <a:extLst>
              <a:ext uri="{FF2B5EF4-FFF2-40B4-BE49-F238E27FC236}">
                <a16:creationId xmlns:a16="http://schemas.microsoft.com/office/drawing/2014/main" id="{C5D1D1B2-9C0F-38C9-A084-B0E00EDA211F}"/>
              </a:ext>
            </a:extLst>
          </p:cNvPr>
          <p:cNvSpPr txBox="1"/>
          <p:nvPr/>
        </p:nvSpPr>
        <p:spPr>
          <a:xfrm>
            <a:off x="5925439" y="2804286"/>
            <a:ext cx="1995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Kinetic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diagram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17">
            <a:extLst>
              <a:ext uri="{FF2B5EF4-FFF2-40B4-BE49-F238E27FC236}">
                <a16:creationId xmlns:a16="http://schemas.microsoft.com/office/drawing/2014/main" id="{356C7DDA-AE8E-2492-DBD7-90DF4AFABF6A}"/>
              </a:ext>
            </a:extLst>
          </p:cNvPr>
          <p:cNvSpPr txBox="1"/>
          <p:nvPr/>
        </p:nvSpPr>
        <p:spPr>
          <a:xfrm>
            <a:off x="6000115" y="1317116"/>
            <a:ext cx="1503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inertia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force</a:t>
            </a:r>
          </a:p>
        </p:txBody>
      </p:sp>
      <p:sp>
        <p:nvSpPr>
          <p:cNvPr id="23" name="object 18">
            <a:extLst>
              <a:ext uri="{FF2B5EF4-FFF2-40B4-BE49-F238E27FC236}">
                <a16:creationId xmlns:a16="http://schemas.microsoft.com/office/drawing/2014/main" id="{65C22421-52CE-48C8-52BE-E4C9304AD21C}"/>
              </a:ext>
            </a:extLst>
          </p:cNvPr>
          <p:cNvSpPr/>
          <p:nvPr/>
        </p:nvSpPr>
        <p:spPr>
          <a:xfrm>
            <a:off x="6937882" y="1676400"/>
            <a:ext cx="403225" cy="452120"/>
          </a:xfrm>
          <a:custGeom>
            <a:avLst/>
            <a:gdLst/>
            <a:ahLst/>
            <a:cxnLst/>
            <a:rect l="l" t="t" r="r" b="b"/>
            <a:pathLst>
              <a:path w="403225" h="452119">
                <a:moveTo>
                  <a:pt x="44348" y="73669"/>
                </a:moveTo>
                <a:lnTo>
                  <a:pt x="31804" y="75966"/>
                </a:lnTo>
                <a:lnTo>
                  <a:pt x="33527" y="83312"/>
                </a:lnTo>
                <a:lnTo>
                  <a:pt x="33782" y="84074"/>
                </a:lnTo>
                <a:lnTo>
                  <a:pt x="52832" y="122936"/>
                </a:lnTo>
                <a:lnTo>
                  <a:pt x="77343" y="157479"/>
                </a:lnTo>
                <a:lnTo>
                  <a:pt x="106299" y="186689"/>
                </a:lnTo>
                <a:lnTo>
                  <a:pt x="138938" y="209296"/>
                </a:lnTo>
                <a:lnTo>
                  <a:pt x="182880" y="226187"/>
                </a:lnTo>
                <a:lnTo>
                  <a:pt x="218313" y="229362"/>
                </a:lnTo>
                <a:lnTo>
                  <a:pt x="226568" y="230250"/>
                </a:lnTo>
                <a:lnTo>
                  <a:pt x="275209" y="247269"/>
                </a:lnTo>
                <a:lnTo>
                  <a:pt x="320040" y="281686"/>
                </a:lnTo>
                <a:lnTo>
                  <a:pt x="345567" y="312165"/>
                </a:lnTo>
                <a:lnTo>
                  <a:pt x="366395" y="347090"/>
                </a:lnTo>
                <a:lnTo>
                  <a:pt x="381253" y="385063"/>
                </a:lnTo>
                <a:lnTo>
                  <a:pt x="389255" y="424941"/>
                </a:lnTo>
                <a:lnTo>
                  <a:pt x="390271" y="445770"/>
                </a:lnTo>
                <a:lnTo>
                  <a:pt x="390525" y="449325"/>
                </a:lnTo>
                <a:lnTo>
                  <a:pt x="393446" y="451992"/>
                </a:lnTo>
                <a:lnTo>
                  <a:pt x="397001" y="451865"/>
                </a:lnTo>
                <a:lnTo>
                  <a:pt x="400431" y="451612"/>
                </a:lnTo>
                <a:lnTo>
                  <a:pt x="403225" y="448690"/>
                </a:lnTo>
                <a:lnTo>
                  <a:pt x="402971" y="445135"/>
                </a:lnTo>
                <a:lnTo>
                  <a:pt x="401955" y="424307"/>
                </a:lnTo>
                <a:lnTo>
                  <a:pt x="393573" y="382015"/>
                </a:lnTo>
                <a:lnTo>
                  <a:pt x="377951" y="342011"/>
                </a:lnTo>
                <a:lnTo>
                  <a:pt x="356235" y="305180"/>
                </a:lnTo>
                <a:lnTo>
                  <a:pt x="329438" y="273050"/>
                </a:lnTo>
                <a:lnTo>
                  <a:pt x="298576" y="247014"/>
                </a:lnTo>
                <a:lnTo>
                  <a:pt x="264795" y="228091"/>
                </a:lnTo>
                <a:lnTo>
                  <a:pt x="219710" y="216788"/>
                </a:lnTo>
                <a:lnTo>
                  <a:pt x="201675" y="216153"/>
                </a:lnTo>
                <a:lnTo>
                  <a:pt x="193548" y="215264"/>
                </a:lnTo>
                <a:lnTo>
                  <a:pt x="144525" y="197992"/>
                </a:lnTo>
                <a:lnTo>
                  <a:pt x="99949" y="163575"/>
                </a:lnTo>
                <a:lnTo>
                  <a:pt x="74549" y="132969"/>
                </a:lnTo>
                <a:lnTo>
                  <a:pt x="53848" y="98044"/>
                </a:lnTo>
                <a:lnTo>
                  <a:pt x="46094" y="80390"/>
                </a:lnTo>
                <a:lnTo>
                  <a:pt x="45593" y="79248"/>
                </a:lnTo>
                <a:lnTo>
                  <a:pt x="44348" y="73669"/>
                </a:lnTo>
                <a:close/>
              </a:path>
              <a:path w="403225" h="452119">
                <a:moveTo>
                  <a:pt x="23749" y="0"/>
                </a:moveTo>
                <a:lnTo>
                  <a:pt x="0" y="81787"/>
                </a:lnTo>
                <a:lnTo>
                  <a:pt x="31804" y="75966"/>
                </a:lnTo>
                <a:lnTo>
                  <a:pt x="28194" y="60578"/>
                </a:lnTo>
                <a:lnTo>
                  <a:pt x="30225" y="57150"/>
                </a:lnTo>
                <a:lnTo>
                  <a:pt x="33655" y="56261"/>
                </a:lnTo>
                <a:lnTo>
                  <a:pt x="37084" y="55499"/>
                </a:lnTo>
                <a:lnTo>
                  <a:pt x="65476" y="55499"/>
                </a:lnTo>
                <a:lnTo>
                  <a:pt x="23749" y="0"/>
                </a:lnTo>
                <a:close/>
              </a:path>
              <a:path w="403225" h="452119">
                <a:moveTo>
                  <a:pt x="45593" y="79248"/>
                </a:moveTo>
                <a:lnTo>
                  <a:pt x="45974" y="80390"/>
                </a:lnTo>
                <a:lnTo>
                  <a:pt x="45825" y="79777"/>
                </a:lnTo>
                <a:lnTo>
                  <a:pt x="45593" y="79248"/>
                </a:lnTo>
                <a:close/>
              </a:path>
              <a:path w="403225" h="452119">
                <a:moveTo>
                  <a:pt x="45825" y="79777"/>
                </a:moveTo>
                <a:lnTo>
                  <a:pt x="45974" y="80390"/>
                </a:lnTo>
                <a:lnTo>
                  <a:pt x="45825" y="79777"/>
                </a:lnTo>
                <a:close/>
              </a:path>
              <a:path w="403225" h="452119">
                <a:moveTo>
                  <a:pt x="45697" y="79248"/>
                </a:moveTo>
                <a:lnTo>
                  <a:pt x="45825" y="79777"/>
                </a:lnTo>
                <a:lnTo>
                  <a:pt x="45697" y="79248"/>
                </a:lnTo>
                <a:close/>
              </a:path>
              <a:path w="403225" h="452119">
                <a:moveTo>
                  <a:pt x="37084" y="55499"/>
                </a:moveTo>
                <a:lnTo>
                  <a:pt x="33655" y="56261"/>
                </a:lnTo>
                <a:lnTo>
                  <a:pt x="30225" y="57150"/>
                </a:lnTo>
                <a:lnTo>
                  <a:pt x="28194" y="60578"/>
                </a:lnTo>
                <a:lnTo>
                  <a:pt x="31804" y="75966"/>
                </a:lnTo>
                <a:lnTo>
                  <a:pt x="44348" y="73669"/>
                </a:lnTo>
                <a:lnTo>
                  <a:pt x="41190" y="60578"/>
                </a:lnTo>
                <a:lnTo>
                  <a:pt x="40513" y="57530"/>
                </a:lnTo>
                <a:lnTo>
                  <a:pt x="37084" y="55499"/>
                </a:lnTo>
                <a:close/>
              </a:path>
              <a:path w="403225" h="452119">
                <a:moveTo>
                  <a:pt x="65476" y="55499"/>
                </a:moveTo>
                <a:lnTo>
                  <a:pt x="37084" y="55499"/>
                </a:lnTo>
                <a:lnTo>
                  <a:pt x="40513" y="57530"/>
                </a:lnTo>
                <a:lnTo>
                  <a:pt x="41275" y="60960"/>
                </a:lnTo>
                <a:lnTo>
                  <a:pt x="44348" y="73669"/>
                </a:lnTo>
                <a:lnTo>
                  <a:pt x="74930" y="68072"/>
                </a:lnTo>
                <a:lnTo>
                  <a:pt x="65476" y="55499"/>
                </a:lnTo>
                <a:close/>
              </a:path>
            </a:pathLst>
          </a:custGeom>
          <a:solidFill>
            <a:srgbClr val="9D2C0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2">
            <a:extLst>
              <a:ext uri="{FF2B5EF4-FFF2-40B4-BE49-F238E27FC236}">
                <a16:creationId xmlns:a16="http://schemas.microsoft.com/office/drawing/2014/main" id="{971E63EE-8169-6EEC-83B1-BCF6A46CEFE3}"/>
              </a:ext>
            </a:extLst>
          </p:cNvPr>
          <p:cNvSpPr txBox="1"/>
          <p:nvPr/>
        </p:nvSpPr>
        <p:spPr>
          <a:xfrm>
            <a:off x="1804797" y="3590035"/>
            <a:ext cx="10311765" cy="1381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965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Accelerated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motion</a:t>
            </a:r>
            <a:endParaRPr sz="24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2035"/>
              </a:spcBef>
              <a:buClr>
                <a:srgbClr val="A42F0F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2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acceleration</a:t>
            </a:r>
            <a:r>
              <a:rPr sz="2400" spc="2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2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2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movement</a:t>
            </a:r>
            <a:r>
              <a:rPr sz="2400" spc="2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2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2400" spc="2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object</a:t>
            </a:r>
            <a:r>
              <a:rPr sz="2400" spc="2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2400" spc="2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proportional</a:t>
            </a:r>
            <a:r>
              <a:rPr sz="2400" b="1" i="1" spc="2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6FC0"/>
                </a:solidFill>
                <a:latin typeface="Times New Roman"/>
                <a:cs typeface="Times New Roman"/>
              </a:rPr>
              <a:t>to</a:t>
            </a:r>
            <a:r>
              <a:rPr sz="2400" b="1" i="1" spc="2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the</a:t>
            </a:r>
            <a:r>
              <a:rPr sz="2400" b="1" i="1" spc="2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resultant </a:t>
            </a:r>
            <a:r>
              <a:rPr sz="2400" b="1" i="1" spc="-58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force</a:t>
            </a:r>
            <a:r>
              <a:rPr sz="2400" b="1" i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is also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6FC0"/>
                </a:solidFill>
                <a:latin typeface="Times New Roman"/>
                <a:cs typeface="Times New Roman"/>
              </a:rPr>
              <a:t>same</a:t>
            </a:r>
            <a:r>
              <a:rPr sz="2400" b="1" i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6FC0"/>
                </a:solidFill>
                <a:latin typeface="Times New Roman"/>
                <a:cs typeface="Times New Roman"/>
              </a:rPr>
              <a:t>direction</a:t>
            </a:r>
            <a:r>
              <a:rPr sz="2400" b="1" i="1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resultant</a:t>
            </a:r>
            <a:r>
              <a:rPr sz="2400" spc="-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force.</a:t>
            </a:r>
            <a:endParaRPr sz="24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437A584-B716-2910-6165-FBB4AAD4D8DB}"/>
                  </a:ext>
                </a:extLst>
              </p:cNvPr>
              <p:cNvSpPr txBox="1"/>
              <p:nvPr/>
            </p:nvSpPr>
            <p:spPr>
              <a:xfrm>
                <a:off x="9562052" y="2948593"/>
                <a:ext cx="1117101" cy="7141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</m:nary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437A584-B716-2910-6165-FBB4AAD4D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2052" y="2948593"/>
                <a:ext cx="1117101" cy="71410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949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10" grpId="0" animBg="1"/>
      <p:bldP spid="11" grpId="0" animBg="1"/>
      <p:bldP spid="12" grpId="0"/>
      <p:bldP spid="13" grpId="0"/>
      <p:bldP spid="14" grpId="0"/>
      <p:bldP spid="16" grpId="0"/>
      <p:bldP spid="19" grpId="0"/>
      <p:bldP spid="21" grpId="0"/>
      <p:bldP spid="22" grpId="0"/>
      <p:bldP spid="23" grpId="0" animBg="1"/>
      <p:bldP spid="27" grpId="0"/>
      <p:bldP spid="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7/1/2025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91ABDF59-48DC-D184-0F56-04C6EB7CAEC3}"/>
              </a:ext>
            </a:extLst>
          </p:cNvPr>
          <p:cNvSpPr txBox="1">
            <a:spLocks/>
          </p:cNvSpPr>
          <p:nvPr/>
        </p:nvSpPr>
        <p:spPr>
          <a:xfrm>
            <a:off x="739590" y="336364"/>
            <a:ext cx="102069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5" dirty="0">
                <a:solidFill>
                  <a:srgbClr val="6F2F9F"/>
                </a:solidFill>
                <a:latin typeface="Times New Roman"/>
                <a:cs typeface="Times New Roman"/>
              </a:rPr>
              <a:t>Equation </a:t>
            </a:r>
            <a:r>
              <a:rPr lang="en-US" sz="4000" dirty="0">
                <a:solidFill>
                  <a:srgbClr val="6F2F9F"/>
                </a:solidFill>
                <a:latin typeface="Times New Roman"/>
                <a:cs typeface="Times New Roman"/>
              </a:rPr>
              <a:t>of</a:t>
            </a:r>
            <a:r>
              <a:rPr lang="en-US" sz="4000" spc="-5" dirty="0">
                <a:solidFill>
                  <a:srgbClr val="6F2F9F"/>
                </a:solidFill>
                <a:latin typeface="Times New Roman"/>
                <a:cs typeface="Times New Roman"/>
              </a:rPr>
              <a:t> Motion:</a:t>
            </a:r>
            <a:r>
              <a:rPr lang="en-US" sz="4000" spc="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4000" spc="-5" dirty="0">
                <a:solidFill>
                  <a:srgbClr val="6F2F9F"/>
                </a:solidFill>
                <a:latin typeface="Times New Roman"/>
                <a:cs typeface="Times New Roman"/>
              </a:rPr>
              <a:t>Rectangular</a:t>
            </a:r>
            <a:r>
              <a:rPr lang="en-US" sz="4000" spc="-6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4000" dirty="0">
                <a:solidFill>
                  <a:srgbClr val="6F2F9F"/>
                </a:solidFill>
                <a:latin typeface="Times New Roman"/>
                <a:cs typeface="Times New Roman"/>
              </a:rPr>
              <a:t>Co-ordinates</a:t>
            </a:r>
            <a:endParaRPr lang="en-US" sz="4000" dirty="0">
              <a:latin typeface="Times New Roman"/>
              <a:cs typeface="Times New Roman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FAAED930-C042-F269-E640-90EEA1397C6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9469" y="1633924"/>
            <a:ext cx="5990844" cy="45140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6">
                <a:extLst>
                  <a:ext uri="{FF2B5EF4-FFF2-40B4-BE49-F238E27FC236}">
                    <a16:creationId xmlns:a16="http://schemas.microsoft.com/office/drawing/2014/main" id="{14A8C7C6-C28A-6E06-27B4-66798826DAF7}"/>
                  </a:ext>
                </a:extLst>
              </p:cNvPr>
              <p:cNvSpPr txBox="1"/>
              <p:nvPr/>
            </p:nvSpPr>
            <p:spPr>
              <a:xfrm>
                <a:off x="1850135" y="1933955"/>
                <a:ext cx="2539365" cy="2507738"/>
              </a:xfrm>
              <a:prstGeom prst="rect">
                <a:avLst/>
              </a:prstGeom>
              <a:noFill/>
            </p:spPr>
            <p:txBody>
              <a:bodyPr vert="horz" wrap="square" lIns="0" tIns="238760" rIns="0" bIns="0" rtlCol="0">
                <a:spAutoFit/>
              </a:bodyPr>
              <a:lstStyle/>
              <a:p>
                <a:pPr marL="414655">
                  <a:lnSpc>
                    <a:spcPct val="200000"/>
                  </a:lnSpc>
                  <a:spcBef>
                    <a:spcPts val="18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/>
                        </a:rPr>
                        <m:t>𝜮</m:t>
                      </m:r>
                      <m:sSub>
                        <m:sSubPr>
                          <m:ctrlPr>
                            <a:rPr lang="el-G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latin typeface="Cambria Math"/>
                  <a:cs typeface="Cambria Math"/>
                </a:endParaRPr>
              </a:p>
              <a:p>
                <a:pPr marL="414655">
                  <a:lnSpc>
                    <a:spcPct val="200000"/>
                  </a:lnSpc>
                  <a:spcBef>
                    <a:spcPts val="18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/>
                        </a:rPr>
                        <m:t>𝜮</m:t>
                      </m:r>
                      <m:sSub>
                        <m:sSubPr>
                          <m:ctrlPr>
                            <a:rPr lang="el-G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lang="ar-AE" sz="2400" b="1" dirty="0">
                  <a:latin typeface="Cambria Math"/>
                  <a:cs typeface="Cambria Math"/>
                </a:endParaRPr>
              </a:p>
              <a:p>
                <a:pPr marL="429895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/>
                        </a:rPr>
                        <m:t>𝜮</m:t>
                      </m:r>
                      <m:sSub>
                        <m:sSubPr>
                          <m:ctrlPr>
                            <a:rPr lang="el-G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𝒛</m:t>
                          </m:r>
                        </m:sub>
                      </m:sSub>
                    </m:oMath>
                  </m:oMathPara>
                </a14:m>
                <a:endParaRPr sz="2400" b="1" baseline="-15873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8" name="object 6">
                <a:extLst>
                  <a:ext uri="{FF2B5EF4-FFF2-40B4-BE49-F238E27FC236}">
                    <a16:creationId xmlns:a16="http://schemas.microsoft.com/office/drawing/2014/main" id="{14A8C7C6-C28A-6E06-27B4-66798826D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135" y="1933955"/>
                <a:ext cx="2539365" cy="25077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bject 7">
            <a:extLst>
              <a:ext uri="{FF2B5EF4-FFF2-40B4-BE49-F238E27FC236}">
                <a16:creationId xmlns:a16="http://schemas.microsoft.com/office/drawing/2014/main" id="{CB388A08-5DE5-E91F-FFCC-4D156184E1DB}"/>
              </a:ext>
            </a:extLst>
          </p:cNvPr>
          <p:cNvSpPr/>
          <p:nvPr/>
        </p:nvSpPr>
        <p:spPr>
          <a:xfrm>
            <a:off x="4451603" y="1933955"/>
            <a:ext cx="650875" cy="2776855"/>
          </a:xfrm>
          <a:custGeom>
            <a:avLst/>
            <a:gdLst/>
            <a:ahLst/>
            <a:cxnLst/>
            <a:rect l="l" t="t" r="r" b="b"/>
            <a:pathLst>
              <a:path w="650875" h="2776854">
                <a:moveTo>
                  <a:pt x="0" y="0"/>
                </a:moveTo>
                <a:lnTo>
                  <a:pt x="74607" y="1431"/>
                </a:lnTo>
                <a:lnTo>
                  <a:pt x="143093" y="5508"/>
                </a:lnTo>
                <a:lnTo>
                  <a:pt x="203507" y="11906"/>
                </a:lnTo>
                <a:lnTo>
                  <a:pt x="253894" y="20302"/>
                </a:lnTo>
                <a:lnTo>
                  <a:pt x="292303" y="30370"/>
                </a:lnTo>
                <a:lnTo>
                  <a:pt x="325374" y="54229"/>
                </a:lnTo>
                <a:lnTo>
                  <a:pt x="325374" y="1334135"/>
                </a:lnTo>
                <a:lnTo>
                  <a:pt x="333967" y="1346576"/>
                </a:lnTo>
                <a:lnTo>
                  <a:pt x="396853" y="1368061"/>
                </a:lnTo>
                <a:lnTo>
                  <a:pt x="447240" y="1376457"/>
                </a:lnTo>
                <a:lnTo>
                  <a:pt x="507654" y="1382855"/>
                </a:lnTo>
                <a:lnTo>
                  <a:pt x="576140" y="1386932"/>
                </a:lnTo>
                <a:lnTo>
                  <a:pt x="650748" y="1388364"/>
                </a:lnTo>
                <a:lnTo>
                  <a:pt x="576140" y="1389795"/>
                </a:lnTo>
                <a:lnTo>
                  <a:pt x="507654" y="1393872"/>
                </a:lnTo>
                <a:lnTo>
                  <a:pt x="447240" y="1400270"/>
                </a:lnTo>
                <a:lnTo>
                  <a:pt x="396853" y="1408666"/>
                </a:lnTo>
                <a:lnTo>
                  <a:pt x="358444" y="1418734"/>
                </a:lnTo>
                <a:lnTo>
                  <a:pt x="325374" y="1442593"/>
                </a:lnTo>
                <a:lnTo>
                  <a:pt x="325374" y="2722499"/>
                </a:lnTo>
                <a:lnTo>
                  <a:pt x="316780" y="2734940"/>
                </a:lnTo>
                <a:lnTo>
                  <a:pt x="253894" y="2756425"/>
                </a:lnTo>
                <a:lnTo>
                  <a:pt x="203507" y="2764821"/>
                </a:lnTo>
                <a:lnTo>
                  <a:pt x="143093" y="2771219"/>
                </a:lnTo>
                <a:lnTo>
                  <a:pt x="74607" y="2775296"/>
                </a:lnTo>
                <a:lnTo>
                  <a:pt x="0" y="277672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972625ED-F489-47F3-A439-432A54652C19}"/>
              </a:ext>
            </a:extLst>
          </p:cNvPr>
          <p:cNvSpPr txBox="1"/>
          <p:nvPr/>
        </p:nvSpPr>
        <p:spPr>
          <a:xfrm>
            <a:off x="5157342" y="3114547"/>
            <a:ext cx="398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3D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83DF4720-C3B2-A0C1-193E-DDC85F6566A9}"/>
              </a:ext>
            </a:extLst>
          </p:cNvPr>
          <p:cNvSpPr/>
          <p:nvPr/>
        </p:nvSpPr>
        <p:spPr>
          <a:xfrm>
            <a:off x="4517072" y="4840605"/>
            <a:ext cx="466725" cy="1880870"/>
          </a:xfrm>
          <a:custGeom>
            <a:avLst/>
            <a:gdLst/>
            <a:ahLst/>
            <a:cxnLst/>
            <a:rect l="l" t="t" r="r" b="b"/>
            <a:pathLst>
              <a:path w="466725" h="1880870">
                <a:moveTo>
                  <a:pt x="0" y="0"/>
                </a:moveTo>
                <a:lnTo>
                  <a:pt x="73700" y="1981"/>
                </a:lnTo>
                <a:lnTo>
                  <a:pt x="137708" y="7498"/>
                </a:lnTo>
                <a:lnTo>
                  <a:pt x="188183" y="15910"/>
                </a:lnTo>
                <a:lnTo>
                  <a:pt x="233171" y="38861"/>
                </a:lnTo>
                <a:lnTo>
                  <a:pt x="233171" y="901445"/>
                </a:lnTo>
                <a:lnTo>
                  <a:pt x="245059" y="913729"/>
                </a:lnTo>
                <a:lnTo>
                  <a:pt x="278160" y="924397"/>
                </a:lnTo>
                <a:lnTo>
                  <a:pt x="328635" y="932809"/>
                </a:lnTo>
                <a:lnTo>
                  <a:pt x="392643" y="938326"/>
                </a:lnTo>
                <a:lnTo>
                  <a:pt x="466343" y="940307"/>
                </a:lnTo>
                <a:lnTo>
                  <a:pt x="392643" y="942289"/>
                </a:lnTo>
                <a:lnTo>
                  <a:pt x="328635" y="947806"/>
                </a:lnTo>
                <a:lnTo>
                  <a:pt x="278160" y="956218"/>
                </a:lnTo>
                <a:lnTo>
                  <a:pt x="245059" y="966886"/>
                </a:lnTo>
                <a:lnTo>
                  <a:pt x="233171" y="979169"/>
                </a:lnTo>
                <a:lnTo>
                  <a:pt x="233171" y="1841753"/>
                </a:lnTo>
                <a:lnTo>
                  <a:pt x="221284" y="1854037"/>
                </a:lnTo>
                <a:lnTo>
                  <a:pt x="188183" y="1864705"/>
                </a:lnTo>
                <a:lnTo>
                  <a:pt x="137708" y="1873117"/>
                </a:lnTo>
                <a:lnTo>
                  <a:pt x="73700" y="1878634"/>
                </a:lnTo>
                <a:lnTo>
                  <a:pt x="0" y="188061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94ABC8EF-24E0-5937-61E8-52A2EAFFCC18}"/>
              </a:ext>
            </a:extLst>
          </p:cNvPr>
          <p:cNvSpPr txBox="1"/>
          <p:nvPr/>
        </p:nvSpPr>
        <p:spPr>
          <a:xfrm>
            <a:off x="5069886" y="5430889"/>
            <a:ext cx="466725" cy="806631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1110"/>
              </a:spcBef>
            </a:pPr>
            <a:r>
              <a:rPr sz="24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2D</a:t>
            </a:r>
            <a:endParaRPr sz="2400" dirty="0">
              <a:latin typeface="Times New Roman"/>
              <a:cs typeface="Times New Roman"/>
            </a:endParaRPr>
          </a:p>
          <a:p>
            <a:pPr marL="53975">
              <a:lnSpc>
                <a:spcPct val="100000"/>
              </a:lnSpc>
              <a:spcBef>
                <a:spcPts val="100"/>
              </a:spcBef>
            </a:pPr>
            <a:endParaRPr sz="2625" baseline="-15873" dirty="0">
              <a:latin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3">
                <a:extLst>
                  <a:ext uri="{FF2B5EF4-FFF2-40B4-BE49-F238E27FC236}">
                    <a16:creationId xmlns:a16="http://schemas.microsoft.com/office/drawing/2014/main" id="{7C061039-9AD4-8761-2588-27B995217C58}"/>
                  </a:ext>
                </a:extLst>
              </p:cNvPr>
              <p:cNvSpPr txBox="1"/>
              <p:nvPr/>
            </p:nvSpPr>
            <p:spPr>
              <a:xfrm>
                <a:off x="2491477" y="1251768"/>
                <a:ext cx="1518285" cy="38215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400" i="1" spc="-125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Cambria Math"/>
                            <a:cs typeface="Cambria Math"/>
                          </a:rPr>
                          <m:t>𝑭</m:t>
                        </m:r>
                      </m:e>
                    </m:nary>
                  </m:oMath>
                </a14:m>
                <a:r>
                  <a:rPr sz="2400" spc="-125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=</a:t>
                </a:r>
                <a:r>
                  <a:rPr sz="2400" spc="135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𝑚𝒂</a:t>
                </a:r>
              </a:p>
            </p:txBody>
          </p:sp>
        </mc:Choice>
        <mc:Fallback xmlns="">
          <p:sp>
            <p:nvSpPr>
              <p:cNvPr id="15" name="object 13">
                <a:extLst>
                  <a:ext uri="{FF2B5EF4-FFF2-40B4-BE49-F238E27FC236}">
                    <a16:creationId xmlns:a16="http://schemas.microsoft.com/office/drawing/2014/main" id="{7C061039-9AD4-8761-2588-27B995217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1477" y="1251768"/>
                <a:ext cx="1518285" cy="382156"/>
              </a:xfrm>
              <a:prstGeom prst="rect">
                <a:avLst/>
              </a:prstGeom>
              <a:blipFill>
                <a:blip r:embed="rId6"/>
                <a:stretch>
                  <a:fillRect l="-36546" t="-161905" b="-250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EE3E70-09E7-6A7E-4C9E-040D6D546B9E}"/>
                  </a:ext>
                </a:extLst>
              </p:cNvPr>
              <p:cNvSpPr txBox="1"/>
              <p:nvPr/>
            </p:nvSpPr>
            <p:spPr>
              <a:xfrm>
                <a:off x="2018709" y="4866935"/>
                <a:ext cx="1882139" cy="16373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spcBef>
                    <a:spcPts val="18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/>
                        </a:rPr>
                        <m:t>𝜮</m:t>
                      </m:r>
                      <m:sSub>
                        <m:sSubPr>
                          <m:ctrlPr>
                            <a:rPr lang="el-G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latin typeface="Cambria Math"/>
                  <a:cs typeface="Cambria Math"/>
                </a:endParaRPr>
              </a:p>
              <a:p>
                <a:pPr>
                  <a:lnSpc>
                    <a:spcPct val="200000"/>
                  </a:lnSpc>
                  <a:spcBef>
                    <a:spcPts val="18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/>
                        </a:rPr>
                        <m:t>𝜮</m:t>
                      </m:r>
                      <m:sSub>
                        <m:sSubPr>
                          <m:ctrlPr>
                            <a:rPr lang="el-G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lang="ar-AE" sz="2400" b="1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EE3E70-09E7-6A7E-4C9E-040D6D546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709" y="4866935"/>
                <a:ext cx="1882139" cy="1637371"/>
              </a:xfrm>
              <a:prstGeom prst="rect">
                <a:avLst/>
              </a:prstGeom>
              <a:blipFill>
                <a:blip r:embed="rId7"/>
                <a:stretch>
                  <a:fillRect r="-4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493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1" grpId="0"/>
      <p:bldP spid="13" grpId="0" animBg="1"/>
      <p:bldP spid="14" grpId="0"/>
      <p:bldP spid="15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7/1/2025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6" name="object 2">
            <a:extLst>
              <a:ext uri="{FF2B5EF4-FFF2-40B4-BE49-F238E27FC236}">
                <a16:creationId xmlns:a16="http://schemas.microsoft.com/office/drawing/2014/main" id="{44807F3D-1456-CA62-8B96-AB00F12CC61C}"/>
              </a:ext>
            </a:extLst>
          </p:cNvPr>
          <p:cNvSpPr txBox="1">
            <a:spLocks/>
          </p:cNvSpPr>
          <p:nvPr/>
        </p:nvSpPr>
        <p:spPr>
          <a:xfrm>
            <a:off x="418210" y="323785"/>
            <a:ext cx="96507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dirty="0">
                <a:solidFill>
                  <a:srgbClr val="6F2F9F"/>
                </a:solidFill>
                <a:latin typeface="Times New Roman"/>
                <a:cs typeface="Times New Roman"/>
              </a:rPr>
              <a:t>Curvilinear</a:t>
            </a:r>
            <a:r>
              <a:rPr lang="en-US" sz="3200" spc="-9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3200" dirty="0">
                <a:solidFill>
                  <a:srgbClr val="6F2F9F"/>
                </a:solidFill>
                <a:latin typeface="Times New Roman"/>
                <a:cs typeface="Times New Roman"/>
              </a:rPr>
              <a:t>Motion:</a:t>
            </a:r>
            <a:r>
              <a:rPr lang="en-US" sz="3200" spc="-8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3200" spc="-30" dirty="0">
                <a:solidFill>
                  <a:srgbClr val="6F2F9F"/>
                </a:solidFill>
                <a:latin typeface="Times New Roman"/>
                <a:cs typeface="Times New Roman"/>
              </a:rPr>
              <a:t>Tangential</a:t>
            </a:r>
            <a:r>
              <a:rPr lang="en-US" sz="3200" spc="-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3200" dirty="0">
                <a:solidFill>
                  <a:srgbClr val="6F2F9F"/>
                </a:solidFill>
                <a:latin typeface="Times New Roman"/>
                <a:cs typeface="Times New Roman"/>
              </a:rPr>
              <a:t>&amp; Normal</a:t>
            </a:r>
            <a:r>
              <a:rPr lang="en-US" sz="3200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3200" dirty="0">
                <a:solidFill>
                  <a:srgbClr val="6F2F9F"/>
                </a:solidFill>
                <a:latin typeface="Times New Roman"/>
                <a:cs typeface="Times New Roman"/>
              </a:rPr>
              <a:t>Components</a:t>
            </a:r>
            <a:endParaRPr lang="en-US" sz="3200" dirty="0">
              <a:latin typeface="Times New Roman"/>
              <a:cs typeface="Times New Roman"/>
            </a:endParaRPr>
          </a:p>
        </p:txBody>
      </p:sp>
      <p:grpSp>
        <p:nvGrpSpPr>
          <p:cNvPr id="28" name="object 4">
            <a:extLst>
              <a:ext uri="{FF2B5EF4-FFF2-40B4-BE49-F238E27FC236}">
                <a16:creationId xmlns:a16="http://schemas.microsoft.com/office/drawing/2014/main" id="{320A0F79-60AD-14EB-F3AC-7288AFE08F77}"/>
              </a:ext>
            </a:extLst>
          </p:cNvPr>
          <p:cNvGrpSpPr/>
          <p:nvPr/>
        </p:nvGrpSpPr>
        <p:grpSpPr>
          <a:xfrm>
            <a:off x="1505711" y="1141475"/>
            <a:ext cx="5282565" cy="4975860"/>
            <a:chOff x="1505711" y="1141475"/>
            <a:chExt cx="5282565" cy="4975860"/>
          </a:xfrm>
        </p:grpSpPr>
        <p:pic>
          <p:nvPicPr>
            <p:cNvPr id="29" name="object 5">
              <a:extLst>
                <a:ext uri="{FF2B5EF4-FFF2-40B4-BE49-F238E27FC236}">
                  <a16:creationId xmlns:a16="http://schemas.microsoft.com/office/drawing/2014/main" id="{AC7A46FF-420D-0ADD-C499-A6F24A4A04F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5711" y="1153667"/>
              <a:ext cx="5260847" cy="4953000"/>
            </a:xfrm>
            <a:prstGeom prst="rect">
              <a:avLst/>
            </a:prstGeom>
          </p:spPr>
        </p:pic>
        <p:sp>
          <p:nvSpPr>
            <p:cNvPr id="30" name="object 6">
              <a:extLst>
                <a:ext uri="{FF2B5EF4-FFF2-40B4-BE49-F238E27FC236}">
                  <a16:creationId xmlns:a16="http://schemas.microsoft.com/office/drawing/2014/main" id="{24638633-182D-2C76-DCB0-B96243A27625}"/>
                </a:ext>
              </a:extLst>
            </p:cNvPr>
            <p:cNvSpPr/>
            <p:nvPr/>
          </p:nvSpPr>
          <p:spPr>
            <a:xfrm>
              <a:off x="1505711" y="1208531"/>
              <a:ext cx="1786255" cy="550545"/>
            </a:xfrm>
            <a:custGeom>
              <a:avLst/>
              <a:gdLst/>
              <a:ahLst/>
              <a:cxnLst/>
              <a:rect l="l" t="t" r="r" b="b"/>
              <a:pathLst>
                <a:path w="1786254" h="550544">
                  <a:moveTo>
                    <a:pt x="1786127" y="0"/>
                  </a:moveTo>
                  <a:lnTo>
                    <a:pt x="0" y="0"/>
                  </a:lnTo>
                  <a:lnTo>
                    <a:pt x="0" y="550163"/>
                  </a:lnTo>
                  <a:lnTo>
                    <a:pt x="1786127" y="550163"/>
                  </a:lnTo>
                  <a:lnTo>
                    <a:pt x="17861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7">
              <a:extLst>
                <a:ext uri="{FF2B5EF4-FFF2-40B4-BE49-F238E27FC236}">
                  <a16:creationId xmlns:a16="http://schemas.microsoft.com/office/drawing/2014/main" id="{DD1D9F71-85A1-2094-FD46-513B3BF5310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7047" y="1141475"/>
              <a:ext cx="5260848" cy="4975860"/>
            </a:xfrm>
            <a:prstGeom prst="rect">
              <a:avLst/>
            </a:prstGeom>
          </p:spPr>
        </p:pic>
        <p:sp>
          <p:nvSpPr>
            <p:cNvPr id="32" name="object 8">
              <a:extLst>
                <a:ext uri="{FF2B5EF4-FFF2-40B4-BE49-F238E27FC236}">
                  <a16:creationId xmlns:a16="http://schemas.microsoft.com/office/drawing/2014/main" id="{54B61E1D-88E8-2E8F-84CC-73F5B485B6AD}"/>
                </a:ext>
              </a:extLst>
            </p:cNvPr>
            <p:cNvSpPr/>
            <p:nvPr/>
          </p:nvSpPr>
          <p:spPr>
            <a:xfrm>
              <a:off x="1527047" y="1243583"/>
              <a:ext cx="1786255" cy="548640"/>
            </a:xfrm>
            <a:custGeom>
              <a:avLst/>
              <a:gdLst/>
              <a:ahLst/>
              <a:cxnLst/>
              <a:rect l="l" t="t" r="r" b="b"/>
              <a:pathLst>
                <a:path w="1786254" h="548639">
                  <a:moveTo>
                    <a:pt x="1786127" y="0"/>
                  </a:moveTo>
                  <a:lnTo>
                    <a:pt x="0" y="0"/>
                  </a:lnTo>
                  <a:lnTo>
                    <a:pt x="0" y="548639"/>
                  </a:lnTo>
                  <a:lnTo>
                    <a:pt x="1786127" y="548639"/>
                  </a:lnTo>
                  <a:lnTo>
                    <a:pt x="17861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9">
              <a:extLst>
                <a:ext uri="{FF2B5EF4-FFF2-40B4-BE49-F238E27FC236}">
                  <a16:creationId xmlns:a16="http://schemas.microsoft.com/office/drawing/2014/main" id="{A8F0C2B0-420E-92F6-97F8-6E58C2E97995}"/>
                </a:ext>
              </a:extLst>
            </p:cNvPr>
            <p:cNvSpPr/>
            <p:nvPr/>
          </p:nvSpPr>
          <p:spPr>
            <a:xfrm>
              <a:off x="2033142" y="3337559"/>
              <a:ext cx="600710" cy="599440"/>
            </a:xfrm>
            <a:custGeom>
              <a:avLst/>
              <a:gdLst/>
              <a:ahLst/>
              <a:cxnLst/>
              <a:rect l="l" t="t" r="r" b="b"/>
              <a:pathLst>
                <a:path w="600710" h="599439">
                  <a:moveTo>
                    <a:pt x="44443" y="74171"/>
                  </a:moveTo>
                  <a:lnTo>
                    <a:pt x="32007" y="76124"/>
                  </a:lnTo>
                  <a:lnTo>
                    <a:pt x="33781" y="84581"/>
                  </a:lnTo>
                  <a:lnTo>
                    <a:pt x="38734" y="98170"/>
                  </a:lnTo>
                  <a:lnTo>
                    <a:pt x="57531" y="137667"/>
                  </a:lnTo>
                  <a:lnTo>
                    <a:pt x="90677" y="186309"/>
                  </a:lnTo>
                  <a:lnTo>
                    <a:pt x="131318" y="228600"/>
                  </a:lnTo>
                  <a:lnTo>
                    <a:pt x="165734" y="255142"/>
                  </a:lnTo>
                  <a:lnTo>
                    <a:pt x="202945" y="276732"/>
                  </a:lnTo>
                  <a:lnTo>
                    <a:pt x="242188" y="292100"/>
                  </a:lnTo>
                  <a:lnTo>
                    <a:pt x="282701" y="300989"/>
                  </a:lnTo>
                  <a:lnTo>
                    <a:pt x="322580" y="303021"/>
                  </a:lnTo>
                  <a:lnTo>
                    <a:pt x="335533" y="304291"/>
                  </a:lnTo>
                  <a:lnTo>
                    <a:pt x="373888" y="312673"/>
                  </a:lnTo>
                  <a:lnTo>
                    <a:pt x="411352" y="327406"/>
                  </a:lnTo>
                  <a:lnTo>
                    <a:pt x="446913" y="347979"/>
                  </a:lnTo>
                  <a:lnTo>
                    <a:pt x="480059" y="373633"/>
                  </a:lnTo>
                  <a:lnTo>
                    <a:pt x="519175" y="414273"/>
                  </a:lnTo>
                  <a:lnTo>
                    <a:pt x="543940" y="449071"/>
                  </a:lnTo>
                  <a:lnTo>
                    <a:pt x="563752" y="486156"/>
                  </a:lnTo>
                  <a:lnTo>
                    <a:pt x="577976" y="525398"/>
                  </a:lnTo>
                  <a:lnTo>
                    <a:pt x="586105" y="565531"/>
                  </a:lnTo>
                  <a:lnTo>
                    <a:pt x="587756" y="596264"/>
                  </a:lnTo>
                  <a:lnTo>
                    <a:pt x="590676" y="599058"/>
                  </a:lnTo>
                  <a:lnTo>
                    <a:pt x="594232" y="598932"/>
                  </a:lnTo>
                  <a:lnTo>
                    <a:pt x="597662" y="598932"/>
                  </a:lnTo>
                  <a:lnTo>
                    <a:pt x="600456" y="596010"/>
                  </a:lnTo>
                  <a:lnTo>
                    <a:pt x="600329" y="592454"/>
                  </a:lnTo>
                  <a:lnTo>
                    <a:pt x="599948" y="578612"/>
                  </a:lnTo>
                  <a:lnTo>
                    <a:pt x="598805" y="564388"/>
                  </a:lnTo>
                  <a:lnTo>
                    <a:pt x="590295" y="522223"/>
                  </a:lnTo>
                  <a:lnTo>
                    <a:pt x="575563" y="481329"/>
                  </a:lnTo>
                  <a:lnTo>
                    <a:pt x="554989" y="442721"/>
                  </a:lnTo>
                  <a:lnTo>
                    <a:pt x="529463" y="406781"/>
                  </a:lnTo>
                  <a:lnTo>
                    <a:pt x="488823" y="364363"/>
                  </a:lnTo>
                  <a:lnTo>
                    <a:pt x="454279" y="337565"/>
                  </a:lnTo>
                  <a:lnTo>
                    <a:pt x="417068" y="316102"/>
                  </a:lnTo>
                  <a:lnTo>
                    <a:pt x="377951" y="300608"/>
                  </a:lnTo>
                  <a:lnTo>
                    <a:pt x="337438" y="291719"/>
                  </a:lnTo>
                  <a:lnTo>
                    <a:pt x="296799" y="289559"/>
                  </a:lnTo>
                  <a:lnTo>
                    <a:pt x="283971" y="288289"/>
                  </a:lnTo>
                  <a:lnTo>
                    <a:pt x="245618" y="279907"/>
                  </a:lnTo>
                  <a:lnTo>
                    <a:pt x="208280" y="265049"/>
                  </a:lnTo>
                  <a:lnTo>
                    <a:pt x="172719" y="244475"/>
                  </a:lnTo>
                  <a:lnTo>
                    <a:pt x="139319" y="218693"/>
                  </a:lnTo>
                  <a:lnTo>
                    <a:pt x="100330" y="177926"/>
                  </a:lnTo>
                  <a:lnTo>
                    <a:pt x="75692" y="143255"/>
                  </a:lnTo>
                  <a:lnTo>
                    <a:pt x="55880" y="106172"/>
                  </a:lnTo>
                  <a:lnTo>
                    <a:pt x="45719" y="80263"/>
                  </a:lnTo>
                  <a:lnTo>
                    <a:pt x="44443" y="74171"/>
                  </a:lnTo>
                  <a:close/>
                </a:path>
                <a:path w="600710" h="599439">
                  <a:moveTo>
                    <a:pt x="25781" y="0"/>
                  </a:moveTo>
                  <a:lnTo>
                    <a:pt x="0" y="81152"/>
                  </a:lnTo>
                  <a:lnTo>
                    <a:pt x="32007" y="76124"/>
                  </a:lnTo>
                  <a:lnTo>
                    <a:pt x="29463" y="64007"/>
                  </a:lnTo>
                  <a:lnTo>
                    <a:pt x="28701" y="60578"/>
                  </a:lnTo>
                  <a:lnTo>
                    <a:pt x="30861" y="57276"/>
                  </a:lnTo>
                  <a:lnTo>
                    <a:pt x="37718" y="55752"/>
                  </a:lnTo>
                  <a:lnTo>
                    <a:pt x="65502" y="55752"/>
                  </a:lnTo>
                  <a:lnTo>
                    <a:pt x="25781" y="0"/>
                  </a:lnTo>
                  <a:close/>
                </a:path>
                <a:path w="600710" h="599439">
                  <a:moveTo>
                    <a:pt x="37718" y="55752"/>
                  </a:moveTo>
                  <a:lnTo>
                    <a:pt x="30861" y="57276"/>
                  </a:lnTo>
                  <a:lnTo>
                    <a:pt x="28701" y="60578"/>
                  </a:lnTo>
                  <a:lnTo>
                    <a:pt x="29463" y="64007"/>
                  </a:lnTo>
                  <a:lnTo>
                    <a:pt x="32007" y="76124"/>
                  </a:lnTo>
                  <a:lnTo>
                    <a:pt x="44443" y="74171"/>
                  </a:lnTo>
                  <a:lnTo>
                    <a:pt x="41782" y="61467"/>
                  </a:lnTo>
                  <a:lnTo>
                    <a:pt x="41148" y="58038"/>
                  </a:lnTo>
                  <a:lnTo>
                    <a:pt x="37718" y="55752"/>
                  </a:lnTo>
                  <a:close/>
                </a:path>
                <a:path w="600710" h="599439">
                  <a:moveTo>
                    <a:pt x="65502" y="55752"/>
                  </a:moveTo>
                  <a:lnTo>
                    <a:pt x="37718" y="55752"/>
                  </a:lnTo>
                  <a:lnTo>
                    <a:pt x="41148" y="58038"/>
                  </a:lnTo>
                  <a:lnTo>
                    <a:pt x="41782" y="61467"/>
                  </a:lnTo>
                  <a:lnTo>
                    <a:pt x="44443" y="74171"/>
                  </a:lnTo>
                  <a:lnTo>
                    <a:pt x="75183" y="69341"/>
                  </a:lnTo>
                  <a:lnTo>
                    <a:pt x="65502" y="55752"/>
                  </a:lnTo>
                  <a:close/>
                </a:path>
              </a:pathLst>
            </a:custGeom>
            <a:solidFill>
              <a:srgbClr val="9D2C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10">
            <a:extLst>
              <a:ext uri="{FF2B5EF4-FFF2-40B4-BE49-F238E27FC236}">
                <a16:creationId xmlns:a16="http://schemas.microsoft.com/office/drawing/2014/main" id="{F216867F-C494-E9C4-BE68-E5D852442BD5}"/>
              </a:ext>
            </a:extLst>
          </p:cNvPr>
          <p:cNvSpPr txBox="1"/>
          <p:nvPr/>
        </p:nvSpPr>
        <p:spPr>
          <a:xfrm>
            <a:off x="1751710" y="3032378"/>
            <a:ext cx="845185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64"/>
              </a:lnSpc>
            </a:pPr>
            <a:r>
              <a:rPr sz="1800" spc="-5" dirty="0">
                <a:latin typeface="Times New Roman"/>
                <a:cs typeface="Times New Roman"/>
              </a:rPr>
              <a:t>2D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Plane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5" name="object 11">
            <a:extLst>
              <a:ext uri="{FF2B5EF4-FFF2-40B4-BE49-F238E27FC236}">
                <a16:creationId xmlns:a16="http://schemas.microsoft.com/office/drawing/2014/main" id="{BEB1A53D-8C19-4B71-238B-813F4DD20147}"/>
              </a:ext>
            </a:extLst>
          </p:cNvPr>
          <p:cNvGrpSpPr/>
          <p:nvPr/>
        </p:nvGrpSpPr>
        <p:grpSpPr>
          <a:xfrm>
            <a:off x="1487106" y="1164336"/>
            <a:ext cx="5320665" cy="4963795"/>
            <a:chOff x="1487106" y="1164336"/>
            <a:chExt cx="5320665" cy="4963795"/>
          </a:xfrm>
        </p:grpSpPr>
        <p:pic>
          <p:nvPicPr>
            <p:cNvPr id="36" name="object 12">
              <a:extLst>
                <a:ext uri="{FF2B5EF4-FFF2-40B4-BE49-F238E27FC236}">
                  <a16:creationId xmlns:a16="http://schemas.microsoft.com/office/drawing/2014/main" id="{C9ACB42F-28E7-E738-E9A2-3E6C81B94F4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7048" y="1164336"/>
              <a:ext cx="5280659" cy="4942332"/>
            </a:xfrm>
            <a:prstGeom prst="rect">
              <a:avLst/>
            </a:prstGeom>
          </p:spPr>
        </p:pic>
        <p:sp>
          <p:nvSpPr>
            <p:cNvPr id="37" name="object 13">
              <a:extLst>
                <a:ext uri="{FF2B5EF4-FFF2-40B4-BE49-F238E27FC236}">
                  <a16:creationId xmlns:a16="http://schemas.microsoft.com/office/drawing/2014/main" id="{0AB28A4E-9570-F1FC-544F-6841F5750F49}"/>
                </a:ext>
              </a:extLst>
            </p:cNvPr>
            <p:cNvSpPr/>
            <p:nvPr/>
          </p:nvSpPr>
          <p:spPr>
            <a:xfrm>
              <a:off x="1516380" y="1219200"/>
              <a:ext cx="1786255" cy="515620"/>
            </a:xfrm>
            <a:custGeom>
              <a:avLst/>
              <a:gdLst/>
              <a:ahLst/>
              <a:cxnLst/>
              <a:rect l="l" t="t" r="r" b="b"/>
              <a:pathLst>
                <a:path w="1786254" h="515619">
                  <a:moveTo>
                    <a:pt x="1786127" y="0"/>
                  </a:moveTo>
                  <a:lnTo>
                    <a:pt x="0" y="0"/>
                  </a:lnTo>
                  <a:lnTo>
                    <a:pt x="0" y="515112"/>
                  </a:lnTo>
                  <a:lnTo>
                    <a:pt x="1786127" y="515112"/>
                  </a:lnTo>
                  <a:lnTo>
                    <a:pt x="17861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14">
              <a:extLst>
                <a:ext uri="{FF2B5EF4-FFF2-40B4-BE49-F238E27FC236}">
                  <a16:creationId xmlns:a16="http://schemas.microsoft.com/office/drawing/2014/main" id="{440AFD2F-029D-4D1D-F075-D88E8BF3462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5044" y="1175004"/>
              <a:ext cx="5312663" cy="4953000"/>
            </a:xfrm>
            <a:prstGeom prst="rect">
              <a:avLst/>
            </a:prstGeom>
          </p:spPr>
        </p:pic>
        <p:sp>
          <p:nvSpPr>
            <p:cNvPr id="39" name="object 15">
              <a:extLst>
                <a:ext uri="{FF2B5EF4-FFF2-40B4-BE49-F238E27FC236}">
                  <a16:creationId xmlns:a16="http://schemas.microsoft.com/office/drawing/2014/main" id="{081D3A00-A088-110C-6504-A0458DD2E30A}"/>
                </a:ext>
              </a:extLst>
            </p:cNvPr>
            <p:cNvSpPr/>
            <p:nvPr/>
          </p:nvSpPr>
          <p:spPr>
            <a:xfrm>
              <a:off x="1495044" y="1243584"/>
              <a:ext cx="1828800" cy="399415"/>
            </a:xfrm>
            <a:custGeom>
              <a:avLst/>
              <a:gdLst/>
              <a:ahLst/>
              <a:cxnLst/>
              <a:rect l="l" t="t" r="r" b="b"/>
              <a:pathLst>
                <a:path w="1828800" h="399414">
                  <a:moveTo>
                    <a:pt x="1828800" y="0"/>
                  </a:moveTo>
                  <a:lnTo>
                    <a:pt x="0" y="0"/>
                  </a:lnTo>
                  <a:lnTo>
                    <a:pt x="0" y="399288"/>
                  </a:lnTo>
                  <a:lnTo>
                    <a:pt x="1828800" y="399288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16">
              <a:extLst>
                <a:ext uri="{FF2B5EF4-FFF2-40B4-BE49-F238E27FC236}">
                  <a16:creationId xmlns:a16="http://schemas.microsoft.com/office/drawing/2014/main" id="{E44804E4-33B7-1FED-D208-814D0CD85467}"/>
                </a:ext>
              </a:extLst>
            </p:cNvPr>
            <p:cNvSpPr/>
            <p:nvPr/>
          </p:nvSpPr>
          <p:spPr>
            <a:xfrm>
              <a:off x="1495044" y="1243584"/>
              <a:ext cx="1828800" cy="399415"/>
            </a:xfrm>
            <a:custGeom>
              <a:avLst/>
              <a:gdLst/>
              <a:ahLst/>
              <a:cxnLst/>
              <a:rect l="l" t="t" r="r" b="b"/>
              <a:pathLst>
                <a:path w="1828800" h="399414">
                  <a:moveTo>
                    <a:pt x="0" y="399288"/>
                  </a:moveTo>
                  <a:lnTo>
                    <a:pt x="1828800" y="399288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399288"/>
                  </a:lnTo>
                  <a:close/>
                </a:path>
              </a:pathLst>
            </a:custGeom>
            <a:ln w="158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17">
              <a:extLst>
                <a:ext uri="{FF2B5EF4-FFF2-40B4-BE49-F238E27FC236}">
                  <a16:creationId xmlns:a16="http://schemas.microsoft.com/office/drawing/2014/main" id="{667829AE-3420-7B03-9AFB-FA663FC31DB0}"/>
                </a:ext>
              </a:extLst>
            </p:cNvPr>
            <p:cNvSpPr/>
            <p:nvPr/>
          </p:nvSpPr>
          <p:spPr>
            <a:xfrm>
              <a:off x="2052447" y="4971288"/>
              <a:ext cx="241935" cy="370840"/>
            </a:xfrm>
            <a:custGeom>
              <a:avLst/>
              <a:gdLst/>
              <a:ahLst/>
              <a:cxnLst/>
              <a:rect l="l" t="t" r="r" b="b"/>
              <a:pathLst>
                <a:path w="241935" h="370839">
                  <a:moveTo>
                    <a:pt x="119419" y="174708"/>
                  </a:moveTo>
                  <a:lnTo>
                    <a:pt x="110235" y="175768"/>
                  </a:lnTo>
                  <a:lnTo>
                    <a:pt x="100456" y="176784"/>
                  </a:lnTo>
                  <a:lnTo>
                    <a:pt x="100075" y="176784"/>
                  </a:lnTo>
                  <a:lnTo>
                    <a:pt x="99694" y="176911"/>
                  </a:lnTo>
                  <a:lnTo>
                    <a:pt x="99186" y="177037"/>
                  </a:lnTo>
                  <a:lnTo>
                    <a:pt x="89280" y="180212"/>
                  </a:lnTo>
                  <a:lnTo>
                    <a:pt x="89026" y="180339"/>
                  </a:lnTo>
                  <a:lnTo>
                    <a:pt x="88645" y="180467"/>
                  </a:lnTo>
                  <a:lnTo>
                    <a:pt x="78739" y="185419"/>
                  </a:lnTo>
                  <a:lnTo>
                    <a:pt x="78485" y="185674"/>
                  </a:lnTo>
                  <a:lnTo>
                    <a:pt x="78231" y="185800"/>
                  </a:lnTo>
                  <a:lnTo>
                    <a:pt x="49910" y="211836"/>
                  </a:lnTo>
                  <a:lnTo>
                    <a:pt x="26288" y="249681"/>
                  </a:lnTo>
                  <a:lnTo>
                    <a:pt x="9270" y="295783"/>
                  </a:lnTo>
                  <a:lnTo>
                    <a:pt x="761" y="346837"/>
                  </a:lnTo>
                  <a:lnTo>
                    <a:pt x="0" y="367284"/>
                  </a:lnTo>
                  <a:lnTo>
                    <a:pt x="2793" y="370331"/>
                  </a:lnTo>
                  <a:lnTo>
                    <a:pt x="6222" y="370331"/>
                  </a:lnTo>
                  <a:lnTo>
                    <a:pt x="9778" y="370459"/>
                  </a:lnTo>
                  <a:lnTo>
                    <a:pt x="12700" y="367792"/>
                  </a:lnTo>
                  <a:lnTo>
                    <a:pt x="12838" y="363855"/>
                  </a:lnTo>
                  <a:lnTo>
                    <a:pt x="13334" y="347218"/>
                  </a:lnTo>
                  <a:lnTo>
                    <a:pt x="15112" y="330708"/>
                  </a:lnTo>
                  <a:lnTo>
                    <a:pt x="26288" y="283337"/>
                  </a:lnTo>
                  <a:lnTo>
                    <a:pt x="44703" y="241807"/>
                  </a:lnTo>
                  <a:lnTo>
                    <a:pt x="68325" y="210185"/>
                  </a:lnTo>
                  <a:lnTo>
                    <a:pt x="84882" y="196595"/>
                  </a:lnTo>
                  <a:lnTo>
                    <a:pt x="85597" y="196087"/>
                  </a:lnTo>
                  <a:lnTo>
                    <a:pt x="85838" y="196087"/>
                  </a:lnTo>
                  <a:lnTo>
                    <a:pt x="93609" y="192150"/>
                  </a:lnTo>
                  <a:lnTo>
                    <a:pt x="93471" y="192150"/>
                  </a:lnTo>
                  <a:lnTo>
                    <a:pt x="94360" y="191769"/>
                  </a:lnTo>
                  <a:lnTo>
                    <a:pt x="94678" y="191769"/>
                  </a:lnTo>
                  <a:lnTo>
                    <a:pt x="102319" y="189356"/>
                  </a:lnTo>
                  <a:lnTo>
                    <a:pt x="101853" y="189356"/>
                  </a:lnTo>
                  <a:lnTo>
                    <a:pt x="103123" y="189103"/>
                  </a:lnTo>
                  <a:lnTo>
                    <a:pt x="104298" y="189103"/>
                  </a:lnTo>
                  <a:lnTo>
                    <a:pt x="121411" y="187325"/>
                  </a:lnTo>
                  <a:lnTo>
                    <a:pt x="121919" y="187198"/>
                  </a:lnTo>
                  <a:lnTo>
                    <a:pt x="122300" y="187198"/>
                  </a:lnTo>
                  <a:lnTo>
                    <a:pt x="133095" y="183769"/>
                  </a:lnTo>
                  <a:lnTo>
                    <a:pt x="143128" y="178562"/>
                  </a:lnTo>
                  <a:lnTo>
                    <a:pt x="143509" y="178435"/>
                  </a:lnTo>
                  <a:lnTo>
                    <a:pt x="143763" y="178181"/>
                  </a:lnTo>
                  <a:lnTo>
                    <a:pt x="148399" y="174879"/>
                  </a:lnTo>
                  <a:lnTo>
                    <a:pt x="118871" y="174879"/>
                  </a:lnTo>
                  <a:lnTo>
                    <a:pt x="119419" y="174708"/>
                  </a:lnTo>
                  <a:close/>
                </a:path>
                <a:path w="241935" h="370839">
                  <a:moveTo>
                    <a:pt x="85597" y="196087"/>
                  </a:moveTo>
                  <a:lnTo>
                    <a:pt x="84835" y="196595"/>
                  </a:lnTo>
                  <a:lnTo>
                    <a:pt x="84998" y="196513"/>
                  </a:lnTo>
                  <a:lnTo>
                    <a:pt x="85597" y="196087"/>
                  </a:lnTo>
                  <a:close/>
                </a:path>
                <a:path w="241935" h="370839">
                  <a:moveTo>
                    <a:pt x="84998" y="196513"/>
                  </a:moveTo>
                  <a:lnTo>
                    <a:pt x="84835" y="196595"/>
                  </a:lnTo>
                  <a:lnTo>
                    <a:pt x="84998" y="196513"/>
                  </a:lnTo>
                  <a:close/>
                </a:path>
                <a:path w="241935" h="370839">
                  <a:moveTo>
                    <a:pt x="85838" y="196087"/>
                  </a:moveTo>
                  <a:lnTo>
                    <a:pt x="85597" y="196087"/>
                  </a:lnTo>
                  <a:lnTo>
                    <a:pt x="84998" y="196513"/>
                  </a:lnTo>
                  <a:lnTo>
                    <a:pt x="85838" y="196087"/>
                  </a:lnTo>
                  <a:close/>
                </a:path>
                <a:path w="241935" h="370839">
                  <a:moveTo>
                    <a:pt x="94360" y="191769"/>
                  </a:moveTo>
                  <a:lnTo>
                    <a:pt x="93471" y="192150"/>
                  </a:lnTo>
                  <a:lnTo>
                    <a:pt x="93835" y="192036"/>
                  </a:lnTo>
                  <a:lnTo>
                    <a:pt x="94360" y="191769"/>
                  </a:lnTo>
                  <a:close/>
                </a:path>
                <a:path w="241935" h="370839">
                  <a:moveTo>
                    <a:pt x="93835" y="192036"/>
                  </a:moveTo>
                  <a:lnTo>
                    <a:pt x="93471" y="192150"/>
                  </a:lnTo>
                  <a:lnTo>
                    <a:pt x="93609" y="192150"/>
                  </a:lnTo>
                  <a:lnTo>
                    <a:pt x="93835" y="192036"/>
                  </a:lnTo>
                  <a:close/>
                </a:path>
                <a:path w="241935" h="370839">
                  <a:moveTo>
                    <a:pt x="94678" y="191769"/>
                  </a:moveTo>
                  <a:lnTo>
                    <a:pt x="94360" y="191769"/>
                  </a:lnTo>
                  <a:lnTo>
                    <a:pt x="93835" y="192036"/>
                  </a:lnTo>
                  <a:lnTo>
                    <a:pt x="94678" y="191769"/>
                  </a:lnTo>
                  <a:close/>
                </a:path>
                <a:path w="241935" h="370839">
                  <a:moveTo>
                    <a:pt x="103123" y="189103"/>
                  </a:moveTo>
                  <a:lnTo>
                    <a:pt x="101853" y="189356"/>
                  </a:lnTo>
                  <a:lnTo>
                    <a:pt x="102547" y="189284"/>
                  </a:lnTo>
                  <a:lnTo>
                    <a:pt x="103123" y="189103"/>
                  </a:lnTo>
                  <a:close/>
                </a:path>
                <a:path w="241935" h="370839">
                  <a:moveTo>
                    <a:pt x="102547" y="189284"/>
                  </a:moveTo>
                  <a:lnTo>
                    <a:pt x="101853" y="189356"/>
                  </a:lnTo>
                  <a:lnTo>
                    <a:pt x="102319" y="189356"/>
                  </a:lnTo>
                  <a:lnTo>
                    <a:pt x="102547" y="189284"/>
                  </a:lnTo>
                  <a:close/>
                </a:path>
                <a:path w="241935" h="370839">
                  <a:moveTo>
                    <a:pt x="104298" y="189103"/>
                  </a:moveTo>
                  <a:lnTo>
                    <a:pt x="103123" y="189103"/>
                  </a:lnTo>
                  <a:lnTo>
                    <a:pt x="102547" y="189284"/>
                  </a:lnTo>
                  <a:lnTo>
                    <a:pt x="104298" y="189103"/>
                  </a:lnTo>
                  <a:close/>
                </a:path>
                <a:path w="241935" h="370839">
                  <a:moveTo>
                    <a:pt x="120141" y="174625"/>
                  </a:moveTo>
                  <a:lnTo>
                    <a:pt x="119419" y="174708"/>
                  </a:lnTo>
                  <a:lnTo>
                    <a:pt x="118871" y="174879"/>
                  </a:lnTo>
                  <a:lnTo>
                    <a:pt x="120141" y="174625"/>
                  </a:lnTo>
                  <a:close/>
                </a:path>
                <a:path w="241935" h="370839">
                  <a:moveTo>
                    <a:pt x="148756" y="174625"/>
                  </a:moveTo>
                  <a:lnTo>
                    <a:pt x="120141" y="174625"/>
                  </a:lnTo>
                  <a:lnTo>
                    <a:pt x="118871" y="174879"/>
                  </a:lnTo>
                  <a:lnTo>
                    <a:pt x="148399" y="174879"/>
                  </a:lnTo>
                  <a:lnTo>
                    <a:pt x="148756" y="174625"/>
                  </a:lnTo>
                  <a:close/>
                </a:path>
                <a:path w="241935" h="370839">
                  <a:moveTo>
                    <a:pt x="127964" y="172044"/>
                  </a:moveTo>
                  <a:lnTo>
                    <a:pt x="119419" y="174708"/>
                  </a:lnTo>
                  <a:lnTo>
                    <a:pt x="120141" y="174625"/>
                  </a:lnTo>
                  <a:lnTo>
                    <a:pt x="148756" y="174625"/>
                  </a:lnTo>
                  <a:lnTo>
                    <a:pt x="152143" y="172212"/>
                  </a:lnTo>
                  <a:lnTo>
                    <a:pt x="127634" y="172212"/>
                  </a:lnTo>
                  <a:lnTo>
                    <a:pt x="127964" y="172044"/>
                  </a:lnTo>
                  <a:close/>
                </a:path>
                <a:path w="241935" h="370839">
                  <a:moveTo>
                    <a:pt x="128650" y="171831"/>
                  </a:moveTo>
                  <a:lnTo>
                    <a:pt x="127964" y="172044"/>
                  </a:lnTo>
                  <a:lnTo>
                    <a:pt x="127634" y="172212"/>
                  </a:lnTo>
                  <a:lnTo>
                    <a:pt x="128650" y="171831"/>
                  </a:lnTo>
                  <a:close/>
                </a:path>
                <a:path w="241935" h="370839">
                  <a:moveTo>
                    <a:pt x="152678" y="171831"/>
                  </a:moveTo>
                  <a:lnTo>
                    <a:pt x="128650" y="171831"/>
                  </a:lnTo>
                  <a:lnTo>
                    <a:pt x="127634" y="172212"/>
                  </a:lnTo>
                  <a:lnTo>
                    <a:pt x="152143" y="172212"/>
                  </a:lnTo>
                  <a:lnTo>
                    <a:pt x="152678" y="171831"/>
                  </a:lnTo>
                  <a:close/>
                </a:path>
                <a:path w="241935" h="370839">
                  <a:moveTo>
                    <a:pt x="157651" y="167386"/>
                  </a:moveTo>
                  <a:lnTo>
                    <a:pt x="137159" y="167386"/>
                  </a:lnTo>
                  <a:lnTo>
                    <a:pt x="136270" y="167894"/>
                  </a:lnTo>
                  <a:lnTo>
                    <a:pt x="127964" y="172044"/>
                  </a:lnTo>
                  <a:lnTo>
                    <a:pt x="128650" y="171831"/>
                  </a:lnTo>
                  <a:lnTo>
                    <a:pt x="152678" y="171831"/>
                  </a:lnTo>
                  <a:lnTo>
                    <a:pt x="153034" y="171576"/>
                  </a:lnTo>
                  <a:lnTo>
                    <a:pt x="157651" y="167386"/>
                  </a:lnTo>
                  <a:close/>
                </a:path>
                <a:path w="241935" h="370839">
                  <a:moveTo>
                    <a:pt x="136564" y="167687"/>
                  </a:moveTo>
                  <a:lnTo>
                    <a:pt x="136157" y="167894"/>
                  </a:lnTo>
                  <a:lnTo>
                    <a:pt x="136564" y="167687"/>
                  </a:lnTo>
                  <a:close/>
                </a:path>
                <a:path w="241935" h="370839">
                  <a:moveTo>
                    <a:pt x="137159" y="167386"/>
                  </a:moveTo>
                  <a:lnTo>
                    <a:pt x="136564" y="167687"/>
                  </a:lnTo>
                  <a:lnTo>
                    <a:pt x="136270" y="167894"/>
                  </a:lnTo>
                  <a:lnTo>
                    <a:pt x="137159" y="167386"/>
                  </a:lnTo>
                  <a:close/>
                </a:path>
                <a:path w="241935" h="370839">
                  <a:moveTo>
                    <a:pt x="208624" y="80391"/>
                  </a:moveTo>
                  <a:lnTo>
                    <a:pt x="195833" y="80391"/>
                  </a:lnTo>
                  <a:lnTo>
                    <a:pt x="195579" y="81280"/>
                  </a:lnTo>
                  <a:lnTo>
                    <a:pt x="177419" y="121793"/>
                  </a:lnTo>
                  <a:lnTo>
                    <a:pt x="154050" y="153416"/>
                  </a:lnTo>
                  <a:lnTo>
                    <a:pt x="136564" y="167687"/>
                  </a:lnTo>
                  <a:lnTo>
                    <a:pt x="137159" y="167386"/>
                  </a:lnTo>
                  <a:lnTo>
                    <a:pt x="157651" y="167386"/>
                  </a:lnTo>
                  <a:lnTo>
                    <a:pt x="162686" y="162813"/>
                  </a:lnTo>
                  <a:lnTo>
                    <a:pt x="188213" y="128524"/>
                  </a:lnTo>
                  <a:lnTo>
                    <a:pt x="207644" y="84709"/>
                  </a:lnTo>
                  <a:lnTo>
                    <a:pt x="207898" y="84200"/>
                  </a:lnTo>
                  <a:lnTo>
                    <a:pt x="207898" y="83819"/>
                  </a:lnTo>
                  <a:lnTo>
                    <a:pt x="208624" y="80391"/>
                  </a:lnTo>
                  <a:close/>
                </a:path>
                <a:path w="241935" h="370839">
                  <a:moveTo>
                    <a:pt x="195675" y="80815"/>
                  </a:moveTo>
                  <a:lnTo>
                    <a:pt x="195501" y="81280"/>
                  </a:lnTo>
                  <a:lnTo>
                    <a:pt x="195675" y="80815"/>
                  </a:lnTo>
                  <a:close/>
                </a:path>
                <a:path w="241935" h="370839">
                  <a:moveTo>
                    <a:pt x="195833" y="80391"/>
                  </a:moveTo>
                  <a:lnTo>
                    <a:pt x="195675" y="80815"/>
                  </a:lnTo>
                  <a:lnTo>
                    <a:pt x="195579" y="81280"/>
                  </a:lnTo>
                  <a:lnTo>
                    <a:pt x="195833" y="80391"/>
                  </a:lnTo>
                  <a:close/>
                </a:path>
                <a:path w="241935" h="370839">
                  <a:moveTo>
                    <a:pt x="233434" y="55880"/>
                  </a:moveTo>
                  <a:lnTo>
                    <a:pt x="203707" y="55880"/>
                  </a:lnTo>
                  <a:lnTo>
                    <a:pt x="207136" y="56514"/>
                  </a:lnTo>
                  <a:lnTo>
                    <a:pt x="210565" y="57276"/>
                  </a:lnTo>
                  <a:lnTo>
                    <a:pt x="212725" y="60579"/>
                  </a:lnTo>
                  <a:lnTo>
                    <a:pt x="212089" y="64007"/>
                  </a:lnTo>
                  <a:lnTo>
                    <a:pt x="209518" y="76163"/>
                  </a:lnTo>
                  <a:lnTo>
                    <a:pt x="241553" y="81025"/>
                  </a:lnTo>
                  <a:lnTo>
                    <a:pt x="233434" y="55880"/>
                  </a:lnTo>
                  <a:close/>
                </a:path>
                <a:path w="241935" h="370839">
                  <a:moveTo>
                    <a:pt x="197018" y="74266"/>
                  </a:moveTo>
                  <a:lnTo>
                    <a:pt x="195675" y="80815"/>
                  </a:lnTo>
                  <a:lnTo>
                    <a:pt x="195833" y="80391"/>
                  </a:lnTo>
                  <a:lnTo>
                    <a:pt x="208624" y="80391"/>
                  </a:lnTo>
                  <a:lnTo>
                    <a:pt x="209518" y="76163"/>
                  </a:lnTo>
                  <a:lnTo>
                    <a:pt x="197018" y="74266"/>
                  </a:lnTo>
                  <a:close/>
                </a:path>
                <a:path w="241935" h="370839">
                  <a:moveTo>
                    <a:pt x="203707" y="55880"/>
                  </a:moveTo>
                  <a:lnTo>
                    <a:pt x="200405" y="58038"/>
                  </a:lnTo>
                  <a:lnTo>
                    <a:pt x="199644" y="61468"/>
                  </a:lnTo>
                  <a:lnTo>
                    <a:pt x="197018" y="74266"/>
                  </a:lnTo>
                  <a:lnTo>
                    <a:pt x="209518" y="76163"/>
                  </a:lnTo>
                  <a:lnTo>
                    <a:pt x="212089" y="64007"/>
                  </a:lnTo>
                  <a:lnTo>
                    <a:pt x="212725" y="60579"/>
                  </a:lnTo>
                  <a:lnTo>
                    <a:pt x="210565" y="57276"/>
                  </a:lnTo>
                  <a:lnTo>
                    <a:pt x="207136" y="56514"/>
                  </a:lnTo>
                  <a:lnTo>
                    <a:pt x="203707" y="55880"/>
                  </a:lnTo>
                  <a:close/>
                </a:path>
                <a:path w="241935" h="370839">
                  <a:moveTo>
                    <a:pt x="215391" y="0"/>
                  </a:moveTo>
                  <a:lnTo>
                    <a:pt x="166242" y="69595"/>
                  </a:lnTo>
                  <a:lnTo>
                    <a:pt x="197018" y="74266"/>
                  </a:lnTo>
                  <a:lnTo>
                    <a:pt x="199644" y="61468"/>
                  </a:lnTo>
                  <a:lnTo>
                    <a:pt x="200405" y="58038"/>
                  </a:lnTo>
                  <a:lnTo>
                    <a:pt x="203707" y="55880"/>
                  </a:lnTo>
                  <a:lnTo>
                    <a:pt x="233434" y="55880"/>
                  </a:lnTo>
                  <a:lnTo>
                    <a:pt x="2153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18">
            <a:extLst>
              <a:ext uri="{FF2B5EF4-FFF2-40B4-BE49-F238E27FC236}">
                <a16:creationId xmlns:a16="http://schemas.microsoft.com/office/drawing/2014/main" id="{CFC756D1-0A5A-9E0D-6F20-613CAC38D760}"/>
              </a:ext>
            </a:extLst>
          </p:cNvPr>
          <p:cNvSpPr txBox="1"/>
          <p:nvPr/>
        </p:nvSpPr>
        <p:spPr>
          <a:xfrm>
            <a:off x="1769110" y="4393183"/>
            <a:ext cx="101726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985" marR="5080" indent="-24892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O</a:t>
            </a:r>
            <a:r>
              <a:rPr sz="1800" spc="-15" dirty="0">
                <a:latin typeface="Times New Roman"/>
                <a:cs typeface="Times New Roman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cu</a:t>
            </a:r>
            <a:r>
              <a:rPr sz="1800" spc="5" dirty="0">
                <a:latin typeface="Times New Roman"/>
                <a:cs typeface="Times New Roman"/>
              </a:rPr>
              <a:t>l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ing  plane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3" name="object 19">
            <a:extLst>
              <a:ext uri="{FF2B5EF4-FFF2-40B4-BE49-F238E27FC236}">
                <a16:creationId xmlns:a16="http://schemas.microsoft.com/office/drawing/2014/main" id="{D3E5FE40-5D90-6FEE-A905-8215728BAE1E}"/>
              </a:ext>
            </a:extLst>
          </p:cNvPr>
          <p:cNvGrpSpPr/>
          <p:nvPr/>
        </p:nvGrpSpPr>
        <p:grpSpPr>
          <a:xfrm>
            <a:off x="6900671" y="1146047"/>
            <a:ext cx="5165090" cy="4982210"/>
            <a:chOff x="6900671" y="1146047"/>
            <a:chExt cx="5165090" cy="4982210"/>
          </a:xfrm>
        </p:grpSpPr>
        <p:pic>
          <p:nvPicPr>
            <p:cNvPr id="44" name="object 20">
              <a:extLst>
                <a:ext uri="{FF2B5EF4-FFF2-40B4-BE49-F238E27FC236}">
                  <a16:creationId xmlns:a16="http://schemas.microsoft.com/office/drawing/2014/main" id="{95303B8C-6E57-C7A7-D15A-30C4F23EEBE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08291" y="1146047"/>
              <a:ext cx="5157215" cy="4981956"/>
            </a:xfrm>
            <a:prstGeom prst="rect">
              <a:avLst/>
            </a:prstGeom>
          </p:spPr>
        </p:pic>
        <p:sp>
          <p:nvSpPr>
            <p:cNvPr id="45" name="object 21">
              <a:extLst>
                <a:ext uri="{FF2B5EF4-FFF2-40B4-BE49-F238E27FC236}">
                  <a16:creationId xmlns:a16="http://schemas.microsoft.com/office/drawing/2014/main" id="{EE02CE94-BD67-D353-C2E7-EFDA68AAD362}"/>
                </a:ext>
              </a:extLst>
            </p:cNvPr>
            <p:cNvSpPr/>
            <p:nvPr/>
          </p:nvSpPr>
          <p:spPr>
            <a:xfrm>
              <a:off x="6900671" y="1219199"/>
              <a:ext cx="1533525" cy="424180"/>
            </a:xfrm>
            <a:custGeom>
              <a:avLst/>
              <a:gdLst/>
              <a:ahLst/>
              <a:cxnLst/>
              <a:rect l="l" t="t" r="r" b="b"/>
              <a:pathLst>
                <a:path w="1533525" h="424180">
                  <a:moveTo>
                    <a:pt x="1533144" y="0"/>
                  </a:moveTo>
                  <a:lnTo>
                    <a:pt x="0" y="0"/>
                  </a:lnTo>
                  <a:lnTo>
                    <a:pt x="0" y="423672"/>
                  </a:lnTo>
                  <a:lnTo>
                    <a:pt x="1533144" y="423672"/>
                  </a:lnTo>
                  <a:lnTo>
                    <a:pt x="15331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22">
              <a:extLst>
                <a:ext uri="{FF2B5EF4-FFF2-40B4-BE49-F238E27FC236}">
                  <a16:creationId xmlns:a16="http://schemas.microsoft.com/office/drawing/2014/main" id="{EABE0FA0-170B-0001-2E7E-874D8B7F2560}"/>
                </a:ext>
              </a:extLst>
            </p:cNvPr>
            <p:cNvSpPr/>
            <p:nvPr/>
          </p:nvSpPr>
          <p:spPr>
            <a:xfrm>
              <a:off x="10778489" y="3224021"/>
              <a:ext cx="1117600" cy="772795"/>
            </a:xfrm>
            <a:custGeom>
              <a:avLst/>
              <a:gdLst/>
              <a:ahLst/>
              <a:cxnLst/>
              <a:rect l="l" t="t" r="r" b="b"/>
              <a:pathLst>
                <a:path w="1117600" h="772795">
                  <a:moveTo>
                    <a:pt x="0" y="0"/>
                  </a:moveTo>
                  <a:lnTo>
                    <a:pt x="1117345" y="772413"/>
                  </a:lnTo>
                </a:path>
              </a:pathLst>
            </a:custGeom>
            <a:ln w="317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23">
              <a:extLst>
                <a:ext uri="{FF2B5EF4-FFF2-40B4-BE49-F238E27FC236}">
                  <a16:creationId xmlns:a16="http://schemas.microsoft.com/office/drawing/2014/main" id="{148EBFBC-4F57-022D-4287-8DF3E18022B3}"/>
                </a:ext>
              </a:extLst>
            </p:cNvPr>
            <p:cNvSpPr/>
            <p:nvPr/>
          </p:nvSpPr>
          <p:spPr>
            <a:xfrm>
              <a:off x="9774173" y="3224021"/>
              <a:ext cx="883285" cy="1749425"/>
            </a:xfrm>
            <a:custGeom>
              <a:avLst/>
              <a:gdLst/>
              <a:ahLst/>
              <a:cxnLst/>
              <a:rect l="l" t="t" r="r" b="b"/>
              <a:pathLst>
                <a:path w="883284" h="1749425">
                  <a:moveTo>
                    <a:pt x="883157" y="0"/>
                  </a:moveTo>
                  <a:lnTo>
                    <a:pt x="0" y="1748916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24">
            <a:extLst>
              <a:ext uri="{FF2B5EF4-FFF2-40B4-BE49-F238E27FC236}">
                <a16:creationId xmlns:a16="http://schemas.microsoft.com/office/drawing/2014/main" id="{77D4655A-AC1D-2FFD-E969-DC96DC38E017}"/>
              </a:ext>
            </a:extLst>
          </p:cNvPr>
          <p:cNvSpPr txBox="1"/>
          <p:nvPr/>
        </p:nvSpPr>
        <p:spPr>
          <a:xfrm>
            <a:off x="11876913" y="3957066"/>
            <a:ext cx="8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9" name="object 25">
            <a:extLst>
              <a:ext uri="{FF2B5EF4-FFF2-40B4-BE49-F238E27FC236}">
                <a16:creationId xmlns:a16="http://schemas.microsoft.com/office/drawing/2014/main" id="{AAC02799-7D8A-FFBF-9D56-D103E4EB944E}"/>
              </a:ext>
            </a:extLst>
          </p:cNvPr>
          <p:cNvSpPr txBox="1"/>
          <p:nvPr/>
        </p:nvSpPr>
        <p:spPr>
          <a:xfrm>
            <a:off x="9591802" y="4628210"/>
            <a:ext cx="140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2146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7/1/2025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25BD40A-F75E-6A75-6D35-9C7DE1E276C4}"/>
              </a:ext>
            </a:extLst>
          </p:cNvPr>
          <p:cNvSpPr txBox="1">
            <a:spLocks/>
          </p:cNvSpPr>
          <p:nvPr/>
        </p:nvSpPr>
        <p:spPr>
          <a:xfrm>
            <a:off x="655083" y="520128"/>
            <a:ext cx="96462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dirty="0">
                <a:solidFill>
                  <a:srgbClr val="6F2F9F"/>
                </a:solidFill>
                <a:latin typeface="Times New Roman"/>
                <a:cs typeface="Times New Roman"/>
              </a:rPr>
              <a:t>Curvilinear</a:t>
            </a:r>
            <a:r>
              <a:rPr lang="en-US" sz="3200" spc="-8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3200" dirty="0">
                <a:solidFill>
                  <a:srgbClr val="6F2F9F"/>
                </a:solidFill>
                <a:latin typeface="Times New Roman"/>
                <a:cs typeface="Times New Roman"/>
              </a:rPr>
              <a:t>Motion:</a:t>
            </a:r>
            <a:r>
              <a:rPr lang="en-US" sz="3200" spc="-9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3200" spc="-30" dirty="0">
                <a:solidFill>
                  <a:srgbClr val="6F2F9F"/>
                </a:solidFill>
                <a:latin typeface="Times New Roman"/>
                <a:cs typeface="Times New Roman"/>
              </a:rPr>
              <a:t>Tangential</a:t>
            </a:r>
            <a:r>
              <a:rPr lang="en-US" sz="3200" spc="-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3200" dirty="0">
                <a:solidFill>
                  <a:srgbClr val="6F2F9F"/>
                </a:solidFill>
                <a:latin typeface="Times New Roman"/>
                <a:cs typeface="Times New Roman"/>
              </a:rPr>
              <a:t>&amp; Normal</a:t>
            </a:r>
            <a:r>
              <a:rPr lang="en-US" sz="3200" spc="-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3200" dirty="0">
                <a:solidFill>
                  <a:srgbClr val="6F2F9F"/>
                </a:solidFill>
                <a:latin typeface="Times New Roman"/>
                <a:cs typeface="Times New Roman"/>
              </a:rPr>
              <a:t>Components</a:t>
            </a:r>
            <a:endParaRPr lang="en-US" sz="3200" dirty="0">
              <a:latin typeface="Times New Roman"/>
              <a:cs typeface="Times New Roman"/>
            </a:endParaRPr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9D71515C-C9EB-E40E-95FC-4BEE34381EC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6136" y="2051305"/>
            <a:ext cx="4610100" cy="4631436"/>
          </a:xfrm>
          <a:prstGeom prst="rect">
            <a:avLst/>
          </a:prstGeom>
        </p:spPr>
      </p:pic>
      <p:sp>
        <p:nvSpPr>
          <p:cNvPr id="28" name="object 23">
            <a:extLst>
              <a:ext uri="{FF2B5EF4-FFF2-40B4-BE49-F238E27FC236}">
                <a16:creationId xmlns:a16="http://schemas.microsoft.com/office/drawing/2014/main" id="{F3FA4B3E-9980-2FA0-82E7-6AAF5B52F1FD}"/>
              </a:ext>
            </a:extLst>
          </p:cNvPr>
          <p:cNvSpPr txBox="1"/>
          <p:nvPr/>
        </p:nvSpPr>
        <p:spPr>
          <a:xfrm>
            <a:off x="8837566" y="2056167"/>
            <a:ext cx="1123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𝒗</a:t>
            </a:r>
            <a:r>
              <a:rPr sz="2400" spc="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95" dirty="0">
                <a:latin typeface="Cambria Math"/>
                <a:cs typeface="Cambria Math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𝑣𝒖</a:t>
            </a:r>
            <a:r>
              <a:rPr sz="2625" spc="67" baseline="-15873" dirty="0">
                <a:latin typeface="Cambria Math"/>
                <a:cs typeface="Cambria Math"/>
              </a:rPr>
              <a:t>𝑡</a:t>
            </a:r>
            <a:endParaRPr sz="2625" baseline="-15873" dirty="0">
              <a:latin typeface="Cambria Math"/>
              <a:cs typeface="Cambria Math"/>
            </a:endParaRPr>
          </a:p>
        </p:txBody>
      </p:sp>
      <p:sp>
        <p:nvSpPr>
          <p:cNvPr id="34" name="object 29">
            <a:extLst>
              <a:ext uri="{FF2B5EF4-FFF2-40B4-BE49-F238E27FC236}">
                <a16:creationId xmlns:a16="http://schemas.microsoft.com/office/drawing/2014/main" id="{004F6F91-DAA0-2B1F-9D3C-58ED04A868BE}"/>
              </a:ext>
            </a:extLst>
          </p:cNvPr>
          <p:cNvSpPr txBox="1"/>
          <p:nvPr/>
        </p:nvSpPr>
        <p:spPr>
          <a:xfrm>
            <a:off x="8465965" y="2750552"/>
            <a:ext cx="22967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𝒂</a:t>
            </a:r>
            <a:r>
              <a:rPr sz="2400" spc="10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14" dirty="0">
                <a:latin typeface="Cambria Math"/>
                <a:cs typeface="Cambria Math"/>
              </a:rPr>
              <a:t> </a:t>
            </a:r>
            <a:r>
              <a:rPr sz="2400" spc="75" dirty="0">
                <a:latin typeface="Cambria Math"/>
                <a:cs typeface="Cambria Math"/>
              </a:rPr>
              <a:t>𝑎</a:t>
            </a:r>
            <a:r>
              <a:rPr sz="2625" spc="112" baseline="-15873" dirty="0">
                <a:latin typeface="Cambria Math"/>
                <a:cs typeface="Cambria Math"/>
              </a:rPr>
              <a:t>𝑡</a:t>
            </a:r>
            <a:r>
              <a:rPr sz="2400" spc="75" dirty="0">
                <a:latin typeface="Cambria Math"/>
                <a:cs typeface="Cambria Math"/>
              </a:rPr>
              <a:t>𝒖</a:t>
            </a:r>
            <a:r>
              <a:rPr sz="2625" spc="112" baseline="-15873" dirty="0">
                <a:latin typeface="Cambria Math"/>
                <a:cs typeface="Cambria Math"/>
              </a:rPr>
              <a:t>𝑡</a:t>
            </a:r>
            <a:r>
              <a:rPr sz="2625" spc="40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spc="95" dirty="0">
                <a:latin typeface="Cambria Math"/>
                <a:cs typeface="Cambria Math"/>
              </a:rPr>
              <a:t>𝑎</a:t>
            </a:r>
            <a:r>
              <a:rPr sz="2625" spc="142" baseline="-15873" dirty="0">
                <a:latin typeface="Cambria Math"/>
                <a:cs typeface="Cambria Math"/>
              </a:rPr>
              <a:t>𝑛</a:t>
            </a:r>
            <a:r>
              <a:rPr sz="2400" spc="95" dirty="0">
                <a:latin typeface="Cambria Math"/>
                <a:cs typeface="Cambria Math"/>
              </a:rPr>
              <a:t>𝒖</a:t>
            </a:r>
            <a:r>
              <a:rPr sz="2625" spc="142" baseline="-15873" dirty="0">
                <a:latin typeface="Cambria Math"/>
                <a:cs typeface="Cambria Math"/>
              </a:rPr>
              <a:t>𝑛</a:t>
            </a:r>
            <a:endParaRPr sz="2625" baseline="-15873" dirty="0">
              <a:latin typeface="Cambria Math"/>
              <a:cs typeface="Cambria Math"/>
            </a:endParaRPr>
          </a:p>
        </p:txBody>
      </p:sp>
      <p:sp>
        <p:nvSpPr>
          <p:cNvPr id="35" name="object 30">
            <a:extLst>
              <a:ext uri="{FF2B5EF4-FFF2-40B4-BE49-F238E27FC236}">
                <a16:creationId xmlns:a16="http://schemas.microsoft.com/office/drawing/2014/main" id="{DC89C5A0-6459-1F67-B07A-B88D70333CC6}"/>
              </a:ext>
            </a:extLst>
          </p:cNvPr>
          <p:cNvSpPr txBox="1"/>
          <p:nvPr/>
        </p:nvSpPr>
        <p:spPr>
          <a:xfrm>
            <a:off x="8409068" y="3478058"/>
            <a:ext cx="694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Here,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4" name="object 39">
            <a:extLst>
              <a:ext uri="{FF2B5EF4-FFF2-40B4-BE49-F238E27FC236}">
                <a16:creationId xmlns:a16="http://schemas.microsoft.com/office/drawing/2014/main" id="{07A4B3BB-4A45-EE7F-827C-70A8B62CBD05}"/>
              </a:ext>
            </a:extLst>
          </p:cNvPr>
          <p:cNvSpPr/>
          <p:nvPr/>
        </p:nvSpPr>
        <p:spPr>
          <a:xfrm>
            <a:off x="9038480" y="6041390"/>
            <a:ext cx="1235710" cy="680085"/>
          </a:xfrm>
          <a:custGeom>
            <a:avLst/>
            <a:gdLst/>
            <a:ahLst/>
            <a:cxnLst/>
            <a:rect l="l" t="t" r="r" b="b"/>
            <a:pathLst>
              <a:path w="1235709" h="680084">
                <a:moveTo>
                  <a:pt x="234696" y="0"/>
                </a:moveTo>
                <a:lnTo>
                  <a:pt x="188214" y="0"/>
                </a:lnTo>
                <a:lnTo>
                  <a:pt x="126365" y="625817"/>
                </a:lnTo>
                <a:lnTo>
                  <a:pt x="51562" y="487553"/>
                </a:lnTo>
                <a:lnTo>
                  <a:pt x="0" y="514794"/>
                </a:lnTo>
                <a:lnTo>
                  <a:pt x="5715" y="525360"/>
                </a:lnTo>
                <a:lnTo>
                  <a:pt x="33020" y="511073"/>
                </a:lnTo>
                <a:lnTo>
                  <a:pt x="124841" y="679843"/>
                </a:lnTo>
                <a:lnTo>
                  <a:pt x="138684" y="679843"/>
                </a:lnTo>
                <a:lnTo>
                  <a:pt x="204850" y="19786"/>
                </a:lnTo>
                <a:lnTo>
                  <a:pt x="223393" y="19786"/>
                </a:lnTo>
                <a:lnTo>
                  <a:pt x="223393" y="20459"/>
                </a:lnTo>
                <a:lnTo>
                  <a:pt x="1235328" y="20459"/>
                </a:lnTo>
                <a:lnTo>
                  <a:pt x="1235328" y="647"/>
                </a:lnTo>
                <a:lnTo>
                  <a:pt x="234696" y="647"/>
                </a:lnTo>
                <a:lnTo>
                  <a:pt x="2346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0">
            <a:extLst>
              <a:ext uri="{FF2B5EF4-FFF2-40B4-BE49-F238E27FC236}">
                <a16:creationId xmlns:a16="http://schemas.microsoft.com/office/drawing/2014/main" id="{1FB273E2-36E1-ECFC-1D06-30D54819FD30}"/>
              </a:ext>
            </a:extLst>
          </p:cNvPr>
          <p:cNvSpPr txBox="1"/>
          <p:nvPr/>
        </p:nvSpPr>
        <p:spPr>
          <a:xfrm>
            <a:off x="8409068" y="6173889"/>
            <a:ext cx="1892300" cy="4514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2065"/>
              </a:lnSpc>
              <a:spcBef>
                <a:spcPts val="100"/>
              </a:spcBef>
              <a:tabLst>
                <a:tab pos="853440" algn="l"/>
              </a:tabLst>
            </a:pPr>
            <a:r>
              <a:rPr sz="2400" dirty="0">
                <a:latin typeface="Cambria Math"/>
                <a:cs typeface="Cambria Math"/>
              </a:rPr>
              <a:t>𝑎</a:t>
            </a:r>
            <a:r>
              <a:rPr sz="2400" spc="19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	</a:t>
            </a:r>
            <a:r>
              <a:rPr sz="2400" spc="45" dirty="0">
                <a:latin typeface="Cambria Math"/>
                <a:cs typeface="Cambria Math"/>
              </a:rPr>
              <a:t>𝑎</a:t>
            </a:r>
            <a:r>
              <a:rPr sz="2625" spc="67" baseline="28571" dirty="0">
                <a:latin typeface="Cambria Math"/>
                <a:cs typeface="Cambria Math"/>
              </a:rPr>
              <a:t>2</a:t>
            </a:r>
            <a:r>
              <a:rPr sz="2625" spc="284" baseline="28571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</a:t>
            </a:r>
            <a:r>
              <a:rPr sz="2400" spc="-40" dirty="0">
                <a:latin typeface="Cambria Math"/>
                <a:cs typeface="Cambria Math"/>
              </a:rPr>
              <a:t> </a:t>
            </a:r>
            <a:r>
              <a:rPr sz="2400" spc="45" dirty="0">
                <a:latin typeface="Cambria Math"/>
                <a:cs typeface="Cambria Math"/>
              </a:rPr>
              <a:t>𝑎</a:t>
            </a:r>
            <a:r>
              <a:rPr sz="2625" spc="67" baseline="28571" dirty="0">
                <a:latin typeface="Cambria Math"/>
                <a:cs typeface="Cambria Math"/>
              </a:rPr>
              <a:t>2</a:t>
            </a:r>
            <a:endParaRPr sz="2625" baseline="28571" dirty="0">
              <a:latin typeface="Cambria Math"/>
              <a:cs typeface="Cambria Math"/>
            </a:endParaRPr>
          </a:p>
          <a:p>
            <a:pPr marL="1022985">
              <a:lnSpc>
                <a:spcPts val="1285"/>
              </a:lnSpc>
              <a:tabLst>
                <a:tab pos="1704339" algn="l"/>
              </a:tabLst>
            </a:pPr>
            <a:r>
              <a:rPr sz="1750" spc="80" dirty="0">
                <a:latin typeface="Cambria Math"/>
                <a:cs typeface="Cambria Math"/>
              </a:rPr>
              <a:t>𝑡	</a:t>
            </a:r>
            <a:r>
              <a:rPr sz="2625" spc="195" baseline="3174" dirty="0">
                <a:latin typeface="Cambria Math"/>
                <a:cs typeface="Cambria Math"/>
              </a:rPr>
              <a:t>𝑛</a:t>
            </a:r>
            <a:endParaRPr sz="2625" baseline="3174" dirty="0">
              <a:latin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2A44AAD-65CA-9ACB-6DB4-BC29434CB4F4}"/>
                  </a:ext>
                </a:extLst>
              </p:cNvPr>
              <p:cNvSpPr txBox="1"/>
              <p:nvPr/>
            </p:nvSpPr>
            <p:spPr>
              <a:xfrm>
                <a:off x="9035214" y="3977485"/>
                <a:ext cx="1112484" cy="701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2A44AAD-65CA-9ACB-6DB4-BC29434CB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5214" y="3977485"/>
                <a:ext cx="1112484" cy="7012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5977E16-39FE-2114-EB68-42AAA08E008D}"/>
                  </a:ext>
                </a:extLst>
              </p:cNvPr>
              <p:cNvSpPr txBox="1"/>
              <p:nvPr/>
            </p:nvSpPr>
            <p:spPr>
              <a:xfrm>
                <a:off x="9026205" y="4859056"/>
                <a:ext cx="1130502" cy="8036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5977E16-39FE-2114-EB68-42AAA08E0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6205" y="4859056"/>
                <a:ext cx="1130502" cy="8036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0089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4" grpId="0"/>
      <p:bldP spid="35" grpId="0"/>
      <p:bldP spid="44" grpId="0" animBg="1"/>
      <p:bldP spid="45" grpId="0"/>
      <p:bldP spid="46" grpId="0"/>
      <p:bldP spid="4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7/1/2025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BE28E47-7D30-1E2C-371B-D1850DB6ED3A}"/>
              </a:ext>
            </a:extLst>
          </p:cNvPr>
          <p:cNvSpPr txBox="1">
            <a:spLocks/>
          </p:cNvSpPr>
          <p:nvPr/>
        </p:nvSpPr>
        <p:spPr>
          <a:xfrm>
            <a:off x="911178" y="299796"/>
            <a:ext cx="99301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962660" algn="l"/>
              </a:tabLst>
            </a:pPr>
            <a:r>
              <a:rPr lang="en-US" sz="3600" dirty="0">
                <a:solidFill>
                  <a:srgbClr val="6F2F9F"/>
                </a:solidFill>
                <a:latin typeface="Cambria Math"/>
                <a:cs typeface="Cambria Math"/>
              </a:rPr>
              <a:t>𝑬𝒒</a:t>
            </a:r>
            <a:r>
              <a:rPr lang="en-US" sz="3900" baseline="27777" dirty="0">
                <a:solidFill>
                  <a:srgbClr val="6F2F9F"/>
                </a:solidFill>
                <a:latin typeface="Cambria Math"/>
                <a:cs typeface="Cambria Math"/>
              </a:rPr>
              <a:t>𝒏	</a:t>
            </a:r>
            <a:r>
              <a:rPr lang="en-US" sz="3600" dirty="0">
                <a:solidFill>
                  <a:srgbClr val="6F2F9F"/>
                </a:solidFill>
                <a:latin typeface="Times New Roman"/>
                <a:cs typeface="Times New Roman"/>
              </a:rPr>
              <a:t>of</a:t>
            </a:r>
            <a:r>
              <a:rPr lang="en-US" sz="3600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3600" dirty="0">
                <a:solidFill>
                  <a:srgbClr val="6F2F9F"/>
                </a:solidFill>
                <a:latin typeface="Times New Roman"/>
                <a:cs typeface="Times New Roman"/>
              </a:rPr>
              <a:t>Motion:</a:t>
            </a:r>
            <a:r>
              <a:rPr lang="en-US" sz="3600" spc="-7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3600" spc="-35" dirty="0">
                <a:solidFill>
                  <a:srgbClr val="6F2F9F"/>
                </a:solidFill>
                <a:latin typeface="Times New Roman"/>
                <a:cs typeface="Times New Roman"/>
              </a:rPr>
              <a:t>Tangential</a:t>
            </a:r>
            <a:r>
              <a:rPr lang="en-US" sz="3600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3600" dirty="0">
                <a:solidFill>
                  <a:srgbClr val="6F2F9F"/>
                </a:solidFill>
                <a:latin typeface="Times New Roman"/>
                <a:cs typeface="Times New Roman"/>
              </a:rPr>
              <a:t>&amp;</a:t>
            </a:r>
            <a:r>
              <a:rPr lang="en-US" sz="3600" spc="-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3600" dirty="0">
                <a:solidFill>
                  <a:srgbClr val="6F2F9F"/>
                </a:solidFill>
                <a:latin typeface="Times New Roman"/>
                <a:cs typeface="Times New Roman"/>
              </a:rPr>
              <a:t>Normal</a:t>
            </a:r>
            <a:r>
              <a:rPr lang="en-US" sz="3600" spc="-1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3600" spc="-5" dirty="0">
                <a:solidFill>
                  <a:srgbClr val="6F2F9F"/>
                </a:solidFill>
                <a:latin typeface="Times New Roman"/>
                <a:cs typeface="Times New Roman"/>
              </a:rPr>
              <a:t>Components</a:t>
            </a:r>
            <a:endParaRPr lang="en-US" sz="3600" dirty="0">
              <a:latin typeface="Times New Roman"/>
              <a:cs typeface="Times New Roman"/>
            </a:endParaRPr>
          </a:p>
        </p:txBody>
      </p:sp>
      <p:grpSp>
        <p:nvGrpSpPr>
          <p:cNvPr id="7" name="object 5">
            <a:extLst>
              <a:ext uri="{FF2B5EF4-FFF2-40B4-BE49-F238E27FC236}">
                <a16:creationId xmlns:a16="http://schemas.microsoft.com/office/drawing/2014/main" id="{0E2532ED-0E9A-0E6D-3D9C-5268C74F574F}"/>
              </a:ext>
            </a:extLst>
          </p:cNvPr>
          <p:cNvGrpSpPr/>
          <p:nvPr/>
        </p:nvGrpSpPr>
        <p:grpSpPr>
          <a:xfrm>
            <a:off x="6420611" y="1539240"/>
            <a:ext cx="5334000" cy="4316095"/>
            <a:chOff x="6420611" y="1539240"/>
            <a:chExt cx="5334000" cy="4316095"/>
          </a:xfrm>
        </p:grpSpPr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81AC3EDE-EECA-1B9A-9868-A10E4575647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0611" y="1539240"/>
              <a:ext cx="5333999" cy="4315967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46921F75-2057-7FED-5324-16BB1A979F0C}"/>
                </a:ext>
              </a:extLst>
            </p:cNvPr>
            <p:cNvSpPr/>
            <p:nvPr/>
          </p:nvSpPr>
          <p:spPr>
            <a:xfrm>
              <a:off x="9113647" y="2868294"/>
              <a:ext cx="2059939" cy="1063625"/>
            </a:xfrm>
            <a:custGeom>
              <a:avLst/>
              <a:gdLst/>
              <a:ahLst/>
              <a:cxnLst/>
              <a:rect l="l" t="t" r="r" b="b"/>
              <a:pathLst>
                <a:path w="2059940" h="1063625">
                  <a:moveTo>
                    <a:pt x="677037" y="47752"/>
                  </a:moveTo>
                  <a:lnTo>
                    <a:pt x="676021" y="42799"/>
                  </a:lnTo>
                  <a:lnTo>
                    <a:pt x="672338" y="40386"/>
                  </a:lnTo>
                  <a:lnTo>
                    <a:pt x="668655" y="38100"/>
                  </a:lnTo>
                  <a:lnTo>
                    <a:pt x="663702" y="39116"/>
                  </a:lnTo>
                  <a:lnTo>
                    <a:pt x="661289" y="42799"/>
                  </a:lnTo>
                  <a:lnTo>
                    <a:pt x="46774" y="994778"/>
                  </a:lnTo>
                  <a:lnTo>
                    <a:pt x="0" y="964565"/>
                  </a:lnTo>
                  <a:lnTo>
                    <a:pt x="12065" y="1063117"/>
                  </a:lnTo>
                  <a:lnTo>
                    <a:pt x="106807" y="1033526"/>
                  </a:lnTo>
                  <a:lnTo>
                    <a:pt x="83985" y="1018794"/>
                  </a:lnTo>
                  <a:lnTo>
                    <a:pt x="60058" y="1003350"/>
                  </a:lnTo>
                  <a:lnTo>
                    <a:pt x="674624" y="51435"/>
                  </a:lnTo>
                  <a:lnTo>
                    <a:pt x="677037" y="47752"/>
                  </a:lnTo>
                  <a:close/>
                </a:path>
                <a:path w="2059940" h="1063625">
                  <a:moveTo>
                    <a:pt x="2059559" y="685292"/>
                  </a:moveTo>
                  <a:lnTo>
                    <a:pt x="2051164" y="663194"/>
                  </a:lnTo>
                  <a:lnTo>
                    <a:pt x="2024380" y="592582"/>
                  </a:lnTo>
                  <a:lnTo>
                    <a:pt x="1997087" y="640994"/>
                  </a:lnTo>
                  <a:lnTo>
                    <a:pt x="859536" y="0"/>
                  </a:lnTo>
                  <a:lnTo>
                    <a:pt x="854583" y="1270"/>
                  </a:lnTo>
                  <a:lnTo>
                    <a:pt x="852551" y="5080"/>
                  </a:lnTo>
                  <a:lnTo>
                    <a:pt x="850392" y="8890"/>
                  </a:lnTo>
                  <a:lnTo>
                    <a:pt x="851662" y="13716"/>
                  </a:lnTo>
                  <a:lnTo>
                    <a:pt x="1989302" y="654812"/>
                  </a:lnTo>
                  <a:lnTo>
                    <a:pt x="1962023" y="703211"/>
                  </a:lnTo>
                  <a:lnTo>
                    <a:pt x="2059559" y="685292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8">
            <a:extLst>
              <a:ext uri="{FF2B5EF4-FFF2-40B4-BE49-F238E27FC236}">
                <a16:creationId xmlns:a16="http://schemas.microsoft.com/office/drawing/2014/main" id="{1484D19E-0BDF-62B3-9E46-607B58E7A3CE}"/>
              </a:ext>
            </a:extLst>
          </p:cNvPr>
          <p:cNvSpPr txBox="1"/>
          <p:nvPr/>
        </p:nvSpPr>
        <p:spPr>
          <a:xfrm>
            <a:off x="8846184" y="3355288"/>
            <a:ext cx="3562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60" dirty="0">
                <a:latin typeface="Cambria Math"/>
                <a:cs typeface="Cambria Math"/>
              </a:rPr>
              <a:t>𝒂</a:t>
            </a:r>
            <a:r>
              <a:rPr sz="2175" spc="89" baseline="-15325" dirty="0">
                <a:latin typeface="Cambria Math"/>
                <a:cs typeface="Cambria Math"/>
              </a:rPr>
              <a:t>𝑛</a:t>
            </a:r>
            <a:endParaRPr sz="2175" baseline="-15325" dirty="0">
              <a:latin typeface="Cambria Math"/>
              <a:cs typeface="Cambria Math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7758AE84-DCEC-5DFC-CEE9-0687CC18CDBA}"/>
              </a:ext>
            </a:extLst>
          </p:cNvPr>
          <p:cNvSpPr txBox="1"/>
          <p:nvPr/>
        </p:nvSpPr>
        <p:spPr>
          <a:xfrm>
            <a:off x="10967973" y="3042285"/>
            <a:ext cx="3168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35" dirty="0">
                <a:latin typeface="Cambria Math"/>
                <a:cs typeface="Cambria Math"/>
              </a:rPr>
              <a:t>𝒂</a:t>
            </a:r>
            <a:r>
              <a:rPr sz="2175" spc="52" baseline="-15325" dirty="0">
                <a:latin typeface="Cambria Math"/>
                <a:cs typeface="Cambria Math"/>
              </a:rPr>
              <a:t>𝑡</a:t>
            </a:r>
            <a:endParaRPr sz="2175" baseline="-15325" dirty="0">
              <a:latin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0">
                <a:extLst>
                  <a:ext uri="{FF2B5EF4-FFF2-40B4-BE49-F238E27FC236}">
                    <a16:creationId xmlns:a16="http://schemas.microsoft.com/office/drawing/2014/main" id="{AE4163E0-E4DE-55A0-DD43-5D1506A3B605}"/>
                  </a:ext>
                </a:extLst>
              </p:cNvPr>
              <p:cNvSpPr txBox="1"/>
              <p:nvPr/>
            </p:nvSpPr>
            <p:spPr>
              <a:xfrm>
                <a:off x="2545162" y="1879554"/>
                <a:ext cx="2430780" cy="1717778"/>
              </a:xfrm>
              <a:prstGeom prst="rect">
                <a:avLst/>
              </a:prstGeom>
              <a:noFill/>
            </p:spPr>
            <p:txBody>
              <a:bodyPr vert="horz" wrap="square" lIns="0" tIns="238125" rIns="0" bIns="0" rtlCol="0">
                <a:spAutoFit/>
              </a:bodyPr>
              <a:lstStyle/>
              <a:p>
                <a:pPr marL="414655">
                  <a:lnSpc>
                    <a:spcPct val="200000"/>
                  </a:lnSpc>
                  <a:spcBef>
                    <a:spcPts val="18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/>
                        </a:rPr>
                        <m:t>𝜮</m:t>
                      </m:r>
                      <m:sSub>
                        <m:sSubPr>
                          <m:ctrlPr>
                            <a:rPr lang="el-G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latin typeface="Cambria Math"/>
                  <a:cs typeface="Cambria Math"/>
                </a:endParaRPr>
              </a:p>
              <a:p>
                <a:pPr marL="414655">
                  <a:lnSpc>
                    <a:spcPct val="200000"/>
                  </a:lnSpc>
                  <a:spcBef>
                    <a:spcPts val="18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/>
                        </a:rPr>
                        <m:t>𝜮</m:t>
                      </m:r>
                      <m:sSub>
                        <m:sSubPr>
                          <m:ctrlPr>
                            <a:rPr lang="el-G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ar-AE" sz="2400" b="1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3" name="object 10">
                <a:extLst>
                  <a:ext uri="{FF2B5EF4-FFF2-40B4-BE49-F238E27FC236}">
                    <a16:creationId xmlns:a16="http://schemas.microsoft.com/office/drawing/2014/main" id="{AE4163E0-E4DE-55A0-DD43-5D1506A3B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162" y="1879554"/>
                <a:ext cx="2430780" cy="1717778"/>
              </a:xfrm>
              <a:prstGeom prst="rect">
                <a:avLst/>
              </a:prstGeom>
              <a:blipFill>
                <a:blip r:embed="rId5"/>
                <a:stretch>
                  <a:fillRect b="-3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3">
                <a:extLst>
                  <a:ext uri="{FF2B5EF4-FFF2-40B4-BE49-F238E27FC236}">
                    <a16:creationId xmlns:a16="http://schemas.microsoft.com/office/drawing/2014/main" id="{AB9F85B1-9810-0F3C-0BCF-7BEBA111284D}"/>
                  </a:ext>
                </a:extLst>
              </p:cNvPr>
              <p:cNvSpPr txBox="1"/>
              <p:nvPr/>
            </p:nvSpPr>
            <p:spPr>
              <a:xfrm>
                <a:off x="2975419" y="1380927"/>
                <a:ext cx="1518285" cy="38215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400" i="1" spc="-125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Cambria Math"/>
                            <a:cs typeface="Cambria Math"/>
                          </a:rPr>
                          <m:t>𝑭</m:t>
                        </m:r>
                      </m:e>
                    </m:nary>
                  </m:oMath>
                </a14:m>
                <a:r>
                  <a:rPr sz="2400" spc="-125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=</a:t>
                </a:r>
                <a:r>
                  <a:rPr sz="2400" spc="135" dirty="0">
                    <a:latin typeface="Cambria Math"/>
                    <a:cs typeface="Cambria Math"/>
                  </a:rPr>
                  <a:t> </a:t>
                </a:r>
                <a:r>
                  <a:rPr sz="2400" dirty="0">
                    <a:latin typeface="Cambria Math"/>
                    <a:cs typeface="Cambria Math"/>
                  </a:rPr>
                  <a:t>𝑚𝒂</a:t>
                </a:r>
              </a:p>
            </p:txBody>
          </p:sp>
        </mc:Choice>
        <mc:Fallback xmlns="">
          <p:sp>
            <p:nvSpPr>
              <p:cNvPr id="20" name="object 13">
                <a:extLst>
                  <a:ext uri="{FF2B5EF4-FFF2-40B4-BE49-F238E27FC236}">
                    <a16:creationId xmlns:a16="http://schemas.microsoft.com/office/drawing/2014/main" id="{AB9F85B1-9810-0F3C-0BCF-7BEBA1112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419" y="1380927"/>
                <a:ext cx="1518285" cy="382156"/>
              </a:xfrm>
              <a:prstGeom prst="rect">
                <a:avLst/>
              </a:prstGeom>
              <a:blipFill>
                <a:blip r:embed="rId6"/>
                <a:stretch>
                  <a:fillRect l="-36145" t="-166129" b="-25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600658-1A6B-2F57-D98B-C166F38D6ECB}"/>
                  </a:ext>
                </a:extLst>
              </p:cNvPr>
              <p:cNvSpPr txBox="1"/>
              <p:nvPr/>
            </p:nvSpPr>
            <p:spPr>
              <a:xfrm>
                <a:off x="2785952" y="4099382"/>
                <a:ext cx="1688924" cy="7015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𝜮</m:t>
                      </m:r>
                      <m:sSub>
                        <m:sSubPr>
                          <m:ctrlPr>
                            <a:rPr lang="el-G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𝒅𝒗</m:t>
                          </m:r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600658-1A6B-2F57-D98B-C166F38D6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952" y="4099382"/>
                <a:ext cx="1688924" cy="70153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FC8961D-B87B-0243-9D07-90BDD2F79654}"/>
                  </a:ext>
                </a:extLst>
              </p:cNvPr>
              <p:cNvSpPr txBox="1"/>
              <p:nvPr/>
            </p:nvSpPr>
            <p:spPr>
              <a:xfrm>
                <a:off x="2792498" y="5227866"/>
                <a:ext cx="1688860" cy="7481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𝜮</m:t>
                      </m:r>
                      <m:sSub>
                        <m:sSubPr>
                          <m:ctrlPr>
                            <a:rPr lang="el-GR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</m:t>
                      </m:r>
                      <m:f>
                        <m:f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FC8961D-B87B-0243-9D07-90BDD2F79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2498" y="5227866"/>
                <a:ext cx="1688860" cy="7481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167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20" grpId="0"/>
      <p:bldP spid="21" grpId="0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7/1/2025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51849A41-ACD5-C25A-3ECF-AF4EFB295C92}"/>
              </a:ext>
            </a:extLst>
          </p:cNvPr>
          <p:cNvSpPr txBox="1">
            <a:spLocks/>
          </p:cNvSpPr>
          <p:nvPr/>
        </p:nvSpPr>
        <p:spPr>
          <a:xfrm>
            <a:off x="1804797" y="334772"/>
            <a:ext cx="45827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5">
                <a:solidFill>
                  <a:srgbClr val="6F2F9F"/>
                </a:solidFill>
                <a:latin typeface="Times New Roman"/>
                <a:cs typeface="Times New Roman"/>
              </a:rPr>
              <a:t>Laws of</a:t>
            </a:r>
            <a:r>
              <a:rPr lang="en-US" sz="4000" spc="-2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4000" spc="-5">
                <a:solidFill>
                  <a:srgbClr val="6F2F9F"/>
                </a:solidFill>
                <a:latin typeface="Times New Roman"/>
                <a:cs typeface="Times New Roman"/>
              </a:rPr>
              <a:t>Dry</a:t>
            </a:r>
            <a:r>
              <a:rPr lang="en-US" sz="400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4000" spc="-5">
                <a:solidFill>
                  <a:srgbClr val="6F2F9F"/>
                </a:solidFill>
                <a:latin typeface="Times New Roman"/>
                <a:cs typeface="Times New Roman"/>
              </a:rPr>
              <a:t>Friction</a:t>
            </a:r>
            <a:endParaRPr lang="en-US" sz="4000">
              <a:latin typeface="Times New Roman"/>
              <a:cs typeface="Times New Roman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8B1D88C4-40A3-57BD-5FB1-41F2331E10D2}"/>
              </a:ext>
            </a:extLst>
          </p:cNvPr>
          <p:cNvSpPr/>
          <p:nvPr/>
        </p:nvSpPr>
        <p:spPr>
          <a:xfrm>
            <a:off x="5609844" y="1449705"/>
            <a:ext cx="1356360" cy="174625"/>
          </a:xfrm>
          <a:custGeom>
            <a:avLst/>
            <a:gdLst/>
            <a:ahLst/>
            <a:cxnLst/>
            <a:rect l="l" t="t" r="r" b="b"/>
            <a:pathLst>
              <a:path w="1356359" h="174625">
                <a:moveTo>
                  <a:pt x="17652" y="57531"/>
                </a:moveTo>
                <a:lnTo>
                  <a:pt x="8000" y="57531"/>
                </a:lnTo>
                <a:lnTo>
                  <a:pt x="126" y="65278"/>
                </a:lnTo>
                <a:lnTo>
                  <a:pt x="0" y="84455"/>
                </a:lnTo>
                <a:lnTo>
                  <a:pt x="7746" y="92456"/>
                </a:lnTo>
                <a:lnTo>
                  <a:pt x="17398" y="92456"/>
                </a:lnTo>
                <a:lnTo>
                  <a:pt x="131698" y="93725"/>
                </a:lnTo>
                <a:lnTo>
                  <a:pt x="139700" y="85979"/>
                </a:lnTo>
                <a:lnTo>
                  <a:pt x="139826" y="66675"/>
                </a:lnTo>
                <a:lnTo>
                  <a:pt x="132079" y="58800"/>
                </a:lnTo>
                <a:lnTo>
                  <a:pt x="17652" y="57531"/>
                </a:lnTo>
                <a:close/>
              </a:path>
              <a:path w="1356359" h="174625">
                <a:moveTo>
                  <a:pt x="252475" y="60071"/>
                </a:moveTo>
                <a:lnTo>
                  <a:pt x="244601" y="67818"/>
                </a:lnTo>
                <a:lnTo>
                  <a:pt x="244475" y="87122"/>
                </a:lnTo>
                <a:lnTo>
                  <a:pt x="252094" y="94996"/>
                </a:lnTo>
                <a:lnTo>
                  <a:pt x="376173" y="96266"/>
                </a:lnTo>
                <a:lnTo>
                  <a:pt x="384175" y="88519"/>
                </a:lnTo>
                <a:lnTo>
                  <a:pt x="384301" y="69215"/>
                </a:lnTo>
                <a:lnTo>
                  <a:pt x="376554" y="61341"/>
                </a:lnTo>
                <a:lnTo>
                  <a:pt x="252475" y="60071"/>
                </a:lnTo>
                <a:close/>
              </a:path>
              <a:path w="1356359" h="174625">
                <a:moveTo>
                  <a:pt x="496950" y="62611"/>
                </a:moveTo>
                <a:lnTo>
                  <a:pt x="489076" y="70358"/>
                </a:lnTo>
                <a:lnTo>
                  <a:pt x="488822" y="89662"/>
                </a:lnTo>
                <a:lnTo>
                  <a:pt x="496569" y="97536"/>
                </a:lnTo>
                <a:lnTo>
                  <a:pt x="610996" y="98806"/>
                </a:lnTo>
                <a:lnTo>
                  <a:pt x="620648" y="98806"/>
                </a:lnTo>
                <a:lnTo>
                  <a:pt x="628522" y="91059"/>
                </a:lnTo>
                <a:lnTo>
                  <a:pt x="628776" y="71882"/>
                </a:lnTo>
                <a:lnTo>
                  <a:pt x="621029" y="63881"/>
                </a:lnTo>
                <a:lnTo>
                  <a:pt x="611377" y="63881"/>
                </a:lnTo>
                <a:lnTo>
                  <a:pt x="496950" y="62611"/>
                </a:lnTo>
                <a:close/>
              </a:path>
              <a:path w="1356359" h="174625">
                <a:moveTo>
                  <a:pt x="741426" y="65150"/>
                </a:moveTo>
                <a:lnTo>
                  <a:pt x="733551" y="72898"/>
                </a:lnTo>
                <a:lnTo>
                  <a:pt x="733297" y="92202"/>
                </a:lnTo>
                <a:lnTo>
                  <a:pt x="741044" y="100075"/>
                </a:lnTo>
                <a:lnTo>
                  <a:pt x="865123" y="101473"/>
                </a:lnTo>
                <a:lnTo>
                  <a:pt x="872997" y="93725"/>
                </a:lnTo>
                <a:lnTo>
                  <a:pt x="873251" y="74422"/>
                </a:lnTo>
                <a:lnTo>
                  <a:pt x="865504" y="66548"/>
                </a:lnTo>
                <a:lnTo>
                  <a:pt x="741426" y="65150"/>
                </a:lnTo>
                <a:close/>
              </a:path>
              <a:path w="1356359" h="174625">
                <a:moveTo>
                  <a:pt x="995552" y="67818"/>
                </a:moveTo>
                <a:lnTo>
                  <a:pt x="985901" y="67818"/>
                </a:lnTo>
                <a:lnTo>
                  <a:pt x="978026" y="75565"/>
                </a:lnTo>
                <a:lnTo>
                  <a:pt x="977773" y="94742"/>
                </a:lnTo>
                <a:lnTo>
                  <a:pt x="985520" y="102743"/>
                </a:lnTo>
                <a:lnTo>
                  <a:pt x="995172" y="102743"/>
                </a:lnTo>
                <a:lnTo>
                  <a:pt x="1109599" y="104012"/>
                </a:lnTo>
                <a:lnTo>
                  <a:pt x="1117473" y="96266"/>
                </a:lnTo>
                <a:lnTo>
                  <a:pt x="1117727" y="76962"/>
                </a:lnTo>
                <a:lnTo>
                  <a:pt x="1109979" y="69087"/>
                </a:lnTo>
                <a:lnTo>
                  <a:pt x="995552" y="67818"/>
                </a:lnTo>
                <a:close/>
              </a:path>
              <a:path w="1356359" h="174625">
                <a:moveTo>
                  <a:pt x="1237399" y="105380"/>
                </a:moveTo>
                <a:lnTo>
                  <a:pt x="1180846" y="174625"/>
                </a:lnTo>
                <a:lnTo>
                  <a:pt x="1322717" y="105537"/>
                </a:lnTo>
                <a:lnTo>
                  <a:pt x="1251457" y="105537"/>
                </a:lnTo>
                <a:lnTo>
                  <a:pt x="1237399" y="105380"/>
                </a:lnTo>
                <a:close/>
              </a:path>
              <a:path w="1356359" h="174625">
                <a:moveTo>
                  <a:pt x="1237829" y="70456"/>
                </a:moveTo>
                <a:lnTo>
                  <a:pt x="1251584" y="88011"/>
                </a:lnTo>
                <a:lnTo>
                  <a:pt x="1237399" y="105380"/>
                </a:lnTo>
                <a:lnTo>
                  <a:pt x="1251457" y="105537"/>
                </a:lnTo>
                <a:lnTo>
                  <a:pt x="1261109" y="105537"/>
                </a:lnTo>
                <a:lnTo>
                  <a:pt x="1268983" y="97790"/>
                </a:lnTo>
                <a:lnTo>
                  <a:pt x="1269110" y="78612"/>
                </a:lnTo>
                <a:lnTo>
                  <a:pt x="1261363" y="70612"/>
                </a:lnTo>
                <a:lnTo>
                  <a:pt x="1251838" y="70612"/>
                </a:lnTo>
                <a:lnTo>
                  <a:pt x="1237829" y="70456"/>
                </a:lnTo>
                <a:close/>
              </a:path>
              <a:path w="1356359" h="174625">
                <a:moveTo>
                  <a:pt x="1182624" y="0"/>
                </a:moveTo>
                <a:lnTo>
                  <a:pt x="1237829" y="70456"/>
                </a:lnTo>
                <a:lnTo>
                  <a:pt x="1251838" y="70612"/>
                </a:lnTo>
                <a:lnTo>
                  <a:pt x="1261363" y="70612"/>
                </a:lnTo>
                <a:lnTo>
                  <a:pt x="1269110" y="78612"/>
                </a:lnTo>
                <a:lnTo>
                  <a:pt x="1268983" y="97790"/>
                </a:lnTo>
                <a:lnTo>
                  <a:pt x="1261109" y="105537"/>
                </a:lnTo>
                <a:lnTo>
                  <a:pt x="1322717" y="105537"/>
                </a:lnTo>
                <a:lnTo>
                  <a:pt x="1356359" y="89154"/>
                </a:lnTo>
                <a:lnTo>
                  <a:pt x="1182624" y="0"/>
                </a:lnTo>
                <a:close/>
              </a:path>
              <a:path w="1356359" h="174625">
                <a:moveTo>
                  <a:pt x="1230376" y="70358"/>
                </a:moveTo>
                <a:lnTo>
                  <a:pt x="1222502" y="78105"/>
                </a:lnTo>
                <a:lnTo>
                  <a:pt x="1222248" y="97409"/>
                </a:lnTo>
                <a:lnTo>
                  <a:pt x="1229995" y="105283"/>
                </a:lnTo>
                <a:lnTo>
                  <a:pt x="1237399" y="105380"/>
                </a:lnTo>
                <a:lnTo>
                  <a:pt x="1251584" y="88011"/>
                </a:lnTo>
                <a:lnTo>
                  <a:pt x="1237829" y="70456"/>
                </a:lnTo>
                <a:lnTo>
                  <a:pt x="1230376" y="70358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5">
            <a:extLst>
              <a:ext uri="{FF2B5EF4-FFF2-40B4-BE49-F238E27FC236}">
                <a16:creationId xmlns:a16="http://schemas.microsoft.com/office/drawing/2014/main" id="{56980D50-3450-2502-2241-21073B8E292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1892807"/>
            <a:ext cx="3736848" cy="1586484"/>
          </a:xfrm>
          <a:prstGeom prst="rect">
            <a:avLst/>
          </a:prstGeom>
        </p:spPr>
      </p:pic>
      <p:sp>
        <p:nvSpPr>
          <p:cNvPr id="11" name="object 7">
            <a:extLst>
              <a:ext uri="{FF2B5EF4-FFF2-40B4-BE49-F238E27FC236}">
                <a16:creationId xmlns:a16="http://schemas.microsoft.com/office/drawing/2014/main" id="{EAADC308-87B7-1083-6FBB-E7FD5C16A2C1}"/>
              </a:ext>
            </a:extLst>
          </p:cNvPr>
          <p:cNvSpPr txBox="1"/>
          <p:nvPr/>
        </p:nvSpPr>
        <p:spPr>
          <a:xfrm>
            <a:off x="7045579" y="1332737"/>
            <a:ext cx="209486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00AFEF"/>
                </a:solidFill>
                <a:latin typeface="Times New Roman"/>
                <a:cs typeface="Times New Roman"/>
              </a:rPr>
              <a:t>Impending</a:t>
            </a:r>
            <a:r>
              <a:rPr sz="2200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0AFEF"/>
                </a:solidFill>
                <a:latin typeface="Times New Roman"/>
                <a:cs typeface="Times New Roman"/>
              </a:rPr>
              <a:t>motion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9D685EB1-8B03-523F-5604-6B26B8EBCE00}"/>
              </a:ext>
            </a:extLst>
          </p:cNvPr>
          <p:cNvSpPr txBox="1"/>
          <p:nvPr/>
        </p:nvSpPr>
        <p:spPr>
          <a:xfrm>
            <a:off x="8098281" y="2947543"/>
            <a:ext cx="1809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9399D170-1E08-6B77-FFAF-36FEB9F10534}"/>
              </a:ext>
            </a:extLst>
          </p:cNvPr>
          <p:cNvSpPr/>
          <p:nvPr/>
        </p:nvSpPr>
        <p:spPr>
          <a:xfrm>
            <a:off x="8309609" y="3035173"/>
            <a:ext cx="874394" cy="490220"/>
          </a:xfrm>
          <a:custGeom>
            <a:avLst/>
            <a:gdLst/>
            <a:ahLst/>
            <a:cxnLst/>
            <a:rect l="l" t="t" r="r" b="b"/>
            <a:pathLst>
              <a:path w="874395" h="490220">
                <a:moveTo>
                  <a:pt x="85182" y="50426"/>
                </a:moveTo>
                <a:lnTo>
                  <a:pt x="76073" y="60578"/>
                </a:lnTo>
                <a:lnTo>
                  <a:pt x="84843" y="72919"/>
                </a:lnTo>
                <a:lnTo>
                  <a:pt x="118364" y="77724"/>
                </a:lnTo>
                <a:lnTo>
                  <a:pt x="156210" y="85343"/>
                </a:lnTo>
                <a:lnTo>
                  <a:pt x="227838" y="105917"/>
                </a:lnTo>
                <a:lnTo>
                  <a:pt x="276606" y="125222"/>
                </a:lnTo>
                <a:lnTo>
                  <a:pt x="320167" y="147447"/>
                </a:lnTo>
                <a:lnTo>
                  <a:pt x="357124" y="171957"/>
                </a:lnTo>
                <a:lnTo>
                  <a:pt x="386588" y="197992"/>
                </a:lnTo>
                <a:lnTo>
                  <a:pt x="411861" y="233425"/>
                </a:lnTo>
                <a:lnTo>
                  <a:pt x="420243" y="268350"/>
                </a:lnTo>
                <a:lnTo>
                  <a:pt x="421005" y="278256"/>
                </a:lnTo>
                <a:lnTo>
                  <a:pt x="436499" y="322072"/>
                </a:lnTo>
                <a:lnTo>
                  <a:pt x="460121" y="352551"/>
                </a:lnTo>
                <a:lnTo>
                  <a:pt x="492251" y="381000"/>
                </a:lnTo>
                <a:lnTo>
                  <a:pt x="531368" y="406907"/>
                </a:lnTo>
                <a:lnTo>
                  <a:pt x="576834" y="430149"/>
                </a:lnTo>
                <a:lnTo>
                  <a:pt x="627507" y="450341"/>
                </a:lnTo>
                <a:lnTo>
                  <a:pt x="701548" y="471424"/>
                </a:lnTo>
                <a:lnTo>
                  <a:pt x="740537" y="479298"/>
                </a:lnTo>
                <a:lnTo>
                  <a:pt x="780542" y="485139"/>
                </a:lnTo>
                <a:lnTo>
                  <a:pt x="821436" y="488696"/>
                </a:lnTo>
                <a:lnTo>
                  <a:pt x="868553" y="490092"/>
                </a:lnTo>
                <a:lnTo>
                  <a:pt x="873633" y="485266"/>
                </a:lnTo>
                <a:lnTo>
                  <a:pt x="873887" y="472948"/>
                </a:lnTo>
                <a:lnTo>
                  <a:pt x="869061" y="467867"/>
                </a:lnTo>
                <a:lnTo>
                  <a:pt x="842899" y="467360"/>
                </a:lnTo>
                <a:lnTo>
                  <a:pt x="823087" y="466598"/>
                </a:lnTo>
                <a:lnTo>
                  <a:pt x="783844" y="463168"/>
                </a:lnTo>
                <a:lnTo>
                  <a:pt x="744982" y="457453"/>
                </a:lnTo>
                <a:lnTo>
                  <a:pt x="707009" y="449961"/>
                </a:lnTo>
                <a:lnTo>
                  <a:pt x="635381" y="429513"/>
                </a:lnTo>
                <a:lnTo>
                  <a:pt x="586359" y="410082"/>
                </a:lnTo>
                <a:lnTo>
                  <a:pt x="542925" y="387985"/>
                </a:lnTo>
                <a:lnTo>
                  <a:pt x="505968" y="363600"/>
                </a:lnTo>
                <a:lnTo>
                  <a:pt x="476758" y="337692"/>
                </a:lnTo>
                <a:lnTo>
                  <a:pt x="451358" y="302640"/>
                </a:lnTo>
                <a:lnTo>
                  <a:pt x="442468" y="266826"/>
                </a:lnTo>
                <a:lnTo>
                  <a:pt x="441706" y="255777"/>
                </a:lnTo>
                <a:lnTo>
                  <a:pt x="425704" y="212343"/>
                </a:lnTo>
                <a:lnTo>
                  <a:pt x="402082" y="181990"/>
                </a:lnTo>
                <a:lnTo>
                  <a:pt x="370205" y="153924"/>
                </a:lnTo>
                <a:lnTo>
                  <a:pt x="330962" y="128142"/>
                </a:lnTo>
                <a:lnTo>
                  <a:pt x="285496" y="104775"/>
                </a:lnTo>
                <a:lnTo>
                  <a:pt x="234696" y="84709"/>
                </a:lnTo>
                <a:lnTo>
                  <a:pt x="198374" y="73151"/>
                </a:lnTo>
                <a:lnTo>
                  <a:pt x="160528" y="63500"/>
                </a:lnTo>
                <a:lnTo>
                  <a:pt x="121539" y="55752"/>
                </a:lnTo>
                <a:lnTo>
                  <a:pt x="85182" y="50426"/>
                </a:lnTo>
                <a:close/>
              </a:path>
              <a:path w="874395" h="490220">
                <a:moveTo>
                  <a:pt x="130429" y="0"/>
                </a:moveTo>
                <a:lnTo>
                  <a:pt x="0" y="56261"/>
                </a:lnTo>
                <a:lnTo>
                  <a:pt x="123190" y="126873"/>
                </a:lnTo>
                <a:lnTo>
                  <a:pt x="84843" y="72919"/>
                </a:lnTo>
                <a:lnTo>
                  <a:pt x="79375" y="72136"/>
                </a:lnTo>
                <a:lnTo>
                  <a:pt x="74930" y="71627"/>
                </a:lnTo>
                <a:lnTo>
                  <a:pt x="68834" y="70992"/>
                </a:lnTo>
                <a:lnTo>
                  <a:pt x="64389" y="65531"/>
                </a:lnTo>
                <a:lnTo>
                  <a:pt x="65659" y="53339"/>
                </a:lnTo>
                <a:lnTo>
                  <a:pt x="71120" y="48894"/>
                </a:lnTo>
                <a:lnTo>
                  <a:pt x="86556" y="48894"/>
                </a:lnTo>
                <a:lnTo>
                  <a:pt x="130429" y="0"/>
                </a:lnTo>
                <a:close/>
              </a:path>
              <a:path w="874395" h="490220">
                <a:moveTo>
                  <a:pt x="71120" y="48894"/>
                </a:moveTo>
                <a:lnTo>
                  <a:pt x="65659" y="53339"/>
                </a:lnTo>
                <a:lnTo>
                  <a:pt x="64389" y="65531"/>
                </a:lnTo>
                <a:lnTo>
                  <a:pt x="68834" y="70992"/>
                </a:lnTo>
                <a:lnTo>
                  <a:pt x="74930" y="71627"/>
                </a:lnTo>
                <a:lnTo>
                  <a:pt x="79375" y="72136"/>
                </a:lnTo>
                <a:lnTo>
                  <a:pt x="84843" y="72919"/>
                </a:lnTo>
                <a:lnTo>
                  <a:pt x="76073" y="60578"/>
                </a:lnTo>
                <a:lnTo>
                  <a:pt x="85182" y="50426"/>
                </a:lnTo>
                <a:lnTo>
                  <a:pt x="81661" y="49911"/>
                </a:lnTo>
                <a:lnTo>
                  <a:pt x="77216" y="49529"/>
                </a:lnTo>
                <a:lnTo>
                  <a:pt x="71120" y="48894"/>
                </a:lnTo>
                <a:close/>
              </a:path>
              <a:path w="874395" h="490220">
                <a:moveTo>
                  <a:pt x="86556" y="48894"/>
                </a:moveTo>
                <a:lnTo>
                  <a:pt x="71120" y="48894"/>
                </a:lnTo>
                <a:lnTo>
                  <a:pt x="77216" y="49529"/>
                </a:lnTo>
                <a:lnTo>
                  <a:pt x="81661" y="49911"/>
                </a:lnTo>
                <a:lnTo>
                  <a:pt x="85182" y="50426"/>
                </a:lnTo>
                <a:lnTo>
                  <a:pt x="86556" y="48894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139356F4-BB02-687C-1E6B-076BB9FFAAD8}"/>
              </a:ext>
            </a:extLst>
          </p:cNvPr>
          <p:cNvSpPr txBox="1"/>
          <p:nvPr/>
        </p:nvSpPr>
        <p:spPr>
          <a:xfrm>
            <a:off x="9252331" y="3147822"/>
            <a:ext cx="2567940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001F5F"/>
                </a:solidFill>
                <a:latin typeface="Times New Roman"/>
                <a:cs typeface="Times New Roman"/>
              </a:rPr>
              <a:t>Always</a:t>
            </a:r>
            <a:r>
              <a:rPr sz="2200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tangent</a:t>
            </a:r>
            <a:r>
              <a:rPr sz="22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1F5F"/>
                </a:solidFill>
                <a:latin typeface="Times New Roman"/>
                <a:cs typeface="Times New Roman"/>
              </a:rPr>
              <a:t>to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1F5F"/>
                </a:solidFill>
                <a:latin typeface="Times New Roman"/>
                <a:cs typeface="Times New Roman"/>
              </a:rPr>
              <a:t>contact surface and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opposite</a:t>
            </a:r>
            <a:r>
              <a:rPr sz="22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1F5F"/>
                </a:solidFill>
                <a:latin typeface="Times New Roman"/>
                <a:cs typeface="Times New Roman"/>
              </a:rPr>
              <a:t>to</a:t>
            </a:r>
            <a:r>
              <a:rPr sz="2200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1F5F"/>
                </a:solidFill>
                <a:latin typeface="Times New Roman"/>
                <a:cs typeface="Times New Roman"/>
              </a:rPr>
              <a:t>impending </a:t>
            </a:r>
            <a:r>
              <a:rPr sz="2200" spc="-5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01F5F"/>
                </a:solidFill>
                <a:latin typeface="Times New Roman"/>
                <a:cs typeface="Times New Roman"/>
              </a:rPr>
              <a:t>motion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DA6A5A80-58C5-C960-CD04-BEDA4958BF1B}"/>
              </a:ext>
            </a:extLst>
          </p:cNvPr>
          <p:cNvSpPr/>
          <p:nvPr/>
        </p:nvSpPr>
        <p:spPr>
          <a:xfrm>
            <a:off x="4028186" y="3922013"/>
            <a:ext cx="4940935" cy="2832100"/>
          </a:xfrm>
          <a:custGeom>
            <a:avLst/>
            <a:gdLst/>
            <a:ahLst/>
            <a:cxnLst/>
            <a:rect l="l" t="t" r="r" b="b"/>
            <a:pathLst>
              <a:path w="4940934" h="2832100">
                <a:moveTo>
                  <a:pt x="4940681" y="2744724"/>
                </a:moveTo>
                <a:lnTo>
                  <a:pt x="4905756" y="2727261"/>
                </a:lnTo>
                <a:lnTo>
                  <a:pt x="4766056" y="2657411"/>
                </a:lnTo>
                <a:lnTo>
                  <a:pt x="4821936" y="2727261"/>
                </a:lnTo>
                <a:lnTo>
                  <a:pt x="104889" y="2727261"/>
                </a:lnTo>
                <a:lnTo>
                  <a:pt x="104775" y="118706"/>
                </a:lnTo>
                <a:lnTo>
                  <a:pt x="104775" y="104775"/>
                </a:lnTo>
                <a:lnTo>
                  <a:pt x="104775" y="95123"/>
                </a:lnTo>
                <a:lnTo>
                  <a:pt x="104863" y="118795"/>
                </a:lnTo>
                <a:lnTo>
                  <a:pt x="174625" y="174625"/>
                </a:lnTo>
                <a:lnTo>
                  <a:pt x="130962" y="87249"/>
                </a:lnTo>
                <a:lnTo>
                  <a:pt x="87376" y="0"/>
                </a:lnTo>
                <a:lnTo>
                  <a:pt x="0" y="174625"/>
                </a:lnTo>
                <a:lnTo>
                  <a:pt x="69850" y="118795"/>
                </a:lnTo>
                <a:lnTo>
                  <a:pt x="69964" y="2734957"/>
                </a:lnTo>
                <a:lnTo>
                  <a:pt x="69850" y="2754363"/>
                </a:lnTo>
                <a:lnTo>
                  <a:pt x="70700" y="2755214"/>
                </a:lnTo>
                <a:lnTo>
                  <a:pt x="77724" y="2762300"/>
                </a:lnTo>
                <a:lnTo>
                  <a:pt x="97028" y="2762300"/>
                </a:lnTo>
                <a:lnTo>
                  <a:pt x="4821923" y="2762186"/>
                </a:lnTo>
                <a:lnTo>
                  <a:pt x="4835906" y="2744724"/>
                </a:lnTo>
                <a:lnTo>
                  <a:pt x="4766056" y="2832036"/>
                </a:lnTo>
                <a:lnTo>
                  <a:pt x="4905743" y="2762186"/>
                </a:lnTo>
                <a:lnTo>
                  <a:pt x="4940681" y="2744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D07B407F-54F0-7AE4-A33A-44BD331245D6}"/>
              </a:ext>
            </a:extLst>
          </p:cNvPr>
          <p:cNvSpPr txBox="1"/>
          <p:nvPr/>
        </p:nvSpPr>
        <p:spPr>
          <a:xfrm>
            <a:off x="3954907" y="3552901"/>
            <a:ext cx="1816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B18611D7-C9F3-E30F-68AD-A0C54C2074F5}"/>
              </a:ext>
            </a:extLst>
          </p:cNvPr>
          <p:cNvSpPr txBox="1"/>
          <p:nvPr/>
        </p:nvSpPr>
        <p:spPr>
          <a:xfrm>
            <a:off x="9099931" y="6489293"/>
            <a:ext cx="1816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P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20" name="object 14">
            <a:extLst>
              <a:ext uri="{FF2B5EF4-FFF2-40B4-BE49-F238E27FC236}">
                <a16:creationId xmlns:a16="http://schemas.microsoft.com/office/drawing/2014/main" id="{3AF75575-F18D-2720-F5F2-23A0A35DE734}"/>
              </a:ext>
            </a:extLst>
          </p:cNvPr>
          <p:cNvSpPr/>
          <p:nvPr/>
        </p:nvSpPr>
        <p:spPr>
          <a:xfrm>
            <a:off x="4130802" y="4795265"/>
            <a:ext cx="1868805" cy="1854835"/>
          </a:xfrm>
          <a:custGeom>
            <a:avLst/>
            <a:gdLst/>
            <a:ahLst/>
            <a:cxnLst/>
            <a:rect l="l" t="t" r="r" b="b"/>
            <a:pathLst>
              <a:path w="1868804" h="1854834">
                <a:moveTo>
                  <a:pt x="0" y="1854593"/>
                </a:moveTo>
                <a:lnTo>
                  <a:pt x="1868677" y="0"/>
                </a:lnTo>
              </a:path>
            </a:pathLst>
          </a:custGeom>
          <a:ln w="381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16">
            <a:extLst>
              <a:ext uri="{FF2B5EF4-FFF2-40B4-BE49-F238E27FC236}">
                <a16:creationId xmlns:a16="http://schemas.microsoft.com/office/drawing/2014/main" id="{26816915-E499-A189-6D34-84E4009443C9}"/>
              </a:ext>
            </a:extLst>
          </p:cNvPr>
          <p:cNvGrpSpPr/>
          <p:nvPr/>
        </p:nvGrpSpPr>
        <p:grpSpPr>
          <a:xfrm>
            <a:off x="4115561" y="4130802"/>
            <a:ext cx="4318000" cy="2727960"/>
            <a:chOff x="4115561" y="4130802"/>
            <a:chExt cx="4318000" cy="2727960"/>
          </a:xfrm>
        </p:grpSpPr>
        <p:sp>
          <p:nvSpPr>
            <p:cNvPr id="23" name="object 17">
              <a:extLst>
                <a:ext uri="{FF2B5EF4-FFF2-40B4-BE49-F238E27FC236}">
                  <a16:creationId xmlns:a16="http://schemas.microsoft.com/office/drawing/2014/main" id="{AC3170AF-DEEA-B2FA-B06E-86D4324BD838}"/>
                </a:ext>
              </a:extLst>
            </p:cNvPr>
            <p:cNvSpPr/>
            <p:nvPr/>
          </p:nvSpPr>
          <p:spPr>
            <a:xfrm>
              <a:off x="4115561" y="4795266"/>
              <a:ext cx="1868805" cy="0"/>
            </a:xfrm>
            <a:custGeom>
              <a:avLst/>
              <a:gdLst/>
              <a:ahLst/>
              <a:cxnLst/>
              <a:rect l="l" t="t" r="r" b="b"/>
              <a:pathLst>
                <a:path w="1868804">
                  <a:moveTo>
                    <a:pt x="1868677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9D2C0E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18">
              <a:extLst>
                <a:ext uri="{FF2B5EF4-FFF2-40B4-BE49-F238E27FC236}">
                  <a16:creationId xmlns:a16="http://schemas.microsoft.com/office/drawing/2014/main" id="{C1133BE5-04C7-F8F7-9D41-B52306C10A73}"/>
                </a:ext>
              </a:extLst>
            </p:cNvPr>
            <p:cNvSpPr/>
            <p:nvPr/>
          </p:nvSpPr>
          <p:spPr>
            <a:xfrm>
              <a:off x="5999226" y="4130802"/>
              <a:ext cx="0" cy="2727960"/>
            </a:xfrm>
            <a:custGeom>
              <a:avLst/>
              <a:gdLst/>
              <a:ahLst/>
              <a:cxnLst/>
              <a:rect l="l" t="t" r="r" b="b"/>
              <a:pathLst>
                <a:path h="2727959">
                  <a:moveTo>
                    <a:pt x="0" y="1066419"/>
                  </a:moveTo>
                  <a:lnTo>
                    <a:pt x="0" y="2727892"/>
                  </a:lnTo>
                </a:path>
                <a:path h="2727959">
                  <a:moveTo>
                    <a:pt x="0" y="0"/>
                  </a:moveTo>
                  <a:lnTo>
                    <a:pt x="0" y="1014222"/>
                  </a:lnTo>
                </a:path>
              </a:pathLst>
            </a:custGeom>
            <a:ln w="19050">
              <a:solidFill>
                <a:srgbClr val="00AF5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19">
              <a:extLst>
                <a:ext uri="{FF2B5EF4-FFF2-40B4-BE49-F238E27FC236}">
                  <a16:creationId xmlns:a16="http://schemas.microsoft.com/office/drawing/2014/main" id="{D7A52D6E-4E94-65CF-271A-A6BB97CA0302}"/>
                </a:ext>
              </a:extLst>
            </p:cNvPr>
            <p:cNvSpPr/>
            <p:nvPr/>
          </p:nvSpPr>
          <p:spPr>
            <a:xfrm>
              <a:off x="5999226" y="4795266"/>
              <a:ext cx="2414905" cy="382905"/>
            </a:xfrm>
            <a:custGeom>
              <a:avLst/>
              <a:gdLst/>
              <a:ahLst/>
              <a:cxnLst/>
              <a:rect l="l" t="t" r="r" b="b"/>
              <a:pathLst>
                <a:path w="2414904" h="382904">
                  <a:moveTo>
                    <a:pt x="0" y="0"/>
                  </a:moveTo>
                  <a:lnTo>
                    <a:pt x="0" y="368680"/>
                  </a:lnTo>
                </a:path>
                <a:path w="2414904" h="382904">
                  <a:moveTo>
                    <a:pt x="0" y="368807"/>
                  </a:moveTo>
                  <a:lnTo>
                    <a:pt x="2414904" y="382904"/>
                  </a:lnTo>
                </a:path>
              </a:pathLst>
            </a:custGeom>
            <a:ln w="381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0">
              <a:extLst>
                <a:ext uri="{FF2B5EF4-FFF2-40B4-BE49-F238E27FC236}">
                  <a16:creationId xmlns:a16="http://schemas.microsoft.com/office/drawing/2014/main" id="{6020BF9E-5DB6-287E-973F-1C6311245EFC}"/>
                </a:ext>
              </a:extLst>
            </p:cNvPr>
            <p:cNvSpPr/>
            <p:nvPr/>
          </p:nvSpPr>
          <p:spPr>
            <a:xfrm>
              <a:off x="4129277" y="5164074"/>
              <a:ext cx="1870075" cy="0"/>
            </a:xfrm>
            <a:custGeom>
              <a:avLst/>
              <a:gdLst/>
              <a:ahLst/>
              <a:cxnLst/>
              <a:rect l="l" t="t" r="r" b="b"/>
              <a:pathLst>
                <a:path w="1870075">
                  <a:moveTo>
                    <a:pt x="186982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9D2C0E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1">
            <a:extLst>
              <a:ext uri="{FF2B5EF4-FFF2-40B4-BE49-F238E27FC236}">
                <a16:creationId xmlns:a16="http://schemas.microsoft.com/office/drawing/2014/main" id="{C7B49BED-44C3-C2F9-814B-9A077519E809}"/>
              </a:ext>
            </a:extLst>
          </p:cNvPr>
          <p:cNvSpPr txBox="1"/>
          <p:nvPr/>
        </p:nvSpPr>
        <p:spPr>
          <a:xfrm>
            <a:off x="1804797" y="3555619"/>
            <a:ext cx="153987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imes New Roman"/>
                <a:cs typeface="Times New Roman"/>
              </a:rPr>
              <a:t>Limiting static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frictional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force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8" name="object 22">
            <a:extLst>
              <a:ext uri="{FF2B5EF4-FFF2-40B4-BE49-F238E27FC236}">
                <a16:creationId xmlns:a16="http://schemas.microsoft.com/office/drawing/2014/main" id="{81DC58C9-BBB5-2609-9AD0-F063770AD500}"/>
              </a:ext>
            </a:extLst>
          </p:cNvPr>
          <p:cNvSpPr/>
          <p:nvPr/>
        </p:nvSpPr>
        <p:spPr>
          <a:xfrm>
            <a:off x="2308860" y="4130802"/>
            <a:ext cx="338455" cy="602615"/>
          </a:xfrm>
          <a:custGeom>
            <a:avLst/>
            <a:gdLst/>
            <a:ahLst/>
            <a:cxnLst/>
            <a:rect l="l" t="t" r="r" b="b"/>
            <a:pathLst>
              <a:path w="338455" h="602614">
                <a:moveTo>
                  <a:pt x="61594" y="76200"/>
                </a:moveTo>
                <a:lnTo>
                  <a:pt x="49650" y="86494"/>
                </a:lnTo>
                <a:lnTo>
                  <a:pt x="52069" y="111379"/>
                </a:lnTo>
                <a:lnTo>
                  <a:pt x="55371" y="138811"/>
                </a:lnTo>
                <a:lnTo>
                  <a:pt x="63881" y="192786"/>
                </a:lnTo>
                <a:lnTo>
                  <a:pt x="74929" y="245237"/>
                </a:lnTo>
                <a:lnTo>
                  <a:pt x="88264" y="295656"/>
                </a:lnTo>
                <a:lnTo>
                  <a:pt x="103758" y="343789"/>
                </a:lnTo>
                <a:lnTo>
                  <a:pt x="121031" y="389128"/>
                </a:lnTo>
                <a:lnTo>
                  <a:pt x="140081" y="431292"/>
                </a:lnTo>
                <a:lnTo>
                  <a:pt x="160654" y="469773"/>
                </a:lnTo>
                <a:lnTo>
                  <a:pt x="182752" y="504317"/>
                </a:lnTo>
                <a:lnTo>
                  <a:pt x="206120" y="534543"/>
                </a:lnTo>
                <a:lnTo>
                  <a:pt x="243458" y="570484"/>
                </a:lnTo>
                <a:lnTo>
                  <a:pt x="283337" y="593852"/>
                </a:lnTo>
                <a:lnTo>
                  <a:pt x="330962" y="602488"/>
                </a:lnTo>
                <a:lnTo>
                  <a:pt x="336931" y="597154"/>
                </a:lnTo>
                <a:lnTo>
                  <a:pt x="337946" y="583184"/>
                </a:lnTo>
                <a:lnTo>
                  <a:pt x="332613" y="577088"/>
                </a:lnTo>
                <a:lnTo>
                  <a:pt x="325627" y="576580"/>
                </a:lnTo>
                <a:lnTo>
                  <a:pt x="313181" y="575818"/>
                </a:lnTo>
                <a:lnTo>
                  <a:pt x="302259" y="573532"/>
                </a:lnTo>
                <a:lnTo>
                  <a:pt x="258190" y="549783"/>
                </a:lnTo>
                <a:lnTo>
                  <a:pt x="224789" y="517398"/>
                </a:lnTo>
                <a:lnTo>
                  <a:pt x="192658" y="473456"/>
                </a:lnTo>
                <a:lnTo>
                  <a:pt x="172338" y="438658"/>
                </a:lnTo>
                <a:lnTo>
                  <a:pt x="153288" y="399796"/>
                </a:lnTo>
                <a:lnTo>
                  <a:pt x="135762" y="357378"/>
                </a:lnTo>
                <a:lnTo>
                  <a:pt x="119887" y="311912"/>
                </a:lnTo>
                <a:lnTo>
                  <a:pt x="105917" y="263906"/>
                </a:lnTo>
                <a:lnTo>
                  <a:pt x="93979" y="213614"/>
                </a:lnTo>
                <a:lnTo>
                  <a:pt x="84327" y="161671"/>
                </a:lnTo>
                <a:lnTo>
                  <a:pt x="77342" y="108458"/>
                </a:lnTo>
                <a:lnTo>
                  <a:pt x="75148" y="86200"/>
                </a:lnTo>
                <a:lnTo>
                  <a:pt x="61594" y="76200"/>
                </a:lnTo>
                <a:close/>
              </a:path>
              <a:path w="338455" h="602614">
                <a:moveTo>
                  <a:pt x="58673" y="0"/>
                </a:moveTo>
                <a:lnTo>
                  <a:pt x="0" y="129286"/>
                </a:lnTo>
                <a:lnTo>
                  <a:pt x="49650" y="86494"/>
                </a:lnTo>
                <a:lnTo>
                  <a:pt x="49402" y="83947"/>
                </a:lnTo>
                <a:lnTo>
                  <a:pt x="48387" y="69977"/>
                </a:lnTo>
                <a:lnTo>
                  <a:pt x="53720" y="63881"/>
                </a:lnTo>
                <a:lnTo>
                  <a:pt x="60706" y="63500"/>
                </a:lnTo>
                <a:lnTo>
                  <a:pt x="67690" y="62992"/>
                </a:lnTo>
                <a:lnTo>
                  <a:pt x="93255" y="62992"/>
                </a:lnTo>
                <a:lnTo>
                  <a:pt x="58673" y="0"/>
                </a:lnTo>
                <a:close/>
              </a:path>
              <a:path w="338455" h="602614">
                <a:moveTo>
                  <a:pt x="93255" y="62992"/>
                </a:moveTo>
                <a:lnTo>
                  <a:pt x="67690" y="62992"/>
                </a:lnTo>
                <a:lnTo>
                  <a:pt x="73787" y="68325"/>
                </a:lnTo>
                <a:lnTo>
                  <a:pt x="74350" y="76200"/>
                </a:lnTo>
                <a:lnTo>
                  <a:pt x="74675" y="81406"/>
                </a:lnTo>
                <a:lnTo>
                  <a:pt x="75148" y="86200"/>
                </a:lnTo>
                <a:lnTo>
                  <a:pt x="127000" y="124460"/>
                </a:lnTo>
                <a:lnTo>
                  <a:pt x="93255" y="62992"/>
                </a:lnTo>
                <a:close/>
              </a:path>
              <a:path w="338455" h="602614">
                <a:moveTo>
                  <a:pt x="67690" y="62992"/>
                </a:moveTo>
                <a:lnTo>
                  <a:pt x="60706" y="63500"/>
                </a:lnTo>
                <a:lnTo>
                  <a:pt x="53720" y="63881"/>
                </a:lnTo>
                <a:lnTo>
                  <a:pt x="48387" y="69977"/>
                </a:lnTo>
                <a:lnTo>
                  <a:pt x="49402" y="83947"/>
                </a:lnTo>
                <a:lnTo>
                  <a:pt x="49650" y="86494"/>
                </a:lnTo>
                <a:lnTo>
                  <a:pt x="61594" y="76200"/>
                </a:lnTo>
                <a:lnTo>
                  <a:pt x="74350" y="76200"/>
                </a:lnTo>
                <a:lnTo>
                  <a:pt x="73787" y="68325"/>
                </a:lnTo>
                <a:lnTo>
                  <a:pt x="67690" y="62992"/>
                </a:lnTo>
                <a:close/>
              </a:path>
              <a:path w="338455" h="602614">
                <a:moveTo>
                  <a:pt x="74350" y="76200"/>
                </a:moveTo>
                <a:lnTo>
                  <a:pt x="61594" y="76200"/>
                </a:lnTo>
                <a:lnTo>
                  <a:pt x="75148" y="86200"/>
                </a:lnTo>
                <a:lnTo>
                  <a:pt x="74675" y="81406"/>
                </a:lnTo>
                <a:lnTo>
                  <a:pt x="74350" y="7620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3">
            <a:extLst>
              <a:ext uri="{FF2B5EF4-FFF2-40B4-BE49-F238E27FC236}">
                <a16:creationId xmlns:a16="http://schemas.microsoft.com/office/drawing/2014/main" id="{DC0B2F31-8484-1825-774C-60356DAF480D}"/>
              </a:ext>
            </a:extLst>
          </p:cNvPr>
          <p:cNvSpPr txBox="1"/>
          <p:nvPr/>
        </p:nvSpPr>
        <p:spPr>
          <a:xfrm>
            <a:off x="4527296" y="3953078"/>
            <a:ext cx="11988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Motionless</a:t>
            </a:r>
            <a:endParaRPr sz="20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(static)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0" name="object 24">
            <a:extLst>
              <a:ext uri="{FF2B5EF4-FFF2-40B4-BE49-F238E27FC236}">
                <a16:creationId xmlns:a16="http://schemas.microsoft.com/office/drawing/2014/main" id="{FB50E19F-562B-E0A5-BBD0-6FBF408843E7}"/>
              </a:ext>
            </a:extLst>
          </p:cNvPr>
          <p:cNvSpPr txBox="1"/>
          <p:nvPr/>
        </p:nvSpPr>
        <p:spPr>
          <a:xfrm>
            <a:off x="6545706" y="4035678"/>
            <a:ext cx="92964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58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Motion </a:t>
            </a:r>
            <a:r>
              <a:rPr sz="2000" b="1" spc="-48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(kineti</a:t>
            </a:r>
            <a:r>
              <a:rPr sz="2000" b="1" spc="-10" dirty="0">
                <a:latin typeface="Times New Roman"/>
                <a:cs typeface="Times New Roman"/>
              </a:rPr>
              <a:t>c</a:t>
            </a:r>
            <a:r>
              <a:rPr sz="2000" b="1" dirty="0">
                <a:latin typeface="Times New Roman"/>
                <a:cs typeface="Times New Roman"/>
              </a:rPr>
              <a:t>)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1" name="object 25">
            <a:extLst>
              <a:ext uri="{FF2B5EF4-FFF2-40B4-BE49-F238E27FC236}">
                <a16:creationId xmlns:a16="http://schemas.microsoft.com/office/drawing/2014/main" id="{2123A311-67AA-18D6-A8D8-F5D05D400A98}"/>
              </a:ext>
            </a:extLst>
          </p:cNvPr>
          <p:cNvSpPr txBox="1"/>
          <p:nvPr/>
        </p:nvSpPr>
        <p:spPr>
          <a:xfrm>
            <a:off x="2640456" y="4392688"/>
            <a:ext cx="1431417" cy="512961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20"/>
              </a:spcBef>
            </a:pPr>
            <a:r>
              <a:rPr sz="2400" spc="5" dirty="0">
                <a:latin typeface="Cambria Math"/>
                <a:cs typeface="Cambria Math"/>
              </a:rPr>
              <a:t>𝑭</a:t>
            </a:r>
            <a:r>
              <a:rPr sz="2400" spc="7" baseline="-15325" dirty="0">
                <a:latin typeface="Cambria Math"/>
                <a:cs typeface="Cambria Math"/>
              </a:rPr>
              <a:t>𝒎</a:t>
            </a:r>
            <a:r>
              <a:rPr sz="2400" spc="397" baseline="-153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505" dirty="0">
                <a:latin typeface="Cambria Math"/>
                <a:cs typeface="Cambria Math"/>
              </a:rPr>
              <a:t> </a:t>
            </a:r>
            <a:r>
              <a:rPr sz="2400" spc="30" dirty="0">
                <a:latin typeface="Cambria Math"/>
                <a:cs typeface="Cambria Math"/>
              </a:rPr>
              <a:t>µ</a:t>
            </a:r>
            <a:r>
              <a:rPr sz="2400" spc="44" baseline="-15325" dirty="0">
                <a:latin typeface="Cambria Math"/>
                <a:cs typeface="Cambria Math"/>
              </a:rPr>
              <a:t>𝒔</a:t>
            </a:r>
            <a:r>
              <a:rPr sz="2400" spc="30" dirty="0">
                <a:latin typeface="Cambria Math"/>
                <a:cs typeface="Cambria Math"/>
              </a:rPr>
              <a:t>𝑵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32" name="object 26">
            <a:extLst>
              <a:ext uri="{FF2B5EF4-FFF2-40B4-BE49-F238E27FC236}">
                <a16:creationId xmlns:a16="http://schemas.microsoft.com/office/drawing/2014/main" id="{FA62E4A8-2A0D-F75D-6C0F-B12FBF07BD89}"/>
              </a:ext>
            </a:extLst>
          </p:cNvPr>
          <p:cNvSpPr txBox="1"/>
          <p:nvPr/>
        </p:nvSpPr>
        <p:spPr>
          <a:xfrm>
            <a:off x="1578610" y="5611774"/>
            <a:ext cx="1771650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Kinetic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frictional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force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3" name="object 27">
            <a:extLst>
              <a:ext uri="{FF2B5EF4-FFF2-40B4-BE49-F238E27FC236}">
                <a16:creationId xmlns:a16="http://schemas.microsoft.com/office/drawing/2014/main" id="{E7EC5CFD-28DE-EDBA-F141-2C64AB1870F0}"/>
              </a:ext>
            </a:extLst>
          </p:cNvPr>
          <p:cNvSpPr/>
          <p:nvPr/>
        </p:nvSpPr>
        <p:spPr>
          <a:xfrm>
            <a:off x="1921510" y="5140578"/>
            <a:ext cx="708025" cy="581660"/>
          </a:xfrm>
          <a:custGeom>
            <a:avLst/>
            <a:gdLst/>
            <a:ahLst/>
            <a:cxnLst/>
            <a:rect l="l" t="t" r="r" b="b"/>
            <a:pathLst>
              <a:path w="708025" h="581660">
                <a:moveTo>
                  <a:pt x="0" y="448132"/>
                </a:moveTo>
                <a:lnTo>
                  <a:pt x="48259" y="581660"/>
                </a:lnTo>
                <a:lnTo>
                  <a:pt x="89333" y="519010"/>
                </a:lnTo>
                <a:lnTo>
                  <a:pt x="63500" y="519010"/>
                </a:lnTo>
                <a:lnTo>
                  <a:pt x="49529" y="518312"/>
                </a:lnTo>
                <a:lnTo>
                  <a:pt x="44068" y="512356"/>
                </a:lnTo>
                <a:lnTo>
                  <a:pt x="44450" y="505345"/>
                </a:lnTo>
                <a:lnTo>
                  <a:pt x="45018" y="493701"/>
                </a:lnTo>
                <a:lnTo>
                  <a:pt x="0" y="448132"/>
                </a:lnTo>
                <a:close/>
              </a:path>
              <a:path w="708025" h="581660">
                <a:moveTo>
                  <a:pt x="45018" y="493701"/>
                </a:moveTo>
                <a:lnTo>
                  <a:pt x="44381" y="506603"/>
                </a:lnTo>
                <a:lnTo>
                  <a:pt x="44068" y="512356"/>
                </a:lnTo>
                <a:lnTo>
                  <a:pt x="49529" y="518312"/>
                </a:lnTo>
                <a:lnTo>
                  <a:pt x="63500" y="519010"/>
                </a:lnTo>
                <a:lnTo>
                  <a:pt x="69468" y="513613"/>
                </a:lnTo>
                <a:lnTo>
                  <a:pt x="69879" y="505980"/>
                </a:lnTo>
                <a:lnTo>
                  <a:pt x="57150" y="505980"/>
                </a:lnTo>
                <a:lnTo>
                  <a:pt x="45018" y="493701"/>
                </a:lnTo>
                <a:close/>
              </a:path>
              <a:path w="708025" h="581660">
                <a:moveTo>
                  <a:pt x="126110" y="462915"/>
                </a:moveTo>
                <a:lnTo>
                  <a:pt x="70273" y="497785"/>
                </a:lnTo>
                <a:lnTo>
                  <a:pt x="69850" y="506603"/>
                </a:lnTo>
                <a:lnTo>
                  <a:pt x="69468" y="513613"/>
                </a:lnTo>
                <a:lnTo>
                  <a:pt x="63500" y="519010"/>
                </a:lnTo>
                <a:lnTo>
                  <a:pt x="89333" y="519010"/>
                </a:lnTo>
                <a:lnTo>
                  <a:pt x="126110" y="462915"/>
                </a:lnTo>
                <a:close/>
              </a:path>
              <a:path w="708025" h="581660">
                <a:moveTo>
                  <a:pt x="701928" y="0"/>
                </a:moveTo>
                <a:lnTo>
                  <a:pt x="635381" y="1778"/>
                </a:lnTo>
                <a:lnTo>
                  <a:pt x="575944" y="6604"/>
                </a:lnTo>
                <a:lnTo>
                  <a:pt x="517397" y="14351"/>
                </a:lnTo>
                <a:lnTo>
                  <a:pt x="460247" y="24892"/>
                </a:lnTo>
                <a:lnTo>
                  <a:pt x="405002" y="37846"/>
                </a:lnTo>
                <a:lnTo>
                  <a:pt x="352170" y="53213"/>
                </a:lnTo>
                <a:lnTo>
                  <a:pt x="302006" y="70612"/>
                </a:lnTo>
                <a:lnTo>
                  <a:pt x="255015" y="90043"/>
                </a:lnTo>
                <a:lnTo>
                  <a:pt x="211708" y="111125"/>
                </a:lnTo>
                <a:lnTo>
                  <a:pt x="172465" y="133858"/>
                </a:lnTo>
                <a:lnTo>
                  <a:pt x="137667" y="157988"/>
                </a:lnTo>
                <a:lnTo>
                  <a:pt x="108076" y="183388"/>
                </a:lnTo>
                <a:lnTo>
                  <a:pt x="73913" y="223774"/>
                </a:lnTo>
                <a:lnTo>
                  <a:pt x="53720" y="266446"/>
                </a:lnTo>
                <a:lnTo>
                  <a:pt x="49147" y="350393"/>
                </a:lnTo>
                <a:lnTo>
                  <a:pt x="48762" y="376428"/>
                </a:lnTo>
                <a:lnTo>
                  <a:pt x="47608" y="426466"/>
                </a:lnTo>
                <a:lnTo>
                  <a:pt x="46100" y="471538"/>
                </a:lnTo>
                <a:lnTo>
                  <a:pt x="45018" y="493701"/>
                </a:lnTo>
                <a:lnTo>
                  <a:pt x="57150" y="505980"/>
                </a:lnTo>
                <a:lnTo>
                  <a:pt x="72262" y="450151"/>
                </a:lnTo>
                <a:lnTo>
                  <a:pt x="73672" y="401320"/>
                </a:lnTo>
                <a:lnTo>
                  <a:pt x="74549" y="350266"/>
                </a:lnTo>
                <a:lnTo>
                  <a:pt x="74802" y="298196"/>
                </a:lnTo>
                <a:lnTo>
                  <a:pt x="75564" y="286385"/>
                </a:lnTo>
                <a:lnTo>
                  <a:pt x="94487" y="238506"/>
                </a:lnTo>
                <a:lnTo>
                  <a:pt x="125094" y="202184"/>
                </a:lnTo>
                <a:lnTo>
                  <a:pt x="168528" y="167005"/>
                </a:lnTo>
                <a:lnTo>
                  <a:pt x="203707" y="144526"/>
                </a:lnTo>
                <a:lnTo>
                  <a:pt x="243585" y="123444"/>
                </a:lnTo>
                <a:lnTo>
                  <a:pt x="287400" y="103632"/>
                </a:lnTo>
                <a:lnTo>
                  <a:pt x="334644" y="85725"/>
                </a:lnTo>
                <a:lnTo>
                  <a:pt x="385063" y="69723"/>
                </a:lnTo>
                <a:lnTo>
                  <a:pt x="437895" y="55753"/>
                </a:lnTo>
                <a:lnTo>
                  <a:pt x="492887" y="44323"/>
                </a:lnTo>
                <a:lnTo>
                  <a:pt x="549528" y="35306"/>
                </a:lnTo>
                <a:lnTo>
                  <a:pt x="607187" y="29083"/>
                </a:lnTo>
                <a:lnTo>
                  <a:pt x="665607" y="25908"/>
                </a:lnTo>
                <a:lnTo>
                  <a:pt x="702309" y="25400"/>
                </a:lnTo>
                <a:lnTo>
                  <a:pt x="707897" y="19685"/>
                </a:lnTo>
                <a:lnTo>
                  <a:pt x="707770" y="5588"/>
                </a:lnTo>
                <a:lnTo>
                  <a:pt x="701928" y="0"/>
                </a:lnTo>
                <a:close/>
              </a:path>
              <a:path w="708025" h="581660">
                <a:moveTo>
                  <a:pt x="70273" y="497785"/>
                </a:moveTo>
                <a:lnTo>
                  <a:pt x="57150" y="505980"/>
                </a:lnTo>
                <a:lnTo>
                  <a:pt x="69879" y="505980"/>
                </a:lnTo>
                <a:lnTo>
                  <a:pt x="70273" y="49778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6">
            <a:extLst>
              <a:ext uri="{FF2B5EF4-FFF2-40B4-BE49-F238E27FC236}">
                <a16:creationId xmlns:a16="http://schemas.microsoft.com/office/drawing/2014/main" id="{85D901E9-E4D4-7999-4657-BCD56F6443F3}"/>
              </a:ext>
            </a:extLst>
          </p:cNvPr>
          <p:cNvSpPr/>
          <p:nvPr/>
        </p:nvSpPr>
        <p:spPr>
          <a:xfrm>
            <a:off x="6545706" y="3017710"/>
            <a:ext cx="1496695" cy="190500"/>
          </a:xfrm>
          <a:custGeom>
            <a:avLst/>
            <a:gdLst/>
            <a:ahLst/>
            <a:cxnLst/>
            <a:rect l="l" t="t" r="r" b="b"/>
            <a:pathLst>
              <a:path w="1496695" h="190500">
                <a:moveTo>
                  <a:pt x="190500" y="0"/>
                </a:moveTo>
                <a:lnTo>
                  <a:pt x="0" y="95250"/>
                </a:lnTo>
                <a:lnTo>
                  <a:pt x="190500" y="190500"/>
                </a:lnTo>
                <a:lnTo>
                  <a:pt x="129540" y="114300"/>
                </a:lnTo>
                <a:lnTo>
                  <a:pt x="114300" y="114300"/>
                </a:lnTo>
                <a:lnTo>
                  <a:pt x="106876" y="112805"/>
                </a:lnTo>
                <a:lnTo>
                  <a:pt x="100822" y="108727"/>
                </a:lnTo>
                <a:lnTo>
                  <a:pt x="96744" y="102673"/>
                </a:lnTo>
                <a:lnTo>
                  <a:pt x="95250" y="95250"/>
                </a:lnTo>
                <a:lnTo>
                  <a:pt x="96744" y="87826"/>
                </a:lnTo>
                <a:lnTo>
                  <a:pt x="100822" y="81772"/>
                </a:lnTo>
                <a:lnTo>
                  <a:pt x="106876" y="77694"/>
                </a:lnTo>
                <a:lnTo>
                  <a:pt x="114300" y="76200"/>
                </a:lnTo>
                <a:lnTo>
                  <a:pt x="129540" y="76200"/>
                </a:lnTo>
                <a:lnTo>
                  <a:pt x="190500" y="0"/>
                </a:lnTo>
                <a:close/>
              </a:path>
              <a:path w="1496695" h="190500">
                <a:moveTo>
                  <a:pt x="129540" y="76200"/>
                </a:moveTo>
                <a:lnTo>
                  <a:pt x="114300" y="76200"/>
                </a:lnTo>
                <a:lnTo>
                  <a:pt x="106876" y="77694"/>
                </a:lnTo>
                <a:lnTo>
                  <a:pt x="100822" y="81772"/>
                </a:lnTo>
                <a:lnTo>
                  <a:pt x="96744" y="87826"/>
                </a:lnTo>
                <a:lnTo>
                  <a:pt x="95250" y="95250"/>
                </a:lnTo>
                <a:lnTo>
                  <a:pt x="96744" y="102673"/>
                </a:lnTo>
                <a:lnTo>
                  <a:pt x="100822" y="108727"/>
                </a:lnTo>
                <a:lnTo>
                  <a:pt x="106876" y="112805"/>
                </a:lnTo>
                <a:lnTo>
                  <a:pt x="114300" y="114300"/>
                </a:lnTo>
                <a:lnTo>
                  <a:pt x="129540" y="114300"/>
                </a:lnTo>
                <a:lnTo>
                  <a:pt x="114300" y="95250"/>
                </a:lnTo>
                <a:lnTo>
                  <a:pt x="129540" y="76200"/>
                </a:lnTo>
                <a:close/>
              </a:path>
              <a:path w="1496695" h="190500">
                <a:moveTo>
                  <a:pt x="1477136" y="76200"/>
                </a:moveTo>
                <a:lnTo>
                  <a:pt x="129540" y="76200"/>
                </a:lnTo>
                <a:lnTo>
                  <a:pt x="114300" y="95250"/>
                </a:lnTo>
                <a:lnTo>
                  <a:pt x="129540" y="114300"/>
                </a:lnTo>
                <a:lnTo>
                  <a:pt x="1477136" y="114300"/>
                </a:lnTo>
                <a:lnTo>
                  <a:pt x="1484560" y="112805"/>
                </a:lnTo>
                <a:lnTo>
                  <a:pt x="1490614" y="108727"/>
                </a:lnTo>
                <a:lnTo>
                  <a:pt x="1494692" y="102673"/>
                </a:lnTo>
                <a:lnTo>
                  <a:pt x="1496186" y="95250"/>
                </a:lnTo>
                <a:lnTo>
                  <a:pt x="1494692" y="87826"/>
                </a:lnTo>
                <a:lnTo>
                  <a:pt x="1490614" y="81772"/>
                </a:lnTo>
                <a:lnTo>
                  <a:pt x="1484560" y="77694"/>
                </a:lnTo>
                <a:lnTo>
                  <a:pt x="1477136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F0C915-2BD5-BB18-9ABD-9707B23D4C71}"/>
              </a:ext>
            </a:extLst>
          </p:cNvPr>
          <p:cNvSpPr txBox="1"/>
          <p:nvPr/>
        </p:nvSpPr>
        <p:spPr>
          <a:xfrm>
            <a:off x="2561588" y="4897379"/>
            <a:ext cx="1649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640">
              <a:lnSpc>
                <a:spcPct val="100000"/>
              </a:lnSpc>
              <a:spcBef>
                <a:spcPts val="1019"/>
              </a:spcBef>
            </a:pPr>
            <a:r>
              <a:rPr lang="en-US" sz="2400" spc="5" dirty="0">
                <a:latin typeface="Cambria Math"/>
                <a:cs typeface="Cambria Math"/>
              </a:rPr>
              <a:t>𝑭</a:t>
            </a:r>
            <a:r>
              <a:rPr lang="en-US" sz="2400" spc="7" baseline="-15325" dirty="0">
                <a:latin typeface="Cambria Math"/>
                <a:cs typeface="Cambria Math"/>
              </a:rPr>
              <a:t>𝒌</a:t>
            </a:r>
            <a:r>
              <a:rPr lang="en-US" sz="2400" spc="390" baseline="-15325" dirty="0">
                <a:latin typeface="Cambria Math"/>
                <a:cs typeface="Cambria Math"/>
              </a:rPr>
              <a:t> </a:t>
            </a:r>
            <a:r>
              <a:rPr lang="en-US" sz="2400" dirty="0">
                <a:latin typeface="Cambria Math"/>
                <a:cs typeface="Cambria Math"/>
              </a:rPr>
              <a:t>=</a:t>
            </a:r>
            <a:r>
              <a:rPr lang="en-US" sz="2400" spc="500" dirty="0">
                <a:latin typeface="Cambria Math"/>
                <a:cs typeface="Cambria Math"/>
              </a:rPr>
              <a:t> </a:t>
            </a:r>
            <a:r>
              <a:rPr lang="en-US" sz="2400" spc="30" dirty="0">
                <a:latin typeface="Cambria Math"/>
                <a:cs typeface="Cambria Math"/>
              </a:rPr>
              <a:t>µ</a:t>
            </a:r>
            <a:r>
              <a:rPr lang="en-US" sz="2400" spc="44" baseline="-15325" dirty="0">
                <a:latin typeface="Cambria Math"/>
                <a:cs typeface="Cambria Math"/>
              </a:rPr>
              <a:t>𝒌</a:t>
            </a:r>
            <a:r>
              <a:rPr lang="en-US" sz="2400" spc="30" dirty="0">
                <a:latin typeface="Cambria Math"/>
                <a:cs typeface="Cambria Math"/>
              </a:rPr>
              <a:t>𝑵</a:t>
            </a:r>
            <a:endParaRPr lang="en-US" sz="2400" dirty="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371685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/>
      <p:bldP spid="12" grpId="0"/>
      <p:bldP spid="13" grpId="0" animBg="1"/>
      <p:bldP spid="14" grpId="0"/>
      <p:bldP spid="15" grpId="0" animBg="1"/>
      <p:bldP spid="16" grpId="0"/>
      <p:bldP spid="19" grpId="0"/>
      <p:bldP spid="20" grpId="0" animBg="1"/>
      <p:bldP spid="27" grpId="0"/>
      <p:bldP spid="28" grpId="0" animBg="1"/>
      <p:bldP spid="29" grpId="0"/>
      <p:bldP spid="30" grpId="0"/>
      <p:bldP spid="31" grpId="0"/>
      <p:bldP spid="32" grpId="0"/>
      <p:bldP spid="33" grpId="0" animBg="1"/>
      <p:bldP spid="35" grpId="0" animBg="1"/>
      <p:bldP spid="3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A55CEC0-1A57-5942-1E1D-7B98F87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AD66-A4B4-4281-BA8F-C7D6C36F42AC}" type="datetime1">
              <a:rPr lang="en-US" smtClean="0"/>
              <a:t>7/1/2025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BA6916-93D4-248A-F4CA-937D3F16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15" name="Picture 14" descr="A diagram of a weighting machine&#10;&#10;Description automatically generated">
            <a:extLst>
              <a:ext uri="{FF2B5EF4-FFF2-40B4-BE49-F238E27FC236}">
                <a16:creationId xmlns:a16="http://schemas.microsoft.com/office/drawing/2014/main" id="{0D91A484-88DB-71D3-6046-C2FAFDBA1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0251" y="3454948"/>
            <a:ext cx="4437880" cy="2735811"/>
          </a:xfrm>
          <a:prstGeom prst="rect">
            <a:avLst/>
          </a:prstGeom>
        </p:spPr>
      </p:pic>
      <p:sp>
        <p:nvSpPr>
          <p:cNvPr id="16" name="object 3">
            <a:extLst>
              <a:ext uri="{FF2B5EF4-FFF2-40B4-BE49-F238E27FC236}">
                <a16:creationId xmlns:a16="http://schemas.microsoft.com/office/drawing/2014/main" id="{7303486E-DBE7-F6E2-12AC-42D96D99D233}"/>
              </a:ext>
            </a:extLst>
          </p:cNvPr>
          <p:cNvSpPr txBox="1"/>
          <p:nvPr/>
        </p:nvSpPr>
        <p:spPr>
          <a:xfrm>
            <a:off x="1664507" y="705270"/>
            <a:ext cx="1033970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Problem:</a:t>
            </a:r>
            <a:endParaRPr sz="2400" dirty="0">
              <a:latin typeface="Times New Roman"/>
              <a:cs typeface="Times New Roman"/>
            </a:endParaRPr>
          </a:p>
          <a:p>
            <a:pPr marL="25400" marR="17780" indent="457200" algn="just">
              <a:lnSpc>
                <a:spcPct val="100000"/>
              </a:lnSpc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two blocks shown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starts to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move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from the rest. The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coefficients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friction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 between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blocks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 and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inclines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 are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15" dirty="0">
                <a:solidFill>
                  <a:srgbClr val="404040"/>
                </a:solidFill>
                <a:latin typeface="Cambria Math"/>
                <a:cs typeface="Cambria Math"/>
              </a:rPr>
              <a:t>𝜇</a:t>
            </a:r>
            <a:r>
              <a:rPr sz="2625" spc="22" baseline="-15873" dirty="0">
                <a:solidFill>
                  <a:srgbClr val="404040"/>
                </a:solidFill>
                <a:latin typeface="Cambria Math"/>
                <a:cs typeface="Cambria Math"/>
              </a:rPr>
              <a:t>𝑠</a:t>
            </a:r>
            <a:r>
              <a:rPr sz="2625" spc="30" baseline="-15873" dirty="0">
                <a:solidFill>
                  <a:srgbClr val="40404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= </a:t>
            </a:r>
            <a:r>
              <a:rPr sz="2400" spc="-5" dirty="0">
                <a:solidFill>
                  <a:srgbClr val="404040"/>
                </a:solidFill>
                <a:latin typeface="Cambria Math"/>
                <a:cs typeface="Cambria Math"/>
              </a:rPr>
              <a:t>0.25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45" dirty="0">
                <a:solidFill>
                  <a:srgbClr val="404040"/>
                </a:solidFill>
                <a:latin typeface="Cambria Math"/>
                <a:cs typeface="Cambria Math"/>
              </a:rPr>
              <a:t>𝜇</a:t>
            </a:r>
            <a:r>
              <a:rPr sz="2625" spc="67" baseline="-15873" dirty="0">
                <a:solidFill>
                  <a:srgbClr val="404040"/>
                </a:solidFill>
                <a:latin typeface="Cambria Math"/>
                <a:cs typeface="Cambria Math"/>
              </a:rPr>
              <a:t>𝑘 </a:t>
            </a:r>
            <a:r>
              <a:rPr sz="2400" dirty="0">
                <a:solidFill>
                  <a:srgbClr val="404040"/>
                </a:solidFill>
                <a:latin typeface="Cambria Math"/>
                <a:cs typeface="Cambria Math"/>
              </a:rPr>
              <a:t>= </a:t>
            </a:r>
            <a:r>
              <a:rPr sz="2400" spc="10" dirty="0">
                <a:solidFill>
                  <a:srgbClr val="404040"/>
                </a:solidFill>
                <a:latin typeface="Cambria Math"/>
                <a:cs typeface="Cambria Math"/>
              </a:rPr>
              <a:t>0.20</a:t>
            </a:r>
            <a:r>
              <a:rPr sz="2400" spc="10" dirty="0">
                <a:solidFill>
                  <a:srgbClr val="404040"/>
                </a:solidFill>
                <a:latin typeface="Times New Roman"/>
                <a:cs typeface="Times New Roman"/>
              </a:rPr>
              <a:t>. 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Neglecting</a:t>
            </a:r>
            <a:r>
              <a:rPr sz="2400" spc="5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 </a:t>
            </a:r>
            <a:r>
              <a:rPr sz="2400" spc="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masses</a:t>
            </a:r>
            <a:r>
              <a:rPr sz="2400" spc="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pulleys,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determine-</a:t>
            </a:r>
            <a:endParaRPr sz="2400" dirty="0">
              <a:latin typeface="Times New Roman"/>
              <a:cs typeface="Times New Roman"/>
            </a:endParaRPr>
          </a:p>
          <a:p>
            <a:pPr marL="482600" algn="just">
              <a:lnSpc>
                <a:spcPct val="100000"/>
              </a:lnSpc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(a)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acceleration</a:t>
            </a:r>
            <a:r>
              <a:rPr sz="24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each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block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(b)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tension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in</a:t>
            </a:r>
            <a:r>
              <a:rPr sz="24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4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cable.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9" name="object 2">
            <a:extLst>
              <a:ext uri="{FF2B5EF4-FFF2-40B4-BE49-F238E27FC236}">
                <a16:creationId xmlns:a16="http://schemas.microsoft.com/office/drawing/2014/main" id="{A67A851A-AF23-E382-8344-1C7BC3790426}"/>
              </a:ext>
            </a:extLst>
          </p:cNvPr>
          <p:cNvSpPr txBox="1">
            <a:spLocks/>
          </p:cNvSpPr>
          <p:nvPr/>
        </p:nvSpPr>
        <p:spPr>
          <a:xfrm>
            <a:off x="1642246" y="70270"/>
            <a:ext cx="42875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5" dirty="0">
                <a:solidFill>
                  <a:srgbClr val="6F2F9F"/>
                </a:solidFill>
                <a:latin typeface="Times New Roman"/>
                <a:cs typeface="Times New Roman"/>
              </a:rPr>
              <a:t>Equation</a:t>
            </a:r>
            <a:r>
              <a:rPr lang="en-US" sz="4000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4000" dirty="0">
                <a:solidFill>
                  <a:srgbClr val="6F2F9F"/>
                </a:solidFill>
                <a:latin typeface="Times New Roman"/>
                <a:cs typeface="Times New Roman"/>
              </a:rPr>
              <a:t>of</a:t>
            </a:r>
            <a:r>
              <a:rPr lang="en-US" sz="4000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lang="en-US" sz="4000" spc="-5" dirty="0">
                <a:solidFill>
                  <a:srgbClr val="6F2F9F"/>
                </a:solidFill>
                <a:latin typeface="Times New Roman"/>
                <a:cs typeface="Times New Roman"/>
              </a:rPr>
              <a:t>Motion</a:t>
            </a:r>
            <a:endParaRPr lang="en-US" sz="4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58122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4797" y="409143"/>
            <a:ext cx="42875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0" spc="-5" dirty="0">
                <a:solidFill>
                  <a:srgbClr val="6F2F9F"/>
                </a:solidFill>
                <a:latin typeface="Times New Roman"/>
                <a:cs typeface="Times New Roman"/>
              </a:rPr>
              <a:t>Equation</a:t>
            </a:r>
            <a:r>
              <a:rPr sz="4000" i="0" spc="-2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4000" i="0" dirty="0">
                <a:solidFill>
                  <a:srgbClr val="6F2F9F"/>
                </a:solidFill>
                <a:latin typeface="Times New Roman"/>
                <a:cs typeface="Times New Roman"/>
              </a:rPr>
              <a:t>of</a:t>
            </a:r>
            <a:r>
              <a:rPr sz="4000" i="0" spc="-2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4000" i="0" spc="-5" dirty="0">
                <a:solidFill>
                  <a:srgbClr val="6F2F9F"/>
                </a:solidFill>
                <a:latin typeface="Times New Roman"/>
                <a:cs typeface="Times New Roman"/>
              </a:rPr>
              <a:t>Motion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4767" y="799338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15" dirty="0">
                <a:solidFill>
                  <a:srgbClr val="FDFFFF"/>
                </a:solidFill>
                <a:latin typeface="Tahoma"/>
                <a:cs typeface="Tahoma"/>
              </a:rPr>
              <a:t>9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25167" y="1531429"/>
            <a:ext cx="2717800" cy="2371725"/>
            <a:chOff x="1725167" y="1531429"/>
            <a:chExt cx="2717800" cy="23717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5167" y="1679447"/>
              <a:ext cx="2717292" cy="222351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285999" y="1536191"/>
              <a:ext cx="1896745" cy="1255395"/>
            </a:xfrm>
            <a:custGeom>
              <a:avLst/>
              <a:gdLst/>
              <a:ahLst/>
              <a:cxnLst/>
              <a:rect l="l" t="t" r="r" b="b"/>
              <a:pathLst>
                <a:path w="1896745" h="1255395">
                  <a:moveTo>
                    <a:pt x="0" y="344424"/>
                  </a:moveTo>
                  <a:lnTo>
                    <a:pt x="155320" y="629158"/>
                  </a:lnTo>
                </a:path>
                <a:path w="1896745" h="1255395">
                  <a:moveTo>
                    <a:pt x="1008888" y="0"/>
                  </a:moveTo>
                  <a:lnTo>
                    <a:pt x="1172845" y="327787"/>
                  </a:lnTo>
                </a:path>
                <a:path w="1896745" h="1255395">
                  <a:moveTo>
                    <a:pt x="1301496" y="701167"/>
                  </a:moveTo>
                  <a:lnTo>
                    <a:pt x="1638427" y="557784"/>
                  </a:lnTo>
                </a:path>
                <a:path w="1896745" h="1255395">
                  <a:moveTo>
                    <a:pt x="1552955" y="1255141"/>
                  </a:moveTo>
                  <a:lnTo>
                    <a:pt x="1896237" y="111556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79397" y="1101089"/>
            <a:ext cx="2443480" cy="136207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85"/>
              </a:spcBef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Solution:</a:t>
            </a:r>
            <a:endParaRPr sz="2400">
              <a:latin typeface="Times New Roman"/>
              <a:cs typeface="Times New Roman"/>
            </a:endParaRPr>
          </a:p>
          <a:p>
            <a:pPr marL="770890">
              <a:lnSpc>
                <a:spcPct val="100000"/>
              </a:lnSpc>
              <a:spcBef>
                <a:spcPts val="445"/>
              </a:spcBef>
            </a:pPr>
            <a:r>
              <a:rPr sz="1800" spc="-25" dirty="0">
                <a:solidFill>
                  <a:srgbClr val="006FC0"/>
                </a:solidFill>
                <a:latin typeface="Cambria Math"/>
                <a:cs typeface="Cambria Math"/>
              </a:rPr>
              <a:t>𝑥</a:t>
            </a:r>
            <a:r>
              <a:rPr sz="1950" spc="-37" baseline="-14957" dirty="0">
                <a:solidFill>
                  <a:srgbClr val="006FC0"/>
                </a:solidFill>
                <a:latin typeface="Cambria Math"/>
                <a:cs typeface="Cambria Math"/>
              </a:rPr>
              <a:t>𝐴</a:t>
            </a:r>
            <a:endParaRPr sz="1950" baseline="-14957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1950">
              <a:latin typeface="Cambria Math"/>
              <a:cs typeface="Cambria Math"/>
            </a:endParaRPr>
          </a:p>
          <a:p>
            <a:pPr marR="43180" algn="r">
              <a:lnSpc>
                <a:spcPct val="100000"/>
              </a:lnSpc>
              <a:spcBef>
                <a:spcPts val="5"/>
              </a:spcBef>
            </a:pPr>
            <a:r>
              <a:rPr sz="1800" spc="15" dirty="0">
                <a:solidFill>
                  <a:srgbClr val="006FC0"/>
                </a:solidFill>
                <a:latin typeface="Cambria Math"/>
                <a:cs typeface="Cambria Math"/>
              </a:rPr>
              <a:t>𝑥</a:t>
            </a:r>
            <a:r>
              <a:rPr sz="1950" spc="22" baseline="-14957" dirty="0">
                <a:solidFill>
                  <a:srgbClr val="006FC0"/>
                </a:solidFill>
                <a:latin typeface="Cambria Math"/>
                <a:cs typeface="Cambria Math"/>
              </a:rPr>
              <a:t>𝐵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2550" y="4030217"/>
            <a:ext cx="301307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492250" algn="l"/>
              </a:tabLst>
            </a:pPr>
            <a:r>
              <a:rPr sz="2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Kinematics:</a:t>
            </a:r>
            <a:r>
              <a:rPr sz="2000" spc="-5" dirty="0">
                <a:latin typeface="Times New Roman"/>
                <a:cs typeface="Times New Roman"/>
              </a:rPr>
              <a:t>	</a:t>
            </a:r>
            <a:r>
              <a:rPr sz="2000" spc="-35" dirty="0">
                <a:solidFill>
                  <a:srgbClr val="006FC0"/>
                </a:solidFill>
                <a:latin typeface="Cambria Math"/>
                <a:cs typeface="Cambria Math"/>
              </a:rPr>
              <a:t>𝑥</a:t>
            </a:r>
            <a:r>
              <a:rPr sz="2175" spc="-52" baseline="-15325" dirty="0">
                <a:solidFill>
                  <a:srgbClr val="006FC0"/>
                </a:solidFill>
                <a:latin typeface="Cambria Math"/>
                <a:cs typeface="Cambria Math"/>
              </a:rPr>
              <a:t>𝐴</a:t>
            </a:r>
            <a:r>
              <a:rPr sz="2175" spc="284" baseline="-153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6FC0"/>
                </a:solidFill>
                <a:latin typeface="Cambria Math"/>
                <a:cs typeface="Cambria Math"/>
              </a:rPr>
              <a:t>+</a:t>
            </a:r>
            <a:r>
              <a:rPr sz="2000" spc="-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000" spc="5" dirty="0">
                <a:solidFill>
                  <a:srgbClr val="006FC0"/>
                </a:solidFill>
                <a:latin typeface="Cambria Math"/>
                <a:cs typeface="Cambria Math"/>
              </a:rPr>
              <a:t>2𝑥</a:t>
            </a:r>
            <a:r>
              <a:rPr sz="2175" spc="7" baseline="-15325" dirty="0">
                <a:solidFill>
                  <a:srgbClr val="006FC0"/>
                </a:solidFill>
                <a:latin typeface="Cambria Math"/>
                <a:cs typeface="Cambria Math"/>
              </a:rPr>
              <a:t>𝐵</a:t>
            </a:r>
            <a:r>
              <a:rPr sz="2175" spc="480" baseline="-153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2000" spc="11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6FC0"/>
                </a:solidFill>
                <a:latin typeface="Cambria Math"/>
                <a:cs typeface="Cambria Math"/>
              </a:rPr>
              <a:t>𝐶</a:t>
            </a:r>
            <a:endParaRPr sz="20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Change</a:t>
            </a:r>
            <a:r>
              <a:rPr sz="2000" u="sng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000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position: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11145" y="5188077"/>
            <a:ext cx="108585" cy="17145"/>
          </a:xfrm>
          <a:custGeom>
            <a:avLst/>
            <a:gdLst/>
            <a:ahLst/>
            <a:cxnLst/>
            <a:rect l="l" t="t" r="r" b="b"/>
            <a:pathLst>
              <a:path w="108585" h="17145">
                <a:moveTo>
                  <a:pt x="108204" y="0"/>
                </a:moveTo>
                <a:lnTo>
                  <a:pt x="0" y="0"/>
                </a:lnTo>
                <a:lnTo>
                  <a:pt x="0" y="16764"/>
                </a:lnTo>
                <a:lnTo>
                  <a:pt x="108204" y="16764"/>
                </a:lnTo>
                <a:lnTo>
                  <a:pt x="108204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98113" y="5188077"/>
            <a:ext cx="108585" cy="17145"/>
          </a:xfrm>
          <a:custGeom>
            <a:avLst/>
            <a:gdLst/>
            <a:ahLst/>
            <a:cxnLst/>
            <a:rect l="l" t="t" r="r" b="b"/>
            <a:pathLst>
              <a:path w="108585" h="17145">
                <a:moveTo>
                  <a:pt x="108203" y="0"/>
                </a:moveTo>
                <a:lnTo>
                  <a:pt x="0" y="0"/>
                </a:lnTo>
                <a:lnTo>
                  <a:pt x="0" y="16764"/>
                </a:lnTo>
                <a:lnTo>
                  <a:pt x="108203" y="16764"/>
                </a:lnTo>
                <a:lnTo>
                  <a:pt x="108203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98826" y="4922011"/>
            <a:ext cx="1020444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99794" algn="l"/>
              </a:tabLst>
            </a:pPr>
            <a:r>
              <a:rPr sz="1450" spc="40" dirty="0">
                <a:solidFill>
                  <a:srgbClr val="006FC0"/>
                </a:solidFill>
                <a:latin typeface="Cambria Math"/>
                <a:cs typeface="Cambria Math"/>
              </a:rPr>
              <a:t>1	1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57092" y="6020180"/>
            <a:ext cx="142240" cy="17145"/>
          </a:xfrm>
          <a:custGeom>
            <a:avLst/>
            <a:gdLst/>
            <a:ahLst/>
            <a:cxnLst/>
            <a:rect l="l" t="t" r="r" b="b"/>
            <a:pathLst>
              <a:path w="142239" h="17145">
                <a:moveTo>
                  <a:pt x="141731" y="0"/>
                </a:moveTo>
                <a:lnTo>
                  <a:pt x="0" y="0"/>
                </a:lnTo>
                <a:lnTo>
                  <a:pt x="0" y="16764"/>
                </a:lnTo>
                <a:lnTo>
                  <a:pt x="141731" y="16764"/>
                </a:lnTo>
                <a:lnTo>
                  <a:pt x="141731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02941" y="6492621"/>
            <a:ext cx="108585" cy="17145"/>
          </a:xfrm>
          <a:custGeom>
            <a:avLst/>
            <a:gdLst/>
            <a:ahLst/>
            <a:cxnLst/>
            <a:rect l="l" t="t" r="r" b="b"/>
            <a:pathLst>
              <a:path w="108585" h="17145">
                <a:moveTo>
                  <a:pt x="108204" y="0"/>
                </a:moveTo>
                <a:lnTo>
                  <a:pt x="0" y="0"/>
                </a:lnTo>
                <a:lnTo>
                  <a:pt x="0" y="16763"/>
                </a:lnTo>
                <a:lnTo>
                  <a:pt x="108204" y="16763"/>
                </a:lnTo>
                <a:lnTo>
                  <a:pt x="1082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690622" y="6226860"/>
            <a:ext cx="133350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spc="40" dirty="0">
                <a:latin typeface="Cambria Math"/>
                <a:cs typeface="Cambria Math"/>
              </a:rPr>
              <a:t>1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63369" y="4582769"/>
            <a:ext cx="2717800" cy="205613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754380">
              <a:lnSpc>
                <a:spcPct val="100000"/>
              </a:lnSpc>
              <a:spcBef>
                <a:spcPts val="555"/>
              </a:spcBef>
            </a:pPr>
            <a:r>
              <a:rPr sz="2000" spc="-25" dirty="0">
                <a:solidFill>
                  <a:srgbClr val="006FC0"/>
                </a:solidFill>
                <a:latin typeface="Cambria Math"/>
                <a:cs typeface="Cambria Math"/>
              </a:rPr>
              <a:t>∆𝑥</a:t>
            </a:r>
            <a:r>
              <a:rPr sz="2175" spc="-37" baseline="-15325" dirty="0">
                <a:solidFill>
                  <a:srgbClr val="006FC0"/>
                </a:solidFill>
                <a:latin typeface="Cambria Math"/>
                <a:cs typeface="Cambria Math"/>
              </a:rPr>
              <a:t>𝐴</a:t>
            </a:r>
            <a:r>
              <a:rPr sz="2175" spc="284" baseline="-153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6FC0"/>
                </a:solidFill>
                <a:latin typeface="Cambria Math"/>
                <a:cs typeface="Cambria Math"/>
              </a:rPr>
              <a:t>+</a:t>
            </a:r>
            <a:r>
              <a:rPr sz="2000" spc="-1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000" spc="25" dirty="0">
                <a:solidFill>
                  <a:srgbClr val="006FC0"/>
                </a:solidFill>
                <a:latin typeface="Cambria Math"/>
                <a:cs typeface="Cambria Math"/>
              </a:rPr>
              <a:t>2∆𝑥</a:t>
            </a:r>
            <a:r>
              <a:rPr sz="2175" spc="37" baseline="-15325" dirty="0">
                <a:solidFill>
                  <a:srgbClr val="006FC0"/>
                </a:solidFill>
                <a:latin typeface="Cambria Math"/>
                <a:cs typeface="Cambria Math"/>
              </a:rPr>
              <a:t>𝐵</a:t>
            </a:r>
            <a:r>
              <a:rPr sz="2000" spc="25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2000" spc="8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6FC0"/>
                </a:solidFill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  <a:p>
            <a:pPr marL="38100" marR="30480" algn="ctr">
              <a:lnSpc>
                <a:spcPts val="2930"/>
              </a:lnSpc>
              <a:spcBef>
                <a:spcPts val="110"/>
              </a:spcBef>
            </a:pPr>
            <a:r>
              <a:rPr sz="2000" dirty="0">
                <a:latin typeface="Cambria Math"/>
                <a:cs typeface="Cambria Math"/>
              </a:rPr>
              <a:t>⇒</a:t>
            </a:r>
            <a:r>
              <a:rPr sz="2000" spc="114" dirty="0">
                <a:latin typeface="Cambria Math"/>
                <a:cs typeface="Cambria Math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Cambria Math"/>
                <a:cs typeface="Cambria Math"/>
              </a:rPr>
              <a:t>∆</a:t>
            </a:r>
            <a:r>
              <a:rPr sz="2000" spc="-25" dirty="0">
                <a:solidFill>
                  <a:srgbClr val="006FC0"/>
                </a:solidFill>
                <a:latin typeface="Cambria Math"/>
                <a:cs typeface="Cambria Math"/>
              </a:rPr>
              <a:t>𝑥</a:t>
            </a:r>
            <a:r>
              <a:rPr sz="2175" spc="270" baseline="-15325" dirty="0">
                <a:solidFill>
                  <a:srgbClr val="006FC0"/>
                </a:solidFill>
                <a:latin typeface="Cambria Math"/>
                <a:cs typeface="Cambria Math"/>
              </a:rPr>
              <a:t>𝐵</a:t>
            </a:r>
            <a:r>
              <a:rPr sz="200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2000" spc="11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6FC0"/>
                </a:solidFill>
                <a:latin typeface="Cambria Math"/>
                <a:cs typeface="Cambria Math"/>
              </a:rPr>
              <a:t>−</a:t>
            </a:r>
            <a:r>
              <a:rPr sz="2000" spc="-10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175" spc="60" baseline="-38314" dirty="0">
                <a:solidFill>
                  <a:srgbClr val="006FC0"/>
                </a:solidFill>
                <a:latin typeface="Cambria Math"/>
                <a:cs typeface="Cambria Math"/>
              </a:rPr>
              <a:t>2</a:t>
            </a:r>
            <a:r>
              <a:rPr sz="2175" spc="7" baseline="-38314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000" spc="-5" dirty="0">
                <a:solidFill>
                  <a:srgbClr val="006FC0"/>
                </a:solidFill>
                <a:latin typeface="Cambria Math"/>
                <a:cs typeface="Cambria Math"/>
              </a:rPr>
              <a:t>∆</a:t>
            </a:r>
            <a:r>
              <a:rPr sz="2000" spc="-120" dirty="0">
                <a:solidFill>
                  <a:srgbClr val="006FC0"/>
                </a:solidFill>
                <a:latin typeface="Cambria Math"/>
                <a:cs typeface="Cambria Math"/>
              </a:rPr>
              <a:t>𝑥</a:t>
            </a:r>
            <a:r>
              <a:rPr sz="2175" spc="120" baseline="-15325" dirty="0">
                <a:solidFill>
                  <a:srgbClr val="006FC0"/>
                </a:solidFill>
                <a:latin typeface="Cambria Math"/>
                <a:cs typeface="Cambria Math"/>
              </a:rPr>
              <a:t>𝐴</a:t>
            </a:r>
            <a:r>
              <a:rPr sz="2175" baseline="-15325" dirty="0">
                <a:solidFill>
                  <a:srgbClr val="006FC0"/>
                </a:solidFill>
                <a:latin typeface="Cambria Math"/>
                <a:cs typeface="Cambria Math"/>
              </a:rPr>
              <a:t>  </a:t>
            </a:r>
            <a:r>
              <a:rPr sz="200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2000" spc="1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175" spc="60" baseline="-38314" dirty="0">
                <a:solidFill>
                  <a:srgbClr val="006FC0"/>
                </a:solidFill>
                <a:latin typeface="Cambria Math"/>
                <a:cs typeface="Cambria Math"/>
              </a:rPr>
              <a:t>2</a:t>
            </a:r>
            <a:r>
              <a:rPr sz="2175" spc="7" baseline="-38314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Cambria Math"/>
                <a:cs typeface="Cambria Math"/>
              </a:rPr>
              <a:t>∆</a:t>
            </a:r>
            <a:r>
              <a:rPr sz="2000" spc="-120" dirty="0">
                <a:solidFill>
                  <a:srgbClr val="006FC0"/>
                </a:solidFill>
                <a:latin typeface="Cambria Math"/>
                <a:cs typeface="Cambria Math"/>
              </a:rPr>
              <a:t>𝑥</a:t>
            </a:r>
            <a:r>
              <a:rPr sz="2175" spc="67" baseline="-15325" dirty="0">
                <a:solidFill>
                  <a:srgbClr val="006FC0"/>
                </a:solidFill>
                <a:latin typeface="Cambria Math"/>
                <a:cs typeface="Cambria Math"/>
              </a:rPr>
              <a:t>𝐴  </a:t>
            </a:r>
            <a:r>
              <a:rPr sz="2000" dirty="0">
                <a:solidFill>
                  <a:srgbClr val="006FC0"/>
                </a:solidFill>
                <a:latin typeface="Cambria Math"/>
                <a:cs typeface="Cambria Math"/>
              </a:rPr>
              <a:t>(𝑚𝑎𝑔𝑛𝑖𝑡𝑢𝑑𝑒)</a:t>
            </a:r>
            <a:endParaRPr sz="2000">
              <a:latin typeface="Cambria Math"/>
              <a:cs typeface="Cambria Math"/>
            </a:endParaRPr>
          </a:p>
          <a:p>
            <a:pPr marL="612140" algn="ctr">
              <a:lnSpc>
                <a:spcPts val="1480"/>
              </a:lnSpc>
            </a:pPr>
            <a:r>
              <a:rPr sz="2000" dirty="0">
                <a:solidFill>
                  <a:srgbClr val="006FC0"/>
                </a:solidFill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  <a:p>
            <a:pPr marL="1270" algn="ctr">
              <a:lnSpc>
                <a:spcPts val="1955"/>
              </a:lnSpc>
            </a:pPr>
            <a:r>
              <a:rPr sz="2000" spc="5" dirty="0">
                <a:latin typeface="Cambria Math"/>
                <a:cs typeface="Cambria Math"/>
              </a:rPr>
              <a:t>⇒</a:t>
            </a:r>
            <a:r>
              <a:rPr sz="2000" spc="110" dirty="0"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006FC0"/>
                </a:solidFill>
                <a:latin typeface="Cambria Math"/>
                <a:cs typeface="Cambria Math"/>
              </a:rPr>
              <a:t>𝑥</a:t>
            </a:r>
            <a:r>
              <a:rPr sz="2175" spc="89" baseline="-15325" dirty="0">
                <a:solidFill>
                  <a:srgbClr val="006FC0"/>
                </a:solidFill>
                <a:latin typeface="Cambria Math"/>
                <a:cs typeface="Cambria Math"/>
              </a:rPr>
              <a:t>𝐵</a:t>
            </a:r>
            <a:r>
              <a:rPr sz="2175" baseline="-153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175" spc="52" baseline="-153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2000" spc="11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3000" baseline="-37500" dirty="0">
                <a:solidFill>
                  <a:srgbClr val="006FC0"/>
                </a:solidFill>
                <a:latin typeface="Cambria Math"/>
                <a:cs typeface="Cambria Math"/>
              </a:rPr>
              <a:t>2</a:t>
            </a:r>
            <a:r>
              <a:rPr sz="3000" spc="-172" baseline="-3750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000" spc="-114" dirty="0">
                <a:solidFill>
                  <a:srgbClr val="006FC0"/>
                </a:solidFill>
                <a:latin typeface="Cambria Math"/>
                <a:cs typeface="Cambria Math"/>
              </a:rPr>
              <a:t>𝑥</a:t>
            </a:r>
            <a:r>
              <a:rPr sz="2175" spc="120" baseline="-15325" dirty="0">
                <a:solidFill>
                  <a:srgbClr val="006FC0"/>
                </a:solidFill>
                <a:latin typeface="Cambria Math"/>
                <a:cs typeface="Cambria Math"/>
              </a:rPr>
              <a:t>𝐴</a:t>
            </a:r>
            <a:endParaRPr sz="2175" baseline="-15325">
              <a:latin typeface="Cambria Math"/>
              <a:cs typeface="Cambria Math"/>
            </a:endParaRPr>
          </a:p>
          <a:p>
            <a:pPr marL="11430" algn="ctr">
              <a:lnSpc>
                <a:spcPct val="100000"/>
              </a:lnSpc>
              <a:spcBef>
                <a:spcPts val="1325"/>
              </a:spcBef>
            </a:pPr>
            <a:r>
              <a:rPr sz="2000" dirty="0">
                <a:latin typeface="Cambria Math"/>
                <a:cs typeface="Cambria Math"/>
              </a:rPr>
              <a:t>∴</a:t>
            </a:r>
            <a:r>
              <a:rPr sz="2000" spc="100" dirty="0">
                <a:latin typeface="Cambria Math"/>
                <a:cs typeface="Cambria Math"/>
              </a:rPr>
              <a:t> </a:t>
            </a:r>
            <a:r>
              <a:rPr sz="2000" spc="15" dirty="0">
                <a:latin typeface="Cambria Math"/>
                <a:cs typeface="Cambria Math"/>
              </a:rPr>
              <a:t>𝑎</a:t>
            </a:r>
            <a:r>
              <a:rPr sz="2175" spc="22" baseline="-15325" dirty="0">
                <a:latin typeface="Cambria Math"/>
                <a:cs typeface="Cambria Math"/>
              </a:rPr>
              <a:t>𝐵 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105" dirty="0">
                <a:latin typeface="Cambria Math"/>
                <a:cs typeface="Cambria Math"/>
              </a:rPr>
              <a:t> </a:t>
            </a:r>
            <a:r>
              <a:rPr sz="2175" spc="60" baseline="-38314" dirty="0">
                <a:latin typeface="Cambria Math"/>
                <a:cs typeface="Cambria Math"/>
              </a:rPr>
              <a:t>2</a:t>
            </a:r>
            <a:r>
              <a:rPr sz="2175" spc="22" baseline="-38314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𝑎</a:t>
            </a:r>
            <a:r>
              <a:rPr sz="2175" baseline="-15325" dirty="0">
                <a:latin typeface="Cambria Math"/>
                <a:cs typeface="Cambria Math"/>
              </a:rPr>
              <a:t>𝐴</a:t>
            </a:r>
            <a:r>
              <a:rPr sz="2000" dirty="0">
                <a:latin typeface="Times New Roman"/>
                <a:cs typeface="Times New Roman"/>
              </a:rPr>
              <a:t>------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(1)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409825" y="1681352"/>
            <a:ext cx="948690" cy="426084"/>
          </a:xfrm>
          <a:custGeom>
            <a:avLst/>
            <a:gdLst/>
            <a:ahLst/>
            <a:cxnLst/>
            <a:rect l="l" t="t" r="r" b="b"/>
            <a:pathLst>
              <a:path w="948689" h="426085">
                <a:moveTo>
                  <a:pt x="876065" y="29143"/>
                </a:moveTo>
                <a:lnTo>
                  <a:pt x="1524" y="414400"/>
                </a:lnTo>
                <a:lnTo>
                  <a:pt x="0" y="418084"/>
                </a:lnTo>
                <a:lnTo>
                  <a:pt x="1397" y="421386"/>
                </a:lnTo>
                <a:lnTo>
                  <a:pt x="2793" y="424561"/>
                </a:lnTo>
                <a:lnTo>
                  <a:pt x="6604" y="425958"/>
                </a:lnTo>
                <a:lnTo>
                  <a:pt x="881157" y="40694"/>
                </a:lnTo>
                <a:lnTo>
                  <a:pt x="876065" y="29143"/>
                </a:lnTo>
                <a:close/>
              </a:path>
              <a:path w="948689" h="426085">
                <a:moveTo>
                  <a:pt x="933034" y="22606"/>
                </a:moveTo>
                <a:lnTo>
                  <a:pt x="890904" y="22606"/>
                </a:lnTo>
                <a:lnTo>
                  <a:pt x="894588" y="24002"/>
                </a:lnTo>
                <a:lnTo>
                  <a:pt x="896112" y="27177"/>
                </a:lnTo>
                <a:lnTo>
                  <a:pt x="897509" y="30480"/>
                </a:lnTo>
                <a:lnTo>
                  <a:pt x="895985" y="34162"/>
                </a:lnTo>
                <a:lnTo>
                  <a:pt x="881157" y="40694"/>
                </a:lnTo>
                <a:lnTo>
                  <a:pt x="893952" y="69723"/>
                </a:lnTo>
                <a:lnTo>
                  <a:pt x="933034" y="22606"/>
                </a:lnTo>
                <a:close/>
              </a:path>
              <a:path w="948689" h="426085">
                <a:moveTo>
                  <a:pt x="890904" y="22606"/>
                </a:moveTo>
                <a:lnTo>
                  <a:pt x="876065" y="29143"/>
                </a:lnTo>
                <a:lnTo>
                  <a:pt x="881157" y="40694"/>
                </a:lnTo>
                <a:lnTo>
                  <a:pt x="895985" y="34162"/>
                </a:lnTo>
                <a:lnTo>
                  <a:pt x="897509" y="30480"/>
                </a:lnTo>
                <a:lnTo>
                  <a:pt x="896112" y="27177"/>
                </a:lnTo>
                <a:lnTo>
                  <a:pt x="894588" y="24002"/>
                </a:lnTo>
                <a:lnTo>
                  <a:pt x="890904" y="22606"/>
                </a:lnTo>
                <a:close/>
              </a:path>
              <a:path w="948689" h="426085">
                <a:moveTo>
                  <a:pt x="863219" y="0"/>
                </a:moveTo>
                <a:lnTo>
                  <a:pt x="876065" y="29143"/>
                </a:lnTo>
                <a:lnTo>
                  <a:pt x="890904" y="22606"/>
                </a:lnTo>
                <a:lnTo>
                  <a:pt x="933034" y="22606"/>
                </a:lnTo>
                <a:lnTo>
                  <a:pt x="948309" y="4191"/>
                </a:lnTo>
                <a:lnTo>
                  <a:pt x="8632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749421" y="2158364"/>
            <a:ext cx="266065" cy="588645"/>
          </a:xfrm>
          <a:custGeom>
            <a:avLst/>
            <a:gdLst/>
            <a:ahLst/>
            <a:cxnLst/>
            <a:rect l="l" t="t" r="r" b="b"/>
            <a:pathLst>
              <a:path w="266064" h="588644">
                <a:moveTo>
                  <a:pt x="225177" y="520907"/>
                </a:moveTo>
                <a:lnTo>
                  <a:pt x="196087" y="533654"/>
                </a:lnTo>
                <a:lnTo>
                  <a:pt x="261492" y="588137"/>
                </a:lnTo>
                <a:lnTo>
                  <a:pt x="264153" y="537210"/>
                </a:lnTo>
                <a:lnTo>
                  <a:pt x="235457" y="537210"/>
                </a:lnTo>
                <a:lnTo>
                  <a:pt x="231648" y="535686"/>
                </a:lnTo>
                <a:lnTo>
                  <a:pt x="225177" y="520907"/>
                </a:lnTo>
                <a:close/>
              </a:path>
              <a:path w="266064" h="588644">
                <a:moveTo>
                  <a:pt x="236847" y="515794"/>
                </a:moveTo>
                <a:lnTo>
                  <a:pt x="225177" y="520907"/>
                </a:lnTo>
                <a:lnTo>
                  <a:pt x="231648" y="535686"/>
                </a:lnTo>
                <a:lnTo>
                  <a:pt x="235457" y="537210"/>
                </a:lnTo>
                <a:lnTo>
                  <a:pt x="241807" y="534415"/>
                </a:lnTo>
                <a:lnTo>
                  <a:pt x="243331" y="530606"/>
                </a:lnTo>
                <a:lnTo>
                  <a:pt x="236847" y="515794"/>
                </a:lnTo>
                <a:close/>
              </a:path>
              <a:path w="266064" h="588644">
                <a:moveTo>
                  <a:pt x="265938" y="503047"/>
                </a:moveTo>
                <a:lnTo>
                  <a:pt x="236847" y="515794"/>
                </a:lnTo>
                <a:lnTo>
                  <a:pt x="243331" y="530606"/>
                </a:lnTo>
                <a:lnTo>
                  <a:pt x="241807" y="534415"/>
                </a:lnTo>
                <a:lnTo>
                  <a:pt x="235457" y="537210"/>
                </a:lnTo>
                <a:lnTo>
                  <a:pt x="264153" y="537210"/>
                </a:lnTo>
                <a:lnTo>
                  <a:pt x="265938" y="503047"/>
                </a:lnTo>
                <a:close/>
              </a:path>
              <a:path w="266064" h="588644">
                <a:moveTo>
                  <a:pt x="7874" y="0"/>
                </a:moveTo>
                <a:lnTo>
                  <a:pt x="1524" y="2794"/>
                </a:lnTo>
                <a:lnTo>
                  <a:pt x="0" y="6604"/>
                </a:lnTo>
                <a:lnTo>
                  <a:pt x="225177" y="520907"/>
                </a:lnTo>
                <a:lnTo>
                  <a:pt x="236847" y="515794"/>
                </a:lnTo>
                <a:lnTo>
                  <a:pt x="11683" y="1524"/>
                </a:lnTo>
                <a:lnTo>
                  <a:pt x="78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72584" y="1182624"/>
            <a:ext cx="3508248" cy="415594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29200" y="5494020"/>
            <a:ext cx="2616707" cy="1089660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8250935" y="1182624"/>
            <a:ext cx="3870960" cy="5591810"/>
            <a:chOff x="8250935" y="1182624"/>
            <a:chExt cx="3870960" cy="5591810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50935" y="1182624"/>
              <a:ext cx="3870960" cy="427329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78595" y="5494018"/>
              <a:ext cx="3363467" cy="12801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EF9E3B196684499E884074FD3CB02C" ma:contentTypeVersion="4" ma:contentTypeDescription="Create a new document." ma:contentTypeScope="" ma:versionID="28b3d92f1e6fa517cf934b1e63e8382b">
  <xsd:schema xmlns:xsd="http://www.w3.org/2001/XMLSchema" xmlns:xs="http://www.w3.org/2001/XMLSchema" xmlns:p="http://schemas.microsoft.com/office/2006/metadata/properties" xmlns:ns2="fe4160f2-581c-44de-8c1e-f3a36bb236c5" targetNamespace="http://schemas.microsoft.com/office/2006/metadata/properties" ma:root="true" ma:fieldsID="fab7115323ebc58acf5357dd32b4bda1" ns2:_="">
    <xsd:import namespace="fe4160f2-581c-44de-8c1e-f3a36bb236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4160f2-581c-44de-8c1e-f3a36bb236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14643A1-DBBD-4DB3-A322-1D3AE505B85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8E8A842-303A-45F0-9821-8FCFCED940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EFF866B-989C-4049-AEF3-3C632614B1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4160f2-581c-44de-8c1e-f3a36bb236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1412</Words>
  <Application>Microsoft Office PowerPoint</Application>
  <PresentationFormat>Widescreen</PresentationFormat>
  <Paragraphs>412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Motion of a Projectile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Dependent Motion</vt:lpstr>
      <vt:lpstr>Dependent Motion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Equation of Motion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Aminul Islam</dc:creator>
  <cp:lastModifiedBy>Sadia Tasnim</cp:lastModifiedBy>
  <cp:revision>7</cp:revision>
  <dcterms:created xsi:type="dcterms:W3CDTF">2023-06-01T16:56:59Z</dcterms:created>
  <dcterms:modified xsi:type="dcterms:W3CDTF">2025-07-01T17:20:36Z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0x01010008EF9E3B196684499E884074FD3CB02C</vt:lpwstr>
  </property>
</Properties>
</file>